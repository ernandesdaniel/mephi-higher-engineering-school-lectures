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Masters/slideMaster2.xml" ContentType="application/vnd.openxmlformats-officedocument.presentationml.slideMaster+xml"/>
  <Override PartName="/ppt/theme/theme3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8753EA-CB70-4392-8250-16E8700934D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>
  <a:tblStyle xmlns:a="http://schemas.openxmlformats.org/drawingml/2006/main"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xmlns:a="http://schemas.openxmlformats.org/drawingml/2006/main"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xmlns:a="http://schemas.openxmlformats.org/drawingml/2006/main"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theme" Target="theme/theme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ru-RU"/>
              <a:t>16.12.2025</a:t>
            </a:fld>
            <a:endParaRPr lang="ru-RU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 lIns="0" tIns="0" rIns="0" bIns="0"/>
          <a:lstStyle>
            <a:lvl1pPr>
              <a:defRPr sz="3597" b="1">
                <a:solidFill>
                  <a:srgbClr val="404040"/>
                </a:solidFill>
                <a:latin typeface="+mn-lt"/>
              </a:defRPr>
            </a:lvl1pPr>
          </a:lstStyle>
          <a:p>
            <a:pPr marL="0" marR="0" indent="0" defTabSz="1218072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3597" b="1" i="0" u="none" strike="noStrike" kern="0" cap="none" spc="0" baseline="0" noProof="0">
                <a:ln>
                  <a:noFill/>
                </a:ln>
                <a:solidFill>
                  <a:sysClr val="windowText" lastClr="000000">
                    <a:lumMod val="75000"/>
                    <a:lumOff val="25000"/>
                  </a:sysClr>
                </a:solidFill>
                <a:latin typeface="Arial"/>
              </a:rPr>
              <a:t>Тема презентации</a:t>
            </a:r>
            <a:endParaRPr lang="en-US" sz="3597" b="1" i="0" u="none" strike="noStrike" kern="0" cap="none" spc="0" baseline="0" noProof="0">
              <a:ln>
                <a:noFill/>
              </a:ln>
              <a:solidFill>
                <a:sysClr val="windowText" lastClr="000000">
                  <a:lumMod val="75000"/>
                  <a:lumOff val="25000"/>
                </a:sysClr>
              </a:solidFill>
              <a:latin typeface="Arial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19666" y="5059671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ru-RU">
                <a:latin typeface="Arial"/>
                <a:cs typeface="Arial"/>
              </a:rPr>
              <a:t>Наименование мероприятия </a:t>
            </a:r>
            <a:r>
              <a:rPr lang="en-US">
                <a:latin typeface="Arial"/>
                <a:cs typeface="Arial"/>
              </a:rPr>
              <a:t>/</a:t>
            </a:r>
            <a:r>
              <a:rPr lang="ru-RU">
                <a:latin typeface="Arial"/>
                <a:cs typeface="Arial"/>
              </a:rPr>
              <a:t> название площадки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719666" y="5610804"/>
            <a:ext cx="7615767" cy="29104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 b="1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ФИО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719666" y="5898539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Должность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07AEC-4DB1-4201-8352-72C66BEDFD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1953928" y="38400"/>
            <a:ext cx="8876299" cy="10877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/>
          <a:lstStyle>
            <a:lvl1pPr>
              <a:defRPr spc="0" baseline="0"/>
            </a:lvl1pPr>
          </a:lstStyle>
          <a:p>
            <a:r>
              <a:rPr lang="ru-RU"/>
              <a:t>ОБРАЗЕЦ ЗАГОЛОВКА</a:t>
            </a:r>
          </a:p>
        </p:txBody>
      </p:sp>
    </p:spTree>
  </p:cSld>
  <p:clrMapOvr>
    <a:masterClrMapping/>
  </p:clrMapOvr>
  <p:extLst>
    <p:ext xmlns:a="http://schemas.openxmlformats.org/drawingml/2006/main" xmlns:p="http://schemas.openxmlformats.org/presentationml/2006/main" uri="{DCECCB84-F9BA-43D5-87BE-67443E8EF086}">
      <p15:sldGuideLst xmlns:p15="http://schemas.microsoft.com/office/powerpoint/2012/main">
        <p15:guide id="1" pos="1232">
          <p15:clr>
            <a:srgbClr val="FBAE40"/>
          </p15:clr>
        </p15:guide>
        <p15:guide id="2" orient="horz" pos="45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"/>
            <a:ext cx="12192000" cy="6864096"/>
          </a:xfrm>
          <a:prstGeom prst="rect">
            <a:avLst/>
          </a:prstGeom>
        </p:spPr>
      </p:pic>
      <p:pic>
        <p:nvPicPr>
          <p:cNvPr id="4" name="Picture 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08800" y="482153"/>
            <a:ext cx="3106425" cy="115161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3554" rtl="0" eaLnBrk="1" latinLnBrk="0" hangingPunct="1">
        <a:lnSpc>
          <a:spcPct val="90000"/>
        </a:lnSpc>
        <a:spcBef>
          <a:spcPct val="0"/>
        </a:spcBef>
        <a:buNone/>
        <a:defRPr sz="43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389" indent="-228389" algn="l" defTabSz="913554" rtl="0" eaLnBrk="1" latinLnBrk="0" hangingPunct="1">
        <a:lnSpc>
          <a:spcPct val="90000"/>
        </a:lnSpc>
        <a:spcBef>
          <a:spcPts val="999"/>
        </a:spcBef>
        <a:buFont typeface="Arial"/>
        <a:buChar char="•"/>
        <a:defRPr sz="2797" kern="1200">
          <a:solidFill>
            <a:schemeClr val="tx1"/>
          </a:solidFill>
          <a:latin typeface="+mn-lt"/>
          <a:ea typeface="+mn-ea"/>
          <a:cs typeface="+mn-cs"/>
        </a:defRPr>
      </a:lvl1pPr>
      <a:lvl2pPr marL="685166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141943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998" kern="1200">
          <a:solidFill>
            <a:schemeClr val="tx1"/>
          </a:solidFill>
          <a:latin typeface="+mn-lt"/>
          <a:ea typeface="+mn-ea"/>
          <a:cs typeface="+mn-cs"/>
        </a:defRPr>
      </a:lvl3pPr>
      <a:lvl4pPr marL="1598720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5497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512274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969051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425828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882605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1pPr>
      <a:lvl2pPr marL="45677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2pPr>
      <a:lvl3pPr marL="913554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3pPr>
      <a:lvl4pPr marL="1370331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1827108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283885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740663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19744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65421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Тема Offic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2FA55-4C96-42CE-81AC-E697BF02C4F9}" type="slidenum">
              <a:rPr lang="en-US"/>
              <a:t>‹#›</a:t>
            </a:fld>
            <a:endParaRPr lang="en-US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10470687" y="106965"/>
            <a:ext cx="1766225" cy="65529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/>
          <a:lstStyle/>
          <a:p>
            <a:r>
              <a:rPr lang="en-US"/>
              <a:t>Современные технологии сборки, линтинга и роутинга во фронтенд-приложениях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1"/>
          </p:nvPr>
        </p:nvSpPr>
        <p:spPr>
          <a:xfrm>
            <a:off x="719664" y="5096852"/>
            <a:ext cx="7615767" cy="291045"/>
          </a:xfrm>
          <a:prstGeom prst="rect">
            <a:avLst/>
          </a:prstGeom>
        </p:spPr>
        <p:txBody>
          <a:bodyPr/>
          <a:lstStyle/>
          <a:p>
            <a:r>
              <a:rPr lang="ru-RU"/>
              <a:t>Vite · Oxidation Compiler · TanStack Router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/>
          </p:nvPr>
        </p:nvSpPr>
        <p:spPr>
          <a:xfrm>
            <a:off x="719664" y="5486289"/>
            <a:ext cx="7615767" cy="379226"/>
          </a:xfrm>
          <a:prstGeom prst="rect">
            <a:avLst/>
          </a:prstGeom>
        </p:spPr>
        <p:txBody>
          <a:bodyPr/>
          <a:lstStyle/>
          <a:p>
            <a:r>
              <a:rPr lang="ru-RU"/>
              <a:t>Лекция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2150" y="238539"/>
            <a:ext cx="10344647" cy="563044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Vite: современный сборщик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Зачем: старые сборщики собирают весь проект в бандл перед стартом — время запуска растёт с кодовой базой.</a:t>
            </a:r>
          </a:p>
          <a:p>
            <a:pPr marL="285750" indent="-285750">
              <a:buFont typeface="Arial"/>
              <a:buChar char="•"/>
            </a:pP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Идея Vite: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Dev-сервер отдаёт ES-модули по запросу, без предварительной сборки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node_modules предсобираются один раз через esbuild (CommonJS → ESM)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Правка модуля инвалидирует только его цепочку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Продакшен: Rollup/Rolldown + minify + tree-shaking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Два режима: dev (ESM, мгновенный старт) и build (готовый бандл).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2150" y="238539"/>
            <a:ext cx="10344647" cy="61622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vite.config.ts: ключевые опции</a:t>
            </a:r>
          </a:p>
          <a:p/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root — папка с index.html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base — префикс путей и BASE_URL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publicDir — статика, копируется в dist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define — замена идентификаторов на этапе сборки (строки через JSON.stringify)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envDir / envPrefix — откуда и с каким префиксом грузить .env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resolve.alias — короткие импорты (@/)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resolve.extensions — порядок расширений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server.port (5173), strictPort, https, open, cors, forwardConsole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server.proxy — перенаправление на бэкенд, обход CORS</a:t>
            </a:r>
          </a:p>
          <a:p/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Конфиг может быть функцией: defineConfig(({ command, mode }) =&gt; ({ ... }))</a:t>
            </a:r>
          </a:p>
          <a:p>
            <a:r>
              <a:rPr lang="en-US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loadEnv(mode, root, prefix) читает .env вручную.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2150" y="238539"/>
            <a:ext cx="10344647" cy="61622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Env-переменные и режимы</a:t>
            </a:r>
          </a:p>
          <a:p/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В клиент попадают только переменные с префиксом VITE_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Кастомные всегда string, встроенные DEV/PROD/SSR — boolean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Порядок загрузки: .env.[mode].local → .env.[mode] → .env.local → .env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Типизация в src/vite-env.d.ts через ImportMetaEnv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Ассеты: import imgUrl from './img.png' → URL с хешем; public/ — как есть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Pre-bundling: результат в node_modules/.vite, сброс через vite --force</a:t>
            </a:r>
          </a:p>
          <a:p>
            <a:pPr marL="285750" indent="-285750">
              <a:buFont typeface="Arial"/>
              <a:buChar char="•"/>
            </a:pPr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HMR: граф модулей, Fast Refresh, import.meta.hot.accept()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2150" y="238539"/>
            <a:ext cx="10344647" cy="6162261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Vite+: единый toolchain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vp заменяет набор инструментов: dev, build, lint, fmt, test, run.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Конфиг остаётся vite.config.ts.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vp add/remove/update, vpx (аналог npx)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vp lint = Oxlint (Rust), vp fmt = Oxfmt (Rust)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vp check = форматирование + линтинг + типы за один проход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vp staged — проверка только изменённых файлов (pre-commit)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vp hooks enable/disable/status, скрипты в .vite-hooks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run.tasks с dependsOn и кешированием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CI: voidzero-dev/setup-vp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Vite+ использует Oxc (Oxidation Compiler)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2150" y="238539"/>
            <a:ext cx="10344647" cy="6162261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Oxc: Oxidation Compiler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Набор высокопроизводительных инструментов для JS/TS на Rust.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Часть видения VoidZero: единый toolchain.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Включает: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Oxlint — линтер, совместимый с ESLint (tsgo = TypeScript 7)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Oxfmt — форматтер, совместимый с Prettier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Parser, Transformer, Minifier, Resolver, TS Runner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Oxc питает Rolldown — бандлер Vite 8.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Все инструменты делят общие компоненты — меньше дублирования.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Конфиг линтера/форматтера — в vite.config.ts (lint, fmt), а не в отдельных файлах.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2150" y="238539"/>
            <a:ext cx="10344647" cy="61622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TanStack Router: зачем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100% выведенный TypeScript: пути, params, search, контекст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Типобезопасная навигация: Link, useNavigate, useParams, useSearch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Встроенный SWR-кеш для loader'ов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JSON-first search params — состояние в URL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Файловая и кодовая маршрутизация одновременно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URL — это state manager, а не просто строка.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Типобезопасность: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Register связывает типы роутера с хуками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Route.useParams() / Route.useSearch() типизированы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useNavigate({ from: Route.fullPath }) — подсказка контекста</a:t>
            </a:r>
          </a:p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• strict: false для общих компонентов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2150" y="238539"/>
            <a:ext cx="10344647" cy="61622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TanStack Router: маршруты и данные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Файловая маршрутизация: именование файлов ($param, $.tsx, {-$param}, _layout, non-nested _suffix, группы (), исключение -).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Search params: JSON-first, validateSearch, Zod (zodValidator, fallback), Valibot/ArkType/Effect, middlewares (retain/strip).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Data loading: loader, useLoaderData, loaderDeps (ключ кеша), staleTime, gcTime, shouldReload, beforeLoad (auth), pendingComponent, errorComponent, AbortController.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Интеграция с TanStack Query: ensureQueryData в loader, QueryClient через контекст.</a:t>
            </a:r>
          </a:p>
          <a:p/>
          <a:p>
            <a:r>
              <a:rPr lang="ru-RU" sz="1800" b="1">
                <a:solidFill>
                  <a:schemeClr val="tx1">
                    <a:lumMod val="50000"/>
                  </a:schemeClr>
                </a:solidFill>
                <a:latin typeface="Times New Roman"/>
                <a:cs typeface="Times New Roman"/>
              </a:rPr>
              <a:t>Итог: Vite (сборка) + Oxc (lint/fmt) + TanStack Router (роутинг) — единый стек с одним конфигом.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АСЭ няшная">
      <a:dk1>
        <a:srgbClr val="726F6F"/>
      </a:dk1>
      <a:lt1>
        <a:srgbClr val="FFFFFF"/>
      </a:lt1>
      <a:dk2>
        <a:srgbClr val="033174"/>
      </a:dk2>
      <a:lt2>
        <a:srgbClr val="E7E6E6"/>
      </a:lt2>
      <a:accent1>
        <a:srgbClr val="F1D8D9"/>
      </a:accent1>
      <a:accent2>
        <a:srgbClr val="E09BB0"/>
      </a:accent2>
      <a:accent3>
        <a:srgbClr val="3B91C7"/>
      </a:accent3>
      <a:accent4>
        <a:srgbClr val="7EAB7C"/>
      </a:accent4>
      <a:accent5>
        <a:srgbClr val="ABD0E0"/>
      </a:accent5>
      <a:accent6>
        <a:srgbClr val="6495BC"/>
      </a:accent6>
      <a:hlink>
        <a:srgbClr val="AEBCD7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8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Методология управления разработкой ПО</dc:title>
  <dc:creator>Пользователь</dc:creator>
  <cp:lastModifiedBy>Даниэль Эрнандес Гарсия</cp:lastModifiedBy>
  <cp:revision>106</cp:revision>
  <dcterms:created xsi:type="dcterms:W3CDTF">2020-10-13T10:00:27Z</dcterms:created>
  <dcterms:modified xsi:type="dcterms:W3CDTF">2025-12-16T20:48:14Z</dcterms:modified>
</cp:coreProperties>
</file>