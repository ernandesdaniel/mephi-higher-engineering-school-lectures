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slideMasters/slideMaster2.xml" ContentType="application/vnd.openxmlformats-officedocument.presentationml.slideMaster+xml"/>
  <Override PartName="/ppt/theme/theme3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presentation.xml" ContentType="application/vnd.openxmlformats-officedocument.presentationml.presentation.main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50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  <p:sldId id="285" r:id="rId33"/>
    <p:sldId id="286" r:id="rId34"/>
    <p:sldId id="287" r:id="rId35"/>
  </p:sldIdLst>
  <p:sldSz cx="12192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3C8753EA-CB70-4392-8250-16E8700934DB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</p14:sldIdLst>
        </p14:section>
      </p14:sectionLst>
    </p:ext>
    <p:ext xmlns:p="http://schemas.openxmlformats.org/presentationml/2006/main"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srgbClr val="FF0000"/>
    </p:penClr>
  </p:showPr>
</p:presentationPr>
</file>

<file path=ppt/tableStyles.xml><?xml version="1.0" encoding="utf-8"?>
<a:tblStyleLst xmlns:a="http://schemas.openxmlformats.org/drawingml/2006/main" def="{5C22544A-7EE6-4342-B048-85BDC9FD1C3A}">
  <a:tblStyle xmlns:a="http://schemas.openxmlformats.org/drawingml/2006/main"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xmlns:a="http://schemas.openxmlformats.org/drawingml/2006/main" styleId="{073A0DAA-6AF3-43AB-8588-CEC1D06C72B9}" styleName="Средний стиль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xmlns:a="http://schemas.openxmlformats.org/drawingml/2006/main" styleId="{5940675A-B579-460E-94D1-54222C63F5DA}" styleName="Нет стиля, сетка таблиц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slide" Target="slides/slide28.xml"/><Relationship Id="rId32" Type="http://schemas.openxmlformats.org/officeDocument/2006/relationships/slide" Target="slides/slide29.xml"/><Relationship Id="rId33" Type="http://schemas.openxmlformats.org/officeDocument/2006/relationships/slide" Target="slides/slide30.xml"/><Relationship Id="rId34" Type="http://schemas.openxmlformats.org/officeDocument/2006/relationships/slide" Target="slides/slide31.xml"/><Relationship Id="rId35" Type="http://schemas.openxmlformats.org/officeDocument/2006/relationships/slide" Target="slides/slide32.xml"/><Relationship Id="rId36" Type="http://schemas.openxmlformats.org/officeDocument/2006/relationships/theme" Target="theme/theme1.xml"/><Relationship Id="rId37" Type="http://schemas.openxmlformats.org/officeDocument/2006/relationships/presProps" Target="presProps.xml"/><Relationship Id="rId38" Type="http://schemas.openxmlformats.org/officeDocument/2006/relationships/viewProps" Target="viewProps.xml"/><Relationship Id="rId39" Type="http://schemas.openxmlformats.org/officeDocument/2006/relationships/tableStyles" Target="tableStyles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998F326-38F9-40E9-844A-EC66DA56CEC0}" type="datetimeFigureOut">
              <a:rPr lang="ru-RU"/>
              <a:t>10.12.2025</a:t>
            </a:fld>
            <a:endParaRPr lang="ru-RU"/>
          </a:p>
        </p:txBody>
      </p:sp>
      <p:sp>
        <p:nvSpPr>
          <p:cNvPr id="4" name="Slide Image Placeholder 3"/>
          <p:cNvSpPr>
            <a:spLocks noGrp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44DB33E-DF1A-4DDD-8617-8BEBD58B3BBA}" type="slidenum">
              <a:rPr lang="ru-RU"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cust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/>
          <p:cNvSpPr>
            <a:spLocks noGrp="1"/>
          </p:cNvSpPr>
          <p:nvPr>
            <p:ph type="title" hasCustomPrompt="1"/>
          </p:nvPr>
        </p:nvSpPr>
        <p:spPr>
          <a:xfrm>
            <a:off x="719666" y="2827365"/>
            <a:ext cx="7615767" cy="1583916"/>
          </a:xfrm>
          <a:prstGeom prst="rect">
            <a:avLst/>
          </a:prstGeom>
        </p:spPr>
        <p:txBody>
          <a:bodyPr lIns="0" tIns="0" rIns="0" bIns="0"/>
          <a:lstStyle>
            <a:lvl1pPr>
              <a:defRPr sz="3597" b="1">
                <a:solidFill>
                  <a:srgbClr val="404040"/>
                </a:solidFill>
                <a:latin typeface="+mn-lt"/>
              </a:defRPr>
            </a:lvl1pPr>
          </a:lstStyle>
          <a:p>
            <a:pPr marL="0" marR="0" indent="0" defTabSz="1218072" eaLnBrk="1" latinLnBrk="0" hangingPunct="1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ru-RU" sz="3597" b="1" i="0" u="none" strike="noStrike" kern="0" cap="none" spc="0" baseline="0" noProof="0">
                <a:ln>
                  <a:noFill/>
                </a:ln>
                <a:solidFill>
                  <a:sysClr val="windowText" lastClr="000000">
                    <a:lumMod val="75000"/>
                    <a:lumOff val="25000"/>
                  </a:sysClr>
                </a:solidFill>
                <a:latin typeface="Arial"/>
              </a:rPr>
              <a:t>Тема презентации</a:t>
            </a:r>
            <a:endParaRPr lang="en-US" sz="3597" b="1" i="0" u="none" strike="noStrike" kern="0" cap="none" spc="0" baseline="0" noProof="0">
              <a:ln>
                <a:noFill/>
              </a:ln>
              <a:solidFill>
                <a:sysClr val="windowText" lastClr="000000">
                  <a:lumMod val="75000"/>
                  <a:lumOff val="25000"/>
                </a:sysClr>
              </a:solidFill>
              <a:latin typeface="Arial"/>
            </a:endParaRPr>
          </a:p>
        </p:txBody>
      </p:sp>
      <p:sp>
        <p:nvSpPr>
          <p:cNvPr id="8" name="Tex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719666" y="5059671"/>
            <a:ext cx="7615767" cy="379226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None/>
              <a:defRPr sz="1865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</a:defRPr>
            </a:lvl1pPr>
          </a:lstStyle>
          <a:p>
            <a:r>
              <a:rPr lang="ru-RU">
                <a:latin typeface="Arial"/>
                <a:cs typeface="Arial"/>
              </a:rPr>
              <a:t>Наименование мероприятия </a:t>
            </a:r>
            <a:r>
              <a:rPr lang="en-US">
                <a:latin typeface="Arial"/>
                <a:cs typeface="Arial"/>
              </a:rPr>
              <a:t>/</a:t>
            </a:r>
            <a:r>
              <a:rPr lang="ru-RU">
                <a:latin typeface="Arial"/>
                <a:cs typeface="Arial"/>
              </a:rPr>
              <a:t> название площадки</a:t>
            </a:r>
          </a:p>
        </p:txBody>
      </p:sp>
      <p:sp>
        <p:nvSpPr>
          <p:cNvPr id="6" name="Text Placeholder 3"/>
          <p:cNvSpPr>
            <a:spLocks noGrp="1"/>
          </p:cNvSpPr>
          <p:nvPr>
            <p:ph type="body" sz="quarter" idx="11" hasCustomPrompt="1"/>
          </p:nvPr>
        </p:nvSpPr>
        <p:spPr>
          <a:xfrm>
            <a:off x="719666" y="5610804"/>
            <a:ext cx="7615767" cy="291045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1218072" rtl="0" eaLnBrk="1" latinLnBrk="0" hangingPunct="1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65" b="1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</a:defRPr>
            </a:lvl1pPr>
          </a:lstStyle>
          <a:p>
            <a:pPr marL="0" marR="0" indent="0" algn="l" defTabSz="1218072" rtl="0" eaLnBrk="1" latinLnBrk="0" hangingPunct="1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ru-RU" sz="1865" b="1">
                <a:solidFill>
                  <a:srgbClr val="333333"/>
                </a:solidFill>
                <a:latin typeface="Arial"/>
                <a:ea typeface="Rosatom Light"/>
                <a:cs typeface="Arial"/>
              </a:rPr>
              <a:t>ФИО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719666" y="5898539"/>
            <a:ext cx="7615767" cy="379226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1218072" rtl="0" eaLnBrk="1" latinLnBrk="0" hangingPunct="1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65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</a:defRPr>
            </a:lvl1pPr>
          </a:lstStyle>
          <a:p>
            <a:pPr marL="0" marR="0" indent="0" algn="l" defTabSz="1218072" rtl="0" eaLnBrk="1" latinLnBrk="0" hangingPunct="1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ru-RU" sz="1865">
                <a:solidFill>
                  <a:srgbClr val="333333"/>
                </a:solidFill>
                <a:latin typeface="Arial"/>
                <a:ea typeface="Rosatom Light"/>
                <a:cs typeface="Arial"/>
              </a:rPr>
              <a:t>Должность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D0F9E-EF7E-4C26-8662-25A73F2263DD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C18080-B33E-4073-8615-72D8F5AE8F78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CB9569-04AF-4288-8880-64CE52ABE7A3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533E07-937E-4FED-8300-891295843456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</p:spPr>
        <p:txBody>
          <a:bodyPr/>
          <a:lstStyle/>
          <a:p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</p:spPr>
        <p:txBody>
          <a:bodyPr/>
          <a:lstStyle/>
          <a:p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28B55B-FA15-48BA-860D-0231187503D9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E0EBC0-ADA9-4FA7-889C-9287646BC794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A25AB8-FB3A-479C-8780-0B7E5F586C0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EFC29A-6C4F-4141-86E3-1A3E2D58E3A2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/>
              <a:t>Вставка рисунка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19C649-D3E0-46CB-87C1-67136E4226A6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EBE78A-EB3E-401E-81B5-D7F53201DAF3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  <a:prstGeom prst="rect">
            <a:avLst/>
          </a:prstGeo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  <a:prstGeom prst="rect">
            <a:avLst/>
          </a:prstGeom>
        </p:spPr>
        <p:txBody>
          <a:bodyPr vert="eaVert"/>
          <a:lstStyle/>
          <a:p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07AEC-4DB1-4201-8352-72C66BEDFD24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cust">
  <p:cSld name="1_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cust">
  <p:cSld name="1_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cust">
  <p:cSld name="1_Пользовательский маке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 hasCustomPrompt="1"/>
          </p:nvPr>
        </p:nvSpPr>
        <p:spPr>
          <a:xfrm>
            <a:off x="1953928" y="38400"/>
            <a:ext cx="8876299" cy="1087755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numCol="1" anchor="ctr" anchorCtr="0"/>
          <a:lstStyle>
            <a:lvl1pPr>
              <a:defRPr spc="0" baseline="0"/>
            </a:lvl1pPr>
          </a:lstStyle>
          <a:p>
            <a:r>
              <a:rPr lang="ru-RU"/>
              <a:t>ОБРАЗЕЦ ЗАГОЛОВКА</a:t>
            </a:r>
          </a:p>
        </p:txBody>
      </p:sp>
    </p:spTree>
  </p:cSld>
  <p:clrMapOvr>
    <a:masterClrMapping/>
  </p:clrMapOvr>
  <p:extLst>
    <p:ext xmlns:a="http://schemas.openxmlformats.org/drawingml/2006/main" xmlns:p="http://schemas.openxmlformats.org/presentationml/2006/main" uri="{DCECCB84-F9BA-43D5-87BE-67443E8EF086}">
      <p15:sldGuideLst xmlns:p15="http://schemas.microsoft.com/office/powerpoint/2012/main">
        <p15:guide id="1" pos="1232">
          <p15:clr>
            <a:srgbClr val="FBAE40"/>
          </p15:clr>
        </p15:guide>
        <p15:guide id="2" orient="horz" pos="459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Masters/_rels/slideMaster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slideLayout" Target="../slideLayouts/slideLayout3.xml"/><Relationship Id="rId3" Type="http://schemas.openxmlformats.org/officeDocument/2006/relationships/slideLayout" Target="../slideLayouts/slideLayout4.xml"/><Relationship Id="rId4" Type="http://schemas.openxmlformats.org/officeDocument/2006/relationships/slideLayout" Target="../slideLayouts/slideLayout5.xml"/><Relationship Id="rId5" Type="http://schemas.openxmlformats.org/officeDocument/2006/relationships/slideLayout" Target="../slideLayouts/slideLayout6.xml"/><Relationship Id="rId6" Type="http://schemas.openxmlformats.org/officeDocument/2006/relationships/slideLayout" Target="../slideLayouts/slideLayout7.xml"/><Relationship Id="rId7" Type="http://schemas.openxmlformats.org/officeDocument/2006/relationships/slideLayout" Target="../slideLayouts/slideLayout8.xml"/><Relationship Id="rId8" Type="http://schemas.openxmlformats.org/officeDocument/2006/relationships/slideLayout" Target="../slideLayouts/slideLayout9.xml"/><Relationship Id="rId9" Type="http://schemas.openxmlformats.org/officeDocument/2006/relationships/slideLayout" Target="../slideLayouts/slideLayout10.xml"/><Relationship Id="rId10" Type="http://schemas.openxmlformats.org/officeDocument/2006/relationships/slideLayout" Target="../slideLayouts/slideLayout11.xml"/><Relationship Id="rId11" Type="http://schemas.openxmlformats.org/officeDocument/2006/relationships/slideLayout" Target="../slideLayouts/slideLayout12.xml"/><Relationship Id="rId12" Type="http://schemas.openxmlformats.org/officeDocument/2006/relationships/slideLayout" Target="../slideLayouts/slideLayout13.xml"/><Relationship Id="rId13" Type="http://schemas.openxmlformats.org/officeDocument/2006/relationships/slideLayout" Target="../slideLayouts/slideLayout14.xml"/><Relationship Id="rId14" Type="http://schemas.openxmlformats.org/officeDocument/2006/relationships/slideLayout" Target="../slideLayouts/slideLayout15.xml"/><Relationship Id="rId15" Type="http://schemas.openxmlformats.org/officeDocument/2006/relationships/theme" Target="../theme/theme2.xml"/><Relationship Id="rId16" Type="http://schemas.openxmlformats.org/officeDocument/2006/relationships/image" Target="../media/image3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 name="Титульный слайд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0" y="1"/>
            <a:ext cx="12192000" cy="6864096"/>
          </a:xfrm>
          <a:prstGeom prst="rect">
            <a:avLst/>
          </a:prstGeom>
        </p:spPr>
      </p:pic>
      <p:pic>
        <p:nvPicPr>
          <p:cNvPr id="4" name="Picture 1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208800" y="482153"/>
            <a:ext cx="3106425" cy="1151610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 defTabSz="913554" rtl="0" eaLnBrk="1" latinLnBrk="0" hangingPunct="1">
        <a:lnSpc>
          <a:spcPct val="90000"/>
        </a:lnSpc>
        <a:spcBef>
          <a:spcPct val="0"/>
        </a:spcBef>
        <a:buNone/>
        <a:defRPr sz="4396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389" indent="-228389" algn="l" defTabSz="913554" rtl="0" eaLnBrk="1" latinLnBrk="0" hangingPunct="1">
        <a:lnSpc>
          <a:spcPct val="90000"/>
        </a:lnSpc>
        <a:spcBef>
          <a:spcPts val="999"/>
        </a:spcBef>
        <a:buFont typeface="Arial"/>
        <a:buChar char="•"/>
        <a:defRPr sz="2797" kern="1200">
          <a:solidFill>
            <a:schemeClr val="tx1"/>
          </a:solidFill>
          <a:latin typeface="+mn-lt"/>
          <a:ea typeface="+mn-ea"/>
          <a:cs typeface="+mn-cs"/>
        </a:defRPr>
      </a:lvl1pPr>
      <a:lvl2pPr marL="685166" indent="-228389" algn="l" defTabSz="913554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398" kern="1200">
          <a:solidFill>
            <a:schemeClr val="tx1"/>
          </a:solidFill>
          <a:latin typeface="+mn-lt"/>
          <a:ea typeface="+mn-ea"/>
          <a:cs typeface="+mn-cs"/>
        </a:defRPr>
      </a:lvl2pPr>
      <a:lvl3pPr marL="1141943" indent="-228389" algn="l" defTabSz="913554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998" kern="1200">
          <a:solidFill>
            <a:schemeClr val="tx1"/>
          </a:solidFill>
          <a:latin typeface="+mn-lt"/>
          <a:ea typeface="+mn-ea"/>
          <a:cs typeface="+mn-cs"/>
        </a:defRPr>
      </a:lvl3pPr>
      <a:lvl4pPr marL="1598720" indent="-228389" algn="l" defTabSz="913554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798" kern="1200">
          <a:solidFill>
            <a:schemeClr val="tx1"/>
          </a:solidFill>
          <a:latin typeface="+mn-lt"/>
          <a:ea typeface="+mn-ea"/>
          <a:cs typeface="+mn-cs"/>
        </a:defRPr>
      </a:lvl4pPr>
      <a:lvl5pPr marL="2055497" indent="-228389" algn="l" defTabSz="913554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798" kern="1200">
          <a:solidFill>
            <a:schemeClr val="tx1"/>
          </a:solidFill>
          <a:latin typeface="+mn-lt"/>
          <a:ea typeface="+mn-ea"/>
          <a:cs typeface="+mn-cs"/>
        </a:defRPr>
      </a:lvl5pPr>
      <a:lvl6pPr marL="2512274" indent="-228389" algn="l" defTabSz="913554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798" kern="1200">
          <a:solidFill>
            <a:schemeClr val="tx1"/>
          </a:solidFill>
          <a:latin typeface="+mn-lt"/>
          <a:ea typeface="+mn-ea"/>
          <a:cs typeface="+mn-cs"/>
        </a:defRPr>
      </a:lvl6pPr>
      <a:lvl7pPr marL="2969051" indent="-228389" algn="l" defTabSz="913554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798" kern="1200">
          <a:solidFill>
            <a:schemeClr val="tx1"/>
          </a:solidFill>
          <a:latin typeface="+mn-lt"/>
          <a:ea typeface="+mn-ea"/>
          <a:cs typeface="+mn-cs"/>
        </a:defRPr>
      </a:lvl7pPr>
      <a:lvl8pPr marL="3425828" indent="-228389" algn="l" defTabSz="913554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798" kern="1200">
          <a:solidFill>
            <a:schemeClr val="tx1"/>
          </a:solidFill>
          <a:latin typeface="+mn-lt"/>
          <a:ea typeface="+mn-ea"/>
          <a:cs typeface="+mn-cs"/>
        </a:defRPr>
      </a:lvl8pPr>
      <a:lvl9pPr marL="3882605" indent="-228389" algn="l" defTabSz="913554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798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lvl1pPr marL="0" algn="l" defTabSz="913554" rtl="0" eaLnBrk="1" latinLnBrk="0" hangingPunct="1">
        <a:defRPr sz="1798" kern="1200">
          <a:solidFill>
            <a:schemeClr val="tx1"/>
          </a:solidFill>
          <a:latin typeface="+mn-lt"/>
          <a:ea typeface="+mn-ea"/>
          <a:cs typeface="+mn-cs"/>
        </a:defRPr>
      </a:lvl1pPr>
      <a:lvl2pPr marL="456777" algn="l" defTabSz="913554" rtl="0" eaLnBrk="1" latinLnBrk="0" hangingPunct="1">
        <a:defRPr sz="1798" kern="1200">
          <a:solidFill>
            <a:schemeClr val="tx1"/>
          </a:solidFill>
          <a:latin typeface="+mn-lt"/>
          <a:ea typeface="+mn-ea"/>
          <a:cs typeface="+mn-cs"/>
        </a:defRPr>
      </a:lvl2pPr>
      <a:lvl3pPr marL="913554" algn="l" defTabSz="913554" rtl="0" eaLnBrk="1" latinLnBrk="0" hangingPunct="1">
        <a:defRPr sz="1798" kern="1200">
          <a:solidFill>
            <a:schemeClr val="tx1"/>
          </a:solidFill>
          <a:latin typeface="+mn-lt"/>
          <a:ea typeface="+mn-ea"/>
          <a:cs typeface="+mn-cs"/>
        </a:defRPr>
      </a:lvl3pPr>
      <a:lvl4pPr marL="1370331" algn="l" defTabSz="913554" rtl="0" eaLnBrk="1" latinLnBrk="0" hangingPunct="1">
        <a:defRPr sz="1798" kern="1200">
          <a:solidFill>
            <a:schemeClr val="tx1"/>
          </a:solidFill>
          <a:latin typeface="+mn-lt"/>
          <a:ea typeface="+mn-ea"/>
          <a:cs typeface="+mn-cs"/>
        </a:defRPr>
      </a:lvl4pPr>
      <a:lvl5pPr marL="1827108" algn="l" defTabSz="913554" rtl="0" eaLnBrk="1" latinLnBrk="0" hangingPunct="1">
        <a:defRPr sz="1798" kern="1200">
          <a:solidFill>
            <a:schemeClr val="tx1"/>
          </a:solidFill>
          <a:latin typeface="+mn-lt"/>
          <a:ea typeface="+mn-ea"/>
          <a:cs typeface="+mn-cs"/>
        </a:defRPr>
      </a:lvl5pPr>
      <a:lvl6pPr marL="2283885" algn="l" defTabSz="913554" rtl="0" eaLnBrk="1" latinLnBrk="0" hangingPunct="1">
        <a:defRPr sz="1798" kern="1200">
          <a:solidFill>
            <a:schemeClr val="tx1"/>
          </a:solidFill>
          <a:latin typeface="+mn-lt"/>
          <a:ea typeface="+mn-ea"/>
          <a:cs typeface="+mn-cs"/>
        </a:defRPr>
      </a:lvl6pPr>
      <a:lvl7pPr marL="2740663" algn="l" defTabSz="913554" rtl="0" eaLnBrk="1" latinLnBrk="0" hangingPunct="1">
        <a:defRPr sz="1798" kern="1200">
          <a:solidFill>
            <a:schemeClr val="tx1"/>
          </a:solidFill>
          <a:latin typeface="+mn-lt"/>
          <a:ea typeface="+mn-ea"/>
          <a:cs typeface="+mn-cs"/>
        </a:defRPr>
      </a:lvl7pPr>
      <a:lvl8pPr marL="3197440" algn="l" defTabSz="913554" rtl="0" eaLnBrk="1" latinLnBrk="0" hangingPunct="1">
        <a:defRPr sz="1798" kern="1200">
          <a:solidFill>
            <a:schemeClr val="tx1"/>
          </a:solidFill>
          <a:latin typeface="+mn-lt"/>
          <a:ea typeface="+mn-ea"/>
          <a:cs typeface="+mn-cs"/>
        </a:defRPr>
      </a:lvl8pPr>
      <a:lvl9pPr marL="3654217" algn="l" defTabSz="913554" rtl="0" eaLnBrk="1" latinLnBrk="0" hangingPunct="1">
        <a:defRPr sz="179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Тема Offic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232FA55-4C96-42CE-81AC-E697BF02C4F9}" type="slidenum">
              <a:rPr lang="en-US"/>
              <a:t>‹#›</a:t>
            </a:fld>
            <a:endParaRPr lang="en-US"/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 rotWithShape="1">
          <a:blip r:embed="rId16"/>
          <a:stretch>
            <a:fillRect/>
          </a:stretch>
        </p:blipFill>
        <p:spPr>
          <a:xfrm>
            <a:off x="10470687" y="106965"/>
            <a:ext cx="1766225" cy="655293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59" r:id="rId9"/>
    <p:sldLayoutId id="2147483660" r:id="rId10"/>
    <p:sldLayoutId id="2147483661" r:id="rId11"/>
    <p:sldLayoutId id="2147483662" r:id="rId12"/>
    <p:sldLayoutId id="2147483663" r:id="rId13"/>
    <p:sldLayoutId id="2147483664" r:id="rId1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719666" y="2827365"/>
            <a:ext cx="7615767" cy="1583916"/>
          </a:xfrm>
          <a:prstGeom prst="rect">
            <a:avLst/>
          </a:prstGeom>
        </p:spPr>
        <p:txBody>
          <a:bodyPr/>
          <a:lstStyle/>
          <a:p>
            <a:r>
              <a:rPr lang="en-US" sz="3800">
                <a:latin typeface="Arial"/>
              </a:rPr>
              <a:t>Vite, Vite+, Oxc и Nginx</a:t>
            </a:r>
            <a:endParaRPr sz="3800">
              <a:latin typeface="Arial"/>
            </a:endParaRPr>
          </a:p>
        </p:txBody>
      </p:sp>
      <p:sp>
        <p:nvSpPr>
          <p:cNvPr id="4" name="Текст 3"/>
          <p:cNvSpPr>
            <a:spLocks noGrp="1"/>
          </p:cNvSpPr>
          <p:nvPr>
            <p:ph type="body" sz="quarter" idx="11"/>
          </p:nvPr>
        </p:nvSpPr>
        <p:spPr>
          <a:xfrm>
            <a:off x="719664" y="5096852"/>
            <a:ext cx="7615767" cy="291045"/>
          </a:xfrm>
          <a:prstGeom prst="rect">
            <a:avLst/>
          </a:prstGeom>
        </p:spPr>
        <p:txBody>
          <a:bodyPr/>
          <a:lstStyle/>
          <a:p>
            <a:r>
              <a:rPr lang="ru-RU"/>
              <a:t>Эрнандес Гарсия Даниэль Дельевич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12"/>
          </p:nvPr>
        </p:nvSpPr>
        <p:spPr>
          <a:xfrm>
            <a:off x="719664" y="5486289"/>
            <a:ext cx="7615767" cy="379226"/>
          </a:xfrm>
          <a:prstGeom prst="rect">
            <a:avLst/>
          </a:prstGeom>
        </p:spPr>
        <p:txBody>
          <a:bodyPr/>
          <a:lstStyle/>
          <a:p>
            <a:r>
              <a:rPr lang="ru-RU"/>
              <a:t>Веб-разработчик</a:t>
            </a:r>
            <a:endParaRPr lang="ru-RU"/>
          </a:p>
        </p:txBody>
      </p:sp>
      <p:sp>
        <p:nvSpPr>
          <p:cNvPr id="41" name="TextBox 4"/>
          <p:cNvSpPr txBox="1"/>
          <p:nvPr/>
        </p:nvSpPr>
        <p:spPr>
          <a:xfrm>
            <a:off x="719709" y="2336800"/>
            <a:ext cx="5080000" cy="3048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400" b="1">
                <a:solidFill>
                  <a:srgbClr val="1B75BB"/>
                </a:solidFill>
                <a:latin typeface="Arial"/>
              </a:rPr>
              <a:t>Лекция 1</a:t>
            </a:r>
            <a:endParaRPr sz="1400" b="1">
              <a:solidFill>
                <a:srgbClr val="1B75BB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TextBox 1"/>
          <p:cNvSpPr txBox="1"/>
          <p:nvPr/>
        </p:nvSpPr>
        <p:spPr>
          <a:xfrm>
            <a:off x="302133" y="238506"/>
            <a:ext cx="9906000" cy="3962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2000" b="1">
                <a:solidFill>
                  <a:srgbClr val="404040"/>
                </a:solidFill>
                <a:latin typeface="Arial"/>
              </a:rPr>
              <a:t>О чём лекция</a:t>
            </a:r>
            <a:endParaRPr sz="2000" b="1">
              <a:solidFill>
                <a:srgbClr val="404040"/>
              </a:solidFill>
              <a:latin typeface="Arial"/>
            </a:endParaRPr>
          </a:p>
        </p:txBody>
      </p:sp>
      <p:sp>
        <p:nvSpPr>
          <p:cNvPr id="43" name="TextBox 2"/>
          <p:cNvSpPr txBox="1"/>
          <p:nvPr/>
        </p:nvSpPr>
        <p:spPr>
          <a:xfrm>
            <a:off x="302133" y="736600"/>
            <a:ext cx="10160000" cy="23743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600">
                <a:solidFill>
                  <a:srgbClr val="404040"/>
                </a:solidFill>
                <a:latin typeface="Arial"/>
              </a:rPr>
              <a:t>Vite — dev-сервер и сборщик для современных фронтенд-проектов.</a:t>
            </a:r>
            <a:endParaRPr sz="1600">
              <a:solidFill>
                <a:srgbClr val="404040"/>
              </a:solidFill>
              <a:latin typeface="Arial"/>
            </a:endParaRP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600">
                <a:solidFill>
                  <a:srgbClr val="404040"/>
                </a:solidFill>
                <a:latin typeface="Arial"/>
              </a:rPr>
              <a:t>Vite+ — единый CLI для зависимостей, проверок, тестов и сборки.</a:t>
            </a:r>
            <a:endParaRPr sz="1600">
              <a:solidFill>
                <a:srgbClr val="404040"/>
              </a:solidFill>
              <a:latin typeface="Arial"/>
            </a:endParaRP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600">
                <a:solidFill>
                  <a:srgbClr val="404040"/>
                </a:solidFill>
                <a:latin typeface="Arial"/>
              </a:rPr>
              <a:t>Oxc — быстрые инструменты для JS/TS на Rust: Oxlint и Oxfmt.</a:t>
            </a:r>
            <a:endParaRPr sz="1600">
              <a:solidFill>
                <a:srgbClr val="404040"/>
              </a:solidFill>
              <a:latin typeface="Arial"/>
            </a:endParaRP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600">
                <a:solidFill>
                  <a:srgbClr val="404040"/>
                </a:solidFill>
                <a:latin typeface="Arial"/>
              </a:rPr>
              <a:t>Nginx — раздача статики, SPA-fallback, proxy и HTTPS.</a:t>
            </a:r>
            <a:endParaRPr sz="1600">
              <a:solidFill>
                <a:srgbClr val="404040"/>
              </a:solidFill>
              <a:latin typeface="Arial"/>
            </a:endParaRPr>
          </a:p>
          <a:p>
            <a:pPr>
              <a:lnSpc>
                <a:spcPct val="130000"/>
              </a:lnSpc>
              <a:spcAft>
                <a:spcPts val="600"/>
              </a:spcAft>
            </a:pPr>
            <a:endParaRPr sz="1600">
              <a:solidFill>
                <a:srgbClr val="404040"/>
              </a:solidFill>
              <a:latin typeface="Arial"/>
            </a:endParaRP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600">
                <a:solidFill>
                  <a:srgbClr val="404040"/>
                </a:solidFill>
                <a:latin typeface="Arial"/>
              </a:rPr>
              <a:t>Как устроены инструменты, как их настраивать и как собрать проект.</a:t>
            </a:r>
            <a:endParaRPr sz="1600">
              <a:solidFill>
                <a:srgbClr val="40404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TextBox 1"/>
          <p:cNvSpPr txBox="1"/>
          <p:nvPr/>
        </p:nvSpPr>
        <p:spPr>
          <a:xfrm>
            <a:off x="304800" y="1524000"/>
            <a:ext cx="3810000" cy="2590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999999"/>
                </a:solidFill>
                <a:latin typeface="Arial"/>
              </a:rPr>
              <a:t>РАЗДЕЛ</a:t>
            </a:r>
            <a:endParaRPr sz="1100" b="1">
              <a:solidFill>
                <a:srgbClr val="999999"/>
              </a:solidFill>
              <a:latin typeface="Arial"/>
            </a:endParaRPr>
          </a:p>
        </p:txBody>
      </p:sp>
      <p:sp>
        <p:nvSpPr>
          <p:cNvPr id="246" name="TextBox 2"/>
          <p:cNvSpPr txBox="1"/>
          <p:nvPr/>
        </p:nvSpPr>
        <p:spPr>
          <a:xfrm>
            <a:off x="304800" y="1778000"/>
            <a:ext cx="5080000" cy="14935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9200" b="1">
                <a:solidFill>
                  <a:srgbClr val="1B75BB"/>
                </a:solidFill>
                <a:latin typeface="Arial"/>
              </a:rPr>
              <a:t>01</a:t>
            </a:r>
            <a:endParaRPr sz="9200" b="1">
              <a:solidFill>
                <a:srgbClr val="1B75BB"/>
              </a:solidFill>
              <a:latin typeface="Arial"/>
            </a:endParaRPr>
          </a:p>
        </p:txBody>
      </p:sp>
      <p:sp>
        <p:nvSpPr>
          <p:cNvPr id="247" name="Rectangle 3"/>
          <p:cNvSpPr/>
          <p:nvPr/>
        </p:nvSpPr>
        <p:spPr>
          <a:xfrm>
            <a:off x="304800" y="3327400"/>
            <a:ext cx="1143000" cy="50800"/>
          </a:xfrm>
          <a:prstGeom prst="rect">
            <a:avLst/>
          </a:prstGeom>
          <a:solidFill>
            <a:srgbClr val="1B75B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248" name="TextBox 4"/>
          <p:cNvSpPr txBox="1"/>
          <p:nvPr/>
        </p:nvSpPr>
        <p:spPr>
          <a:xfrm>
            <a:off x="304800" y="3581400"/>
            <a:ext cx="8890000" cy="7315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4200" b="1">
                <a:solidFill>
                  <a:srgbClr val="404040"/>
                </a:solidFill>
                <a:latin typeface="Arial"/>
              </a:rPr>
              <a:t>Vite</a:t>
            </a:r>
            <a:endParaRPr sz="4200" b="1">
              <a:solidFill>
                <a:srgbClr val="404040"/>
              </a:solidFill>
              <a:latin typeface="Arial"/>
            </a:endParaRPr>
          </a:p>
        </p:txBody>
      </p:sp>
      <p:sp>
        <p:nvSpPr>
          <p:cNvPr id="249" name="TextBox 5"/>
          <p:cNvSpPr txBox="1"/>
          <p:nvPr/>
        </p:nvSpPr>
        <p:spPr>
          <a:xfrm>
            <a:off x="304800" y="4368800"/>
            <a:ext cx="8890000" cy="38404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600">
                <a:solidFill>
                  <a:srgbClr val="666666"/>
                </a:solidFill>
                <a:latin typeface="Arial"/>
              </a:rPr>
              <a:t>Dev-сервер, конфиг и сборка</a:t>
            </a:r>
            <a:endParaRPr sz="1600">
              <a:solidFill>
                <a:srgbClr val="666666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TextBox 1"/>
          <p:cNvSpPr txBox="1"/>
          <p:nvPr/>
        </p:nvSpPr>
        <p:spPr>
          <a:xfrm>
            <a:off x="302133" y="238506"/>
            <a:ext cx="9906000" cy="3962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2000" b="1">
                <a:solidFill>
                  <a:srgbClr val="404040"/>
                </a:solidFill>
                <a:latin typeface="Arial"/>
              </a:rPr>
              <a:t>Создание проекта</a:t>
            </a:r>
            <a:endParaRPr sz="2000" b="1">
              <a:solidFill>
                <a:srgbClr val="404040"/>
              </a:solidFill>
              <a:latin typeface="Arial"/>
            </a:endParaRPr>
          </a:p>
        </p:txBody>
      </p:sp>
      <p:sp>
        <p:nvSpPr>
          <p:cNvPr id="48" name="TextBox 2"/>
          <p:cNvSpPr txBox="1"/>
          <p:nvPr/>
        </p:nvSpPr>
        <p:spPr>
          <a:xfrm>
            <a:off x="302133" y="736600"/>
            <a:ext cx="10160000" cy="173558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22000"/>
              </a:lnSpc>
              <a:spcAft>
                <a:spcPts val="400"/>
              </a:spcAft>
            </a:pPr>
            <a:r>
              <a:rPr sz="1550">
                <a:solidFill>
                  <a:srgbClr val="404040"/>
                </a:solidFill>
                <a:latin typeface="Arial"/>
              </a:rPr>
              <a:t>Новый проект создаётся командой npm create vite@latest.</a:t>
            </a:r>
            <a:endParaRPr sz="1550">
              <a:solidFill>
                <a:srgbClr val="404040"/>
              </a:solidFill>
              <a:latin typeface="Arial"/>
            </a:endParaRPr>
          </a:p>
          <a:p>
            <a:pPr>
              <a:lnSpc>
                <a:spcPct val="122000"/>
              </a:lnSpc>
              <a:spcAft>
                <a:spcPts val="400"/>
              </a:spcAft>
            </a:pPr>
            <a:r>
              <a:rPr sz="1550">
                <a:solidFill>
                  <a:srgbClr val="404040"/>
                </a:solidFill>
                <a:latin typeface="Arial"/>
              </a:rPr>
              <a:t>В существующий проект Vite добавляют как dev-зависимость: npm install -D vite.</a:t>
            </a:r>
            <a:endParaRPr sz="1550">
              <a:solidFill>
                <a:srgbClr val="404040"/>
              </a:solidFill>
              <a:latin typeface="Arial"/>
            </a:endParaRPr>
          </a:p>
          <a:p>
            <a:pPr>
              <a:lnSpc>
                <a:spcPct val="122000"/>
              </a:lnSpc>
              <a:spcAft>
                <a:spcPts val="400"/>
              </a:spcAft>
            </a:pPr>
            <a:endParaRPr sz="1550">
              <a:solidFill>
                <a:srgbClr val="404040"/>
              </a:solidFill>
              <a:latin typeface="Arial"/>
            </a:endParaRPr>
          </a:p>
          <a:p>
            <a:pPr>
              <a:lnSpc>
                <a:spcPct val="122000"/>
              </a:lnSpc>
              <a:spcAft>
                <a:spcPts val="400"/>
              </a:spcAft>
            </a:pPr>
            <a:r>
              <a:rPr sz="1550">
                <a:solidFill>
                  <a:srgbClr val="404040"/>
                </a:solidFill>
                <a:latin typeface="Arial"/>
              </a:rPr>
              <a:t>Стартовые шаблоны: react, react-ts, vue, svelte, solid, preact, lit, vanilla.</a:t>
            </a:r>
            <a:endParaRPr sz="1550">
              <a:solidFill>
                <a:srgbClr val="404040"/>
              </a:solidFill>
              <a:latin typeface="Arial"/>
            </a:endParaRPr>
          </a:p>
          <a:p>
            <a:pPr>
              <a:lnSpc>
                <a:spcPct val="122000"/>
              </a:lnSpc>
              <a:spcAft>
                <a:spcPts val="400"/>
              </a:spcAft>
            </a:pPr>
            <a:r>
              <a:rPr sz="1550">
                <a:solidFill>
                  <a:srgbClr val="404040"/>
                </a:solidFill>
                <a:latin typeface="Arial"/>
              </a:rPr>
              <a:t>Vite — это dev-сервер и сборщик: в разработке отдаёт ESM по запросу, в сборке собирает бандл.</a:t>
            </a:r>
            <a:endParaRPr sz="1550">
              <a:solidFill>
                <a:srgbClr val="40404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TextBox 1"/>
          <p:cNvSpPr txBox="1"/>
          <p:nvPr/>
        </p:nvSpPr>
        <p:spPr>
          <a:xfrm>
            <a:off x="302133" y="238506"/>
            <a:ext cx="9906000" cy="3962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2000" b="1">
                <a:solidFill>
                  <a:srgbClr val="404040"/>
                </a:solidFill>
                <a:latin typeface="Arial"/>
              </a:rPr>
              <a:t>vite.config.ts</a:t>
            </a:r>
            <a:endParaRPr sz="2000" b="1">
              <a:solidFill>
                <a:srgbClr val="404040"/>
              </a:solidFill>
              <a:latin typeface="Arial"/>
            </a:endParaRPr>
          </a:p>
        </p:txBody>
      </p:sp>
      <p:sp>
        <p:nvSpPr>
          <p:cNvPr id="53" name="TextBox 2"/>
          <p:cNvSpPr txBox="1"/>
          <p:nvPr/>
        </p:nvSpPr>
        <p:spPr>
          <a:xfrm>
            <a:off x="302133" y="736600"/>
            <a:ext cx="10160000" cy="371871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22000"/>
              </a:lnSpc>
              <a:spcAft>
                <a:spcPts val="400"/>
              </a:spcAft>
            </a:pPr>
            <a:r>
              <a:rPr sz="1550">
                <a:solidFill>
                  <a:srgbClr val="404040"/>
                </a:solidFill>
                <a:latin typeface="Arial"/>
              </a:rPr>
              <a:t>Файл конфига TS-проекта — vite.config.ts.</a:t>
            </a:r>
            <a:endParaRPr sz="1550">
              <a:solidFill>
                <a:srgbClr val="404040"/>
              </a:solidFill>
              <a:latin typeface="Arial"/>
            </a:endParaRPr>
          </a:p>
          <a:p>
            <a:pPr>
              <a:lnSpc>
                <a:spcPct val="122000"/>
              </a:lnSpc>
              <a:spcAft>
                <a:spcPts val="400"/>
              </a:spcAft>
            </a:pPr>
            <a:r>
              <a:rPr sz="1550">
                <a:solidFill>
                  <a:srgbClr val="404040"/>
                </a:solidFill>
                <a:latin typeface="Arial"/>
              </a:rPr>
              <a:t>Минимальный конфиг: import { defineConfig } from 'vite'; export default defineConfig({}).</a:t>
            </a:r>
            <a:endParaRPr sz="1550">
              <a:solidFill>
                <a:srgbClr val="404040"/>
              </a:solidFill>
              <a:latin typeface="Arial"/>
            </a:endParaRPr>
          </a:p>
          <a:p>
            <a:pPr>
              <a:lnSpc>
                <a:spcPct val="122000"/>
              </a:lnSpc>
              <a:spcAft>
                <a:spcPts val="400"/>
              </a:spcAft>
            </a:pPr>
            <a:r>
              <a:rPr sz="1550">
                <a:solidFill>
                  <a:srgbClr val="404040"/>
                </a:solidFill>
                <a:latin typeface="Arial"/>
              </a:rPr>
              <a:t>Если конфиг зависит от команды, экспортируется функция: defineConfig(({ command }) =&gt; ({ ... })).</a:t>
            </a:r>
            <a:endParaRPr sz="1550">
              <a:solidFill>
                <a:srgbClr val="404040"/>
              </a:solidFill>
              <a:latin typeface="Arial"/>
            </a:endParaRPr>
          </a:p>
          <a:p>
            <a:pPr>
              <a:lnSpc>
                <a:spcPct val="122000"/>
              </a:lnSpc>
              <a:spcAft>
                <a:spcPts val="400"/>
              </a:spcAft>
            </a:pPr>
            <a:r>
              <a:rPr sz="1550">
                <a:solidFill>
                  <a:srgbClr val="404040"/>
                </a:solidFill>
                <a:latin typeface="Arial"/>
              </a:rPr>
              <a:t>command = serve при запуске vite, command = build при vite build.</a:t>
            </a:r>
            <a:endParaRPr sz="1550">
              <a:solidFill>
                <a:srgbClr val="404040"/>
              </a:solidFill>
              <a:latin typeface="Arial"/>
            </a:endParaRPr>
          </a:p>
          <a:p>
            <a:pPr>
              <a:lnSpc>
                <a:spcPct val="122000"/>
              </a:lnSpc>
              <a:spcAft>
                <a:spcPts val="400"/>
              </a:spcAft>
            </a:pPr>
            <a:endParaRPr sz="1550">
              <a:solidFill>
                <a:srgbClr val="404040"/>
              </a:solidFill>
              <a:latin typeface="Arial"/>
            </a:endParaRPr>
          </a:p>
          <a:p>
            <a:pPr>
              <a:lnSpc>
                <a:spcPct val="122000"/>
              </a:lnSpc>
              <a:spcAft>
                <a:spcPts val="400"/>
              </a:spcAft>
            </a:pPr>
            <a:r>
              <a:rPr sz="1550">
                <a:solidFill>
                  <a:srgbClr val="404040"/>
                </a:solidFill>
                <a:latin typeface="Arial"/>
              </a:rPr>
              <a:t>.env не читаются через process.env: Vite откладывает их загрузку, потому что набор файлов зависит от конфига.</a:t>
            </a:r>
            <a:endParaRPr sz="1550">
              <a:solidFill>
                <a:srgbClr val="404040"/>
              </a:solidFill>
              <a:latin typeface="Arial"/>
            </a:endParaRPr>
          </a:p>
          <a:p>
            <a:pPr>
              <a:lnSpc>
                <a:spcPct val="122000"/>
              </a:lnSpc>
              <a:spcAft>
                <a:spcPts val="400"/>
              </a:spcAft>
            </a:pPr>
            <a:r>
              <a:rPr sz="1550">
                <a:solidFill>
                  <a:srgbClr val="404040"/>
                </a:solidFill>
                <a:latin typeface="Arial"/>
              </a:rPr>
              <a:t>В process.env внутри конфига доступны только переменные окружения ОС.</a:t>
            </a:r>
            <a:endParaRPr sz="1550">
              <a:solidFill>
                <a:srgbClr val="404040"/>
              </a:solidFill>
              <a:latin typeface="Arial"/>
            </a:endParaRPr>
          </a:p>
          <a:p>
            <a:pPr>
              <a:lnSpc>
                <a:spcPct val="122000"/>
              </a:lnSpc>
              <a:spcAft>
                <a:spcPts val="400"/>
              </a:spcAft>
            </a:pPr>
            <a:r>
              <a:rPr sz="1550">
                <a:solidFill>
                  <a:srgbClr val="404040"/>
                </a:solidFill>
                <a:latin typeface="Arial"/>
              </a:rPr>
              <a:t>process.env в Node.js — глобальный объект с переменными окружения процесса.</a:t>
            </a:r>
            <a:endParaRPr sz="1550">
              <a:solidFill>
                <a:srgbClr val="404040"/>
              </a:solidFill>
              <a:latin typeface="Arial"/>
            </a:endParaRPr>
          </a:p>
          <a:p>
            <a:pPr>
              <a:lnSpc>
                <a:spcPct val="122000"/>
              </a:lnSpc>
              <a:spcAft>
                <a:spcPts val="400"/>
              </a:spcAft>
            </a:pPr>
            <a:r>
              <a:rPr sz="1550">
                <a:solidFill>
                  <a:srgbClr val="404040"/>
                </a:solidFill>
                <a:latin typeface="Arial"/>
              </a:rPr>
              <a:t>Вручную .env загружает loadEnv: const env = loadEnv(mode, process.cwd(), '').</a:t>
            </a:r>
            <a:endParaRPr sz="1550">
              <a:solidFill>
                <a:srgbClr val="404040"/>
              </a:solidFill>
              <a:latin typeface="Arial"/>
            </a:endParaRPr>
          </a:p>
          <a:p>
            <a:pPr>
              <a:lnSpc>
                <a:spcPct val="122000"/>
              </a:lnSpc>
              <a:spcAft>
                <a:spcPts val="400"/>
              </a:spcAft>
            </a:pPr>
            <a:r>
              <a:rPr sz="1550">
                <a:solidFill>
                  <a:srgbClr val="404040"/>
                </a:solidFill>
                <a:latin typeface="Arial"/>
              </a:rPr>
              <a:t>process.cwd() — текущий рабочий каталог процесса Node.js.</a:t>
            </a:r>
            <a:endParaRPr sz="1550">
              <a:solidFill>
                <a:srgbClr val="40404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extBox 1"/>
          <p:cNvSpPr txBox="1"/>
          <p:nvPr/>
        </p:nvSpPr>
        <p:spPr>
          <a:xfrm>
            <a:off x="302133" y="238506"/>
            <a:ext cx="9906000" cy="3962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2000" b="1">
                <a:solidFill>
                  <a:srgbClr val="404040"/>
                </a:solidFill>
                <a:latin typeface="Arial"/>
              </a:rPr>
              <a:t>root и base</a:t>
            </a:r>
            <a:endParaRPr sz="2000" b="1">
              <a:solidFill>
                <a:srgbClr val="404040"/>
              </a:solidFill>
              <a:latin typeface="Arial"/>
            </a:endParaRPr>
          </a:p>
        </p:txBody>
      </p:sp>
      <p:sp>
        <p:nvSpPr>
          <p:cNvPr id="58" name="TextBox 2"/>
          <p:cNvSpPr txBox="1"/>
          <p:nvPr/>
        </p:nvSpPr>
        <p:spPr>
          <a:xfrm>
            <a:off x="302133" y="736600"/>
            <a:ext cx="10160000" cy="139659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22000"/>
              </a:lnSpc>
              <a:spcAft>
                <a:spcPts val="400"/>
              </a:spcAft>
            </a:pPr>
            <a:r>
              <a:rPr sz="1550">
                <a:solidFill>
                  <a:srgbClr val="404040"/>
                </a:solidFill>
                <a:latin typeface="Arial"/>
              </a:rPr>
              <a:t>root — папка, в которой лежит index.html. По умолчанию — process.cwd(), каталог запуска команды.</a:t>
            </a:r>
            <a:endParaRPr sz="1550">
              <a:solidFill>
                <a:srgbClr val="404040"/>
              </a:solidFill>
              <a:latin typeface="Arial"/>
            </a:endParaRPr>
          </a:p>
          <a:p>
            <a:pPr>
              <a:lnSpc>
                <a:spcPct val="122000"/>
              </a:lnSpc>
              <a:spcAft>
                <a:spcPts val="400"/>
              </a:spcAft>
            </a:pPr>
            <a:r>
              <a:rPr sz="1550">
                <a:solidFill>
                  <a:srgbClr val="404040"/>
                </a:solidFill>
                <a:latin typeface="Arial"/>
              </a:rPr>
              <a:t>base — префикс для деплоя в подпапку, а не в корень домена. По умолчанию '/'.</a:t>
            </a:r>
            <a:endParaRPr sz="1550">
              <a:solidFill>
                <a:srgbClr val="404040"/>
              </a:solidFill>
              <a:latin typeface="Arial"/>
            </a:endParaRPr>
          </a:p>
          <a:p>
            <a:pPr>
              <a:lnSpc>
                <a:spcPct val="122000"/>
              </a:lnSpc>
              <a:spcAft>
                <a:spcPts val="400"/>
              </a:spcAft>
            </a:pPr>
            <a:r>
              <a:rPr sz="1550">
                <a:solidFill>
                  <a:srgbClr val="404040"/>
                </a:solidFill>
                <a:latin typeface="Arial"/>
              </a:rPr>
              <a:t>В сборке base подставляет префикс во все пути и задаёт import.meta.env.BASE_URL.</a:t>
            </a:r>
            <a:endParaRPr sz="1550">
              <a:solidFill>
                <a:srgbClr val="404040"/>
              </a:solidFill>
              <a:latin typeface="Arial"/>
            </a:endParaRPr>
          </a:p>
          <a:p>
            <a:pPr>
              <a:lnSpc>
                <a:spcPct val="122000"/>
              </a:lnSpc>
              <a:spcAft>
                <a:spcPts val="400"/>
              </a:spcAft>
            </a:pPr>
            <a:r>
              <a:rPr sz="1550">
                <a:solidFill>
                  <a:srgbClr val="404040"/>
                </a:solidFill>
                <a:latin typeface="Arial"/>
              </a:rPr>
              <a:t>В dev-сервере приложение поднимается по этому пути: localhost:5173/app/.</a:t>
            </a:r>
            <a:endParaRPr sz="1550">
              <a:solidFill>
                <a:srgbClr val="40404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TextBox 1"/>
          <p:cNvSpPr txBox="1"/>
          <p:nvPr/>
        </p:nvSpPr>
        <p:spPr>
          <a:xfrm>
            <a:off x="302133" y="238506"/>
            <a:ext cx="9906000" cy="3962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2000" b="1">
                <a:solidFill>
                  <a:srgbClr val="404040"/>
                </a:solidFill>
                <a:latin typeface="Arial"/>
              </a:rPr>
              <a:t>define</a:t>
            </a:r>
            <a:endParaRPr sz="2000" b="1">
              <a:solidFill>
                <a:srgbClr val="404040"/>
              </a:solidFill>
              <a:latin typeface="Arial"/>
            </a:endParaRPr>
          </a:p>
        </p:txBody>
      </p:sp>
      <p:sp>
        <p:nvSpPr>
          <p:cNvPr id="63" name="TextBox 2"/>
          <p:cNvSpPr txBox="1"/>
          <p:nvPr/>
        </p:nvSpPr>
        <p:spPr>
          <a:xfrm>
            <a:off x="302133" y="736600"/>
            <a:ext cx="10160000" cy="173558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22000"/>
              </a:lnSpc>
              <a:spcAft>
                <a:spcPts val="400"/>
              </a:spcAft>
            </a:pPr>
            <a:r>
              <a:rPr sz="1550">
                <a:solidFill>
                  <a:srgbClr val="404040"/>
                </a:solidFill>
                <a:latin typeface="Arial"/>
              </a:rPr>
              <a:t>define заменяет идентификаторы в коде на этапе сборки — аналог #define в C.</a:t>
            </a:r>
            <a:endParaRPr sz="1550">
              <a:solidFill>
                <a:srgbClr val="404040"/>
              </a:solidFill>
              <a:latin typeface="Arial"/>
            </a:endParaRPr>
          </a:p>
          <a:p>
            <a:pPr>
              <a:lnSpc>
                <a:spcPct val="122000"/>
              </a:lnSpc>
              <a:spcAft>
                <a:spcPts val="400"/>
              </a:spcAft>
            </a:pPr>
            <a:r>
              <a:rPr sz="1550">
                <a:solidFill>
                  <a:srgbClr val="404040"/>
                </a:solidFill>
                <a:latin typeface="Arial"/>
              </a:rPr>
              <a:t>В dev-режиме добавляет свойство в globalThis.</a:t>
            </a:r>
            <a:endParaRPr sz="1550">
              <a:solidFill>
                <a:srgbClr val="404040"/>
              </a:solidFill>
              <a:latin typeface="Arial"/>
            </a:endParaRPr>
          </a:p>
          <a:p>
            <a:pPr>
              <a:lnSpc>
                <a:spcPct val="122000"/>
              </a:lnSpc>
              <a:spcAft>
                <a:spcPts val="400"/>
              </a:spcAft>
            </a:pPr>
            <a:r>
              <a:rPr sz="1550">
                <a:solidFill>
                  <a:srgbClr val="404040"/>
                </a:solidFill>
                <a:latin typeface="Arial"/>
              </a:rPr>
              <a:t>В сборке меняет код на уровне AST, подставляя значение вместо идентификатора.</a:t>
            </a:r>
            <a:endParaRPr sz="1550">
              <a:solidFill>
                <a:srgbClr val="404040"/>
              </a:solidFill>
              <a:latin typeface="Arial"/>
            </a:endParaRPr>
          </a:p>
          <a:p>
            <a:pPr>
              <a:lnSpc>
                <a:spcPct val="122000"/>
              </a:lnSpc>
              <a:spcAft>
                <a:spcPts val="400"/>
              </a:spcAft>
            </a:pPr>
            <a:r>
              <a:rPr sz="1550">
                <a:solidFill>
                  <a:srgbClr val="404040"/>
                </a:solidFill>
                <a:latin typeface="Arial"/>
              </a:rPr>
              <a:t>Строковые значения подставляются как есть: строки нужно оборачивать в JSON.stringify.</a:t>
            </a:r>
            <a:endParaRPr sz="1550">
              <a:solidFill>
                <a:srgbClr val="404040"/>
              </a:solidFill>
              <a:latin typeface="Arial"/>
            </a:endParaRPr>
          </a:p>
          <a:p>
            <a:pPr>
              <a:lnSpc>
                <a:spcPct val="122000"/>
              </a:lnSpc>
              <a:spcAft>
                <a:spcPts val="400"/>
              </a:spcAft>
            </a:pPr>
            <a:r>
              <a:rPr sz="1550">
                <a:solidFill>
                  <a:srgbClr val="404040"/>
                </a:solidFill>
                <a:latin typeface="Arial"/>
              </a:rPr>
              <a:t>Глобалы из define типизируют в vite-env.d.ts.</a:t>
            </a:r>
            <a:endParaRPr sz="1550">
              <a:solidFill>
                <a:srgbClr val="404040"/>
              </a:solidFill>
              <a:latin typeface="Arial"/>
            </a:endParaRPr>
          </a:p>
        </p:txBody>
      </p:sp>
      <p:sp>
        <p:nvSpPr>
          <p:cNvPr id="64" name="Rectangle 3"/>
          <p:cNvSpPr/>
          <p:nvPr/>
        </p:nvSpPr>
        <p:spPr>
          <a:xfrm>
            <a:off x="302133" y="3683000"/>
            <a:ext cx="10160000" cy="5842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65" name="Rectangle 4"/>
          <p:cNvSpPr/>
          <p:nvPr/>
        </p:nvSpPr>
        <p:spPr>
          <a:xfrm>
            <a:off x="302133" y="3683000"/>
            <a:ext cx="50800" cy="584200"/>
          </a:xfrm>
          <a:prstGeom prst="rect">
            <a:avLst/>
          </a:prstGeom>
          <a:solidFill>
            <a:srgbClr val="1B75B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66" name="TextBox 5"/>
          <p:cNvSpPr txBox="1"/>
          <p:nvPr/>
        </p:nvSpPr>
        <p:spPr>
          <a:xfrm>
            <a:off x="508000" y="3810000"/>
            <a:ext cx="9779000" cy="31089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333333"/>
                </a:solidFill>
                <a:latin typeface="Consolas"/>
              </a:rPr>
              <a:t>define: { __APP_VERSION__: JSON.stringify('1.0.0') }</a:t>
            </a:r>
            <a:endParaRPr sz="1200">
              <a:solidFill>
                <a:srgbClr val="333333"/>
              </a:solidFill>
              <a:latin typeface="Consolas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TextBox 1"/>
          <p:cNvSpPr txBox="1"/>
          <p:nvPr/>
        </p:nvSpPr>
        <p:spPr>
          <a:xfrm>
            <a:off x="302133" y="238506"/>
            <a:ext cx="9906000" cy="3962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2000" b="1">
                <a:solidFill>
                  <a:srgbClr val="404040"/>
                </a:solidFill>
                <a:latin typeface="Arial"/>
              </a:rPr>
              <a:t>plugins и publicDir</a:t>
            </a:r>
            <a:endParaRPr sz="2000" b="1">
              <a:solidFill>
                <a:srgbClr val="404040"/>
              </a:solidFill>
              <a:latin typeface="Arial"/>
            </a:endParaRPr>
          </a:p>
        </p:txBody>
      </p:sp>
      <p:sp>
        <p:nvSpPr>
          <p:cNvPr id="74" name="TextBox 2"/>
          <p:cNvSpPr txBox="1"/>
          <p:nvPr/>
        </p:nvSpPr>
        <p:spPr>
          <a:xfrm>
            <a:off x="302133" y="736600"/>
            <a:ext cx="10160000" cy="173558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22000"/>
              </a:lnSpc>
              <a:spcAft>
                <a:spcPts val="400"/>
              </a:spcAft>
            </a:pPr>
            <a:r>
              <a:rPr sz="1550">
                <a:solidFill>
                  <a:srgbClr val="404040"/>
                </a:solidFill>
                <a:latin typeface="Arial"/>
              </a:rPr>
              <a:t>plugins — массив плагинов. false, null и undefined игнорируются: удобно для isDev &amp;&amp; plugin().</a:t>
            </a:r>
            <a:endParaRPr sz="1550">
              <a:solidFill>
                <a:srgbClr val="404040"/>
              </a:solidFill>
              <a:latin typeface="Arial"/>
            </a:endParaRPr>
          </a:p>
          <a:p>
            <a:pPr>
              <a:lnSpc>
                <a:spcPct val="122000"/>
              </a:lnSpc>
              <a:spcAft>
                <a:spcPts val="400"/>
              </a:spcAft>
            </a:pPr>
            <a:r>
              <a:rPr sz="1550">
                <a:solidFill>
                  <a:srgbClr val="404040"/>
                </a:solidFill>
                <a:latin typeface="Arial"/>
              </a:rPr>
              <a:t>Вложенные массивы распаковываются, Promise дожидается разрешения перед запуском.</a:t>
            </a:r>
            <a:endParaRPr sz="1550">
              <a:solidFill>
                <a:srgbClr val="404040"/>
              </a:solidFill>
              <a:latin typeface="Arial"/>
            </a:endParaRPr>
          </a:p>
          <a:p>
            <a:pPr>
              <a:lnSpc>
                <a:spcPct val="122000"/>
              </a:lnSpc>
              <a:spcAft>
                <a:spcPts val="400"/>
              </a:spcAft>
            </a:pPr>
            <a:r>
              <a:rPr sz="1550">
                <a:solidFill>
                  <a:srgbClr val="404040"/>
                </a:solidFill>
                <a:latin typeface="Arial"/>
              </a:rPr>
              <a:t>publicDir — папка статичных ассетов, которые отдаются как есть (favicon и т.п.). По умолчанию public.</a:t>
            </a:r>
            <a:endParaRPr sz="1550">
              <a:solidFill>
                <a:srgbClr val="404040"/>
              </a:solidFill>
              <a:latin typeface="Arial"/>
            </a:endParaRPr>
          </a:p>
          <a:p>
            <a:pPr>
              <a:lnSpc>
                <a:spcPct val="122000"/>
              </a:lnSpc>
              <a:spcAft>
                <a:spcPts val="400"/>
              </a:spcAft>
            </a:pPr>
            <a:r>
              <a:rPr sz="1550">
                <a:solidFill>
                  <a:srgbClr val="404040"/>
                </a:solidFill>
                <a:latin typeface="Arial"/>
              </a:rPr>
              <a:t>В dev-режиме файлы доступны по корню /, в сборке копируются в корень outDir (dist).</a:t>
            </a:r>
            <a:endParaRPr sz="1550">
              <a:solidFill>
                <a:srgbClr val="404040"/>
              </a:solidFill>
              <a:latin typeface="Arial"/>
            </a:endParaRPr>
          </a:p>
          <a:p>
            <a:pPr>
              <a:lnSpc>
                <a:spcPct val="122000"/>
              </a:lnSpc>
              <a:spcAft>
                <a:spcPts val="400"/>
              </a:spcAft>
            </a:pPr>
            <a:r>
              <a:rPr sz="1550">
                <a:solidFill>
                  <a:srgbClr val="404040"/>
                </a:solidFill>
                <a:latin typeface="Arial"/>
              </a:rPr>
              <a:t>publicDir: false отключает обслуживание и копирование папки.</a:t>
            </a:r>
            <a:endParaRPr sz="1550">
              <a:solidFill>
                <a:srgbClr val="40404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TextBox 1"/>
          <p:cNvSpPr txBox="1"/>
          <p:nvPr/>
        </p:nvSpPr>
        <p:spPr>
          <a:xfrm>
            <a:off x="302133" y="238506"/>
            <a:ext cx="9906000" cy="3962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2000" b="1">
                <a:solidFill>
                  <a:srgbClr val="404040"/>
                </a:solidFill>
                <a:latin typeface="Arial"/>
              </a:rPr>
              <a:t>resolve</a:t>
            </a:r>
            <a:endParaRPr sz="2000" b="1">
              <a:solidFill>
                <a:srgbClr val="404040"/>
              </a:solidFill>
              <a:latin typeface="Arial"/>
            </a:endParaRPr>
          </a:p>
        </p:txBody>
      </p:sp>
      <p:sp>
        <p:nvSpPr>
          <p:cNvPr id="79" name="TextBox 2"/>
          <p:cNvSpPr txBox="1"/>
          <p:nvPr/>
        </p:nvSpPr>
        <p:spPr>
          <a:xfrm>
            <a:off x="302133" y="736600"/>
            <a:ext cx="10160000" cy="105760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22000"/>
              </a:lnSpc>
              <a:spcAft>
                <a:spcPts val="400"/>
              </a:spcAft>
            </a:pPr>
            <a:r>
              <a:rPr sz="1550">
                <a:solidFill>
                  <a:srgbClr val="404040"/>
                </a:solidFill>
                <a:latin typeface="Arial"/>
              </a:rPr>
              <a:t>resolve.extensions позволяет опускать расширения в import. По умолчанию: .mjs, .js, .mts, .ts, .jsx, .tsx, .json.</a:t>
            </a:r>
            <a:endParaRPr sz="1550">
              <a:solidFill>
                <a:srgbClr val="404040"/>
              </a:solidFill>
              <a:latin typeface="Arial"/>
            </a:endParaRPr>
          </a:p>
          <a:p>
            <a:pPr>
              <a:lnSpc>
                <a:spcPct val="122000"/>
              </a:lnSpc>
              <a:spcAft>
                <a:spcPts val="400"/>
              </a:spcAft>
            </a:pPr>
            <a:r>
              <a:rPr sz="1550">
                <a:solidFill>
                  <a:srgbClr val="404040"/>
                </a:solidFill>
                <a:latin typeface="Arial"/>
              </a:rPr>
              <a:t>Если подходит несколько файлов, побеждает расширение, стоящее в списке раньше.</a:t>
            </a:r>
            <a:endParaRPr sz="1550">
              <a:solidFill>
                <a:srgbClr val="404040"/>
              </a:solidFill>
              <a:latin typeface="Arial"/>
            </a:endParaRPr>
          </a:p>
          <a:p>
            <a:pPr>
              <a:lnSpc>
                <a:spcPct val="122000"/>
              </a:lnSpc>
              <a:spcAft>
                <a:spcPts val="400"/>
              </a:spcAft>
            </a:pPr>
            <a:r>
              <a:rPr sz="1550">
                <a:solidFill>
                  <a:srgbClr val="404040"/>
                </a:solidFill>
                <a:latin typeface="Arial"/>
              </a:rPr>
              <a:t>resolve.tsconfigPaths включает алиасы из compilerOptions.paths в tsconfig.json. По умолчанию false.</a:t>
            </a:r>
            <a:endParaRPr sz="1550">
              <a:solidFill>
                <a:srgbClr val="40404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TextBox 1"/>
          <p:cNvSpPr txBox="1"/>
          <p:nvPr/>
        </p:nvSpPr>
        <p:spPr>
          <a:xfrm>
            <a:off x="302133" y="238506"/>
            <a:ext cx="9906000" cy="3962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2000" b="1">
                <a:solidFill>
                  <a:srgbClr val="404040"/>
                </a:solidFill>
                <a:latin typeface="Arial"/>
              </a:rPr>
              <a:t>clearScreen, envDir, envPrefix</a:t>
            </a:r>
            <a:endParaRPr sz="2000" b="1">
              <a:solidFill>
                <a:srgbClr val="404040"/>
              </a:solidFill>
              <a:latin typeface="Arial"/>
            </a:endParaRPr>
          </a:p>
        </p:txBody>
      </p:sp>
      <p:sp>
        <p:nvSpPr>
          <p:cNvPr id="84" name="TextBox 2"/>
          <p:cNvSpPr txBox="1"/>
          <p:nvPr/>
        </p:nvSpPr>
        <p:spPr>
          <a:xfrm>
            <a:off x="302133" y="736600"/>
            <a:ext cx="10160000" cy="173558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22000"/>
              </a:lnSpc>
              <a:spcAft>
                <a:spcPts val="400"/>
              </a:spcAft>
            </a:pPr>
            <a:r>
              <a:rPr sz="1550">
                <a:solidFill>
                  <a:srgbClr val="404040"/>
                </a:solidFill>
                <a:latin typeface="Arial"/>
              </a:rPr>
              <a:t>clearScreen очищает терминал при логах и пересборках. По умолчанию true.</a:t>
            </a:r>
            <a:endParaRPr sz="1550">
              <a:solidFill>
                <a:srgbClr val="404040"/>
              </a:solidFill>
              <a:latin typeface="Arial"/>
            </a:endParaRPr>
          </a:p>
          <a:p>
            <a:pPr>
              <a:lnSpc>
                <a:spcPct val="122000"/>
              </a:lnSpc>
              <a:spcAft>
                <a:spcPts val="400"/>
              </a:spcAft>
            </a:pPr>
            <a:r>
              <a:rPr sz="1550">
                <a:solidFill>
                  <a:srgbClr val="404040"/>
                </a:solidFill>
                <a:latin typeface="Arial"/>
              </a:rPr>
              <a:t>Отключают, чтобы не терять историю логов при HMR.</a:t>
            </a:r>
            <a:endParaRPr sz="1550">
              <a:solidFill>
                <a:srgbClr val="404040"/>
              </a:solidFill>
              <a:latin typeface="Arial"/>
            </a:endParaRPr>
          </a:p>
          <a:p>
            <a:pPr>
              <a:lnSpc>
                <a:spcPct val="122000"/>
              </a:lnSpc>
              <a:spcAft>
                <a:spcPts val="400"/>
              </a:spcAft>
            </a:pPr>
            <a:r>
              <a:rPr sz="1550">
                <a:solidFill>
                  <a:srgbClr val="404040"/>
                </a:solidFill>
                <a:latin typeface="Arial"/>
              </a:rPr>
              <a:t>envDir — папка, из которой грузятся .env. По умолчанию root; false отключает загрузку.</a:t>
            </a:r>
            <a:endParaRPr sz="1550">
              <a:solidFill>
                <a:srgbClr val="404040"/>
              </a:solidFill>
              <a:latin typeface="Arial"/>
            </a:endParaRPr>
          </a:p>
          <a:p>
            <a:pPr>
              <a:lnSpc>
                <a:spcPct val="122000"/>
              </a:lnSpc>
              <a:spcAft>
                <a:spcPts val="400"/>
              </a:spcAft>
            </a:pPr>
            <a:r>
              <a:rPr sz="1550">
                <a:solidFill>
                  <a:srgbClr val="404040"/>
                </a:solidFill>
                <a:latin typeface="Arial"/>
              </a:rPr>
              <a:t>envPrefix — префикс переменных, доступных в клиенте через import.meta.env. По умолчанию VITE_.</a:t>
            </a:r>
            <a:endParaRPr sz="1550">
              <a:solidFill>
                <a:srgbClr val="404040"/>
              </a:solidFill>
              <a:latin typeface="Arial"/>
            </a:endParaRPr>
          </a:p>
          <a:p>
            <a:pPr>
              <a:lnSpc>
                <a:spcPct val="122000"/>
              </a:lnSpc>
              <a:spcAft>
                <a:spcPts val="400"/>
              </a:spcAft>
            </a:pPr>
            <a:r>
              <a:rPr sz="1550">
                <a:solidFill>
                  <a:srgbClr val="404040"/>
                </a:solidFill>
                <a:latin typeface="Arial"/>
              </a:rPr>
              <a:t>Меняют, чтобы защитить серверные секреты от попадания в клиентский бандл.</a:t>
            </a:r>
            <a:endParaRPr sz="1550">
              <a:solidFill>
                <a:srgbClr val="40404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TextBox 1"/>
          <p:cNvSpPr txBox="1"/>
          <p:nvPr/>
        </p:nvSpPr>
        <p:spPr>
          <a:xfrm>
            <a:off x="302133" y="238506"/>
            <a:ext cx="9906000" cy="3962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2000" b="1">
                <a:solidFill>
                  <a:srgbClr val="404040"/>
                </a:solidFill>
                <a:latin typeface="Arial"/>
              </a:rPr>
              <a:t>Dev-сервер</a:t>
            </a:r>
            <a:endParaRPr sz="2000" b="1">
              <a:solidFill>
                <a:srgbClr val="404040"/>
              </a:solidFill>
              <a:latin typeface="Arial"/>
            </a:endParaRPr>
          </a:p>
        </p:txBody>
      </p:sp>
      <p:sp>
        <p:nvSpPr>
          <p:cNvPr id="89" name="TextBox 2"/>
          <p:cNvSpPr txBox="1"/>
          <p:nvPr/>
        </p:nvSpPr>
        <p:spPr>
          <a:xfrm>
            <a:off x="302133" y="736600"/>
            <a:ext cx="10160000" cy="275254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22000"/>
              </a:lnSpc>
              <a:spcAft>
                <a:spcPts val="400"/>
              </a:spcAft>
            </a:pPr>
            <a:r>
              <a:rPr sz="1550">
                <a:solidFill>
                  <a:srgbClr val="404040"/>
                </a:solidFill>
                <a:latin typeface="Arial"/>
              </a:rPr>
              <a:t>server.port по умолчанию 5173.</a:t>
            </a:r>
            <a:endParaRPr sz="1550">
              <a:solidFill>
                <a:srgbClr val="404040"/>
              </a:solidFill>
              <a:latin typeface="Arial"/>
            </a:endParaRPr>
          </a:p>
          <a:p>
            <a:pPr>
              <a:lnSpc>
                <a:spcPct val="122000"/>
              </a:lnSpc>
              <a:spcAft>
                <a:spcPts val="400"/>
              </a:spcAft>
            </a:pPr>
            <a:r>
              <a:rPr sz="1550">
                <a:solidFill>
                  <a:srgbClr val="404040"/>
                </a:solidFill>
                <a:latin typeface="Arial"/>
              </a:rPr>
              <a:t>strictPort запрещает занимать другой порт: если указанный занят, сервер не запустится.</a:t>
            </a:r>
            <a:endParaRPr sz="1550">
              <a:solidFill>
                <a:srgbClr val="404040"/>
              </a:solidFill>
              <a:latin typeface="Arial"/>
            </a:endParaRPr>
          </a:p>
          <a:p>
            <a:pPr>
              <a:lnSpc>
                <a:spcPct val="122000"/>
              </a:lnSpc>
              <a:spcAft>
                <a:spcPts val="400"/>
              </a:spcAft>
            </a:pPr>
            <a:r>
              <a:rPr sz="1550">
                <a:solidFill>
                  <a:srgbClr val="404040"/>
                </a:solidFill>
                <a:latin typeface="Arial"/>
              </a:rPr>
              <a:t>https включает TLS/HTTP2 для dev-сервера; принимает { key, cert } или плагин @vitejs/plugin-basic-ssl.</a:t>
            </a:r>
            <a:endParaRPr sz="1550">
              <a:solidFill>
                <a:srgbClr val="404040"/>
              </a:solidFill>
              <a:latin typeface="Arial"/>
            </a:endParaRPr>
          </a:p>
          <a:p>
            <a:pPr>
              <a:lnSpc>
                <a:spcPct val="122000"/>
              </a:lnSpc>
              <a:spcAft>
                <a:spcPts val="400"/>
              </a:spcAft>
            </a:pPr>
            <a:r>
              <a:rPr sz="1550">
                <a:solidFill>
                  <a:srgbClr val="404040"/>
                </a:solidFill>
                <a:latin typeface="Arial"/>
              </a:rPr>
              <a:t>open открывает приложение в браузере при старте; строковое значение — путь, который нужно открыть.</a:t>
            </a:r>
            <a:endParaRPr sz="1550">
              <a:solidFill>
                <a:srgbClr val="404040"/>
              </a:solidFill>
              <a:latin typeface="Arial"/>
            </a:endParaRPr>
          </a:p>
          <a:p>
            <a:pPr>
              <a:lnSpc>
                <a:spcPct val="122000"/>
              </a:lnSpc>
              <a:spcAft>
                <a:spcPts val="400"/>
              </a:spcAft>
            </a:pPr>
            <a:r>
              <a:rPr sz="1550">
                <a:solidFill>
                  <a:srgbClr val="404040"/>
                </a:solidFill>
                <a:latin typeface="Arial"/>
              </a:rPr>
              <a:t>cors настраивает CORS dev-сервера: true — любой origin, или объект настроек как CORS-middleware.</a:t>
            </a:r>
            <a:endParaRPr sz="1550">
              <a:solidFill>
                <a:srgbClr val="404040"/>
              </a:solidFill>
              <a:latin typeface="Arial"/>
            </a:endParaRPr>
          </a:p>
          <a:p>
            <a:pPr>
              <a:lnSpc>
                <a:spcPct val="122000"/>
              </a:lnSpc>
              <a:spcAft>
                <a:spcPts val="400"/>
              </a:spcAft>
            </a:pPr>
            <a:r>
              <a:rPr sz="1550">
                <a:solidFill>
                  <a:srgbClr val="404040"/>
                </a:solidFill>
                <a:latin typeface="Arial"/>
              </a:rPr>
              <a:t>proxy перенаправляет запросы dev-сервера на бэкенд, обходя CORS.</a:t>
            </a:r>
            <a:endParaRPr sz="1550">
              <a:solidFill>
                <a:srgbClr val="404040"/>
              </a:solidFill>
              <a:latin typeface="Arial"/>
            </a:endParaRPr>
          </a:p>
          <a:p>
            <a:pPr>
              <a:lnSpc>
                <a:spcPct val="122000"/>
              </a:lnSpc>
              <a:spcAft>
                <a:spcPts val="400"/>
              </a:spcAft>
            </a:pPr>
            <a:r>
              <a:rPr sz="1550">
                <a:solidFill>
                  <a:srgbClr val="404040"/>
                </a:solidFill>
                <a:latin typeface="Arial"/>
              </a:rPr>
              <a:t>forwardConsole перенаправляет события консоли браузера в терминал Vite; включается true.</a:t>
            </a:r>
            <a:endParaRPr sz="1550">
              <a:solidFill>
                <a:srgbClr val="404040"/>
              </a:solidFill>
              <a:latin typeface="Arial"/>
            </a:endParaRPr>
          </a:p>
          <a:p>
            <a:pPr>
              <a:lnSpc>
                <a:spcPct val="122000"/>
              </a:lnSpc>
              <a:spcAft>
                <a:spcPts val="400"/>
              </a:spcAft>
            </a:pPr>
            <a:r>
              <a:rPr sz="1550">
                <a:solidFill>
                  <a:srgbClr val="404040"/>
                </a:solidFill>
                <a:latin typeface="Arial"/>
              </a:rPr>
              <a:t>Полезен при разработке с AI-агентами — им становятся видны ошибки клиента.</a:t>
            </a:r>
            <a:endParaRPr sz="1550">
              <a:solidFill>
                <a:srgbClr val="40404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TextBox 1"/>
          <p:cNvSpPr txBox="1"/>
          <p:nvPr/>
        </p:nvSpPr>
        <p:spPr>
          <a:xfrm>
            <a:off x="302133" y="238506"/>
            <a:ext cx="9906000" cy="3962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2000" b="1">
                <a:solidFill>
                  <a:srgbClr val="404040"/>
                </a:solidFill>
                <a:latin typeface="Arial"/>
              </a:rPr>
              <a:t>Плагины и ассеты</a:t>
            </a:r>
            <a:endParaRPr sz="2000" b="1">
              <a:solidFill>
                <a:srgbClr val="404040"/>
              </a:solidFill>
              <a:latin typeface="Arial"/>
            </a:endParaRPr>
          </a:p>
        </p:txBody>
      </p:sp>
      <p:sp>
        <p:nvSpPr>
          <p:cNvPr id="94" name="TextBox 2"/>
          <p:cNvSpPr txBox="1"/>
          <p:nvPr/>
        </p:nvSpPr>
        <p:spPr>
          <a:xfrm>
            <a:off x="302133" y="736600"/>
            <a:ext cx="10160000" cy="173558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22000"/>
              </a:lnSpc>
              <a:spcAft>
                <a:spcPts val="400"/>
              </a:spcAft>
            </a:pPr>
            <a:r>
              <a:rPr sz="1550">
                <a:solidFill>
                  <a:srgbClr val="404040"/>
                </a:solidFill>
                <a:latin typeface="Arial"/>
              </a:rPr>
              <a:t>basicSsl() подключается в plugins:</a:t>
            </a:r>
            <a:endParaRPr sz="1550">
              <a:solidFill>
                <a:srgbClr val="404040"/>
              </a:solidFill>
              <a:latin typeface="Arial"/>
            </a:endParaRPr>
          </a:p>
          <a:p>
            <a:pPr>
              <a:lnSpc>
                <a:spcPct val="122000"/>
              </a:lnSpc>
              <a:spcAft>
                <a:spcPts val="400"/>
              </a:spcAft>
            </a:pPr>
            <a:r>
              <a:rPr sz="1550">
                <a:solidFill>
                  <a:srgbClr val="404040"/>
                </a:solidFill>
                <a:latin typeface="Arial"/>
              </a:rPr>
              <a:t>Плагин для React — @vitejs/plugin-react.</a:t>
            </a:r>
            <a:endParaRPr sz="1550">
              <a:solidFill>
                <a:srgbClr val="404040"/>
              </a:solidFill>
              <a:latin typeface="Arial"/>
            </a:endParaRPr>
          </a:p>
          <a:p>
            <a:pPr>
              <a:lnSpc>
                <a:spcPct val="122000"/>
              </a:lnSpc>
              <a:spcAft>
                <a:spcPts val="400"/>
              </a:spcAft>
            </a:pPr>
            <a:r>
              <a:rPr sz="1550">
                <a:solidFill>
                  <a:srgbClr val="404040"/>
                </a:solidFill>
                <a:latin typeface="Arial"/>
              </a:rPr>
              <a:t>Предварительно упакованные зависимости кэшируются в node_modules/.vite.</a:t>
            </a:r>
            <a:endParaRPr sz="1550">
              <a:solidFill>
                <a:srgbClr val="404040"/>
              </a:solidFill>
              <a:latin typeface="Arial"/>
            </a:endParaRPr>
          </a:p>
          <a:p>
            <a:pPr>
              <a:lnSpc>
                <a:spcPct val="122000"/>
              </a:lnSpc>
              <a:spcAft>
                <a:spcPts val="400"/>
              </a:spcAft>
            </a:pPr>
            <a:r>
              <a:rPr sz="1550">
                <a:solidFill>
                  <a:srgbClr val="404040"/>
                </a:solidFill>
                <a:latin typeface="Arial"/>
              </a:rPr>
              <a:t>import imgUrl from './img.png' при сборке превращается в URL файла.</a:t>
            </a:r>
            <a:endParaRPr sz="1550">
              <a:solidFill>
                <a:srgbClr val="404040"/>
              </a:solidFill>
              <a:latin typeface="Arial"/>
            </a:endParaRPr>
          </a:p>
          <a:p>
            <a:pPr>
              <a:lnSpc>
                <a:spcPct val="122000"/>
              </a:lnSpc>
              <a:spcAft>
                <a:spcPts val="400"/>
              </a:spcAft>
            </a:pPr>
            <a:r>
              <a:rPr sz="1550">
                <a:solidFill>
                  <a:srgbClr val="404040"/>
                </a:solidFill>
                <a:latin typeface="Arial"/>
              </a:rPr>
              <a:t>imgUrl используется как обычный URL, например в src тега &lt;img&gt;.</a:t>
            </a:r>
            <a:endParaRPr sz="1550">
              <a:solidFill>
                <a:srgbClr val="404040"/>
              </a:solidFill>
              <a:latin typeface="Arial"/>
            </a:endParaRPr>
          </a:p>
        </p:txBody>
      </p:sp>
      <p:sp>
        <p:nvSpPr>
          <p:cNvPr id="95" name="Rectangle 3"/>
          <p:cNvSpPr/>
          <p:nvPr/>
        </p:nvSpPr>
        <p:spPr>
          <a:xfrm>
            <a:off x="302133" y="3683000"/>
            <a:ext cx="10160000" cy="762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96" name="Rectangle 4"/>
          <p:cNvSpPr/>
          <p:nvPr/>
        </p:nvSpPr>
        <p:spPr>
          <a:xfrm>
            <a:off x="302133" y="3683000"/>
            <a:ext cx="50800" cy="762000"/>
          </a:xfrm>
          <a:prstGeom prst="rect">
            <a:avLst/>
          </a:prstGeom>
          <a:solidFill>
            <a:srgbClr val="1B75B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97" name="TextBox 5"/>
          <p:cNvSpPr txBox="1"/>
          <p:nvPr/>
        </p:nvSpPr>
        <p:spPr>
          <a:xfrm>
            <a:off x="508000" y="3810000"/>
            <a:ext cx="9779000" cy="53035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333333"/>
                </a:solidFill>
                <a:latin typeface="Consolas"/>
              </a:rPr>
              <a:t>import basicSsl from '@vitejs/plugin-basic-ssl';</a:t>
            </a:r>
            <a:endParaRPr sz="1200">
              <a:solidFill>
                <a:srgbClr val="333333"/>
              </a:solidFill>
              <a:latin typeface="Consolas"/>
            </a:endParaRPr>
          </a:p>
          <a:p>
            <a:pPr>
              <a:lnSpc>
                <a:spcPct val="120000"/>
              </a:lnSpc>
            </a:pPr>
            <a:r>
              <a:rPr sz="1200">
                <a:solidFill>
                  <a:srgbClr val="333333"/>
                </a:solidFill>
                <a:latin typeface="Consolas"/>
              </a:rPr>
              <a:t>export default { plugins: [basicSsl()] };</a:t>
            </a:r>
            <a:endParaRPr sz="1200">
              <a:solidFill>
                <a:srgbClr val="333333"/>
              </a:solidFill>
              <a:latin typeface="Consolas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TextBox 1"/>
          <p:cNvSpPr txBox="1"/>
          <p:nvPr/>
        </p:nvSpPr>
        <p:spPr>
          <a:xfrm>
            <a:off x="302133" y="238506"/>
            <a:ext cx="9906000" cy="3962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2000" b="1">
                <a:solidFill>
                  <a:srgbClr val="404040"/>
                </a:solidFill>
                <a:latin typeface="Arial"/>
              </a:rPr>
              <a:t>.env и режимы</a:t>
            </a:r>
            <a:endParaRPr sz="2000" b="1">
              <a:solidFill>
                <a:srgbClr val="404040"/>
              </a:solidFill>
              <a:latin typeface="Arial"/>
            </a:endParaRPr>
          </a:p>
        </p:txBody>
      </p:sp>
      <p:sp>
        <p:nvSpPr>
          <p:cNvPr id="105" name="TextBox 2"/>
          <p:cNvSpPr txBox="1"/>
          <p:nvPr/>
        </p:nvSpPr>
        <p:spPr>
          <a:xfrm>
            <a:off x="302133" y="736600"/>
            <a:ext cx="10160000" cy="309153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22000"/>
              </a:lnSpc>
              <a:spcAft>
                <a:spcPts val="400"/>
              </a:spcAft>
            </a:pPr>
            <a:r>
              <a:rPr sz="1550">
                <a:solidFill>
                  <a:srgbClr val="404040"/>
                </a:solidFill>
                <a:latin typeface="Arial"/>
              </a:rPr>
              <a:t>В клиентский код попадают переменные с префиксом VITE_.</a:t>
            </a:r>
            <a:endParaRPr sz="1550">
              <a:solidFill>
                <a:srgbClr val="404040"/>
              </a:solidFill>
              <a:latin typeface="Arial"/>
            </a:endParaRPr>
          </a:p>
          <a:p>
            <a:pPr>
              <a:lnSpc>
                <a:spcPct val="122000"/>
              </a:lnSpc>
              <a:spcAft>
                <a:spcPts val="400"/>
              </a:spcAft>
            </a:pPr>
            <a:r>
              <a:rPr sz="1550">
                <a:solidFill>
                  <a:srgbClr val="404040"/>
                </a:solidFill>
                <a:latin typeface="Arial"/>
              </a:rPr>
              <a:t>Все значения в import.meta.env — строки, даже числа и булевы.</a:t>
            </a:r>
            <a:endParaRPr sz="1550">
              <a:solidFill>
                <a:srgbClr val="404040"/>
              </a:solidFill>
              <a:latin typeface="Arial"/>
            </a:endParaRPr>
          </a:p>
          <a:p>
            <a:pPr>
              <a:lnSpc>
                <a:spcPct val="122000"/>
              </a:lnSpc>
              <a:spcAft>
                <a:spcPts val="400"/>
              </a:spcAft>
            </a:pPr>
            <a:r>
              <a:rPr sz="1550">
                <a:solidFill>
                  <a:srgbClr val="404040"/>
                </a:solidFill>
                <a:latin typeface="Arial"/>
              </a:rPr>
              <a:t>Сравнение с булевым — явное: import.meta.env.VITE_F === 'true'.</a:t>
            </a:r>
            <a:endParaRPr sz="1550">
              <a:solidFill>
                <a:srgbClr val="404040"/>
              </a:solidFill>
              <a:latin typeface="Arial"/>
            </a:endParaRPr>
          </a:p>
          <a:p>
            <a:pPr>
              <a:lnSpc>
                <a:spcPct val="122000"/>
              </a:lnSpc>
              <a:spcAft>
                <a:spcPts val="400"/>
              </a:spcAft>
            </a:pPr>
            <a:r>
              <a:rPr sz="1550">
                <a:solidFill>
                  <a:srgbClr val="404040"/>
                </a:solidFill>
                <a:latin typeface="Arial"/>
              </a:rPr>
              <a:t>Без префикса VITE_ переменная вернёт undefined.</a:t>
            </a:r>
            <a:endParaRPr sz="1550">
              <a:solidFill>
                <a:srgbClr val="404040"/>
              </a:solidFill>
              <a:latin typeface="Arial"/>
            </a:endParaRPr>
          </a:p>
          <a:p>
            <a:pPr>
              <a:lnSpc>
                <a:spcPct val="122000"/>
              </a:lnSpc>
              <a:spcAft>
                <a:spcPts val="400"/>
              </a:spcAft>
            </a:pPr>
            <a:r>
              <a:rPr sz="1550">
                <a:solidFill>
                  <a:srgbClr val="404040"/>
                </a:solidFill>
                <a:latin typeface="Arial"/>
              </a:rPr>
              <a:t>Приоритет загрузки: .env.[mode].local → .env.[mode] → .env.local → .env.</a:t>
            </a:r>
            <a:endParaRPr sz="1550">
              <a:solidFill>
                <a:srgbClr val="404040"/>
              </a:solidFill>
              <a:latin typeface="Arial"/>
            </a:endParaRPr>
          </a:p>
          <a:p>
            <a:pPr>
              <a:lnSpc>
                <a:spcPct val="122000"/>
              </a:lnSpc>
              <a:spcAft>
                <a:spcPts val="400"/>
              </a:spcAft>
            </a:pPr>
            <a:r>
              <a:rPr sz="1550">
                <a:solidFill>
                  <a:srgbClr val="404040"/>
                </a:solidFill>
                <a:latin typeface="Arial"/>
              </a:rPr>
              <a:t>MODE — текущий режим (development или production).</a:t>
            </a:r>
            <a:endParaRPr sz="1550">
              <a:solidFill>
                <a:srgbClr val="404040"/>
              </a:solidFill>
              <a:latin typeface="Arial"/>
            </a:endParaRPr>
          </a:p>
          <a:p>
            <a:pPr>
              <a:lnSpc>
                <a:spcPct val="122000"/>
              </a:lnSpc>
              <a:spcAft>
                <a:spcPts val="400"/>
              </a:spcAft>
            </a:pPr>
            <a:r>
              <a:rPr sz="1550">
                <a:solidFill>
                  <a:srgbClr val="404040"/>
                </a:solidFill>
                <a:latin typeface="Arial"/>
              </a:rPr>
              <a:t>BASE_URL — базовый URL приложения из опции base.</a:t>
            </a:r>
            <a:endParaRPr sz="1550">
              <a:solidFill>
                <a:srgbClr val="404040"/>
              </a:solidFill>
              <a:latin typeface="Arial"/>
            </a:endParaRPr>
          </a:p>
          <a:p>
            <a:pPr>
              <a:lnSpc>
                <a:spcPct val="122000"/>
              </a:lnSpc>
              <a:spcAft>
                <a:spcPts val="400"/>
              </a:spcAft>
            </a:pPr>
            <a:r>
              <a:rPr sz="1550">
                <a:solidFill>
                  <a:srgbClr val="404040"/>
                </a:solidFill>
                <a:latin typeface="Arial"/>
              </a:rPr>
              <a:t>PROD — true в продакшен-сборке, DEV — true в разработке, SSR — true при серверном рендеринге.</a:t>
            </a:r>
            <a:endParaRPr sz="1550">
              <a:solidFill>
                <a:srgbClr val="404040"/>
              </a:solidFill>
              <a:latin typeface="Arial"/>
            </a:endParaRPr>
          </a:p>
          <a:p>
            <a:pPr>
              <a:lnSpc>
                <a:spcPct val="122000"/>
              </a:lnSpc>
              <a:spcAft>
                <a:spcPts val="400"/>
              </a:spcAft>
            </a:pPr>
            <a:r>
              <a:rPr sz="1550">
                <a:solidFill>
                  <a:srgbClr val="404040"/>
                </a:solidFill>
                <a:latin typeface="Arial"/>
              </a:rPr>
              <a:t>Кастомные переменные — строки, встроенные PROD/DEV/SSR — boolean.</a:t>
            </a:r>
            <a:endParaRPr sz="1550">
              <a:solidFill>
                <a:srgbClr val="40404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TextBox 1"/>
          <p:cNvSpPr txBox="1"/>
          <p:nvPr/>
        </p:nvSpPr>
        <p:spPr>
          <a:xfrm>
            <a:off x="302133" y="238506"/>
            <a:ext cx="9906000" cy="3962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2000" b="1">
                <a:solidFill>
                  <a:srgbClr val="404040"/>
                </a:solidFill>
                <a:latin typeface="Arial"/>
              </a:rPr>
              <a:t>import.meta.env и типы</a:t>
            </a:r>
            <a:endParaRPr sz="2000" b="1">
              <a:solidFill>
                <a:srgbClr val="404040"/>
              </a:solidFill>
              <a:latin typeface="Arial"/>
            </a:endParaRPr>
          </a:p>
        </p:txBody>
      </p:sp>
      <p:sp>
        <p:nvSpPr>
          <p:cNvPr id="110" name="TextBox 2"/>
          <p:cNvSpPr txBox="1"/>
          <p:nvPr/>
        </p:nvSpPr>
        <p:spPr>
          <a:xfrm>
            <a:off x="302133" y="736600"/>
            <a:ext cx="10160000" cy="207457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22000"/>
              </a:lnSpc>
              <a:spcAft>
                <a:spcPts val="400"/>
              </a:spcAft>
            </a:pPr>
            <a:r>
              <a:rPr sz="1550">
                <a:solidFill>
                  <a:srgbClr val="404040"/>
                </a:solidFill>
                <a:latin typeface="Arial"/>
              </a:rPr>
              <a:t>import.meta — объект с метаданными текущего ESM-модуля.</a:t>
            </a:r>
            <a:endParaRPr sz="1550">
              <a:solidFill>
                <a:srgbClr val="404040"/>
              </a:solidFill>
              <a:latin typeface="Arial"/>
            </a:endParaRPr>
          </a:p>
          <a:p>
            <a:pPr>
              <a:lnSpc>
                <a:spcPct val="122000"/>
              </a:lnSpc>
              <a:spcAft>
                <a:spcPts val="400"/>
              </a:spcAft>
            </a:pPr>
            <a:r>
              <a:rPr sz="1550">
                <a:solidFill>
                  <a:srgbClr val="404040"/>
                </a:solidFill>
                <a:latin typeface="Arial"/>
              </a:rPr>
              <a:t>import.meta.env — объект с переменными окружения, который создаёт Vite.</a:t>
            </a:r>
            <a:endParaRPr sz="1550">
              <a:solidFill>
                <a:srgbClr val="404040"/>
              </a:solidFill>
              <a:latin typeface="Arial"/>
            </a:endParaRPr>
          </a:p>
          <a:p>
            <a:pPr>
              <a:lnSpc>
                <a:spcPct val="122000"/>
              </a:lnSpc>
              <a:spcAft>
                <a:spcPts val="400"/>
              </a:spcAft>
            </a:pPr>
            <a:r>
              <a:rPr sz="1550">
                <a:solidFill>
                  <a:srgbClr val="404040"/>
                </a:solidFill>
                <a:latin typeface="Arial"/>
              </a:rPr>
              <a:t>ImportMetaEnv — интерфейс, описывающий структуру import.meta.env.</a:t>
            </a:r>
            <a:endParaRPr sz="1550">
              <a:solidFill>
                <a:srgbClr val="404040"/>
              </a:solidFill>
              <a:latin typeface="Arial"/>
            </a:endParaRPr>
          </a:p>
          <a:p>
            <a:pPr>
              <a:lnSpc>
                <a:spcPct val="122000"/>
              </a:lnSpc>
              <a:spcAft>
                <a:spcPts val="400"/>
              </a:spcAft>
            </a:pPr>
            <a:r>
              <a:rPr sz="1550">
                <a:solidFill>
                  <a:srgbClr val="404040"/>
                </a:solidFill>
                <a:latin typeface="Arial"/>
              </a:rPr>
              <a:t>TypeScript по умолчанию знает только MODE, DEV, PROD, BASE_URL, SSR.</a:t>
            </a:r>
            <a:endParaRPr sz="1550">
              <a:solidFill>
                <a:srgbClr val="404040"/>
              </a:solidFill>
              <a:latin typeface="Arial"/>
            </a:endParaRPr>
          </a:p>
          <a:p>
            <a:pPr>
              <a:lnSpc>
                <a:spcPct val="122000"/>
              </a:lnSpc>
              <a:spcAft>
                <a:spcPts val="400"/>
              </a:spcAft>
            </a:pPr>
            <a:r>
              <a:rPr sz="1550">
                <a:solidFill>
                  <a:srgbClr val="404040"/>
                </a:solidFill>
                <a:latin typeface="Arial"/>
              </a:rPr>
              <a:t>Обращение к import.meta.env.VITE_APP_TITLE без типизации даёт ошибку типа.</a:t>
            </a:r>
            <a:endParaRPr sz="1550">
              <a:solidFill>
                <a:srgbClr val="404040"/>
              </a:solidFill>
              <a:latin typeface="Arial"/>
            </a:endParaRPr>
          </a:p>
          <a:p>
            <a:pPr>
              <a:lnSpc>
                <a:spcPct val="122000"/>
              </a:lnSpc>
              <a:spcAft>
                <a:spcPts val="400"/>
              </a:spcAft>
            </a:pPr>
            <a:r>
              <a:rPr sz="1550">
                <a:solidFill>
                  <a:srgbClr val="404040"/>
                </a:solidFill>
                <a:latin typeface="Arial"/>
              </a:rPr>
              <a:t>Кастомные переменные типизируют в src/vite-env.d.ts.</a:t>
            </a:r>
            <a:endParaRPr sz="1550">
              <a:solidFill>
                <a:srgbClr val="404040"/>
              </a:solidFill>
              <a:latin typeface="Arial"/>
            </a:endParaRPr>
          </a:p>
        </p:txBody>
      </p:sp>
      <p:sp>
        <p:nvSpPr>
          <p:cNvPr id="111" name="Rectangle 3"/>
          <p:cNvSpPr/>
          <p:nvPr/>
        </p:nvSpPr>
        <p:spPr>
          <a:xfrm>
            <a:off x="302133" y="3429000"/>
            <a:ext cx="10160000" cy="17145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112" name="Rectangle 4"/>
          <p:cNvSpPr/>
          <p:nvPr/>
        </p:nvSpPr>
        <p:spPr>
          <a:xfrm>
            <a:off x="302133" y="3429000"/>
            <a:ext cx="50800" cy="1714500"/>
          </a:xfrm>
          <a:prstGeom prst="rect">
            <a:avLst/>
          </a:prstGeom>
          <a:solidFill>
            <a:srgbClr val="1B75B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113" name="TextBox 5"/>
          <p:cNvSpPr txBox="1"/>
          <p:nvPr/>
        </p:nvSpPr>
        <p:spPr>
          <a:xfrm>
            <a:off x="508000" y="3556000"/>
            <a:ext cx="9779000" cy="140817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333333"/>
                </a:solidFill>
                <a:latin typeface="Consolas"/>
              </a:rPr>
              <a:t>interface ImportMetaEnv {</a:t>
            </a:r>
            <a:endParaRPr sz="1200">
              <a:solidFill>
                <a:srgbClr val="333333"/>
              </a:solidFill>
              <a:latin typeface="Consolas"/>
            </a:endParaRPr>
          </a:p>
          <a:p>
            <a:pPr>
              <a:lnSpc>
                <a:spcPct val="120000"/>
              </a:lnSpc>
            </a:pPr>
            <a:r>
              <a:rPr sz="1200">
                <a:solidFill>
                  <a:srgbClr val="333333"/>
                </a:solidFill>
                <a:latin typeface="Consolas"/>
              </a:rPr>
              <a:t>  readonly VITE_APP_TITLE: string</a:t>
            </a:r>
            <a:endParaRPr sz="1200">
              <a:solidFill>
                <a:srgbClr val="333333"/>
              </a:solidFill>
              <a:latin typeface="Consolas"/>
            </a:endParaRPr>
          </a:p>
          <a:p>
            <a:pPr>
              <a:lnSpc>
                <a:spcPct val="120000"/>
              </a:lnSpc>
            </a:pPr>
            <a:r>
              <a:rPr sz="1200">
                <a:solidFill>
                  <a:srgbClr val="333333"/>
                </a:solidFill>
                <a:latin typeface="Consolas"/>
              </a:rPr>
              <a:t>}</a:t>
            </a:r>
            <a:endParaRPr sz="1200">
              <a:solidFill>
                <a:srgbClr val="333333"/>
              </a:solidFill>
              <a:latin typeface="Consolas"/>
            </a:endParaRPr>
          </a:p>
          <a:p>
            <a:pPr>
              <a:lnSpc>
                <a:spcPct val="120000"/>
              </a:lnSpc>
            </a:pPr>
            <a:r>
              <a:rPr sz="1200">
                <a:solidFill>
                  <a:srgbClr val="333333"/>
                </a:solidFill>
                <a:latin typeface="Consolas"/>
              </a:rPr>
              <a:t>interface ImportMeta {</a:t>
            </a:r>
            <a:endParaRPr sz="1200">
              <a:solidFill>
                <a:srgbClr val="333333"/>
              </a:solidFill>
              <a:latin typeface="Consolas"/>
            </a:endParaRPr>
          </a:p>
          <a:p>
            <a:pPr>
              <a:lnSpc>
                <a:spcPct val="120000"/>
              </a:lnSpc>
            </a:pPr>
            <a:r>
              <a:rPr sz="1200">
                <a:solidFill>
                  <a:srgbClr val="333333"/>
                </a:solidFill>
                <a:latin typeface="Consolas"/>
              </a:rPr>
              <a:t>  readonly env: ImportMetaEnv</a:t>
            </a:r>
            <a:endParaRPr sz="1200">
              <a:solidFill>
                <a:srgbClr val="333333"/>
              </a:solidFill>
              <a:latin typeface="Consolas"/>
            </a:endParaRPr>
          </a:p>
          <a:p>
            <a:pPr>
              <a:lnSpc>
                <a:spcPct val="120000"/>
              </a:lnSpc>
            </a:pPr>
            <a:r>
              <a:rPr sz="1200">
                <a:solidFill>
                  <a:srgbClr val="333333"/>
                </a:solidFill>
                <a:latin typeface="Consolas"/>
              </a:rPr>
              <a:t>}</a:t>
            </a:r>
            <a:endParaRPr sz="1200">
              <a:solidFill>
                <a:srgbClr val="333333"/>
              </a:solidFill>
              <a:latin typeface="Consolas"/>
            </a:endParaRPr>
          </a:p>
        </p:txBody>
      </p:sp>
      <p:sp>
        <p:nvSpPr>
          <p:cNvPr id="114" name="TextBox 6"/>
          <p:cNvSpPr txBox="1"/>
          <p:nvPr/>
        </p:nvSpPr>
        <p:spPr>
          <a:xfrm>
            <a:off x="302133" y="5334000"/>
            <a:ext cx="10160000" cy="3581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400">
                <a:solidFill>
                  <a:srgbClr val="666666"/>
                </a:solidFill>
                <a:latin typeface="Arial"/>
              </a:rPr>
              <a:t>Директива /// &lt;reference types="vite/client" /&gt; подключает типы встроенных import.meta.env и ассетов.</a:t>
            </a:r>
            <a:endParaRPr sz="1400">
              <a:solidFill>
                <a:srgbClr val="666666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TextBox 1"/>
          <p:cNvSpPr txBox="1"/>
          <p:nvPr/>
        </p:nvSpPr>
        <p:spPr>
          <a:xfrm>
            <a:off x="302133" y="238506"/>
            <a:ext cx="9906000" cy="3962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2000" b="1">
                <a:solidFill>
                  <a:srgbClr val="404040"/>
                </a:solidFill>
                <a:latin typeface="Arial"/>
              </a:rPr>
              <a:t>Препроцессоры</a:t>
            </a:r>
            <a:endParaRPr sz="2000" b="1">
              <a:solidFill>
                <a:srgbClr val="404040"/>
              </a:solidFill>
              <a:latin typeface="Arial"/>
            </a:endParaRPr>
          </a:p>
        </p:txBody>
      </p:sp>
      <p:sp>
        <p:nvSpPr>
          <p:cNvPr id="123" name="TextBox 2"/>
          <p:cNvSpPr txBox="1"/>
          <p:nvPr/>
        </p:nvSpPr>
        <p:spPr>
          <a:xfrm>
            <a:off x="302133" y="736600"/>
            <a:ext cx="10160000" cy="105760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22000"/>
              </a:lnSpc>
              <a:spcAft>
                <a:spcPts val="400"/>
              </a:spcAft>
            </a:pPr>
            <a:r>
              <a:rPr sz="1550">
                <a:solidFill>
                  <a:srgbClr val="404040"/>
                </a:solidFill>
                <a:latin typeface="Arial"/>
              </a:rPr>
              <a:t>Для .scss, .sass, .less и .styl плагины не нужны — поддержка встроена.</a:t>
            </a:r>
            <a:endParaRPr sz="1550">
              <a:solidFill>
                <a:srgbClr val="404040"/>
              </a:solidFill>
              <a:latin typeface="Arial"/>
            </a:endParaRPr>
          </a:p>
          <a:p>
            <a:pPr>
              <a:lnSpc>
                <a:spcPct val="122000"/>
              </a:lnSpc>
              <a:spcAft>
                <a:spcPts val="400"/>
              </a:spcAft>
            </a:pPr>
            <a:r>
              <a:rPr sz="1550">
                <a:solidFill>
                  <a:srgbClr val="404040"/>
                </a:solidFill>
                <a:latin typeface="Arial"/>
              </a:rPr>
              <a:t>Нужно установить сам препроцессор как dev-зависимость: npm install -D sass.</a:t>
            </a:r>
            <a:endParaRPr sz="1550">
              <a:solidFill>
                <a:srgbClr val="404040"/>
              </a:solidFill>
              <a:latin typeface="Arial"/>
            </a:endParaRPr>
          </a:p>
          <a:p>
            <a:pPr>
              <a:lnSpc>
                <a:spcPct val="122000"/>
              </a:lnSpc>
              <a:spcAft>
                <a:spcPts val="400"/>
              </a:spcAft>
            </a:pPr>
            <a:r>
              <a:rPr sz="1550">
                <a:solidFill>
                  <a:srgbClr val="404040"/>
                </a:solidFill>
                <a:latin typeface="Arial"/>
              </a:rPr>
              <a:t>Vite учитывает алиасы из своего конфига в @import для Sass/Less.</a:t>
            </a:r>
            <a:endParaRPr sz="1550">
              <a:solidFill>
                <a:srgbClr val="40404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TextBox 1"/>
          <p:cNvSpPr txBox="1"/>
          <p:nvPr/>
        </p:nvSpPr>
        <p:spPr>
          <a:xfrm>
            <a:off x="304800" y="1524000"/>
            <a:ext cx="3810000" cy="2590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999999"/>
                </a:solidFill>
                <a:latin typeface="Arial"/>
              </a:rPr>
              <a:t>РАЗДЕЛ</a:t>
            </a:r>
            <a:endParaRPr sz="1100" b="1">
              <a:solidFill>
                <a:srgbClr val="999999"/>
              </a:solidFill>
              <a:latin typeface="Arial"/>
            </a:endParaRPr>
          </a:p>
        </p:txBody>
      </p:sp>
      <p:sp>
        <p:nvSpPr>
          <p:cNvPr id="238" name="TextBox 2"/>
          <p:cNvSpPr txBox="1"/>
          <p:nvPr/>
        </p:nvSpPr>
        <p:spPr>
          <a:xfrm>
            <a:off x="304800" y="1778000"/>
            <a:ext cx="5080000" cy="14935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9200" b="1">
                <a:solidFill>
                  <a:srgbClr val="1B75BB"/>
                </a:solidFill>
                <a:latin typeface="Arial"/>
              </a:rPr>
              <a:t>02</a:t>
            </a:r>
            <a:endParaRPr sz="9200" b="1">
              <a:solidFill>
                <a:srgbClr val="1B75BB"/>
              </a:solidFill>
              <a:latin typeface="Arial"/>
            </a:endParaRPr>
          </a:p>
        </p:txBody>
      </p:sp>
      <p:sp>
        <p:nvSpPr>
          <p:cNvPr id="239" name="Rectangle 3"/>
          <p:cNvSpPr/>
          <p:nvPr/>
        </p:nvSpPr>
        <p:spPr>
          <a:xfrm>
            <a:off x="304800" y="3327400"/>
            <a:ext cx="1143000" cy="50800"/>
          </a:xfrm>
          <a:prstGeom prst="rect">
            <a:avLst/>
          </a:prstGeom>
          <a:solidFill>
            <a:srgbClr val="1B75B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240" name="TextBox 4"/>
          <p:cNvSpPr txBox="1"/>
          <p:nvPr/>
        </p:nvSpPr>
        <p:spPr>
          <a:xfrm>
            <a:off x="304800" y="3581400"/>
            <a:ext cx="8890000" cy="7315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4200" b="1">
                <a:solidFill>
                  <a:srgbClr val="404040"/>
                </a:solidFill>
                <a:latin typeface="Arial"/>
              </a:rPr>
              <a:t>Vite+</a:t>
            </a:r>
            <a:endParaRPr sz="4200" b="1">
              <a:solidFill>
                <a:srgbClr val="404040"/>
              </a:solidFill>
              <a:latin typeface="Arial"/>
            </a:endParaRPr>
          </a:p>
        </p:txBody>
      </p:sp>
      <p:sp>
        <p:nvSpPr>
          <p:cNvPr id="241" name="TextBox 5"/>
          <p:cNvSpPr txBox="1"/>
          <p:nvPr/>
        </p:nvSpPr>
        <p:spPr>
          <a:xfrm>
            <a:off x="304800" y="4368800"/>
            <a:ext cx="8890000" cy="38404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600">
                <a:solidFill>
                  <a:srgbClr val="666666"/>
                </a:solidFill>
                <a:latin typeface="Arial"/>
              </a:rPr>
              <a:t>Единый CLI для проекта</a:t>
            </a:r>
            <a:endParaRPr sz="1600">
              <a:solidFill>
                <a:srgbClr val="666666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TextBox 1"/>
          <p:cNvSpPr txBox="1"/>
          <p:nvPr/>
        </p:nvSpPr>
        <p:spPr>
          <a:xfrm>
            <a:off x="302133" y="238506"/>
            <a:ext cx="9906000" cy="3962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2000" b="1">
                <a:solidFill>
                  <a:srgbClr val="404040"/>
                </a:solidFill>
                <a:latin typeface="Arial"/>
              </a:rPr>
              <a:t>Что такое Vite+</a:t>
            </a:r>
            <a:endParaRPr sz="2000" b="1">
              <a:solidFill>
                <a:srgbClr val="404040"/>
              </a:solidFill>
              <a:latin typeface="Arial"/>
            </a:endParaRPr>
          </a:p>
        </p:txBody>
      </p:sp>
      <p:sp>
        <p:nvSpPr>
          <p:cNvPr id="128" name="TextBox 2"/>
          <p:cNvSpPr txBox="1"/>
          <p:nvPr/>
        </p:nvSpPr>
        <p:spPr>
          <a:xfrm>
            <a:off x="302133" y="736600"/>
            <a:ext cx="10160000" cy="207457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22000"/>
              </a:lnSpc>
              <a:spcAft>
                <a:spcPts val="400"/>
              </a:spcAft>
            </a:pPr>
            <a:r>
              <a:rPr sz="1550">
                <a:solidFill>
                  <a:srgbClr val="404040"/>
                </a:solidFill>
                <a:latin typeface="Arial"/>
              </a:rPr>
              <a:t>Vite+ состоит из глобального CLI vp и локального пакета vite-plus в каждом проекте.</a:t>
            </a:r>
            <a:endParaRPr sz="1550">
              <a:solidFill>
                <a:srgbClr val="404040"/>
              </a:solidFill>
              <a:latin typeface="Arial"/>
            </a:endParaRPr>
          </a:p>
          <a:p>
            <a:pPr>
              <a:lnSpc>
                <a:spcPct val="122000"/>
              </a:lnSpc>
              <a:spcAft>
                <a:spcPts val="400"/>
              </a:spcAft>
            </a:pPr>
            <a:r>
              <a:rPr sz="1550">
                <a:solidFill>
                  <a:srgbClr val="404040"/>
                </a:solidFill>
                <a:latin typeface="Arial"/>
              </a:rPr>
              <a:t>Конфигурация — в стандартном vite.config.ts.</a:t>
            </a:r>
            <a:endParaRPr sz="1550">
              <a:solidFill>
                <a:srgbClr val="404040"/>
              </a:solidFill>
              <a:latin typeface="Arial"/>
            </a:endParaRPr>
          </a:p>
          <a:p>
            <a:pPr>
              <a:lnSpc>
                <a:spcPct val="122000"/>
              </a:lnSpc>
              <a:spcAft>
                <a:spcPts val="400"/>
              </a:spcAft>
            </a:pPr>
            <a:r>
              <a:rPr sz="1550">
                <a:solidFill>
                  <a:srgbClr val="404040"/>
                </a:solidFill>
                <a:latin typeface="Arial"/>
              </a:rPr>
              <a:t>Запуск dev-сервера — vp dev.</a:t>
            </a:r>
            <a:endParaRPr sz="1550">
              <a:solidFill>
                <a:srgbClr val="404040"/>
              </a:solidFill>
              <a:latin typeface="Arial"/>
            </a:endParaRPr>
          </a:p>
          <a:p>
            <a:pPr>
              <a:lnSpc>
                <a:spcPct val="122000"/>
              </a:lnSpc>
              <a:spcAft>
                <a:spcPts val="400"/>
              </a:spcAft>
            </a:pPr>
            <a:r>
              <a:rPr sz="1550">
                <a:solidFill>
                  <a:srgbClr val="404040"/>
                </a:solidFill>
                <a:latin typeface="Arial"/>
              </a:rPr>
              <a:t>Сборка — vp build.</a:t>
            </a:r>
            <a:endParaRPr sz="1550">
              <a:solidFill>
                <a:srgbClr val="404040"/>
              </a:solidFill>
              <a:latin typeface="Arial"/>
            </a:endParaRPr>
          </a:p>
          <a:p>
            <a:pPr>
              <a:lnSpc>
                <a:spcPct val="122000"/>
              </a:lnSpc>
              <a:spcAft>
                <a:spcPts val="400"/>
              </a:spcAft>
            </a:pPr>
            <a:r>
              <a:rPr sz="1550">
                <a:solidFill>
                  <a:srgbClr val="404040"/>
                </a:solidFill>
                <a:latin typeface="Arial"/>
              </a:rPr>
              <a:t>Обновление глобального CLI — vp upgrade.</a:t>
            </a:r>
            <a:endParaRPr sz="1550">
              <a:solidFill>
                <a:srgbClr val="404040"/>
              </a:solidFill>
              <a:latin typeface="Arial"/>
            </a:endParaRPr>
          </a:p>
          <a:p>
            <a:pPr>
              <a:lnSpc>
                <a:spcPct val="122000"/>
              </a:lnSpc>
              <a:spcAft>
                <a:spcPts val="400"/>
              </a:spcAft>
            </a:pPr>
            <a:r>
              <a:rPr sz="1550">
                <a:solidFill>
                  <a:srgbClr val="404040"/>
                </a:solidFill>
                <a:latin typeface="Arial"/>
              </a:rPr>
              <a:t>Для CI — voidzero-dev/setup-vp.</a:t>
            </a:r>
            <a:endParaRPr sz="1550">
              <a:solidFill>
                <a:srgbClr val="40404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TextBox 1"/>
          <p:cNvSpPr txBox="1"/>
          <p:nvPr/>
        </p:nvSpPr>
        <p:spPr>
          <a:xfrm>
            <a:off x="302133" y="238506"/>
            <a:ext cx="9906000" cy="3962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2000" b="1">
                <a:solidFill>
                  <a:srgbClr val="404040"/>
                </a:solidFill>
                <a:latin typeface="Arial"/>
              </a:rPr>
              <a:t>Зависимости</a:t>
            </a:r>
            <a:endParaRPr sz="2000" b="1">
              <a:solidFill>
                <a:srgbClr val="404040"/>
              </a:solidFill>
              <a:latin typeface="Arial"/>
            </a:endParaRPr>
          </a:p>
        </p:txBody>
      </p:sp>
      <p:sp>
        <p:nvSpPr>
          <p:cNvPr id="133" name="TextBox 2"/>
          <p:cNvSpPr txBox="1"/>
          <p:nvPr/>
        </p:nvSpPr>
        <p:spPr>
          <a:xfrm>
            <a:off x="302133" y="736600"/>
            <a:ext cx="10160000" cy="207457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22000"/>
              </a:lnSpc>
              <a:spcAft>
                <a:spcPts val="400"/>
              </a:spcAft>
            </a:pPr>
            <a:r>
              <a:rPr sz="1550">
                <a:solidFill>
                  <a:srgbClr val="404040"/>
                </a:solidFill>
                <a:latin typeface="Arial"/>
              </a:rPr>
              <a:t>vp add &lt;pkg&gt; — добавить пакет.</a:t>
            </a:r>
            <a:endParaRPr sz="1550">
              <a:solidFill>
                <a:srgbClr val="404040"/>
              </a:solidFill>
              <a:latin typeface="Arial"/>
            </a:endParaRPr>
          </a:p>
          <a:p>
            <a:pPr>
              <a:lnSpc>
                <a:spcPct val="122000"/>
              </a:lnSpc>
              <a:spcAft>
                <a:spcPts val="400"/>
              </a:spcAft>
            </a:pPr>
            <a:r>
              <a:rPr sz="1550">
                <a:solidFill>
                  <a:srgbClr val="404040"/>
                </a:solidFill>
                <a:latin typeface="Arial"/>
              </a:rPr>
              <a:t>vp add -D &lt;pkg&gt; — добавить dev-пакет.</a:t>
            </a:r>
            <a:endParaRPr sz="1550">
              <a:solidFill>
                <a:srgbClr val="404040"/>
              </a:solidFill>
              <a:latin typeface="Arial"/>
            </a:endParaRPr>
          </a:p>
          <a:p>
            <a:pPr>
              <a:lnSpc>
                <a:spcPct val="122000"/>
              </a:lnSpc>
              <a:spcAft>
                <a:spcPts val="400"/>
              </a:spcAft>
            </a:pPr>
            <a:r>
              <a:rPr sz="1550">
                <a:solidFill>
                  <a:srgbClr val="404040"/>
                </a:solidFill>
                <a:latin typeface="Arial"/>
              </a:rPr>
              <a:t>vp remove &lt;pkg&gt; — удалить пакет.</a:t>
            </a:r>
            <a:endParaRPr sz="1550">
              <a:solidFill>
                <a:srgbClr val="404040"/>
              </a:solidFill>
              <a:latin typeface="Arial"/>
            </a:endParaRPr>
          </a:p>
          <a:p>
            <a:pPr>
              <a:lnSpc>
                <a:spcPct val="122000"/>
              </a:lnSpc>
              <a:spcAft>
                <a:spcPts val="400"/>
              </a:spcAft>
            </a:pPr>
            <a:r>
              <a:rPr sz="1550">
                <a:solidFill>
                  <a:srgbClr val="404040"/>
                </a:solidFill>
                <a:latin typeface="Arial"/>
              </a:rPr>
              <a:t>vp update — обновить зависимости.</a:t>
            </a:r>
            <a:endParaRPr sz="1550">
              <a:solidFill>
                <a:srgbClr val="404040"/>
              </a:solidFill>
              <a:latin typeface="Arial"/>
            </a:endParaRPr>
          </a:p>
          <a:p>
            <a:pPr>
              <a:lnSpc>
                <a:spcPct val="122000"/>
              </a:lnSpc>
              <a:spcAft>
                <a:spcPts val="400"/>
              </a:spcAft>
            </a:pPr>
            <a:r>
              <a:rPr sz="1550">
                <a:solidFill>
                  <a:srgbClr val="404040"/>
                </a:solidFill>
                <a:latin typeface="Arial"/>
              </a:rPr>
              <a:t>Менеджер пакетов задаётся полем devEngines.packageManager в package.json.</a:t>
            </a:r>
            <a:endParaRPr sz="1550">
              <a:solidFill>
                <a:srgbClr val="404040"/>
              </a:solidFill>
              <a:latin typeface="Arial"/>
            </a:endParaRPr>
          </a:p>
          <a:p>
            <a:pPr>
              <a:lnSpc>
                <a:spcPct val="122000"/>
              </a:lnSpc>
              <a:spcAft>
                <a:spcPts val="400"/>
              </a:spcAft>
            </a:pPr>
            <a:r>
              <a:rPr sz="1550">
                <a:solidFill>
                  <a:srgbClr val="404040"/>
                </a:solidFill>
                <a:latin typeface="Arial"/>
              </a:rPr>
              <a:t>Точная версия — полем packageManager, например bun@1.1.20.</a:t>
            </a:r>
            <a:endParaRPr sz="1550">
              <a:solidFill>
                <a:srgbClr val="40404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TextBox 1"/>
          <p:cNvSpPr txBox="1"/>
          <p:nvPr/>
        </p:nvSpPr>
        <p:spPr>
          <a:xfrm>
            <a:off x="302133" y="238506"/>
            <a:ext cx="9906000" cy="3962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2000" b="1">
                <a:solidFill>
                  <a:srgbClr val="404040"/>
                </a:solidFill>
                <a:latin typeface="Arial"/>
              </a:rPr>
              <a:t>Проверки: check и lint</a:t>
            </a:r>
            <a:endParaRPr sz="2000" b="1">
              <a:solidFill>
                <a:srgbClr val="404040"/>
              </a:solidFill>
              <a:latin typeface="Arial"/>
            </a:endParaRPr>
          </a:p>
        </p:txBody>
      </p:sp>
      <p:sp>
        <p:nvSpPr>
          <p:cNvPr id="138" name="TextBox 2"/>
          <p:cNvSpPr txBox="1"/>
          <p:nvPr/>
        </p:nvSpPr>
        <p:spPr>
          <a:xfrm>
            <a:off x="302133" y="736600"/>
            <a:ext cx="10160000" cy="241355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22000"/>
              </a:lnSpc>
              <a:spcAft>
                <a:spcPts val="400"/>
              </a:spcAft>
            </a:pPr>
            <a:r>
              <a:rPr sz="1550">
                <a:solidFill>
                  <a:srgbClr val="404040"/>
                </a:solidFill>
                <a:latin typeface="Arial"/>
              </a:rPr>
              <a:t>vp check объединяет форматирование, линтинг и проверку типов.</a:t>
            </a:r>
            <a:endParaRPr sz="1550">
              <a:solidFill>
                <a:srgbClr val="404040"/>
              </a:solidFill>
              <a:latin typeface="Arial"/>
            </a:endParaRPr>
          </a:p>
          <a:p>
            <a:pPr>
              <a:lnSpc>
                <a:spcPct val="122000"/>
              </a:lnSpc>
              <a:spcAft>
                <a:spcPts val="400"/>
              </a:spcAft>
            </a:pPr>
            <a:r>
              <a:rPr sz="1550">
                <a:solidFill>
                  <a:srgbClr val="404040"/>
                </a:solidFill>
                <a:latin typeface="Arial"/>
              </a:rPr>
              <a:t>vp check --fix включает автоисправление.</a:t>
            </a:r>
            <a:endParaRPr sz="1550">
              <a:solidFill>
                <a:srgbClr val="404040"/>
              </a:solidFill>
              <a:latin typeface="Arial"/>
            </a:endParaRPr>
          </a:p>
          <a:p>
            <a:pPr>
              <a:lnSpc>
                <a:spcPct val="122000"/>
              </a:lnSpc>
              <a:spcAft>
                <a:spcPts val="400"/>
              </a:spcAft>
            </a:pPr>
            <a:r>
              <a:rPr sz="1550">
                <a:solidFill>
                  <a:srgbClr val="404040"/>
                </a:solidFill>
                <a:latin typeface="Arial"/>
              </a:rPr>
              <a:t>vp lint запускает линтинг, vp lint --fix — с автоисправлением.</a:t>
            </a:r>
            <a:endParaRPr sz="1550">
              <a:solidFill>
                <a:srgbClr val="404040"/>
              </a:solidFill>
              <a:latin typeface="Arial"/>
            </a:endParaRPr>
          </a:p>
          <a:p>
            <a:pPr>
              <a:lnSpc>
                <a:spcPct val="122000"/>
              </a:lnSpc>
              <a:spcAft>
                <a:spcPts val="400"/>
              </a:spcAft>
            </a:pPr>
            <a:r>
              <a:rPr sz="1550">
                <a:solidFill>
                  <a:srgbClr val="404040"/>
                </a:solidFill>
                <a:latin typeface="Arial"/>
              </a:rPr>
              <a:t>typeCheck запускает компилятор TypeScript во время линтинга.</a:t>
            </a:r>
            <a:endParaRPr sz="1550">
              <a:solidFill>
                <a:srgbClr val="404040"/>
              </a:solidFill>
              <a:latin typeface="Arial"/>
            </a:endParaRPr>
          </a:p>
          <a:p>
            <a:pPr>
              <a:lnSpc>
                <a:spcPct val="122000"/>
              </a:lnSpc>
              <a:spcAft>
                <a:spcPts val="400"/>
              </a:spcAft>
            </a:pPr>
            <a:r>
              <a:rPr sz="1550">
                <a:solidFill>
                  <a:srgbClr val="404040"/>
                </a:solidFill>
                <a:latin typeface="Arial"/>
              </a:rPr>
              <a:t>typeAware ищет логические ошибки на основе типов.</a:t>
            </a:r>
            <a:endParaRPr sz="1550">
              <a:solidFill>
                <a:srgbClr val="404040"/>
              </a:solidFill>
              <a:latin typeface="Arial"/>
            </a:endParaRPr>
          </a:p>
          <a:p>
            <a:pPr>
              <a:lnSpc>
                <a:spcPct val="122000"/>
              </a:lnSpc>
              <a:spcAft>
                <a:spcPts val="400"/>
              </a:spcAft>
            </a:pPr>
            <a:r>
              <a:rPr sz="1550">
                <a:solidFill>
                  <a:srgbClr val="404040"/>
                </a:solidFill>
                <a:latin typeface="Arial"/>
              </a:rPr>
              <a:t>vp lint основан на Oxlint.</a:t>
            </a:r>
            <a:endParaRPr sz="1550">
              <a:solidFill>
                <a:srgbClr val="404040"/>
              </a:solidFill>
              <a:latin typeface="Arial"/>
            </a:endParaRPr>
          </a:p>
          <a:p>
            <a:pPr>
              <a:lnSpc>
                <a:spcPct val="122000"/>
              </a:lnSpc>
              <a:spcAft>
                <a:spcPts val="400"/>
              </a:spcAft>
            </a:pPr>
            <a:r>
              <a:rPr sz="1550">
                <a:solidFill>
                  <a:srgbClr val="404040"/>
                </a:solidFill>
                <a:latin typeface="Arial"/>
              </a:rPr>
              <a:t>Конфиг lint — в vite.config.ts, в блоке lint; не в oxlint.config.ts.</a:t>
            </a:r>
            <a:endParaRPr sz="1550">
              <a:solidFill>
                <a:srgbClr val="404040"/>
              </a:solidFill>
              <a:latin typeface="Arial"/>
            </a:endParaRPr>
          </a:p>
        </p:txBody>
      </p:sp>
      <p:sp>
        <p:nvSpPr>
          <p:cNvPr id="139" name="Rectangle 3"/>
          <p:cNvSpPr/>
          <p:nvPr/>
        </p:nvSpPr>
        <p:spPr>
          <a:xfrm>
            <a:off x="302133" y="3810000"/>
            <a:ext cx="10160000" cy="10922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140" name="Rectangle 4"/>
          <p:cNvSpPr/>
          <p:nvPr/>
        </p:nvSpPr>
        <p:spPr>
          <a:xfrm>
            <a:off x="302133" y="3810000"/>
            <a:ext cx="50800" cy="1092200"/>
          </a:xfrm>
          <a:prstGeom prst="rect">
            <a:avLst/>
          </a:prstGeom>
          <a:solidFill>
            <a:srgbClr val="1B75B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141" name="TextBox 5"/>
          <p:cNvSpPr txBox="1"/>
          <p:nvPr/>
        </p:nvSpPr>
        <p:spPr>
          <a:xfrm>
            <a:off x="508000" y="3937000"/>
            <a:ext cx="9779000" cy="74980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333333"/>
                </a:solidFill>
                <a:latin typeface="Consolas"/>
              </a:rPr>
              <a:t>export default defineConfig({</a:t>
            </a:r>
            <a:endParaRPr sz="1200">
              <a:solidFill>
                <a:srgbClr val="333333"/>
              </a:solidFill>
              <a:latin typeface="Consolas"/>
            </a:endParaRPr>
          </a:p>
          <a:p>
            <a:pPr>
              <a:lnSpc>
                <a:spcPct val="120000"/>
              </a:lnSpc>
            </a:pPr>
            <a:r>
              <a:rPr sz="1200">
                <a:solidFill>
                  <a:srgbClr val="333333"/>
                </a:solidFill>
                <a:latin typeface="Consolas"/>
              </a:rPr>
              <a:t>  lint: { ignorePatterns: ['dist/**'] },</a:t>
            </a:r>
            <a:endParaRPr sz="1200">
              <a:solidFill>
                <a:srgbClr val="333333"/>
              </a:solidFill>
              <a:latin typeface="Consolas"/>
            </a:endParaRPr>
          </a:p>
          <a:p>
            <a:pPr>
              <a:lnSpc>
                <a:spcPct val="120000"/>
              </a:lnSpc>
            </a:pPr>
            <a:r>
              <a:rPr sz="1200">
                <a:solidFill>
                  <a:srgbClr val="333333"/>
                </a:solidFill>
                <a:latin typeface="Consolas"/>
              </a:rPr>
              <a:t>});</a:t>
            </a:r>
            <a:endParaRPr sz="1200">
              <a:solidFill>
                <a:srgbClr val="333333"/>
              </a:solidFill>
              <a:latin typeface="Consolas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TextBox 1"/>
          <p:cNvSpPr txBox="1"/>
          <p:nvPr/>
        </p:nvSpPr>
        <p:spPr>
          <a:xfrm>
            <a:off x="302133" y="238506"/>
            <a:ext cx="9906000" cy="3962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2000" b="1">
                <a:solidFill>
                  <a:srgbClr val="404040"/>
                </a:solidFill>
                <a:latin typeface="Arial"/>
              </a:rPr>
              <a:t>Форматирование и тесты</a:t>
            </a:r>
            <a:endParaRPr sz="2000" b="1">
              <a:solidFill>
                <a:srgbClr val="404040"/>
              </a:solidFill>
              <a:latin typeface="Arial"/>
            </a:endParaRPr>
          </a:p>
        </p:txBody>
      </p:sp>
      <p:sp>
        <p:nvSpPr>
          <p:cNvPr id="149" name="TextBox 2"/>
          <p:cNvSpPr txBox="1"/>
          <p:nvPr/>
        </p:nvSpPr>
        <p:spPr>
          <a:xfrm>
            <a:off x="302133" y="736600"/>
            <a:ext cx="10160000" cy="241355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22000"/>
              </a:lnSpc>
              <a:spcAft>
                <a:spcPts val="400"/>
              </a:spcAft>
            </a:pPr>
            <a:r>
              <a:rPr sz="1550">
                <a:solidFill>
                  <a:srgbClr val="404040"/>
                </a:solidFill>
                <a:latin typeface="Arial"/>
              </a:rPr>
              <a:t>vp fmt форматирует код.</a:t>
            </a:r>
            <a:endParaRPr sz="1550">
              <a:solidFill>
                <a:srgbClr val="404040"/>
              </a:solidFill>
              <a:latin typeface="Arial"/>
            </a:endParaRPr>
          </a:p>
          <a:p>
            <a:pPr>
              <a:lnSpc>
                <a:spcPct val="122000"/>
              </a:lnSpc>
              <a:spcAft>
                <a:spcPts val="400"/>
              </a:spcAft>
            </a:pPr>
            <a:r>
              <a:rPr sz="1550">
                <a:solidFill>
                  <a:srgbClr val="404040"/>
                </a:solidFill>
                <a:latin typeface="Arial"/>
              </a:rPr>
              <a:t>vp fmt . --write записывает результат в файлы.</a:t>
            </a:r>
            <a:endParaRPr sz="1550">
              <a:solidFill>
                <a:srgbClr val="404040"/>
              </a:solidFill>
              <a:latin typeface="Arial"/>
            </a:endParaRPr>
          </a:p>
          <a:p>
            <a:pPr>
              <a:lnSpc>
                <a:spcPct val="122000"/>
              </a:lnSpc>
              <a:spcAft>
                <a:spcPts val="400"/>
              </a:spcAft>
            </a:pPr>
            <a:r>
              <a:rPr sz="1550">
                <a:solidFill>
                  <a:srgbClr val="404040"/>
                </a:solidFill>
                <a:latin typeface="Arial"/>
              </a:rPr>
              <a:t>vp fmt основан на Oxfmt.</a:t>
            </a:r>
            <a:endParaRPr sz="1550">
              <a:solidFill>
                <a:srgbClr val="404040"/>
              </a:solidFill>
              <a:latin typeface="Arial"/>
            </a:endParaRPr>
          </a:p>
          <a:p>
            <a:pPr>
              <a:lnSpc>
                <a:spcPct val="122000"/>
              </a:lnSpc>
              <a:spcAft>
                <a:spcPts val="400"/>
              </a:spcAft>
            </a:pPr>
            <a:r>
              <a:rPr sz="1550">
                <a:solidFill>
                  <a:srgbClr val="404040"/>
                </a:solidFill>
                <a:latin typeface="Arial"/>
              </a:rPr>
              <a:t>Конфиг fmt — в vite.config.ts, в блоке fmt; не в oxfmt.config.ts.</a:t>
            </a:r>
            <a:endParaRPr sz="1550">
              <a:solidFill>
                <a:srgbClr val="404040"/>
              </a:solidFill>
              <a:latin typeface="Arial"/>
            </a:endParaRPr>
          </a:p>
          <a:p>
            <a:pPr>
              <a:lnSpc>
                <a:spcPct val="122000"/>
              </a:lnSpc>
              <a:spcAft>
                <a:spcPts val="400"/>
              </a:spcAft>
            </a:pPr>
            <a:r>
              <a:rPr sz="1550">
                <a:solidFill>
                  <a:srgbClr val="404040"/>
                </a:solidFill>
                <a:latin typeface="Arial"/>
              </a:rPr>
              <a:t>vp test запускает тесты.</a:t>
            </a:r>
            <a:endParaRPr sz="1550">
              <a:solidFill>
                <a:srgbClr val="404040"/>
              </a:solidFill>
              <a:latin typeface="Arial"/>
            </a:endParaRPr>
          </a:p>
          <a:p>
            <a:pPr>
              <a:lnSpc>
                <a:spcPct val="122000"/>
              </a:lnSpc>
              <a:spcAft>
                <a:spcPts val="400"/>
              </a:spcAft>
            </a:pPr>
            <a:r>
              <a:rPr sz="1550">
                <a:solidFill>
                  <a:srgbClr val="404040"/>
                </a:solidFill>
                <a:latin typeface="Arial"/>
              </a:rPr>
              <a:t>Тесты основаны на Vitest.</a:t>
            </a:r>
            <a:endParaRPr sz="1550">
              <a:solidFill>
                <a:srgbClr val="404040"/>
              </a:solidFill>
              <a:latin typeface="Arial"/>
            </a:endParaRPr>
          </a:p>
          <a:p>
            <a:pPr>
              <a:lnSpc>
                <a:spcPct val="122000"/>
              </a:lnSpc>
              <a:spcAft>
                <a:spcPts val="400"/>
              </a:spcAft>
            </a:pPr>
            <a:r>
              <a:rPr sz="1550">
                <a:solidFill>
                  <a:srgbClr val="404040"/>
                </a:solidFill>
                <a:latin typeface="Arial"/>
              </a:rPr>
              <a:t>Конфиг test — в vite.config.ts, в блоке test; не в vitest.config.ts.</a:t>
            </a:r>
            <a:endParaRPr sz="1550">
              <a:solidFill>
                <a:srgbClr val="40404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TextBox 1"/>
          <p:cNvSpPr txBox="1"/>
          <p:nvPr/>
        </p:nvSpPr>
        <p:spPr>
          <a:xfrm>
            <a:off x="302133" y="238506"/>
            <a:ext cx="9906000" cy="3962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2000" b="1">
                <a:solidFill>
                  <a:srgbClr val="404040"/>
                </a:solidFill>
                <a:latin typeface="Arial"/>
              </a:rPr>
              <a:t>Скрипты и задачи</a:t>
            </a:r>
            <a:endParaRPr sz="2000" b="1">
              <a:solidFill>
                <a:srgbClr val="404040"/>
              </a:solidFill>
              <a:latin typeface="Arial"/>
            </a:endParaRPr>
          </a:p>
        </p:txBody>
      </p:sp>
      <p:sp>
        <p:nvSpPr>
          <p:cNvPr id="154" name="TextBox 2"/>
          <p:cNvSpPr txBox="1"/>
          <p:nvPr/>
        </p:nvSpPr>
        <p:spPr>
          <a:xfrm>
            <a:off x="302133" y="736600"/>
            <a:ext cx="10160000" cy="241355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22000"/>
              </a:lnSpc>
              <a:spcAft>
                <a:spcPts val="400"/>
              </a:spcAft>
            </a:pPr>
            <a:r>
              <a:rPr sz="1550">
                <a:solidFill>
                  <a:srgbClr val="404040"/>
                </a:solidFill>
                <a:latin typeface="Arial"/>
              </a:rPr>
              <a:t>vp run &lt;script-name&gt; запускает скрипт из package.json.</a:t>
            </a:r>
            <a:endParaRPr sz="1550">
              <a:solidFill>
                <a:srgbClr val="404040"/>
              </a:solidFill>
              <a:latin typeface="Arial"/>
            </a:endParaRPr>
          </a:p>
          <a:p>
            <a:pPr>
              <a:lnSpc>
                <a:spcPct val="122000"/>
              </a:lnSpc>
              <a:spcAft>
                <a:spcPts val="400"/>
              </a:spcAft>
            </a:pPr>
            <a:r>
              <a:rPr sz="1550">
                <a:solidFill>
                  <a:srgbClr val="404040"/>
                </a:solidFill>
                <a:latin typeface="Arial"/>
              </a:rPr>
              <a:t>vp dev — встроенная команда, vp run dev запускает скрипт dev из package.json.</a:t>
            </a:r>
            <a:endParaRPr sz="1550">
              <a:solidFill>
                <a:srgbClr val="404040"/>
              </a:solidFill>
              <a:latin typeface="Arial"/>
            </a:endParaRPr>
          </a:p>
          <a:p>
            <a:pPr>
              <a:lnSpc>
                <a:spcPct val="122000"/>
              </a:lnSpc>
              <a:spcAft>
                <a:spcPts val="400"/>
              </a:spcAft>
            </a:pPr>
            <a:r>
              <a:rPr sz="1550">
                <a:solidFill>
                  <a:srgbClr val="404040"/>
                </a:solidFill>
                <a:latin typeface="Arial"/>
              </a:rPr>
              <a:t>Задачи описываются в vite.config.ts, в блоке run.tasks.</a:t>
            </a:r>
            <a:endParaRPr sz="1550">
              <a:solidFill>
                <a:srgbClr val="404040"/>
              </a:solidFill>
              <a:latin typeface="Arial"/>
            </a:endParaRPr>
          </a:p>
          <a:p>
            <a:pPr>
              <a:lnSpc>
                <a:spcPct val="122000"/>
              </a:lnSpc>
              <a:spcAft>
                <a:spcPts val="400"/>
              </a:spcAft>
            </a:pPr>
            <a:r>
              <a:rPr sz="1550">
                <a:solidFill>
                  <a:srgbClr val="404040"/>
                </a:solidFill>
                <a:latin typeface="Arial"/>
              </a:rPr>
              <a:t>Зависимость одной задачи от другой — поле dependsOn.</a:t>
            </a:r>
            <a:endParaRPr sz="1550">
              <a:solidFill>
                <a:srgbClr val="404040"/>
              </a:solidFill>
              <a:latin typeface="Arial"/>
            </a:endParaRPr>
          </a:p>
          <a:p>
            <a:pPr>
              <a:lnSpc>
                <a:spcPct val="122000"/>
              </a:lnSpc>
              <a:spcAft>
                <a:spcPts val="400"/>
              </a:spcAft>
            </a:pPr>
            <a:r>
              <a:rPr sz="1550">
                <a:solidFill>
                  <a:srgbClr val="404040"/>
                </a:solidFill>
                <a:latin typeface="Arial"/>
              </a:rPr>
              <a:t>Запуск задачи — vp run &lt;task-name&gt;.</a:t>
            </a:r>
            <a:endParaRPr sz="1550">
              <a:solidFill>
                <a:srgbClr val="404040"/>
              </a:solidFill>
              <a:latin typeface="Arial"/>
            </a:endParaRPr>
          </a:p>
          <a:p>
            <a:pPr>
              <a:lnSpc>
                <a:spcPct val="122000"/>
              </a:lnSpc>
              <a:spcAft>
                <a:spcPts val="400"/>
              </a:spcAft>
            </a:pPr>
            <a:r>
              <a:rPr sz="1550">
                <a:solidFill>
                  <a:srgbClr val="404040"/>
                </a:solidFill>
                <a:latin typeface="Arial"/>
              </a:rPr>
              <a:t>Задача — именованный скрипт, состояние которого Vite+ кеширует по входным и выходным файлам.</a:t>
            </a:r>
            <a:endParaRPr sz="1550">
              <a:solidFill>
                <a:srgbClr val="404040"/>
              </a:solidFill>
              <a:latin typeface="Arial"/>
            </a:endParaRPr>
          </a:p>
          <a:p>
            <a:pPr>
              <a:lnSpc>
                <a:spcPct val="122000"/>
              </a:lnSpc>
              <a:spcAft>
                <a:spcPts val="400"/>
              </a:spcAft>
            </a:pPr>
            <a:r>
              <a:rPr sz="1550">
                <a:solidFill>
                  <a:srgbClr val="404040"/>
                </a:solidFill>
                <a:latin typeface="Arial"/>
              </a:rPr>
              <a:t>vpx — аналог npx/bunx в Vite+.</a:t>
            </a:r>
            <a:endParaRPr sz="1550">
              <a:solidFill>
                <a:srgbClr val="404040"/>
              </a:solidFill>
              <a:latin typeface="Arial"/>
            </a:endParaRPr>
          </a:p>
        </p:txBody>
      </p:sp>
      <p:sp>
        <p:nvSpPr>
          <p:cNvPr id="155" name="Rectangle 3"/>
          <p:cNvSpPr/>
          <p:nvPr/>
        </p:nvSpPr>
        <p:spPr>
          <a:xfrm>
            <a:off x="302133" y="3810000"/>
            <a:ext cx="10160000" cy="1524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156" name="Rectangle 4"/>
          <p:cNvSpPr/>
          <p:nvPr/>
        </p:nvSpPr>
        <p:spPr>
          <a:xfrm>
            <a:off x="302133" y="3810000"/>
            <a:ext cx="50800" cy="1524000"/>
          </a:xfrm>
          <a:prstGeom prst="rect">
            <a:avLst/>
          </a:prstGeom>
          <a:solidFill>
            <a:srgbClr val="1B75B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157" name="TextBox 5"/>
          <p:cNvSpPr txBox="1"/>
          <p:nvPr/>
        </p:nvSpPr>
        <p:spPr>
          <a:xfrm>
            <a:off x="508000" y="3937000"/>
            <a:ext cx="9779000" cy="11887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333333"/>
                </a:solidFill>
                <a:latin typeface="Consolas"/>
              </a:rPr>
              <a:t>run: {</a:t>
            </a:r>
            <a:endParaRPr sz="1200">
              <a:solidFill>
                <a:srgbClr val="333333"/>
              </a:solidFill>
              <a:latin typeface="Consolas"/>
            </a:endParaRPr>
          </a:p>
          <a:p>
            <a:pPr>
              <a:lnSpc>
                <a:spcPct val="120000"/>
              </a:lnSpc>
            </a:pPr>
            <a:r>
              <a:rPr sz="1200">
                <a:solidFill>
                  <a:srgbClr val="333333"/>
                </a:solidFill>
                <a:latin typeface="Consolas"/>
              </a:rPr>
              <a:t>  tasks: {</a:t>
            </a:r>
            <a:endParaRPr sz="1200">
              <a:solidFill>
                <a:srgbClr val="333333"/>
              </a:solidFill>
              <a:latin typeface="Consolas"/>
            </a:endParaRPr>
          </a:p>
          <a:p>
            <a:pPr>
              <a:lnSpc>
                <a:spcPct val="120000"/>
              </a:lnSpc>
            </a:pPr>
            <a:r>
              <a:rPr sz="1200">
                <a:solidFill>
                  <a:srgbClr val="333333"/>
                </a:solidFill>
                <a:latin typeface="Consolas"/>
              </a:rPr>
              <a:t>    build: { command: 'vp build', dependsOn: ['lint'] },</a:t>
            </a:r>
            <a:endParaRPr sz="1200">
              <a:solidFill>
                <a:srgbClr val="333333"/>
              </a:solidFill>
              <a:latin typeface="Consolas"/>
            </a:endParaRPr>
          </a:p>
          <a:p>
            <a:pPr>
              <a:lnSpc>
                <a:spcPct val="120000"/>
              </a:lnSpc>
            </a:pPr>
            <a:r>
              <a:rPr sz="1200">
                <a:solidFill>
                  <a:srgbClr val="333333"/>
                </a:solidFill>
                <a:latin typeface="Consolas"/>
              </a:rPr>
              <a:t>  },</a:t>
            </a:r>
            <a:endParaRPr sz="1200">
              <a:solidFill>
                <a:srgbClr val="333333"/>
              </a:solidFill>
              <a:latin typeface="Consolas"/>
            </a:endParaRPr>
          </a:p>
          <a:p>
            <a:pPr>
              <a:lnSpc>
                <a:spcPct val="120000"/>
              </a:lnSpc>
            </a:pPr>
            <a:r>
              <a:rPr sz="1200">
                <a:solidFill>
                  <a:srgbClr val="333333"/>
                </a:solidFill>
                <a:latin typeface="Consolas"/>
              </a:rPr>
              <a:t>}</a:t>
            </a:r>
            <a:endParaRPr sz="1200">
              <a:solidFill>
                <a:srgbClr val="333333"/>
              </a:solidFill>
              <a:latin typeface="Consolas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TextBox 1"/>
          <p:cNvSpPr txBox="1"/>
          <p:nvPr/>
        </p:nvSpPr>
        <p:spPr>
          <a:xfrm>
            <a:off x="302133" y="238506"/>
            <a:ext cx="9906000" cy="3962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2000" b="1">
                <a:solidFill>
                  <a:srgbClr val="404040"/>
                </a:solidFill>
                <a:latin typeface="Arial"/>
              </a:rPr>
              <a:t>Git-хуки</a:t>
            </a:r>
            <a:endParaRPr sz="2000" b="1">
              <a:solidFill>
                <a:srgbClr val="404040"/>
              </a:solidFill>
              <a:latin typeface="Arial"/>
            </a:endParaRPr>
          </a:p>
        </p:txBody>
      </p:sp>
      <p:sp>
        <p:nvSpPr>
          <p:cNvPr id="165" name="TextBox 2"/>
          <p:cNvSpPr txBox="1"/>
          <p:nvPr/>
        </p:nvSpPr>
        <p:spPr>
          <a:xfrm>
            <a:off x="302133" y="736600"/>
            <a:ext cx="10160000" cy="207457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22000"/>
              </a:lnSpc>
              <a:spcAft>
                <a:spcPts val="400"/>
              </a:spcAft>
            </a:pPr>
            <a:r>
              <a:rPr sz="1550">
                <a:solidFill>
                  <a:srgbClr val="404040"/>
                </a:solidFill>
                <a:latin typeface="Arial"/>
              </a:rPr>
              <a:t>vp hooks enable включает хуки, vp hooks disable выключает.</a:t>
            </a:r>
            <a:endParaRPr sz="1550">
              <a:solidFill>
                <a:srgbClr val="404040"/>
              </a:solidFill>
              <a:latin typeface="Arial"/>
            </a:endParaRPr>
          </a:p>
          <a:p>
            <a:pPr>
              <a:lnSpc>
                <a:spcPct val="122000"/>
              </a:lnSpc>
              <a:spcAft>
                <a:spcPts val="400"/>
              </a:spcAft>
            </a:pPr>
            <a:r>
              <a:rPr sz="1550">
                <a:solidFill>
                  <a:srgbClr val="404040"/>
                </a:solidFill>
                <a:latin typeface="Arial"/>
              </a:rPr>
              <a:t>vp hooks status показывает статус.</a:t>
            </a:r>
            <a:endParaRPr sz="1550">
              <a:solidFill>
                <a:srgbClr val="404040"/>
              </a:solidFill>
              <a:latin typeface="Arial"/>
            </a:endParaRPr>
          </a:p>
          <a:p>
            <a:pPr>
              <a:lnSpc>
                <a:spcPct val="122000"/>
              </a:lnSpc>
              <a:spcAft>
                <a:spcPts val="400"/>
              </a:spcAft>
            </a:pPr>
            <a:r>
              <a:rPr sz="1550">
                <a:solidFill>
                  <a:srgbClr val="404040"/>
                </a:solidFill>
                <a:latin typeface="Arial"/>
              </a:rPr>
              <a:t>Скрипты лежат в .vite-hooks в корне проекта; папку нужно коммитить, чтобы хуки были одинаковыми у всех.</a:t>
            </a:r>
            <a:endParaRPr sz="1550">
              <a:solidFill>
                <a:srgbClr val="404040"/>
              </a:solidFill>
              <a:latin typeface="Arial"/>
            </a:endParaRPr>
          </a:p>
          <a:p>
            <a:pPr>
              <a:lnSpc>
                <a:spcPct val="122000"/>
              </a:lnSpc>
              <a:spcAft>
                <a:spcPts val="400"/>
              </a:spcAft>
            </a:pPr>
            <a:r>
              <a:rPr sz="1550">
                <a:solidFill>
                  <a:srgbClr val="404040"/>
                </a:solidFill>
                <a:latin typeface="Arial"/>
              </a:rPr>
              <a:t>pre-commit настраивается файлом .vite-hooks/pre-commit с командой vp staged.</a:t>
            </a:r>
            <a:endParaRPr sz="1550">
              <a:solidFill>
                <a:srgbClr val="404040"/>
              </a:solidFill>
              <a:latin typeface="Arial"/>
            </a:endParaRPr>
          </a:p>
          <a:p>
            <a:pPr>
              <a:lnSpc>
                <a:spcPct val="122000"/>
              </a:lnSpc>
              <a:spcAft>
                <a:spcPts val="400"/>
              </a:spcAft>
            </a:pPr>
            <a:r>
              <a:rPr sz="1550">
                <a:solidFill>
                  <a:srgbClr val="404040"/>
                </a:solidFill>
                <a:latin typeface="Arial"/>
              </a:rPr>
              <a:t>vp staged проверяет только изменённые файлы перед коммитом.</a:t>
            </a:r>
            <a:endParaRPr sz="1550">
              <a:solidFill>
                <a:srgbClr val="404040"/>
              </a:solidFill>
              <a:latin typeface="Arial"/>
            </a:endParaRPr>
          </a:p>
          <a:p>
            <a:pPr>
              <a:lnSpc>
                <a:spcPct val="122000"/>
              </a:lnSpc>
              <a:spcAft>
                <a:spcPts val="400"/>
              </a:spcAft>
            </a:pPr>
            <a:r>
              <a:rPr sz="1550">
                <a:solidFill>
                  <a:srgbClr val="404040"/>
                </a:solidFill>
                <a:latin typeface="Arial"/>
              </a:rPr>
              <a:t>Через staged в vite.config: staged: { '*.{js,ts,tsx}': 'vp check --fix' }.</a:t>
            </a:r>
            <a:endParaRPr sz="1550">
              <a:solidFill>
                <a:srgbClr val="40404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TextBox 1"/>
          <p:cNvSpPr txBox="1"/>
          <p:nvPr/>
        </p:nvSpPr>
        <p:spPr>
          <a:xfrm>
            <a:off x="304800" y="1524000"/>
            <a:ext cx="3810000" cy="2590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999999"/>
                </a:solidFill>
                <a:latin typeface="Arial"/>
              </a:rPr>
              <a:t>РАЗДЕЛ</a:t>
            </a:r>
            <a:endParaRPr sz="1100" b="1">
              <a:solidFill>
                <a:srgbClr val="999999"/>
              </a:solidFill>
              <a:latin typeface="Arial"/>
            </a:endParaRPr>
          </a:p>
        </p:txBody>
      </p:sp>
      <p:sp>
        <p:nvSpPr>
          <p:cNvPr id="230" name="TextBox 2"/>
          <p:cNvSpPr txBox="1"/>
          <p:nvPr/>
        </p:nvSpPr>
        <p:spPr>
          <a:xfrm>
            <a:off x="304800" y="1778000"/>
            <a:ext cx="5080000" cy="14935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9200" b="1">
                <a:solidFill>
                  <a:srgbClr val="1B75BB"/>
                </a:solidFill>
                <a:latin typeface="Arial"/>
              </a:rPr>
              <a:t>03</a:t>
            </a:r>
            <a:endParaRPr sz="9200" b="1">
              <a:solidFill>
                <a:srgbClr val="1B75BB"/>
              </a:solidFill>
              <a:latin typeface="Arial"/>
            </a:endParaRPr>
          </a:p>
        </p:txBody>
      </p:sp>
      <p:sp>
        <p:nvSpPr>
          <p:cNvPr id="231" name="Rectangle 3"/>
          <p:cNvSpPr/>
          <p:nvPr/>
        </p:nvSpPr>
        <p:spPr>
          <a:xfrm>
            <a:off x="304800" y="3327400"/>
            <a:ext cx="1143000" cy="50800"/>
          </a:xfrm>
          <a:prstGeom prst="rect">
            <a:avLst/>
          </a:prstGeom>
          <a:solidFill>
            <a:srgbClr val="1B75B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232" name="TextBox 4"/>
          <p:cNvSpPr txBox="1"/>
          <p:nvPr/>
        </p:nvSpPr>
        <p:spPr>
          <a:xfrm>
            <a:off x="304800" y="3581400"/>
            <a:ext cx="8890000" cy="7315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4200" b="1">
                <a:solidFill>
                  <a:srgbClr val="404040"/>
                </a:solidFill>
                <a:latin typeface="Arial"/>
              </a:rPr>
              <a:t>Oxc</a:t>
            </a:r>
            <a:endParaRPr sz="4200" b="1">
              <a:solidFill>
                <a:srgbClr val="404040"/>
              </a:solidFill>
              <a:latin typeface="Arial"/>
            </a:endParaRPr>
          </a:p>
        </p:txBody>
      </p:sp>
      <p:sp>
        <p:nvSpPr>
          <p:cNvPr id="233" name="TextBox 5"/>
          <p:cNvSpPr txBox="1"/>
          <p:nvPr/>
        </p:nvSpPr>
        <p:spPr>
          <a:xfrm>
            <a:off x="304800" y="4368800"/>
            <a:ext cx="8890000" cy="38404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600">
                <a:solidFill>
                  <a:srgbClr val="666666"/>
                </a:solidFill>
                <a:latin typeface="Arial"/>
              </a:rPr>
              <a:t>Oxlint и Oxfmt на Rust</a:t>
            </a:r>
            <a:endParaRPr sz="1600">
              <a:solidFill>
                <a:srgbClr val="666666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TextBox 1"/>
          <p:cNvSpPr txBox="1"/>
          <p:nvPr/>
        </p:nvSpPr>
        <p:spPr>
          <a:xfrm>
            <a:off x="302133" y="238506"/>
            <a:ext cx="9906000" cy="3962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2000" b="1">
                <a:solidFill>
                  <a:srgbClr val="404040"/>
                </a:solidFill>
                <a:latin typeface="Arial"/>
              </a:rPr>
              <a:t>Oxc и Oxlint</a:t>
            </a:r>
            <a:endParaRPr sz="2000" b="1">
              <a:solidFill>
                <a:srgbClr val="404040"/>
              </a:solidFill>
              <a:latin typeface="Arial"/>
            </a:endParaRPr>
          </a:p>
        </p:txBody>
      </p:sp>
      <p:sp>
        <p:nvSpPr>
          <p:cNvPr id="170" name="TextBox 2"/>
          <p:cNvSpPr txBox="1"/>
          <p:nvPr/>
        </p:nvSpPr>
        <p:spPr>
          <a:xfrm>
            <a:off x="302133" y="736600"/>
            <a:ext cx="10160000" cy="173558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22000"/>
              </a:lnSpc>
              <a:spcAft>
                <a:spcPts val="400"/>
              </a:spcAft>
            </a:pPr>
            <a:r>
              <a:rPr sz="1550">
                <a:solidFill>
                  <a:srgbClr val="404040"/>
                </a:solidFill>
                <a:latin typeface="Arial"/>
              </a:rPr>
              <a:t>Oxc — набор высокопроизводительных инструментов для JavaScript и TypeScript на Rust.</a:t>
            </a:r>
            <a:endParaRPr sz="1550">
              <a:solidFill>
                <a:srgbClr val="404040"/>
              </a:solidFill>
              <a:latin typeface="Arial"/>
            </a:endParaRPr>
          </a:p>
          <a:p>
            <a:pPr>
              <a:lnSpc>
                <a:spcPct val="122000"/>
              </a:lnSpc>
              <a:spcAft>
                <a:spcPts val="400"/>
              </a:spcAft>
            </a:pPr>
            <a:r>
              <a:rPr sz="1550">
                <a:solidFill>
                  <a:srgbClr val="404040"/>
                </a:solidFill>
                <a:latin typeface="Arial"/>
              </a:rPr>
              <a:t>Oxlint — высокопроизводительный линтер для JS/TS на стеке Oxc, совместимый с ESLint.</a:t>
            </a:r>
            <a:endParaRPr sz="1550">
              <a:solidFill>
                <a:srgbClr val="404040"/>
              </a:solidFill>
              <a:latin typeface="Arial"/>
            </a:endParaRPr>
          </a:p>
          <a:p>
            <a:pPr>
              <a:lnSpc>
                <a:spcPct val="122000"/>
              </a:lnSpc>
              <a:spcAft>
                <a:spcPts val="400"/>
              </a:spcAft>
            </a:pPr>
            <a:r>
              <a:rPr sz="1550">
                <a:solidFill>
                  <a:srgbClr val="404040"/>
                </a:solidFill>
                <a:latin typeface="Arial"/>
              </a:rPr>
              <a:t>Oxlint использует tsgo, он же TypeScript 7.</a:t>
            </a:r>
            <a:endParaRPr sz="1550">
              <a:solidFill>
                <a:srgbClr val="404040"/>
              </a:solidFill>
              <a:latin typeface="Arial"/>
            </a:endParaRPr>
          </a:p>
          <a:p>
            <a:pPr>
              <a:lnSpc>
                <a:spcPct val="122000"/>
              </a:lnSpc>
              <a:spcAft>
                <a:spcPts val="400"/>
              </a:spcAft>
            </a:pPr>
            <a:r>
              <a:rPr sz="1550">
                <a:solidFill>
                  <a:srgbClr val="404040"/>
                </a:solidFill>
                <a:latin typeface="Arial"/>
              </a:rPr>
              <a:t>Установка: npm install -D oxlint.</a:t>
            </a:r>
            <a:endParaRPr sz="1550">
              <a:solidFill>
                <a:srgbClr val="404040"/>
              </a:solidFill>
              <a:latin typeface="Arial"/>
            </a:endParaRPr>
          </a:p>
          <a:p>
            <a:pPr>
              <a:lnSpc>
                <a:spcPct val="122000"/>
              </a:lnSpc>
              <a:spcAft>
                <a:spcPts val="400"/>
              </a:spcAft>
            </a:pPr>
            <a:r>
              <a:rPr sz="1550">
                <a:solidFill>
                  <a:srgbClr val="404040"/>
                </a:solidFill>
                <a:latin typeface="Arial"/>
              </a:rPr>
              <a:t>npm-скрипты: "lint": "oxlint", "lint:fix": "oxlint --fix".</a:t>
            </a:r>
            <a:endParaRPr sz="1550">
              <a:solidFill>
                <a:srgbClr val="40404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TextBox 1"/>
          <p:cNvSpPr txBox="1"/>
          <p:nvPr/>
        </p:nvSpPr>
        <p:spPr>
          <a:xfrm>
            <a:off x="302133" y="238506"/>
            <a:ext cx="9906000" cy="3962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2000" b="1">
                <a:solidFill>
                  <a:srgbClr val="404040"/>
                </a:solidFill>
                <a:latin typeface="Arial"/>
              </a:rPr>
              <a:t>Конфиг Oxlint</a:t>
            </a:r>
            <a:endParaRPr sz="2000" b="1">
              <a:solidFill>
                <a:srgbClr val="404040"/>
              </a:solidFill>
              <a:latin typeface="Arial"/>
            </a:endParaRPr>
          </a:p>
        </p:txBody>
      </p:sp>
      <p:sp>
        <p:nvSpPr>
          <p:cNvPr id="175" name="TextBox 2"/>
          <p:cNvSpPr txBox="1"/>
          <p:nvPr/>
        </p:nvSpPr>
        <p:spPr>
          <a:xfrm>
            <a:off x="302133" y="736600"/>
            <a:ext cx="10160000" cy="105760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22000"/>
              </a:lnSpc>
              <a:spcAft>
                <a:spcPts val="400"/>
              </a:spcAft>
            </a:pPr>
            <a:r>
              <a:rPr sz="1550">
                <a:solidFill>
                  <a:srgbClr val="404040"/>
                </a:solidFill>
                <a:latin typeface="Arial"/>
              </a:rPr>
              <a:t>Инициализация конфига — oxlint --init.</a:t>
            </a:r>
            <a:endParaRPr sz="1550">
              <a:solidFill>
                <a:srgbClr val="404040"/>
              </a:solidFill>
              <a:latin typeface="Arial"/>
            </a:endParaRPr>
          </a:p>
          <a:p>
            <a:pPr>
              <a:lnSpc>
                <a:spcPct val="122000"/>
              </a:lnSpc>
              <a:spcAft>
                <a:spcPts val="400"/>
              </a:spcAft>
            </a:pPr>
            <a:r>
              <a:rPr sz="1550">
                <a:solidFill>
                  <a:srgbClr val="404040"/>
                </a:solidFill>
                <a:latin typeface="Arial"/>
              </a:rPr>
              <a:t>Файл конфига — .oxlintrc.json или oxlint.config.ts.</a:t>
            </a:r>
            <a:endParaRPr sz="1550">
              <a:solidFill>
                <a:srgbClr val="404040"/>
              </a:solidFill>
              <a:latin typeface="Arial"/>
            </a:endParaRPr>
          </a:p>
          <a:p>
            <a:pPr>
              <a:lnSpc>
                <a:spcPct val="122000"/>
              </a:lnSpc>
              <a:spcAft>
                <a:spcPts val="400"/>
              </a:spcAft>
            </a:pPr>
            <a:r>
              <a:rPr sz="1550">
                <a:solidFill>
                  <a:srgbClr val="404040"/>
                </a:solidFill>
                <a:latin typeface="Arial"/>
              </a:rPr>
              <a:t>Базовый конфиг:</a:t>
            </a:r>
            <a:endParaRPr sz="1550">
              <a:solidFill>
                <a:srgbClr val="404040"/>
              </a:solidFill>
              <a:latin typeface="Arial"/>
            </a:endParaRPr>
          </a:p>
        </p:txBody>
      </p:sp>
      <p:sp>
        <p:nvSpPr>
          <p:cNvPr id="176" name="Rectangle 3"/>
          <p:cNvSpPr/>
          <p:nvPr/>
        </p:nvSpPr>
        <p:spPr>
          <a:xfrm>
            <a:off x="302133" y="2413000"/>
            <a:ext cx="10160000" cy="8128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177" name="Rectangle 4"/>
          <p:cNvSpPr/>
          <p:nvPr/>
        </p:nvSpPr>
        <p:spPr>
          <a:xfrm>
            <a:off x="302133" y="2413000"/>
            <a:ext cx="50800" cy="812800"/>
          </a:xfrm>
          <a:prstGeom prst="rect">
            <a:avLst/>
          </a:prstGeom>
          <a:solidFill>
            <a:srgbClr val="1B75B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178" name="TextBox 5"/>
          <p:cNvSpPr txBox="1"/>
          <p:nvPr/>
        </p:nvSpPr>
        <p:spPr>
          <a:xfrm>
            <a:off x="508000" y="2540000"/>
            <a:ext cx="9779000" cy="53035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333333"/>
                </a:solidFill>
                <a:latin typeface="Consolas"/>
              </a:rPr>
              <a:t>import { defineConfig } from 'oxlint';</a:t>
            </a:r>
            <a:endParaRPr sz="1200">
              <a:solidFill>
                <a:srgbClr val="333333"/>
              </a:solidFill>
              <a:latin typeface="Consolas"/>
            </a:endParaRPr>
          </a:p>
          <a:p>
            <a:pPr>
              <a:lnSpc>
                <a:spcPct val="120000"/>
              </a:lnSpc>
            </a:pPr>
            <a:r>
              <a:rPr sz="1200">
                <a:solidFill>
                  <a:srgbClr val="333333"/>
                </a:solidFill>
                <a:latin typeface="Consolas"/>
              </a:rPr>
              <a:t>export default defineConfig({});</a:t>
            </a:r>
            <a:endParaRPr sz="1200">
              <a:solidFill>
                <a:srgbClr val="333333"/>
              </a:solidFill>
              <a:latin typeface="Consolas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TextBox 1"/>
          <p:cNvSpPr txBox="1"/>
          <p:nvPr/>
        </p:nvSpPr>
        <p:spPr>
          <a:xfrm>
            <a:off x="302133" y="238506"/>
            <a:ext cx="9906000" cy="3962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2000" b="1">
                <a:solidFill>
                  <a:srgbClr val="404040"/>
                </a:solidFill>
                <a:latin typeface="Arial"/>
              </a:rPr>
              <a:t>Плагины Oxlint</a:t>
            </a:r>
            <a:endParaRPr sz="2000" b="1">
              <a:solidFill>
                <a:srgbClr val="404040"/>
              </a:solidFill>
              <a:latin typeface="Arial"/>
            </a:endParaRPr>
          </a:p>
        </p:txBody>
      </p:sp>
      <p:sp>
        <p:nvSpPr>
          <p:cNvPr id="186" name="TextBox 2"/>
          <p:cNvSpPr txBox="1"/>
          <p:nvPr/>
        </p:nvSpPr>
        <p:spPr>
          <a:xfrm>
            <a:off x="302133" y="736600"/>
            <a:ext cx="10160000" cy="139659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22000"/>
              </a:lnSpc>
              <a:spcAft>
                <a:spcPts val="400"/>
              </a:spcAft>
            </a:pPr>
            <a:r>
              <a:rPr sz="1550">
                <a:solidFill>
                  <a:srgbClr val="404040"/>
                </a:solidFill>
                <a:latin typeface="Arial"/>
              </a:rPr>
              <a:t>Плагин — именованная группа правил; его включение делает правила доступными.</a:t>
            </a:r>
            <a:endParaRPr sz="1550">
              <a:solidFill>
                <a:srgbClr val="404040"/>
              </a:solidFill>
              <a:latin typeface="Arial"/>
            </a:endParaRPr>
          </a:p>
          <a:p>
            <a:pPr>
              <a:lnSpc>
                <a:spcPct val="122000"/>
              </a:lnSpc>
              <a:spcAft>
                <a:spcPts val="400"/>
              </a:spcAft>
            </a:pPr>
            <a:r>
              <a:rPr sz="1550">
                <a:solidFill>
                  <a:srgbClr val="404040"/>
                </a:solidFill>
                <a:latin typeface="Arial"/>
              </a:rPr>
              <a:t>Встроенные плагины включаются в поле plugins, например plugins: ['import'].</a:t>
            </a:r>
            <a:endParaRPr sz="1550">
              <a:solidFill>
                <a:srgbClr val="404040"/>
              </a:solidFill>
              <a:latin typeface="Arial"/>
            </a:endParaRPr>
          </a:p>
          <a:p>
            <a:pPr>
              <a:lnSpc>
                <a:spcPct val="122000"/>
              </a:lnSpc>
              <a:spcAft>
                <a:spcPts val="400"/>
              </a:spcAft>
            </a:pPr>
            <a:r>
              <a:rPr sz="1550">
                <a:solidFill>
                  <a:srgbClr val="404040"/>
                </a:solidFill>
                <a:latin typeface="Arial"/>
              </a:rPr>
              <a:t>Запись plugins переопределяет плагины, включённые по умолчанию.</a:t>
            </a:r>
            <a:endParaRPr sz="1550">
              <a:solidFill>
                <a:srgbClr val="404040"/>
              </a:solidFill>
              <a:latin typeface="Arial"/>
            </a:endParaRPr>
          </a:p>
          <a:p>
            <a:pPr>
              <a:lnSpc>
                <a:spcPct val="122000"/>
              </a:lnSpc>
              <a:spcAft>
                <a:spcPts val="400"/>
              </a:spcAft>
            </a:pPr>
            <a:r>
              <a:rPr sz="1550">
                <a:solidFill>
                  <a:srgbClr val="404040"/>
                </a:solidFill>
                <a:latin typeface="Arial"/>
              </a:rPr>
              <a:t>Плагин eslint включён по умолчанию и подключает основные правила ESLint.</a:t>
            </a:r>
            <a:endParaRPr sz="1550">
              <a:solidFill>
                <a:srgbClr val="40404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TextBox 1"/>
          <p:cNvSpPr txBox="1"/>
          <p:nvPr/>
        </p:nvSpPr>
        <p:spPr>
          <a:xfrm>
            <a:off x="304800" y="1524000"/>
            <a:ext cx="3810000" cy="2590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999999"/>
                </a:solidFill>
                <a:latin typeface="Arial"/>
              </a:rPr>
              <a:t>РАЗДЕЛ</a:t>
            </a:r>
            <a:endParaRPr sz="1100" b="1">
              <a:solidFill>
                <a:srgbClr val="999999"/>
              </a:solidFill>
              <a:latin typeface="Arial"/>
            </a:endParaRPr>
          </a:p>
        </p:txBody>
      </p:sp>
      <p:sp>
        <p:nvSpPr>
          <p:cNvPr id="222" name="TextBox 2"/>
          <p:cNvSpPr txBox="1"/>
          <p:nvPr/>
        </p:nvSpPr>
        <p:spPr>
          <a:xfrm>
            <a:off x="304800" y="1778000"/>
            <a:ext cx="5080000" cy="14935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9200" b="1">
                <a:solidFill>
                  <a:srgbClr val="1B75BB"/>
                </a:solidFill>
                <a:latin typeface="Arial"/>
              </a:rPr>
              <a:t>04</a:t>
            </a:r>
            <a:endParaRPr sz="9200" b="1">
              <a:solidFill>
                <a:srgbClr val="1B75BB"/>
              </a:solidFill>
              <a:latin typeface="Arial"/>
            </a:endParaRPr>
          </a:p>
        </p:txBody>
      </p:sp>
      <p:sp>
        <p:nvSpPr>
          <p:cNvPr id="223" name="Rectangle 3"/>
          <p:cNvSpPr/>
          <p:nvPr/>
        </p:nvSpPr>
        <p:spPr>
          <a:xfrm>
            <a:off x="304800" y="3327400"/>
            <a:ext cx="1143000" cy="50800"/>
          </a:xfrm>
          <a:prstGeom prst="rect">
            <a:avLst/>
          </a:prstGeom>
          <a:solidFill>
            <a:srgbClr val="1B75B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224" name="TextBox 4"/>
          <p:cNvSpPr txBox="1"/>
          <p:nvPr/>
        </p:nvSpPr>
        <p:spPr>
          <a:xfrm>
            <a:off x="304800" y="3581400"/>
            <a:ext cx="8890000" cy="7315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4200" b="1">
                <a:solidFill>
                  <a:srgbClr val="404040"/>
                </a:solidFill>
                <a:latin typeface="Arial"/>
              </a:rPr>
              <a:t>Nginx</a:t>
            </a:r>
            <a:endParaRPr sz="4200" b="1">
              <a:solidFill>
                <a:srgbClr val="404040"/>
              </a:solidFill>
              <a:latin typeface="Arial"/>
            </a:endParaRPr>
          </a:p>
        </p:txBody>
      </p:sp>
      <p:sp>
        <p:nvSpPr>
          <p:cNvPr id="225" name="TextBox 5"/>
          <p:cNvSpPr txBox="1"/>
          <p:nvPr/>
        </p:nvSpPr>
        <p:spPr>
          <a:xfrm>
            <a:off x="304800" y="4368800"/>
            <a:ext cx="8890000" cy="38404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600">
                <a:solidFill>
                  <a:srgbClr val="666666"/>
                </a:solidFill>
                <a:latin typeface="Arial"/>
              </a:rPr>
              <a:t>Раздача SPA, proxy и HTTPS</a:t>
            </a:r>
            <a:endParaRPr sz="1600">
              <a:solidFill>
                <a:srgbClr val="666666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TextBox 1"/>
          <p:cNvSpPr txBox="1"/>
          <p:nvPr/>
        </p:nvSpPr>
        <p:spPr>
          <a:xfrm>
            <a:off x="302133" y="238506"/>
            <a:ext cx="9906000" cy="3962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2000" b="1">
                <a:solidFill>
                  <a:srgbClr val="404040"/>
                </a:solidFill>
                <a:latin typeface="Arial"/>
              </a:rPr>
              <a:t>Зачем Nginx фронтенду</a:t>
            </a:r>
            <a:endParaRPr sz="2000" b="1">
              <a:solidFill>
                <a:srgbClr val="404040"/>
              </a:solidFill>
              <a:latin typeface="Arial"/>
            </a:endParaRPr>
          </a:p>
        </p:txBody>
      </p:sp>
      <p:sp>
        <p:nvSpPr>
          <p:cNvPr id="191" name="TextBox 2"/>
          <p:cNvSpPr txBox="1"/>
          <p:nvPr/>
        </p:nvSpPr>
        <p:spPr>
          <a:xfrm>
            <a:off x="302133" y="736600"/>
            <a:ext cx="10160000" cy="173558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22000"/>
              </a:lnSpc>
              <a:spcAft>
                <a:spcPts val="400"/>
              </a:spcAft>
            </a:pPr>
            <a:r>
              <a:rPr sz="1550">
                <a:solidFill>
                  <a:srgbClr val="404040"/>
                </a:solidFill>
                <a:latin typeface="Arial"/>
              </a:rPr>
              <a:t>Статика: HTML, JS, CSS и шрифты — быстрее и дешевле, чем Node-сервер.</a:t>
            </a:r>
            <a:endParaRPr sz="1550">
              <a:solidFill>
                <a:srgbClr val="404040"/>
              </a:solidFill>
              <a:latin typeface="Arial"/>
            </a:endParaRPr>
          </a:p>
          <a:p>
            <a:pPr>
              <a:lnSpc>
                <a:spcPct val="122000"/>
              </a:lnSpc>
              <a:spcAft>
                <a:spcPts val="400"/>
              </a:spcAft>
            </a:pPr>
            <a:r>
              <a:rPr sz="1550">
                <a:solidFill>
                  <a:srgbClr val="404040"/>
                </a:solidFill>
                <a:latin typeface="Arial"/>
              </a:rPr>
              <a:t>Reverse proxy: прячет API, снимает CORS и балансирует нагрузку между инстансами.</a:t>
            </a:r>
            <a:endParaRPr sz="1550">
              <a:solidFill>
                <a:srgbClr val="404040"/>
              </a:solidFill>
              <a:latin typeface="Arial"/>
            </a:endParaRPr>
          </a:p>
          <a:p>
            <a:pPr>
              <a:lnSpc>
                <a:spcPct val="122000"/>
              </a:lnSpc>
              <a:spcAft>
                <a:spcPts val="400"/>
              </a:spcAft>
            </a:pPr>
            <a:r>
              <a:rPr sz="1550">
                <a:solidFill>
                  <a:srgbClr val="404040"/>
                </a:solidFill>
                <a:latin typeface="Arial"/>
              </a:rPr>
              <a:t>TLS и кэш: терминирует HTTPS, сжимает gzip и кэширует ассеты на клиенте.</a:t>
            </a:r>
            <a:endParaRPr sz="1550">
              <a:solidFill>
                <a:srgbClr val="404040"/>
              </a:solidFill>
              <a:latin typeface="Arial"/>
            </a:endParaRPr>
          </a:p>
          <a:p>
            <a:pPr>
              <a:lnSpc>
                <a:spcPct val="122000"/>
              </a:lnSpc>
              <a:spcAft>
                <a:spcPts val="400"/>
              </a:spcAft>
            </a:pPr>
            <a:endParaRPr sz="1550">
              <a:solidFill>
                <a:srgbClr val="404040"/>
              </a:solidFill>
              <a:latin typeface="Arial"/>
            </a:endParaRPr>
          </a:p>
          <a:p>
            <a:pPr>
              <a:lnSpc>
                <a:spcPct val="122000"/>
              </a:lnSpc>
              <a:spcAft>
                <a:spcPts val="400"/>
              </a:spcAft>
            </a:pPr>
            <a:r>
              <a:rPr sz="1550">
                <a:solidFill>
                  <a:srgbClr val="404040"/>
                </a:solidFill>
                <a:latin typeface="Arial"/>
              </a:rPr>
              <a:t>В деплое Vite-приложения Nginx — точка входа, а Node/API — за ним.</a:t>
            </a:r>
            <a:endParaRPr sz="1550">
              <a:solidFill>
                <a:srgbClr val="40404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TextBox 1"/>
          <p:cNvSpPr txBox="1"/>
          <p:nvPr/>
        </p:nvSpPr>
        <p:spPr>
          <a:xfrm>
            <a:off x="302133" y="238506"/>
            <a:ext cx="9906000" cy="3962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2000" b="1">
                <a:solidFill>
                  <a:srgbClr val="404040"/>
                </a:solidFill>
                <a:latin typeface="Arial"/>
              </a:rPr>
              <a:t>Карта конфига</a:t>
            </a:r>
            <a:endParaRPr sz="2000" b="1">
              <a:solidFill>
                <a:srgbClr val="404040"/>
              </a:solidFill>
              <a:latin typeface="Arial"/>
            </a:endParaRPr>
          </a:p>
        </p:txBody>
      </p:sp>
      <p:sp>
        <p:nvSpPr>
          <p:cNvPr id="196" name="TextBox 2"/>
          <p:cNvSpPr txBox="1"/>
          <p:nvPr/>
        </p:nvSpPr>
        <p:spPr>
          <a:xfrm>
            <a:off x="302133" y="736600"/>
            <a:ext cx="10160000" cy="34305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22000"/>
              </a:lnSpc>
              <a:spcAft>
                <a:spcPts val="400"/>
              </a:spcAft>
            </a:pPr>
            <a:r>
              <a:rPr sz="1550">
                <a:solidFill>
                  <a:srgbClr val="404040"/>
                </a:solidFill>
                <a:latin typeface="Arial"/>
              </a:rPr>
              <a:t>main — user, worker_processes, error_log.</a:t>
            </a:r>
            <a:endParaRPr sz="1550">
              <a:solidFill>
                <a:srgbClr val="404040"/>
              </a:solidFill>
              <a:latin typeface="Arial"/>
            </a:endParaRPr>
          </a:p>
          <a:p>
            <a:pPr>
              <a:lnSpc>
                <a:spcPct val="122000"/>
              </a:lnSpc>
              <a:spcAft>
                <a:spcPts val="400"/>
              </a:spcAft>
            </a:pPr>
            <a:r>
              <a:rPr sz="1550">
                <a:solidFill>
                  <a:srgbClr val="404040"/>
                </a:solidFill>
                <a:latin typeface="Arial"/>
              </a:rPr>
              <a:t>events — worker_connections.</a:t>
            </a:r>
            <a:endParaRPr sz="1550">
              <a:solidFill>
                <a:srgbClr val="404040"/>
              </a:solidFill>
              <a:latin typeface="Arial"/>
            </a:endParaRPr>
          </a:p>
          <a:p>
            <a:pPr>
              <a:lnSpc>
                <a:spcPct val="122000"/>
              </a:lnSpc>
              <a:spcAft>
                <a:spcPts val="400"/>
              </a:spcAft>
            </a:pPr>
            <a:r>
              <a:rPr sz="1550">
                <a:solidFill>
                  <a:srgbClr val="404040"/>
                </a:solidFill>
                <a:latin typeface="Arial"/>
              </a:rPr>
              <a:t>http — mime.types, gzip, upstream.</a:t>
            </a:r>
            <a:endParaRPr sz="1550">
              <a:solidFill>
                <a:srgbClr val="404040"/>
              </a:solidFill>
              <a:latin typeface="Arial"/>
            </a:endParaRPr>
          </a:p>
          <a:p>
            <a:pPr>
              <a:lnSpc>
                <a:spcPct val="122000"/>
              </a:lnSpc>
              <a:spcAft>
                <a:spcPts val="400"/>
              </a:spcAft>
            </a:pPr>
            <a:r>
              <a:rPr sz="1550">
                <a:solidFill>
                  <a:srgbClr val="404040"/>
                </a:solidFill>
                <a:latin typeface="Arial"/>
              </a:rPr>
              <a:t>server — listen, server_name, root.</a:t>
            </a:r>
            <a:endParaRPr sz="1550">
              <a:solidFill>
                <a:srgbClr val="404040"/>
              </a:solidFill>
              <a:latin typeface="Arial"/>
            </a:endParaRPr>
          </a:p>
          <a:p>
            <a:pPr>
              <a:lnSpc>
                <a:spcPct val="122000"/>
              </a:lnSpc>
              <a:spcAft>
                <a:spcPts val="400"/>
              </a:spcAft>
            </a:pPr>
            <a:r>
              <a:rPr sz="1550">
                <a:solidFill>
                  <a:srgbClr val="404040"/>
                </a:solidFill>
                <a:latin typeface="Arial"/>
              </a:rPr>
              <a:t>location — правила по URI, try_files, proxy_pass.</a:t>
            </a:r>
            <a:endParaRPr sz="1550">
              <a:solidFill>
                <a:srgbClr val="404040"/>
              </a:solidFill>
              <a:latin typeface="Arial"/>
            </a:endParaRPr>
          </a:p>
          <a:p>
            <a:pPr>
              <a:lnSpc>
                <a:spcPct val="122000"/>
              </a:lnSpc>
              <a:spcAft>
                <a:spcPts val="400"/>
              </a:spcAft>
            </a:pPr>
            <a:endParaRPr sz="1550">
              <a:solidFill>
                <a:srgbClr val="404040"/>
              </a:solidFill>
              <a:latin typeface="Arial"/>
            </a:endParaRPr>
          </a:p>
          <a:p>
            <a:pPr>
              <a:lnSpc>
                <a:spcPct val="122000"/>
              </a:lnSpc>
              <a:spcAft>
                <a:spcPts val="400"/>
              </a:spcAft>
            </a:pPr>
            <a:r>
              <a:rPr sz="1550">
                <a:solidFill>
                  <a:srgbClr val="404040"/>
                </a:solidFill>
                <a:latin typeface="Arial"/>
              </a:rPr>
              <a:t>Простые директивы заканчиваются ;, блочные — { }.</a:t>
            </a:r>
            <a:endParaRPr sz="1550">
              <a:solidFill>
                <a:srgbClr val="404040"/>
              </a:solidFill>
              <a:latin typeface="Arial"/>
            </a:endParaRPr>
          </a:p>
          <a:p>
            <a:pPr>
              <a:lnSpc>
                <a:spcPct val="122000"/>
              </a:lnSpc>
              <a:spcAft>
                <a:spcPts val="400"/>
              </a:spcAft>
            </a:pPr>
            <a:r>
              <a:rPr sz="1550">
                <a:solidFill>
                  <a:srgbClr val="404040"/>
                </a:solidFill>
                <a:latin typeface="Arial"/>
              </a:rPr>
              <a:t>include /etc/nginx/conf.d/*.conf; подключает файлы.</a:t>
            </a:r>
            <a:endParaRPr sz="1550">
              <a:solidFill>
                <a:srgbClr val="404040"/>
              </a:solidFill>
              <a:latin typeface="Arial"/>
            </a:endParaRPr>
          </a:p>
          <a:p>
            <a:pPr>
              <a:lnSpc>
                <a:spcPct val="122000"/>
              </a:lnSpc>
              <a:spcAft>
                <a:spcPts val="400"/>
              </a:spcAft>
            </a:pPr>
            <a:r>
              <a:rPr sz="1550">
                <a:solidFill>
                  <a:srgbClr val="404040"/>
                </a:solidFill>
                <a:latin typeface="Arial"/>
              </a:rPr>
              <a:t>Настройки наследуются сверху вниз: http → server → location.</a:t>
            </a:r>
            <a:endParaRPr sz="1550">
              <a:solidFill>
                <a:srgbClr val="404040"/>
              </a:solidFill>
              <a:latin typeface="Arial"/>
            </a:endParaRPr>
          </a:p>
          <a:p>
            <a:pPr>
              <a:lnSpc>
                <a:spcPct val="122000"/>
              </a:lnSpc>
              <a:spcAft>
                <a:spcPts val="400"/>
              </a:spcAft>
            </a:pPr>
            <a:r>
              <a:rPr sz="1550">
                <a:solidFill>
                  <a:srgbClr val="404040"/>
                </a:solidFill>
                <a:latin typeface="Arial"/>
              </a:rPr>
              <a:t>Основной файл — /etc/nginx/nginx.conf.</a:t>
            </a:r>
            <a:endParaRPr sz="1550">
              <a:solidFill>
                <a:srgbClr val="40404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TextBox 1"/>
          <p:cNvSpPr txBox="1"/>
          <p:nvPr/>
        </p:nvSpPr>
        <p:spPr>
          <a:xfrm>
            <a:off x="302133" y="238506"/>
            <a:ext cx="9906000" cy="3962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2000" b="1">
                <a:solidFill>
                  <a:srgbClr val="404040"/>
                </a:solidFill>
                <a:latin typeface="Arial"/>
              </a:rPr>
              <a:t>Что настроить в первую очередь</a:t>
            </a:r>
            <a:endParaRPr sz="2000" b="1">
              <a:solidFill>
                <a:srgbClr val="404040"/>
              </a:solidFill>
              <a:latin typeface="Arial"/>
            </a:endParaRPr>
          </a:p>
        </p:txBody>
      </p:sp>
      <p:sp>
        <p:nvSpPr>
          <p:cNvPr id="201" name="TextBox 2"/>
          <p:cNvSpPr txBox="1"/>
          <p:nvPr/>
        </p:nvSpPr>
        <p:spPr>
          <a:xfrm>
            <a:off x="302133" y="736600"/>
            <a:ext cx="10160000" cy="275254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22000"/>
              </a:lnSpc>
              <a:spcAft>
                <a:spcPts val="400"/>
              </a:spcAft>
            </a:pPr>
            <a:r>
              <a:rPr sz="1550">
                <a:solidFill>
                  <a:srgbClr val="404040"/>
                </a:solidFill>
                <a:latin typeface="Arial"/>
              </a:rPr>
              <a:t>listen и server_name — порт и домен.</a:t>
            </a:r>
            <a:endParaRPr sz="1550">
              <a:solidFill>
                <a:srgbClr val="404040"/>
              </a:solidFill>
              <a:latin typeface="Arial"/>
            </a:endParaRPr>
          </a:p>
          <a:p>
            <a:pPr>
              <a:lnSpc>
                <a:spcPct val="122000"/>
              </a:lnSpc>
              <a:spcAft>
                <a:spcPts val="400"/>
              </a:spcAft>
            </a:pPr>
            <a:r>
              <a:rPr sz="1550">
                <a:solidFill>
                  <a:srgbClr val="404040"/>
                </a:solidFill>
                <a:latin typeface="Arial"/>
              </a:rPr>
              <a:t>root и index — корень статики и главный файл.</a:t>
            </a:r>
            <a:endParaRPr sz="1550">
              <a:solidFill>
                <a:srgbClr val="404040"/>
              </a:solidFill>
              <a:latin typeface="Arial"/>
            </a:endParaRPr>
          </a:p>
          <a:p>
            <a:pPr>
              <a:lnSpc>
                <a:spcPct val="122000"/>
              </a:lnSpc>
              <a:spcAft>
                <a:spcPts val="400"/>
              </a:spcAft>
            </a:pPr>
            <a:r>
              <a:rPr sz="1550">
                <a:solidFill>
                  <a:srgbClr val="404040"/>
                </a:solidFill>
                <a:latin typeface="Arial"/>
              </a:rPr>
              <a:t>location — правила по URI.</a:t>
            </a:r>
            <a:endParaRPr sz="1550">
              <a:solidFill>
                <a:srgbClr val="404040"/>
              </a:solidFill>
              <a:latin typeface="Arial"/>
            </a:endParaRPr>
          </a:p>
          <a:p>
            <a:pPr>
              <a:lnSpc>
                <a:spcPct val="122000"/>
              </a:lnSpc>
              <a:spcAft>
                <a:spcPts val="400"/>
              </a:spcAft>
            </a:pPr>
            <a:r>
              <a:rPr sz="1550">
                <a:solidFill>
                  <a:srgbClr val="404040"/>
                </a:solidFill>
                <a:latin typeface="Arial"/>
              </a:rPr>
              <a:t>try_files — SPA-fallback на index.html.</a:t>
            </a:r>
            <a:endParaRPr sz="1550">
              <a:solidFill>
                <a:srgbClr val="404040"/>
              </a:solidFill>
              <a:latin typeface="Arial"/>
            </a:endParaRPr>
          </a:p>
          <a:p>
            <a:pPr>
              <a:lnSpc>
                <a:spcPct val="122000"/>
              </a:lnSpc>
              <a:spcAft>
                <a:spcPts val="400"/>
              </a:spcAft>
            </a:pPr>
            <a:r>
              <a:rPr sz="1550">
                <a:solidFill>
                  <a:srgbClr val="404040"/>
                </a:solidFill>
                <a:latin typeface="Arial"/>
              </a:rPr>
              <a:t>proxy_pass — запросы в API.</a:t>
            </a:r>
            <a:endParaRPr sz="1550">
              <a:solidFill>
                <a:srgbClr val="404040"/>
              </a:solidFill>
              <a:latin typeface="Arial"/>
            </a:endParaRPr>
          </a:p>
          <a:p>
            <a:pPr>
              <a:lnSpc>
                <a:spcPct val="122000"/>
              </a:lnSpc>
              <a:spcAft>
                <a:spcPts val="400"/>
              </a:spcAft>
            </a:pPr>
            <a:r>
              <a:rPr sz="1550">
                <a:solidFill>
                  <a:srgbClr val="404040"/>
                </a:solidFill>
                <a:latin typeface="Arial"/>
              </a:rPr>
              <a:t>upstream — несколько бэкендов.</a:t>
            </a:r>
            <a:endParaRPr sz="1550">
              <a:solidFill>
                <a:srgbClr val="404040"/>
              </a:solidFill>
              <a:latin typeface="Arial"/>
            </a:endParaRPr>
          </a:p>
          <a:p>
            <a:pPr>
              <a:lnSpc>
                <a:spcPct val="122000"/>
              </a:lnSpc>
              <a:spcAft>
                <a:spcPts val="400"/>
              </a:spcAft>
            </a:pPr>
            <a:r>
              <a:rPr sz="1550">
                <a:solidFill>
                  <a:srgbClr val="404040"/>
                </a:solidFill>
                <a:latin typeface="Arial"/>
              </a:rPr>
              <a:t>expires и gzip — кэш и сжатие.</a:t>
            </a:r>
            <a:endParaRPr sz="1550">
              <a:solidFill>
                <a:srgbClr val="404040"/>
              </a:solidFill>
              <a:latin typeface="Arial"/>
            </a:endParaRPr>
          </a:p>
          <a:p>
            <a:pPr>
              <a:lnSpc>
                <a:spcPct val="122000"/>
              </a:lnSpc>
              <a:spcAft>
                <a:spcPts val="400"/>
              </a:spcAft>
            </a:pPr>
            <a:r>
              <a:rPr sz="1550">
                <a:solidFill>
                  <a:srgbClr val="404040"/>
                </a:solidFill>
                <a:latin typeface="Arial"/>
              </a:rPr>
              <a:t>ssl и return 301 — HTTPS и редирект.</a:t>
            </a:r>
            <a:endParaRPr sz="1550">
              <a:solidFill>
                <a:srgbClr val="40404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TextBox 1"/>
          <p:cNvSpPr txBox="1"/>
          <p:nvPr/>
        </p:nvSpPr>
        <p:spPr>
          <a:xfrm>
            <a:off x="302133" y="238506"/>
            <a:ext cx="9906000" cy="3962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2000" b="1">
                <a:solidFill>
                  <a:srgbClr val="404040"/>
                </a:solidFill>
                <a:latin typeface="Arial"/>
              </a:rPr>
              <a:t>Минимальный конфиг для SPA</a:t>
            </a:r>
            <a:endParaRPr sz="2000" b="1">
              <a:solidFill>
                <a:srgbClr val="404040"/>
              </a:solidFill>
              <a:latin typeface="Arial"/>
            </a:endParaRPr>
          </a:p>
        </p:txBody>
      </p:sp>
      <p:sp>
        <p:nvSpPr>
          <p:cNvPr id="206" name="Rectangle 2"/>
          <p:cNvSpPr/>
          <p:nvPr/>
        </p:nvSpPr>
        <p:spPr>
          <a:xfrm>
            <a:off x="302133" y="812800"/>
            <a:ext cx="10160000" cy="3810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207" name="Rectangle 3"/>
          <p:cNvSpPr/>
          <p:nvPr/>
        </p:nvSpPr>
        <p:spPr>
          <a:xfrm>
            <a:off x="302133" y="812800"/>
            <a:ext cx="50800" cy="3810000"/>
          </a:xfrm>
          <a:prstGeom prst="rect">
            <a:avLst/>
          </a:prstGeom>
          <a:solidFill>
            <a:srgbClr val="1B75B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208" name="TextBox 4"/>
          <p:cNvSpPr txBox="1"/>
          <p:nvPr/>
        </p:nvSpPr>
        <p:spPr>
          <a:xfrm>
            <a:off x="508000" y="939800"/>
            <a:ext cx="9779000" cy="32918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250">
                <a:solidFill>
                  <a:srgbClr val="333333"/>
                </a:solidFill>
                <a:latin typeface="Consolas"/>
              </a:rPr>
              <a:t>server {</a:t>
            </a:r>
            <a:endParaRPr sz="1250">
              <a:solidFill>
                <a:srgbClr val="333333"/>
              </a:solidFill>
              <a:latin typeface="Consolas"/>
            </a:endParaRPr>
          </a:p>
          <a:p>
            <a:pPr>
              <a:lnSpc>
                <a:spcPct val="120000"/>
              </a:lnSpc>
            </a:pPr>
            <a:r>
              <a:rPr sz="1250">
                <a:solidFill>
                  <a:srgbClr val="333333"/>
                </a:solidFill>
                <a:latin typeface="Consolas"/>
              </a:rPr>
              <a:t>  listen 80;</a:t>
            </a:r>
            <a:endParaRPr sz="1250">
              <a:solidFill>
                <a:srgbClr val="333333"/>
              </a:solidFill>
              <a:latin typeface="Consolas"/>
            </a:endParaRPr>
          </a:p>
          <a:p>
            <a:pPr>
              <a:lnSpc>
                <a:spcPct val="120000"/>
              </a:lnSpc>
            </a:pPr>
            <a:r>
              <a:rPr sz="1250">
                <a:solidFill>
                  <a:srgbClr val="333333"/>
                </a:solidFill>
                <a:latin typeface="Consolas"/>
              </a:rPr>
              <a:t>  server_name example.com;</a:t>
            </a:r>
            <a:endParaRPr sz="1250">
              <a:solidFill>
                <a:srgbClr val="333333"/>
              </a:solidFill>
              <a:latin typeface="Consolas"/>
            </a:endParaRPr>
          </a:p>
          <a:p>
            <a:pPr>
              <a:lnSpc>
                <a:spcPct val="120000"/>
              </a:lnSpc>
            </a:pPr>
            <a:r>
              <a:rPr sz="1250">
                <a:solidFill>
                  <a:srgbClr val="333333"/>
                </a:solidFill>
                <a:latin typeface="Consolas"/>
              </a:rPr>
              <a:t>  root /usr/share/nginx/html;</a:t>
            </a:r>
            <a:endParaRPr sz="1250">
              <a:solidFill>
                <a:srgbClr val="333333"/>
              </a:solidFill>
              <a:latin typeface="Consolas"/>
            </a:endParaRPr>
          </a:p>
          <a:p>
            <a:pPr>
              <a:lnSpc>
                <a:spcPct val="120000"/>
              </a:lnSpc>
            </a:pPr>
            <a:r>
              <a:rPr sz="1250">
                <a:solidFill>
                  <a:srgbClr val="333333"/>
                </a:solidFill>
                <a:latin typeface="Consolas"/>
              </a:rPr>
              <a:t>  index index.html;</a:t>
            </a:r>
            <a:endParaRPr sz="1250">
              <a:solidFill>
                <a:srgbClr val="333333"/>
              </a:solidFill>
              <a:latin typeface="Consolas"/>
            </a:endParaRPr>
          </a:p>
          <a:p>
            <a:pPr>
              <a:lnSpc>
                <a:spcPct val="120000"/>
              </a:lnSpc>
            </a:pPr>
            <a:endParaRPr sz="1250">
              <a:solidFill>
                <a:srgbClr val="333333"/>
              </a:solidFill>
              <a:latin typeface="Consolas"/>
            </a:endParaRPr>
          </a:p>
          <a:p>
            <a:pPr>
              <a:lnSpc>
                <a:spcPct val="120000"/>
              </a:lnSpc>
            </a:pPr>
            <a:r>
              <a:rPr sz="1250">
                <a:solidFill>
                  <a:srgbClr val="333333"/>
                </a:solidFill>
                <a:latin typeface="Consolas"/>
              </a:rPr>
              <a:t>  location / {</a:t>
            </a:r>
            <a:endParaRPr sz="1250">
              <a:solidFill>
                <a:srgbClr val="333333"/>
              </a:solidFill>
              <a:latin typeface="Consolas"/>
            </a:endParaRPr>
          </a:p>
          <a:p>
            <a:pPr>
              <a:lnSpc>
                <a:spcPct val="120000"/>
              </a:lnSpc>
            </a:pPr>
            <a:r>
              <a:rPr sz="1250">
                <a:solidFill>
                  <a:srgbClr val="333333"/>
                </a:solidFill>
                <a:latin typeface="Consolas"/>
              </a:rPr>
              <a:t>    try_files $uri $uri/ /index.html;</a:t>
            </a:r>
            <a:endParaRPr sz="1250">
              <a:solidFill>
                <a:srgbClr val="333333"/>
              </a:solidFill>
              <a:latin typeface="Consolas"/>
            </a:endParaRPr>
          </a:p>
          <a:p>
            <a:pPr>
              <a:lnSpc>
                <a:spcPct val="120000"/>
              </a:lnSpc>
            </a:pPr>
            <a:r>
              <a:rPr sz="1250">
                <a:solidFill>
                  <a:srgbClr val="333333"/>
                </a:solidFill>
                <a:latin typeface="Consolas"/>
              </a:rPr>
              <a:t>  }</a:t>
            </a:r>
            <a:endParaRPr sz="1250">
              <a:solidFill>
                <a:srgbClr val="333333"/>
              </a:solidFill>
              <a:latin typeface="Consolas"/>
            </a:endParaRPr>
          </a:p>
          <a:p>
            <a:pPr>
              <a:lnSpc>
                <a:spcPct val="120000"/>
              </a:lnSpc>
            </a:pPr>
            <a:endParaRPr sz="1250">
              <a:solidFill>
                <a:srgbClr val="333333"/>
              </a:solidFill>
              <a:latin typeface="Consolas"/>
            </a:endParaRPr>
          </a:p>
          <a:p>
            <a:pPr>
              <a:lnSpc>
                <a:spcPct val="120000"/>
              </a:lnSpc>
            </a:pPr>
            <a:r>
              <a:rPr sz="1250">
                <a:solidFill>
                  <a:srgbClr val="333333"/>
                </a:solidFill>
                <a:latin typeface="Consolas"/>
              </a:rPr>
              <a:t>  location /api/ {</a:t>
            </a:r>
            <a:endParaRPr sz="1250">
              <a:solidFill>
                <a:srgbClr val="333333"/>
              </a:solidFill>
              <a:latin typeface="Consolas"/>
            </a:endParaRPr>
          </a:p>
          <a:p>
            <a:pPr>
              <a:lnSpc>
                <a:spcPct val="120000"/>
              </a:lnSpc>
            </a:pPr>
            <a:r>
              <a:rPr sz="1250">
                <a:solidFill>
                  <a:srgbClr val="333333"/>
                </a:solidFill>
                <a:latin typeface="Consolas"/>
              </a:rPr>
              <a:t>    proxy_pass http://backend:8080/;</a:t>
            </a:r>
            <a:endParaRPr sz="1250">
              <a:solidFill>
                <a:srgbClr val="333333"/>
              </a:solidFill>
              <a:latin typeface="Consolas"/>
            </a:endParaRPr>
          </a:p>
          <a:p>
            <a:pPr>
              <a:lnSpc>
                <a:spcPct val="120000"/>
              </a:lnSpc>
            </a:pPr>
            <a:r>
              <a:rPr sz="1250">
                <a:solidFill>
                  <a:srgbClr val="333333"/>
                </a:solidFill>
                <a:latin typeface="Consolas"/>
              </a:rPr>
              <a:t>  }</a:t>
            </a:r>
            <a:endParaRPr sz="1250">
              <a:solidFill>
                <a:srgbClr val="333333"/>
              </a:solidFill>
              <a:latin typeface="Consolas"/>
            </a:endParaRPr>
          </a:p>
          <a:p>
            <a:pPr>
              <a:lnSpc>
                <a:spcPct val="120000"/>
              </a:lnSpc>
            </a:pPr>
            <a:r>
              <a:rPr sz="1250">
                <a:solidFill>
                  <a:srgbClr val="333333"/>
                </a:solidFill>
                <a:latin typeface="Consolas"/>
              </a:rPr>
              <a:t>}</a:t>
            </a:r>
            <a:endParaRPr sz="1250">
              <a:solidFill>
                <a:srgbClr val="333333"/>
              </a:solidFill>
              <a:latin typeface="Consolas"/>
            </a:endParaRPr>
          </a:p>
        </p:txBody>
      </p:sp>
      <p:sp>
        <p:nvSpPr>
          <p:cNvPr id="209" name="TextBox 5"/>
          <p:cNvSpPr txBox="1"/>
          <p:nvPr/>
        </p:nvSpPr>
        <p:spPr>
          <a:xfrm>
            <a:off x="302133" y="4876800"/>
            <a:ext cx="10160000" cy="64617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400">
                <a:solidFill>
                  <a:srgbClr val="666666"/>
                </a:solidFill>
                <a:latin typeface="Arial"/>
              </a:rPr>
              <a:t>Без try_files прямой заход на /posts/1 даст 404. gzip, кэш и HTTPS добавляются в этот же server.</a:t>
            </a:r>
            <a:endParaRPr sz="1400">
              <a:solidFill>
                <a:srgbClr val="666666"/>
              </a:solidFill>
              <a:latin typeface="Arial"/>
            </a:endParaRPr>
          </a:p>
          <a:p>
            <a:pPr>
              <a:lnSpc>
                <a:spcPct val="130000"/>
              </a:lnSpc>
            </a:pPr>
            <a:r>
              <a:rPr sz="1400">
                <a:solidFill>
                  <a:srgbClr val="666666"/>
                </a:solidFill>
                <a:latin typeface="Arial"/>
              </a:rPr>
              <a:t>Проверка: nginx -t → nginx -s reload.</a:t>
            </a:r>
            <a:endParaRPr sz="1400">
              <a:solidFill>
                <a:srgbClr val="666666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TextBox 1"/>
          <p:cNvSpPr txBox="1"/>
          <p:nvPr/>
        </p:nvSpPr>
        <p:spPr>
          <a:xfrm>
            <a:off x="302133" y="238506"/>
            <a:ext cx="9906000" cy="3962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2000" b="1">
                <a:solidFill>
                  <a:srgbClr val="404040"/>
                </a:solidFill>
                <a:latin typeface="Arial"/>
              </a:rPr>
              <a:t>Итог</a:t>
            </a:r>
            <a:endParaRPr sz="2000" b="1">
              <a:solidFill>
                <a:srgbClr val="404040"/>
              </a:solidFill>
              <a:latin typeface="Arial"/>
            </a:endParaRPr>
          </a:p>
        </p:txBody>
      </p:sp>
      <p:sp>
        <p:nvSpPr>
          <p:cNvPr id="217" name="TextBox 2"/>
          <p:cNvSpPr txBox="1"/>
          <p:nvPr/>
        </p:nvSpPr>
        <p:spPr>
          <a:xfrm>
            <a:off x="302133" y="736600"/>
            <a:ext cx="10160000" cy="207457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22000"/>
              </a:lnSpc>
              <a:spcAft>
                <a:spcPts val="400"/>
              </a:spcAft>
            </a:pPr>
            <a:r>
              <a:rPr sz="1550">
                <a:solidFill>
                  <a:srgbClr val="404040"/>
                </a:solidFill>
                <a:latin typeface="Arial"/>
              </a:rPr>
              <a:t>Vite — быстрый dev-сервер и сборщик; конфиг в vite.config.ts.</a:t>
            </a:r>
            <a:endParaRPr sz="1550">
              <a:solidFill>
                <a:srgbClr val="404040"/>
              </a:solidFill>
              <a:latin typeface="Arial"/>
            </a:endParaRPr>
          </a:p>
          <a:p>
            <a:pPr>
              <a:lnSpc>
                <a:spcPct val="122000"/>
              </a:lnSpc>
              <a:spcAft>
                <a:spcPts val="400"/>
              </a:spcAft>
            </a:pPr>
            <a:r>
              <a:rPr sz="1550">
                <a:solidFill>
                  <a:srgbClr val="404040"/>
                </a:solidFill>
                <a:latin typeface="Arial"/>
              </a:rPr>
              <a:t>Vite+ — единый CLI vp для зависимостей, проверок, тестов и сборки.</a:t>
            </a:r>
            <a:endParaRPr sz="1550">
              <a:solidFill>
                <a:srgbClr val="404040"/>
              </a:solidFill>
              <a:latin typeface="Arial"/>
            </a:endParaRPr>
          </a:p>
          <a:p>
            <a:pPr>
              <a:lnSpc>
                <a:spcPct val="122000"/>
              </a:lnSpc>
              <a:spcAft>
                <a:spcPts val="400"/>
              </a:spcAft>
            </a:pPr>
            <a:r>
              <a:rPr sz="1550">
                <a:solidFill>
                  <a:srgbClr val="404040"/>
                </a:solidFill>
                <a:latin typeface="Arial"/>
              </a:rPr>
              <a:t>Oxc — Oxlint и Oxfmt на Rust для быстрого линтинга и форматирования.</a:t>
            </a:r>
            <a:endParaRPr sz="1550">
              <a:solidFill>
                <a:srgbClr val="404040"/>
              </a:solidFill>
              <a:latin typeface="Arial"/>
            </a:endParaRPr>
          </a:p>
          <a:p>
            <a:pPr>
              <a:lnSpc>
                <a:spcPct val="122000"/>
              </a:lnSpc>
              <a:spcAft>
                <a:spcPts val="400"/>
              </a:spcAft>
            </a:pPr>
            <a:r>
              <a:rPr sz="1550">
                <a:solidFill>
                  <a:srgbClr val="404040"/>
                </a:solidFill>
                <a:latin typeface="Arial"/>
              </a:rPr>
              <a:t>Nginx — точка входа в проде: статика, SPA-fallback, proxy и HTTPS.</a:t>
            </a:r>
            <a:endParaRPr sz="1550">
              <a:solidFill>
                <a:srgbClr val="404040"/>
              </a:solidFill>
              <a:latin typeface="Arial"/>
            </a:endParaRPr>
          </a:p>
          <a:p>
            <a:pPr>
              <a:lnSpc>
                <a:spcPct val="122000"/>
              </a:lnSpc>
              <a:spcAft>
                <a:spcPts val="400"/>
              </a:spcAft>
            </a:pPr>
            <a:endParaRPr sz="1550">
              <a:solidFill>
                <a:srgbClr val="404040"/>
              </a:solidFill>
              <a:latin typeface="Arial"/>
            </a:endParaRPr>
          </a:p>
          <a:p>
            <a:pPr>
              <a:lnSpc>
                <a:spcPct val="122000"/>
              </a:lnSpc>
              <a:spcAft>
                <a:spcPts val="400"/>
              </a:spcAft>
            </a:pPr>
            <a:r>
              <a:rPr sz="1550">
                <a:solidFill>
                  <a:srgbClr val="404040"/>
                </a:solidFill>
                <a:latin typeface="Arial"/>
              </a:rPr>
              <a:t>Дальше: собрать проект на Vite+, настроить vp check и развернуть его за Nginx.</a:t>
            </a:r>
            <a:endParaRPr sz="1550">
              <a:solidFill>
                <a:srgbClr val="404040"/>
              </a:solidFill>
              <a:latin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Титульный слайд">
  <a:themeElements>
    <a:clrScheme name="Office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Классическая 2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>
          <a:solidFill>
            <a:schemeClr val="phClr"/>
          </a:solidFill>
          <a:prstDash val="solid"/>
          <a:miter/>
        </a:ln>
        <a:ln w="12700" cap="flat" cmpd="sng">
          <a:solidFill>
            <a:schemeClr val="phClr"/>
          </a:solidFill>
          <a:prstDash val="solid"/>
          <a:miter/>
        </a:ln>
        <a:ln w="19050" cap="flat" cmpd="sng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 xmlns:a="http://schemas.openxmlformats.org/drawingml/2006/main"/>
  <a:extraClrSchemeLst xmlns:a="http://schemas.openxmlformats.org/drawingml/2006/main"/>
</a:theme>
</file>

<file path=ppt/theme/theme2.xml><?xml version="1.0" encoding="utf-8"?>
<a:theme xmlns:a="http://schemas.openxmlformats.org/drawingml/2006/main" xmlns:r="http://schemas.openxmlformats.org/officeDocument/2006/relationships" name="Тема Office">
  <a:themeElements>
    <a:clrScheme name="АСЭ няшная">
      <a:dk1>
        <a:srgbClr val="726F6F"/>
      </a:dk1>
      <a:lt1>
        <a:srgbClr val="FFFFFF"/>
      </a:lt1>
      <a:dk2>
        <a:srgbClr val="033174"/>
      </a:dk2>
      <a:lt2>
        <a:srgbClr val="E7E6E6"/>
      </a:lt2>
      <a:accent1>
        <a:srgbClr val="F1D8D9"/>
      </a:accent1>
      <a:accent2>
        <a:srgbClr val="E09BB0"/>
      </a:accent2>
      <a:accent3>
        <a:srgbClr val="3B91C7"/>
      </a:accent3>
      <a:accent4>
        <a:srgbClr val="7EAB7C"/>
      </a:accent4>
      <a:accent5>
        <a:srgbClr val="ABD0E0"/>
      </a:accent5>
      <a:accent6>
        <a:srgbClr val="6495BC"/>
      </a:accent6>
      <a:hlink>
        <a:srgbClr val="AEBCD7"/>
      </a:hlink>
      <a:folHlink>
        <a:srgbClr val="954F72"/>
      </a:folHlink>
    </a:clrScheme>
    <a:fontScheme name="Тема 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Тема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>
          <a:solidFill>
            <a:schemeClr val="phClr"/>
          </a:solidFill>
          <a:prstDash val="solid"/>
          <a:miter/>
        </a:ln>
        <a:ln w="12700" cap="flat" cmpd="sng">
          <a:solidFill>
            <a:schemeClr val="phClr"/>
          </a:solidFill>
          <a:prstDash val="solid"/>
          <a:miter/>
        </a:ln>
        <a:ln w="19050" cap="flat" cmpd="sng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 xmlns:a="http://schemas.openxmlformats.org/drawingml/2006/main"/>
  <a:extraClrSchemeLst xmlns:a="http://schemas.openxmlformats.org/drawingml/2006/main"/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>
          <a:solidFill>
            <a:schemeClr val="phClr"/>
          </a:solidFill>
          <a:prstDash val="solid"/>
          <a:miter/>
        </a:ln>
        <a:ln w="12700" cap="flat" cmpd="sng">
          <a:solidFill>
            <a:schemeClr val="phClr"/>
          </a:solidFill>
          <a:prstDash val="solid"/>
          <a:miter/>
        </a:ln>
        <a:ln w="19050" cap="flat" cmpd="sng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 xmlns:a="http://schemas.openxmlformats.org/drawingml/2006/main"/>
  <a:extraClrSchemeLst xmlns:a="http://schemas.openxmlformats.org/drawingml/2006/main"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DeckCraft</Application>
  <Slides>32</Slides>
  <Notes>0</Notes>
  <HiddenSlides>0</Hidden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Vite, Vite+, Oxc и Nginx — Лекция 1</dc:title>
  <dc:subject>Инструменты сборки, линтинга и доставки фронтенда</dc:subject>
  <dc:creator>Пользователь</dc:creator>
  <cp:keywords>Vite, Vite+, Oxc, Oxlint, Oxfmt, Nginx</cp:keywords>
  <cp:lastModifiedBy>Даниэль Эрнандес Гарсия</cp:lastModifiedBy>
  <cp:revision>100</cp:revision>
  <dcterms:created xsi:type="dcterms:W3CDTF">2020-10-13T10:00:27Z</dcterms:created>
  <dcterms:modified xsi:type="dcterms:W3CDTF">2025-12-09T21:58:05Z</dcterms:modified>
</cp:coreProperties>
</file>