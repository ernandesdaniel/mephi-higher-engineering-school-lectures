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12192000" cy="6858000"/>
  <p:notesSz cx="6858000" cy="9144000"/>
  <p:defaultTextStyle>
    <a:lvl1pPr marL="0" algn="l">
      <a:defRPr sz="1800" kern="1200">
        <a:solidFill>
          <a:schemeClr val="tx1"/>
        </a:solidFill>
        <a:latin typeface="+mn-lt"/>
      </a:defRPr>
    </a:lvl1pPr>
    <a:lvl2pPr marL="457200" algn="l">
      <a:defRPr sz="1800" kern="1200">
        <a:solidFill>
          <a:schemeClr val="tx1"/>
        </a:solidFill>
        <a:latin typeface="+mn-lt"/>
      </a:defRPr>
    </a:lvl2pPr>
    <a:lvl3pPr marL="914400" algn="l">
      <a:defRPr sz="1800" kern="1200">
        <a:solidFill>
          <a:schemeClr val="tx1"/>
        </a:solidFill>
        <a:latin typeface="+mn-lt"/>
      </a:defRPr>
    </a:lvl3pPr>
    <a:lvl4pPr marL="1371600" algn="l">
      <a:defRPr sz="1800" kern="1200">
        <a:solidFill>
          <a:schemeClr val="tx1"/>
        </a:solidFill>
        <a:latin typeface="+mn-lt"/>
      </a:defRPr>
    </a:lvl4pPr>
    <a:lvl5pPr marL="1828800" algn="l">
      <a:defRPr sz="1800" kern="1200">
        <a:solidFill>
          <a:schemeClr val="tx1"/>
        </a:solidFill>
        <a:latin typeface="+mn-lt"/>
      </a:defRPr>
    </a:lvl5pPr>
    <a:lvl6pPr marL="2286000" algn="l">
      <a:defRPr sz="1800" kern="1200">
        <a:solidFill>
          <a:schemeClr val="tx1"/>
        </a:solidFill>
        <a:latin typeface="+mn-lt"/>
      </a:defRPr>
    </a:lvl6pPr>
    <a:lvl7pPr marL="2743200" algn="l">
      <a:defRPr sz="1800" kern="1200">
        <a:solidFill>
          <a:schemeClr val="tx1"/>
        </a:solidFill>
        <a:latin typeface="+mn-lt"/>
      </a:defRPr>
    </a:lvl7pPr>
    <a:lvl8pPr marL="3200400" algn="l">
      <a:defRPr sz="1800" kern="1200">
        <a:solidFill>
          <a:schemeClr val="tx1"/>
        </a:solidFill>
        <a:latin typeface="+mn-lt"/>
      </a:defRPr>
    </a:lvl8pPr>
    <a:lvl9pPr marL="3657600" algn="l">
      <a:defRPr sz="1800" kern="1200">
        <a:solidFill>
          <a:schemeClr val="tx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theme" Target="theme/theme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1524000" y="1117600"/>
            <a:ext cx="9144000" cy="2387600"/>
          </a:xfrm>
          <a:prstGeom prst="rect">
            <a:avLst/>
          </a:prstGeom>
        </p:spPr>
        <p:txBody>
          <a:bodyPr anchor="b">
            <a:normAutofit fontScale="100000"/>
          </a:bodyPr>
          <a:lstStyle>
            <a:lvl1pPr algn="ctr">
              <a:defRPr sz="6000"/>
            </a:lvl1pPr>
          </a:lstStyle>
          <a:p/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1524000" y="3606800"/>
            <a:ext cx="9144000" cy="1651000"/>
          </a:xfrm>
          <a:prstGeom prst="rect">
            <a:avLst/>
          </a:prstGeom>
        </p:spPr>
        <p:txBody>
          <a:bodyPr anchor="t">
            <a:normAutofit fontScale="100000"/>
          </a:bodyPr>
          <a:lstStyle>
            <a:lvl1pPr marL="0" indent="0" algn="ctr">
              <a:buNone/>
              <a:defRPr sz="2400"/>
            </a:lvl1pPr>
          </a:lstStyle>
          <a:p/>
        </p:txBody>
      </p:sp>
      <p:sp>
        <p:nvSpPr>
          <p:cNvPr id="9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0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1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DC6D5D-A00E-4AA9-84F2-364CBECE0EEA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15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6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7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CD0F9E-EF7E-4C26-8662-25A73F2263DD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title"/>
          </p:nvPr>
        </p:nvSpPr>
        <p:spPr>
          <a:xfrm>
            <a:off x="825500" y="1714500"/>
            <a:ext cx="10541000" cy="2857500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/>
        </p:txBody>
      </p:sp>
      <p:sp>
        <p:nvSpPr>
          <p:cNvPr id="20" name="Text Placeholder 2"/>
          <p:cNvSpPr>
            <a:spLocks noGrp="1"/>
          </p:cNvSpPr>
          <p:nvPr>
            <p:ph type="body" idx="1"/>
          </p:nvPr>
        </p:nvSpPr>
        <p:spPr>
          <a:xfrm>
            <a:off x="825500" y="4597400"/>
            <a:ext cx="10541000" cy="1498600"/>
          </a:xfrm>
          <a:prstGeom prst="rect">
            <a:avLst/>
          </a:prstGeom>
        </p:spPr>
        <p:txBody>
          <a:bodyPr anchor="t">
            <a:normAutofit fontScale="100000"/>
          </a:bodyPr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/>
        </p:txBody>
      </p:sp>
      <p:sp>
        <p:nvSpPr>
          <p:cNvPr id="21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22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23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C18080-B33E-4073-8615-72D8F5AE8F78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26" name="Content Placeholder 2"/>
          <p:cNvSpPr>
            <a:spLocks noGrp="1"/>
          </p:cNvSpPr>
          <p:nvPr>
            <p:ph idx="1"/>
          </p:nvPr>
        </p:nvSpPr>
        <p:spPr>
          <a:xfrm>
            <a:off x="762000" y="1828800"/>
            <a:ext cx="5232400" cy="43561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27" name="Content Placeholder 3"/>
          <p:cNvSpPr>
            <a:spLocks noGrp="1"/>
          </p:cNvSpPr>
          <p:nvPr>
            <p:ph idx="2"/>
          </p:nvPr>
        </p:nvSpPr>
        <p:spPr>
          <a:xfrm>
            <a:off x="6197600" y="1828800"/>
            <a:ext cx="5232400" cy="43561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28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29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0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CB9569-04AF-4288-8880-64CE52ABE7A3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3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689100"/>
            <a:ext cx="5232400" cy="78740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</a:lstStyle>
          <a:p/>
        </p:txBody>
      </p:sp>
      <p:sp>
        <p:nvSpPr>
          <p:cNvPr id="34" name="Content Placeholder 3"/>
          <p:cNvSpPr>
            <a:spLocks noGrp="1"/>
          </p:cNvSpPr>
          <p:nvPr>
            <p:ph idx="2"/>
          </p:nvPr>
        </p:nvSpPr>
        <p:spPr>
          <a:xfrm>
            <a:off x="762000" y="2514600"/>
            <a:ext cx="5232400" cy="36703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35" name="Text Placeholder 4"/>
          <p:cNvSpPr>
            <a:spLocks noGrp="1"/>
          </p:cNvSpPr>
          <p:nvPr>
            <p:ph type="body" idx="3"/>
          </p:nvPr>
        </p:nvSpPr>
        <p:spPr>
          <a:xfrm>
            <a:off x="6197600" y="1689100"/>
            <a:ext cx="5232400" cy="78740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</a:lstStyle>
          <a:p/>
        </p:txBody>
      </p:sp>
      <p:sp>
        <p:nvSpPr>
          <p:cNvPr id="36" name="Content Placeholder 5"/>
          <p:cNvSpPr>
            <a:spLocks noGrp="1"/>
          </p:cNvSpPr>
          <p:nvPr>
            <p:ph idx="4"/>
          </p:nvPr>
        </p:nvSpPr>
        <p:spPr>
          <a:xfrm>
            <a:off x="6197600" y="2514600"/>
            <a:ext cx="5232400" cy="36703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37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8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9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533E07-937E-4FED-8300-891295843456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42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3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4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28B55B-FA15-48BA-860D-0231187503D9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7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8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E0EBC0-ADA9-4FA7-889C-9287646BC794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itle 1"/>
          <p:cNvSpPr>
            <a:spLocks noGrp="1"/>
          </p:cNvSpPr>
          <p:nvPr>
            <p:ph type="title"/>
          </p:nvPr>
        </p:nvSpPr>
        <p:spPr>
          <a:xfrm>
            <a:off x="762000" y="457200"/>
            <a:ext cx="408940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/>
        </p:txBody>
      </p:sp>
      <p:sp>
        <p:nvSpPr>
          <p:cNvPr id="51" name="Content Placeholder 2"/>
          <p:cNvSpPr>
            <a:spLocks noGrp="1"/>
          </p:cNvSpPr>
          <p:nvPr>
            <p:ph idx="1"/>
          </p:nvPr>
        </p:nvSpPr>
        <p:spPr>
          <a:xfrm>
            <a:off x="5232400" y="990600"/>
            <a:ext cx="6197600" cy="48768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52" name="Text Placeholder 3"/>
          <p:cNvSpPr>
            <a:spLocks noGrp="1"/>
          </p:cNvSpPr>
          <p:nvPr>
            <p:ph type="body" idx="2"/>
          </p:nvPr>
        </p:nvSpPr>
        <p:spPr>
          <a:xfrm>
            <a:off x="762000" y="2057400"/>
            <a:ext cx="4089400" cy="3810000"/>
          </a:xfrm>
          <a:prstGeom prst="rect">
            <a:avLst/>
          </a:prstGeom>
        </p:spPr>
        <p:txBody>
          <a:bodyPr anchor="t">
            <a:normAutofit fontScale="100000"/>
          </a:bodyPr>
          <a:lstStyle>
            <a:lvl1pPr marL="0" indent="0">
              <a:buNone/>
              <a:defRPr sz="1600"/>
            </a:lvl1pPr>
          </a:lstStyle>
          <a:p/>
        </p:txBody>
      </p:sp>
      <p:sp>
        <p:nvSpPr>
          <p:cNvPr id="53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4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5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A25AB8-FB3A-479C-8780-0B7E5F586C0F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1"/>
          <p:cNvSpPr>
            <a:spLocks noGrp="1"/>
          </p:cNvSpPr>
          <p:nvPr>
            <p:ph type="title"/>
          </p:nvPr>
        </p:nvSpPr>
        <p:spPr>
          <a:xfrm>
            <a:off x="762000" y="457200"/>
            <a:ext cx="408940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/>
        </p:txBody>
      </p:sp>
      <p:sp>
        <p:nvSpPr>
          <p:cNvPr id="58" name="Picture Placeholder 2"/>
          <p:cNvSpPr>
            <a:spLocks noGrp="1"/>
          </p:cNvSpPr>
          <p:nvPr>
            <p:ph type="pic" idx="1"/>
          </p:nvPr>
        </p:nvSpPr>
        <p:spPr>
          <a:xfrm>
            <a:off x="5232400" y="990600"/>
            <a:ext cx="6197600" cy="48768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59" name="Text Placeholder 3"/>
          <p:cNvSpPr>
            <a:spLocks noGrp="1"/>
          </p:cNvSpPr>
          <p:nvPr>
            <p:ph type="body" idx="2"/>
          </p:nvPr>
        </p:nvSpPr>
        <p:spPr>
          <a:xfrm>
            <a:off x="762000" y="2057400"/>
            <a:ext cx="4089400" cy="3810000"/>
          </a:xfrm>
          <a:prstGeom prst="rect">
            <a:avLst/>
          </a:prstGeom>
        </p:spPr>
        <p:txBody>
          <a:bodyPr anchor="t">
            <a:normAutofit fontScale="100000"/>
          </a:bodyPr>
          <a:lstStyle>
            <a:lvl1pPr marL="0" indent="0">
              <a:buNone/>
              <a:defRPr sz="1600"/>
            </a:lvl1pPr>
          </a:lstStyle>
          <a:p/>
        </p:txBody>
      </p:sp>
      <p:sp>
        <p:nvSpPr>
          <p:cNvPr id="60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1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2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EFC29A-6C4F-4141-86E3-1A3E2D58E3A2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65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vert="eaVert" anchor="t">
            <a:normAutofit fontScale="100000"/>
          </a:bodyPr>
          <a:lstStyle/>
          <a:p/>
        </p:txBody>
      </p:sp>
      <p:sp>
        <p:nvSpPr>
          <p:cNvPr id="66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7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8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19C649-D3E0-46CB-87C1-67136E4226A6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8300"/>
            <a:ext cx="2705100" cy="5816600"/>
          </a:xfrm>
          <a:prstGeom prst="rect">
            <a:avLst/>
          </a:prstGeom>
        </p:spPr>
        <p:txBody>
          <a:bodyPr vert="eaVert"/>
          <a:lstStyle/>
          <a:p/>
        </p:txBody>
      </p:sp>
      <p:sp>
        <p:nvSpPr>
          <p:cNvPr id="71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68300"/>
            <a:ext cx="7772400" cy="5816600"/>
          </a:xfrm>
          <a:prstGeom prst="rect">
            <a:avLst/>
          </a:prstGeom>
        </p:spPr>
        <p:txBody>
          <a:bodyPr vert="eaVert" anchor="t">
            <a:normAutofit fontScale="100000"/>
          </a:bodyPr>
          <a:lstStyle/>
          <a:p/>
        </p:txBody>
      </p:sp>
      <p:sp>
        <p:nvSpPr>
          <p:cNvPr id="72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73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74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EBE78A-EB3E-401E-81B5-D7F53201DAF3}" type="slidenum">
              <a:rPr/>
              <a:t>‹#›</a:t>
            </a:fld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la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>
            <a:r>
              <a:rPr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>
            <a:r>
              <a:rPr/>
              <a:t>Click to edit Master text styles</a:t>
            </a:r>
          </a:p>
        </p:txBody>
      </p:sp>
      <p:sp>
        <p:nvSpPr>
          <p:cNvPr id="4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3D6AB1-0FDA-49F1-8390-8828CE9E6676}" type="slidenum">
              <a:rPr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>
        <a:lnSpc>
          <a:spcPct val="90000"/>
        </a:lnSpc>
        <a:spcBef>
          <a:spcPts val="0"/>
        </a:spcBef>
        <a:buNone/>
        <a:defRPr sz="4400" kern="1200">
          <a:solidFill>
            <a:schemeClr val="tx1"/>
          </a:solidFill>
          <a:latin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</a:defRPr>
      </a:lvl1pPr>
      <a:lvl2pPr marL="685800" indent="-228600" algn="l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</a:defRPr>
      </a:lvl2pPr>
      <a:lvl3pPr marL="1143000" indent="-228600" algn="l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</a:defRPr>
      </a:lvl3pPr>
      <a:lvl4pPr marL="16002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4pPr>
      <a:lvl5pPr marL="20574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5pPr>
      <a:lvl6pPr marL="25146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6pPr>
      <a:lvl7pPr marL="29718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7pPr>
      <a:lvl8pPr marL="34290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8pPr>
      <a:lvl9pPr marL="38862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9pPr>
    </p:bodyStyle>
    <p:otherStyle>
      <a:lvl1pPr marL="0" algn="l">
        <a:defRPr sz="1800" kern="1200">
          <a:solidFill>
            <a:schemeClr val="tx1"/>
          </a:solidFill>
          <a:latin typeface="+mn-lt"/>
        </a:defRPr>
      </a:lvl1pPr>
      <a:lvl2pPr marL="457200" algn="l">
        <a:defRPr sz="1800" kern="1200">
          <a:solidFill>
            <a:schemeClr val="tx1"/>
          </a:solidFill>
          <a:latin typeface="+mn-lt"/>
        </a:defRPr>
      </a:lvl2pPr>
      <a:lvl3pPr marL="914400" algn="l">
        <a:defRPr sz="1800" kern="1200">
          <a:solidFill>
            <a:schemeClr val="tx1"/>
          </a:solidFill>
          <a:latin typeface="+mn-lt"/>
        </a:defRPr>
      </a:lvl3pPr>
      <a:lvl4pPr marL="1371600" algn="l">
        <a:defRPr sz="1800" kern="1200">
          <a:solidFill>
            <a:schemeClr val="tx1"/>
          </a:solidFill>
          <a:latin typeface="+mn-lt"/>
        </a:defRPr>
      </a:lvl4pPr>
      <a:lvl5pPr marL="1828800" algn="l">
        <a:defRPr sz="1800" kern="1200">
          <a:solidFill>
            <a:schemeClr val="tx1"/>
          </a:solidFill>
          <a:latin typeface="+mn-lt"/>
        </a:defRPr>
      </a:lvl5pPr>
      <a:lvl6pPr marL="2286000" algn="l">
        <a:defRPr sz="1800" kern="1200">
          <a:solidFill>
            <a:schemeClr val="tx1"/>
          </a:solidFill>
          <a:latin typeface="+mn-lt"/>
        </a:defRPr>
      </a:lvl6pPr>
      <a:lvl7pPr marL="2743200" algn="l">
        <a:defRPr sz="1800" kern="1200">
          <a:solidFill>
            <a:schemeClr val="tx1"/>
          </a:solidFill>
          <a:latin typeface="+mn-lt"/>
        </a:defRPr>
      </a:lvl7pPr>
      <a:lvl8pPr marL="3200400" algn="l">
        <a:defRPr sz="1800" kern="1200">
          <a:solidFill>
            <a:schemeClr val="tx1"/>
          </a:solidFill>
          <a:latin typeface="+mn-lt"/>
        </a:defRPr>
      </a:lvl8pPr>
      <a:lvl9pPr marL="3657600" algn="l">
        <a:defRPr sz="1800" kern="1200">
          <a:solidFill>
            <a:schemeClr val="tx1"/>
          </a:solidFill>
          <a:latin typeface="+mn-lt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Title 1"/>
          <p:cNvSpPr>
            <a:spLocks noGrp="1"/>
          </p:cNvSpPr>
          <p:nvPr>
            <p:ph type="ctrTitle"/>
          </p:nvPr>
        </p:nvSpPr>
        <p:spPr>
          <a:xfrm>
            <a:off x="1524000" y="1117600"/>
            <a:ext cx="9144000" cy="2387600"/>
          </a:xfrm>
          <a:prstGeom prst="rect">
            <a:avLst/>
          </a:prstGeom>
        </p:spPr>
        <p:txBody>
          <a:bodyPr/>
          <a:lstStyle/>
          <a:p>
            <a:pPr>
              <a:lnSpc>
                <a:spcPct val="115000"/>
              </a:lnSpc>
            </a:pPr>
            <a:r>
              <a:rPr sz="4000" b="1">
                <a:solidFill>
                  <a:srgbClr val="111827"/>
                </a:solidFill>
              </a:rPr>
              <a:t>Современные технологии сборки,</a:t>
            </a:r>
            <a:endParaRPr sz="4000" b="1">
              <a:solidFill>
                <a:srgbClr val="111827"/>
              </a:solidFill>
            </a:endParaRPr>
          </a:p>
          <a:p>
            <a:pPr>
              <a:lnSpc>
                <a:spcPct val="115000"/>
              </a:lnSpc>
            </a:pPr>
            <a:r>
              <a:rPr sz="4000" b="1">
                <a:solidFill>
                  <a:srgbClr val="111827"/>
                </a:solidFill>
              </a:rPr>
              <a:t>линтинга и роутинга</a:t>
            </a:r>
            <a:endParaRPr sz="4000" b="1">
              <a:solidFill>
                <a:srgbClr val="111827"/>
              </a:solidFill>
            </a:endParaRPr>
          </a:p>
          <a:p>
            <a:pPr>
              <a:lnSpc>
                <a:spcPct val="115000"/>
              </a:lnSpc>
            </a:pPr>
            <a:r>
              <a:rPr sz="4000" b="1">
                <a:solidFill>
                  <a:srgbClr val="111827"/>
                </a:solidFill>
              </a:rPr>
              <a:t>во фронтенд-приложениях</a:t>
            </a:r>
            <a:endParaRPr sz="4000" b="1">
              <a:solidFill>
                <a:srgbClr val="111827"/>
              </a:solidFill>
            </a:endParaRPr>
          </a:p>
        </p:txBody>
      </p:sp>
      <p:sp>
        <p:nvSpPr>
          <p:cNvPr id="259" name="Subtitle 2"/>
          <p:cNvSpPr>
            <a:spLocks noGrp="1"/>
          </p:cNvSpPr>
          <p:nvPr>
            <p:ph type="subTitle" idx="1"/>
          </p:nvPr>
        </p:nvSpPr>
        <p:spPr>
          <a:xfrm>
            <a:off x="1524000" y="3606800"/>
            <a:ext cx="9144000" cy="1651000"/>
          </a:xfrm>
          <a:prstGeom prst="rect">
            <a:avLst/>
          </a:prstGeom>
        </p:spPr>
        <p:txBody>
          <a:bodyPr/>
          <a:lstStyle/>
          <a:p>
            <a:r>
              <a:rPr sz="2000">
                <a:solidFill>
                  <a:srgbClr val="9CA3AF"/>
                </a:solidFill>
              </a:rPr>
              <a:t>Vite · Oxidation Compiler · TanStack Router</a:t>
            </a:r>
            <a:endParaRPr sz="2000">
              <a:solidFill>
                <a:srgbClr val="9CA3AF"/>
              </a:solidFill>
            </a:endParaRPr>
          </a:p>
          <a:p>
            <a:r>
              <a:rPr sz="2000">
                <a:solidFill>
                  <a:srgbClr val="9CA3AF"/>
                </a:solidFill>
              </a:rPr>
              <a:t>Лекция 1</a:t>
            </a:r>
            <a:endParaRPr sz="2000">
              <a:solidFill>
                <a:srgbClr val="9CA3AF"/>
              </a:solidFill>
            </a:endParaRPr>
          </a:p>
        </p:txBody>
      </p:sp>
      <p:sp>
        <p:nvSpPr>
          <p:cNvPr id="260" name="Rectangle 3"/>
          <p:cNvSpPr/>
          <p:nvPr/>
        </p:nvSpPr>
        <p:spPr>
          <a:xfrm>
            <a:off x="812800" y="1219200"/>
            <a:ext cx="812800" cy="762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TextBox 1"/>
          <p:cNvSpPr txBox="1"/>
          <p:nvPr/>
        </p:nvSpPr>
        <p:spPr>
          <a:xfrm>
            <a:off x="812800" y="381000"/>
            <a:ext cx="10160000" cy="5791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Почему старый подход устарел</a:t>
            </a:r>
            <a:endParaRPr sz="3200" b="1">
              <a:solidFill>
                <a:srgbClr val="111827"/>
              </a:solidFill>
            </a:endParaRPr>
          </a:p>
        </p:txBody>
      </p:sp>
      <p:sp>
        <p:nvSpPr>
          <p:cNvPr id="263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64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9CA3AF"/>
                </a:solidFill>
              </a:rPr>
              <a:t>2</a:t>
            </a:r>
            <a:endParaRPr sz="1100">
              <a:solidFill>
                <a:srgbClr val="9CA3AF"/>
              </a:solidFill>
            </a:endParaRPr>
          </a:p>
        </p:txBody>
      </p:sp>
      <p:sp>
        <p:nvSpPr>
          <p:cNvPr id="265" name="TextBox 4"/>
          <p:cNvSpPr txBox="1"/>
          <p:nvPr/>
        </p:nvSpPr>
        <p:spPr>
          <a:xfrm>
            <a:off x="812800" y="1676400"/>
            <a:ext cx="10566400" cy="15971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900">
                <a:solidFill>
                  <a:srgbClr val="374151"/>
                </a:solidFill>
              </a:rPr>
              <a:t>Dev-сервер сначала собирает весь проект в один бандл</a:t>
            </a:r>
            <a:endParaRPr sz="19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900">
                <a:solidFill>
                  <a:srgbClr val="374151"/>
                </a:solidFill>
              </a:rPr>
              <a:t>Время старта растёт вместе с кодовой базой</a:t>
            </a:r>
            <a:endParaRPr sz="19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900">
                <a:solidFill>
                  <a:srgbClr val="374151"/>
                </a:solidFill>
              </a:rPr>
              <a:t>Правка файла запускает пересборку цепочки модулей</a:t>
            </a:r>
            <a:endParaRPr sz="19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900">
                <a:solidFill>
                  <a:srgbClr val="374151"/>
                </a:solidFill>
              </a:rPr>
              <a:t>HMR теряет состояние или перезагружает страницу</a:t>
            </a:r>
            <a:endParaRPr sz="1900">
              <a:solidFill>
                <a:srgbClr val="374151"/>
              </a:solidFill>
            </a:endParaRPr>
          </a:p>
        </p:txBody>
      </p:sp>
      <p:sp>
        <p:nvSpPr>
          <p:cNvPr id="266" name="Rectangle 5"/>
          <p:cNvSpPr/>
          <p:nvPr/>
        </p:nvSpPr>
        <p:spPr>
          <a:xfrm>
            <a:off x="812800" y="5080000"/>
            <a:ext cx="10566400" cy="66040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67" name="Rectangle 6"/>
          <p:cNvSpPr/>
          <p:nvPr/>
        </p:nvSpPr>
        <p:spPr>
          <a:xfrm>
            <a:off x="812800" y="5080000"/>
            <a:ext cx="76200" cy="6604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68" name="TextBox 7"/>
          <p:cNvSpPr txBox="1"/>
          <p:nvPr/>
        </p:nvSpPr>
        <p:spPr>
          <a:xfrm>
            <a:off x="1143000" y="5257800"/>
            <a:ext cx="9906000" cy="3200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1500">
                <a:solidFill>
                  <a:srgbClr val="312E81"/>
                </a:solidFill>
              </a:rPr>
              <a:t>Узкое место — не код, а обязательная сборка перед каждым запуском</a:t>
            </a:r>
            <a:endParaRPr sz="1500">
              <a:solidFill>
                <a:srgbClr val="312E8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TextBox 1"/>
          <p:cNvSpPr txBox="1"/>
          <p:nvPr/>
        </p:nvSpPr>
        <p:spPr>
          <a:xfrm>
            <a:off x="812800" y="381000"/>
            <a:ext cx="10160000" cy="5791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Как работает Vite</a:t>
            </a:r>
            <a:endParaRPr sz="3200" b="1">
              <a:solidFill>
                <a:srgbClr val="111827"/>
              </a:solidFill>
            </a:endParaRPr>
          </a:p>
        </p:txBody>
      </p:sp>
      <p:sp>
        <p:nvSpPr>
          <p:cNvPr id="271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72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9CA3AF"/>
                </a:solidFill>
              </a:rPr>
              <a:t>3</a:t>
            </a:r>
            <a:endParaRPr sz="1100">
              <a:solidFill>
                <a:srgbClr val="9CA3AF"/>
              </a:solidFill>
            </a:endParaRPr>
          </a:p>
        </p:txBody>
      </p:sp>
      <p:sp>
        <p:nvSpPr>
          <p:cNvPr id="273" name="TextBox 4"/>
          <p:cNvSpPr txBox="1"/>
          <p:nvPr/>
        </p:nvSpPr>
        <p:spPr>
          <a:xfrm>
            <a:off x="812800" y="1676400"/>
            <a:ext cx="10566400" cy="15971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900">
                <a:solidFill>
                  <a:srgbClr val="374151"/>
                </a:solidFill>
              </a:rPr>
              <a:t>Браузер понимает ES-модули нативно — import/export без сборщика</a:t>
            </a:r>
            <a:endParaRPr sz="19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900">
                <a:solidFill>
                  <a:srgbClr val="374151"/>
                </a:solidFill>
              </a:rPr>
              <a:t>Dev-сервер отдаёт файлы по запросу, а не собирает бандл заранее</a:t>
            </a:r>
            <a:endParaRPr sz="19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900">
                <a:solidFill>
                  <a:srgbClr val="374151"/>
                </a:solidFill>
              </a:rPr>
              <a:t>node_modules предсобираются один раз (esbuild): CommonJS → ESM</a:t>
            </a:r>
            <a:endParaRPr sz="19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900">
                <a:solidFill>
                  <a:srgbClr val="374151"/>
                </a:solidFill>
              </a:rPr>
              <a:t>Правка модуля инвалидирует только его цепочку, а не проект</a:t>
            </a:r>
            <a:endParaRPr sz="1900">
              <a:solidFill>
                <a:srgbClr val="374151"/>
              </a:solidFill>
            </a:endParaRPr>
          </a:p>
        </p:txBody>
      </p:sp>
      <p:sp>
        <p:nvSpPr>
          <p:cNvPr id="274" name="Rectangle 5"/>
          <p:cNvSpPr/>
          <p:nvPr/>
        </p:nvSpPr>
        <p:spPr>
          <a:xfrm>
            <a:off x="812800" y="5080000"/>
            <a:ext cx="10566400" cy="66040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75" name="Rectangle 6"/>
          <p:cNvSpPr/>
          <p:nvPr/>
        </p:nvSpPr>
        <p:spPr>
          <a:xfrm>
            <a:off x="812800" y="5080000"/>
            <a:ext cx="76200" cy="6604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76" name="TextBox 7"/>
          <p:cNvSpPr txBox="1"/>
          <p:nvPr/>
        </p:nvSpPr>
        <p:spPr>
          <a:xfrm>
            <a:off x="1143000" y="5257800"/>
            <a:ext cx="9906000" cy="3200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1500">
                <a:solidFill>
                  <a:srgbClr val="312E81"/>
                </a:solidFill>
              </a:rPr>
              <a:t>Dev = ESM + on-demand transform.  Build = Rollup/Rolldown + minify + tree-shaking</a:t>
            </a:r>
            <a:endParaRPr sz="1500">
              <a:solidFill>
                <a:srgbClr val="312E8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TextBox 1"/>
          <p:cNvSpPr txBox="1"/>
          <p:nvPr/>
        </p:nvSpPr>
        <p:spPr>
          <a:xfrm>
            <a:off x="812800" y="381000"/>
            <a:ext cx="10160000" cy="5791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Два режима работы</a:t>
            </a:r>
            <a:endParaRPr sz="3200" b="1">
              <a:solidFill>
                <a:srgbClr val="111827"/>
              </a:solidFill>
            </a:endParaRPr>
          </a:p>
        </p:txBody>
      </p:sp>
      <p:sp>
        <p:nvSpPr>
          <p:cNvPr id="279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80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9CA3AF"/>
                </a:solidFill>
              </a:rPr>
              <a:t>4</a:t>
            </a:r>
            <a:endParaRPr sz="1100">
              <a:solidFill>
                <a:srgbClr val="9CA3AF"/>
              </a:solidFill>
            </a:endParaRPr>
          </a:p>
        </p:txBody>
      </p:sp>
      <p:graphicFrame>
        <p:nvGraphicFramePr>
          <p:cNvPr id="281" name="Table 4"/>
          <p:cNvGraphicFramePr>
            <a:graphicFrameLocks noGrp="1"/>
          </p:cNvGraphicFramePr>
          <p:nvPr/>
        </p:nvGraphicFramePr>
        <p:xfrm>
          <a:off x="812800" y="1778000"/>
          <a:ext cx="10566400" cy="317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133"/>
                <a:gridCol w="3522133"/>
                <a:gridCol w="3522133"/>
              </a:tblGrid>
              <a:tr h="529167">
                <a:tc>
                  <a:txBody>
                    <a:bodyPr/>
                    <a:lstStyle/>
                    <a:p>
                      <a:r>
                        <a:rPr/>
                        <a:t>Параметр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Dev — vp run dev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Build — vp run build</a:t>
                      </a:r>
                    </a:p>
                  </a:txBody>
                  <a:tcPr/>
                </a:tc>
              </a:tr>
              <a:tr h="529167">
                <a:tc>
                  <a:txBody>
                    <a:bodyPr/>
                    <a:lstStyle/>
                    <a:p>
                      <a:r>
                        <a:rPr/>
                        <a:t>Цель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мгновенный цикл правок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готовый бандл</a:t>
                      </a:r>
                    </a:p>
                  </a:txBody>
                  <a:tcPr/>
                </a:tc>
              </a:tr>
              <a:tr h="529167">
                <a:tc>
                  <a:txBody>
                    <a:bodyPr/>
                    <a:lstStyle/>
                    <a:p>
                      <a:r>
                        <a:rPr/>
                        <a:t>Модули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ESM по запросу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чанки и ассеты</a:t>
                      </a:r>
                    </a:p>
                  </a:txBody>
                  <a:tcPr/>
                </a:tc>
              </a:tr>
              <a:tr h="529167">
                <a:tc>
                  <a:txBody>
                    <a:bodyPr/>
                    <a:lstStyle/>
                    <a:p>
                      <a:r>
                        <a:rPr/>
                        <a:t>Зависимости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esbuild prebundle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Rollup / Rolldown</a:t>
                      </a:r>
                    </a:p>
                  </a:txBody>
                  <a:tcPr/>
                </a:tc>
              </a:tr>
              <a:tr h="529167">
                <a:tc>
                  <a:txBody>
                    <a:bodyPr/>
                    <a:lstStyle/>
                    <a:p>
                      <a:r>
                        <a:rPr/>
                        <a:t>Скорость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старт почти мгновенный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секунды и минуты</a:t>
                      </a:r>
                    </a:p>
                  </a:txBody>
                  <a:tcPr/>
                </a:tc>
              </a:tr>
              <a:tr h="529167">
                <a:tc>
                  <a:txBody>
                    <a:bodyPr/>
                    <a:lstStyle/>
                    <a:p>
                      <a:r>
                        <a:rPr/>
                        <a:t>Оптимизация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нет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minify, tree-shaking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TextBox 1"/>
          <p:cNvSpPr txBox="1"/>
          <p:nvPr/>
        </p:nvSpPr>
        <p:spPr>
          <a:xfrm>
            <a:off x="812800" y="381000"/>
            <a:ext cx="10160000" cy="5791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Старт проекта</a:t>
            </a:r>
            <a:endParaRPr sz="3200" b="1">
              <a:solidFill>
                <a:srgbClr val="111827"/>
              </a:solidFill>
            </a:endParaRPr>
          </a:p>
        </p:txBody>
      </p:sp>
      <p:sp>
        <p:nvSpPr>
          <p:cNvPr id="284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85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9CA3AF"/>
                </a:solidFill>
              </a:rPr>
              <a:t>5</a:t>
            </a:r>
            <a:endParaRPr sz="1100">
              <a:solidFill>
                <a:srgbClr val="9CA3AF"/>
              </a:solidFill>
            </a:endParaRPr>
          </a:p>
        </p:txBody>
      </p:sp>
      <p:sp>
        <p:nvSpPr>
          <p:cNvPr id="286" name="TextBox 4"/>
          <p:cNvSpPr txBox="1"/>
          <p:nvPr/>
        </p:nvSpPr>
        <p:spPr>
          <a:xfrm>
            <a:off x="812800" y="1676400"/>
            <a:ext cx="10566400" cy="4084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374151"/>
                </a:solidFill>
              </a:rPr>
              <a:t>npm create vite@latest my-app -- --template react-ts</a:t>
            </a:r>
            <a:endParaRPr sz="1600">
              <a:solidFill>
                <a:srgbClr val="374151"/>
              </a:solidFill>
            </a:endParaRPr>
          </a:p>
        </p:txBody>
      </p:sp>
      <p:sp>
        <p:nvSpPr>
          <p:cNvPr id="287" name="Rectangle 5"/>
          <p:cNvSpPr/>
          <p:nvPr/>
        </p:nvSpPr>
        <p:spPr>
          <a:xfrm>
            <a:off x="812800" y="2032000"/>
            <a:ext cx="10566400" cy="16510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88" name="TextBox 6"/>
          <p:cNvSpPr txBox="1"/>
          <p:nvPr/>
        </p:nvSpPr>
        <p:spPr>
          <a:xfrm>
            <a:off x="1117600" y="2209800"/>
            <a:ext cx="10058400" cy="12009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2E8F0"/>
                </a:solidFill>
                <a:latin typeface="Consolas"/>
              </a:rPr>
              <a:t>npm create vite@latest my-app -- --template react-ts</a:t>
            </a:r>
            <a:endParaRPr sz="14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2E8F0"/>
                </a:solidFill>
                <a:latin typeface="Consolas"/>
              </a:rPr>
              <a:t>cd my-app</a:t>
            </a:r>
            <a:endParaRPr sz="14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2E8F0"/>
                </a:solidFill>
                <a:latin typeface="Consolas"/>
              </a:rPr>
              <a:t>npm install</a:t>
            </a:r>
            <a:endParaRPr sz="14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2E8F0"/>
                </a:solidFill>
                <a:latin typeface="Consolas"/>
              </a:rPr>
              <a:t>npm run dev</a:t>
            </a:r>
            <a:endParaRPr sz="1400">
              <a:solidFill>
                <a:srgbClr val="E2E8F0"/>
              </a:solidFill>
              <a:latin typeface="Consolas"/>
            </a:endParaRPr>
          </a:p>
        </p:txBody>
      </p:sp>
      <p:sp>
        <p:nvSpPr>
          <p:cNvPr id="289" name="Rectangle 7"/>
          <p:cNvSpPr/>
          <p:nvPr/>
        </p:nvSpPr>
        <p:spPr>
          <a:xfrm>
            <a:off x="812800" y="3937000"/>
            <a:ext cx="10566400" cy="13716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90" name="TextBox 8"/>
          <p:cNvSpPr txBox="1"/>
          <p:nvPr/>
        </p:nvSpPr>
        <p:spPr>
          <a:xfrm>
            <a:off x="1117600" y="4114800"/>
            <a:ext cx="10058400" cy="9235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2E8F0"/>
                </a:solidFill>
                <a:latin typeface="Consolas"/>
              </a:rPr>
              <a:t>vp install</a:t>
            </a:r>
            <a:endParaRPr sz="14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2E8F0"/>
                </a:solidFill>
                <a:latin typeface="Consolas"/>
              </a:rPr>
              <a:t>vp run dev      # dev-сервер на :3000</a:t>
            </a:r>
            <a:endParaRPr sz="14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2E8F0"/>
                </a:solidFill>
                <a:latin typeface="Consolas"/>
              </a:rPr>
              <a:t>vp run build    # tsc -b &amp;&amp; сборка</a:t>
            </a:r>
            <a:endParaRPr sz="1400">
              <a:solidFill>
                <a:srgbClr val="E2E8F0"/>
              </a:solidFill>
              <a:latin typeface="Consolas"/>
            </a:endParaRPr>
          </a:p>
        </p:txBody>
      </p:sp>
      <p:sp>
        <p:nvSpPr>
          <p:cNvPr id="291" name="TextBox 9"/>
          <p:cNvSpPr txBox="1"/>
          <p:nvPr/>
        </p:nvSpPr>
        <p:spPr>
          <a:xfrm>
            <a:off x="812800" y="5486400"/>
            <a:ext cx="10566400" cy="3048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1400">
                <a:solidFill>
                  <a:srgbClr val="9CA3AF"/>
                </a:solidFill>
              </a:rPr>
              <a:t>predev и prebuild автоматически перегенерируют API-клиенты, роуты и события</a:t>
            </a:r>
            <a:endParaRPr sz="1400">
              <a:solidFill>
                <a:srgbClr val="9CA3AF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TextBox 1"/>
          <p:cNvSpPr txBox="1"/>
          <p:nvPr/>
        </p:nvSpPr>
        <p:spPr>
          <a:xfrm>
            <a:off x="812800" y="381000"/>
            <a:ext cx="10160000" cy="5791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Анатомия проекта</a:t>
            </a:r>
            <a:endParaRPr sz="3200" b="1">
              <a:solidFill>
                <a:srgbClr val="111827"/>
              </a:solidFill>
            </a:endParaRPr>
          </a:p>
        </p:txBody>
      </p:sp>
      <p:sp>
        <p:nvSpPr>
          <p:cNvPr id="294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95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9CA3AF"/>
                </a:solidFill>
              </a:rPr>
              <a:t>6</a:t>
            </a:r>
            <a:endParaRPr sz="1100">
              <a:solidFill>
                <a:srgbClr val="9CA3AF"/>
              </a:solidFill>
            </a:endParaRPr>
          </a:p>
        </p:txBody>
      </p:sp>
      <p:sp>
        <p:nvSpPr>
          <p:cNvPr id="296" name="Rectangle 4"/>
          <p:cNvSpPr/>
          <p:nvPr/>
        </p:nvSpPr>
        <p:spPr>
          <a:xfrm>
            <a:off x="812800" y="1676400"/>
            <a:ext cx="5334000" cy="35560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97" name="TextBox 5"/>
          <p:cNvSpPr txBox="1"/>
          <p:nvPr/>
        </p:nvSpPr>
        <p:spPr>
          <a:xfrm>
            <a:off x="1117600" y="1854200"/>
            <a:ext cx="4826000" cy="27660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E2E8F0"/>
                </a:solidFill>
                <a:latin typeface="Consolas"/>
              </a:rPr>
              <a:t>my-app/</a:t>
            </a:r>
            <a:endParaRPr sz="15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500">
                <a:solidFill>
                  <a:srgbClr val="E2E8F0"/>
                </a:solidFill>
                <a:latin typeface="Consolas"/>
              </a:rPr>
              <a:t>├─ index.html</a:t>
            </a:r>
            <a:endParaRPr sz="15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500">
                <a:solidFill>
                  <a:srgbClr val="E2E8F0"/>
                </a:solidFill>
                <a:latin typeface="Consolas"/>
              </a:rPr>
              <a:t>├─ vite.config.ts</a:t>
            </a:r>
            <a:endParaRPr sz="15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500">
                <a:solidFill>
                  <a:srgbClr val="E2E8F0"/>
                </a:solidFill>
                <a:latin typeface="Consolas"/>
              </a:rPr>
              <a:t>├─ package.json</a:t>
            </a:r>
            <a:endParaRPr sz="15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500">
                <a:solidFill>
                  <a:srgbClr val="E2E8F0"/>
                </a:solidFill>
                <a:latin typeface="Consolas"/>
              </a:rPr>
              <a:t>├─ public/</a:t>
            </a:r>
            <a:endParaRPr sz="15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500">
                <a:solidFill>
                  <a:srgbClr val="E2E8F0"/>
                </a:solidFill>
                <a:latin typeface="Consolas"/>
              </a:rPr>
              <a:t>│  └─ favicon.svg</a:t>
            </a:r>
            <a:endParaRPr sz="15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500">
                <a:solidFill>
                  <a:srgbClr val="E2E8F0"/>
                </a:solidFill>
                <a:latin typeface="Consolas"/>
              </a:rPr>
              <a:t>└─ src/</a:t>
            </a:r>
            <a:endParaRPr sz="15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500">
                <a:solidFill>
                  <a:srgbClr val="E2E8F0"/>
                </a:solidFill>
                <a:latin typeface="Consolas"/>
              </a:rPr>
              <a:t>   ├─ main.tsx</a:t>
            </a:r>
            <a:endParaRPr sz="15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500">
                <a:solidFill>
                  <a:srgbClr val="E2E8F0"/>
                </a:solidFill>
                <a:latin typeface="Consolas"/>
              </a:rPr>
              <a:t>   └─ App.tsx</a:t>
            </a:r>
            <a:endParaRPr sz="1500">
              <a:solidFill>
                <a:srgbClr val="E2E8F0"/>
              </a:solidFill>
              <a:latin typeface="Consolas"/>
            </a:endParaRPr>
          </a:p>
        </p:txBody>
      </p:sp>
      <p:sp>
        <p:nvSpPr>
          <p:cNvPr id="298" name="TextBox 6"/>
          <p:cNvSpPr txBox="1"/>
          <p:nvPr/>
        </p:nvSpPr>
        <p:spPr>
          <a:xfrm>
            <a:off x="6553200" y="1803400"/>
            <a:ext cx="4826000" cy="16764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374151"/>
                </a:solidFill>
              </a:rPr>
              <a:t>index.html — точка входа</a:t>
            </a:r>
            <a:endParaRPr sz="16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374151"/>
                </a:solidFill>
              </a:rPr>
              <a:t>module-скрипт запускает граф модулей</a:t>
            </a:r>
            <a:endParaRPr sz="16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374151"/>
                </a:solidFill>
              </a:rPr>
              <a:t>vite.config.ts — один конфиг на всё</a:t>
            </a:r>
            <a:endParaRPr sz="16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374151"/>
                </a:solidFill>
              </a:rPr>
              <a:t>public/ — файлы без обработки</a:t>
            </a:r>
            <a:endParaRPr sz="16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374151"/>
                </a:solidFill>
              </a:rPr>
              <a:t>src/ — код приложения</a:t>
            </a:r>
            <a:endParaRPr sz="1600">
              <a:solidFill>
                <a:srgbClr val="37415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TextBox 1"/>
          <p:cNvSpPr txBox="1"/>
          <p:nvPr/>
        </p:nvSpPr>
        <p:spPr>
          <a:xfrm>
            <a:off x="812800" y="381000"/>
            <a:ext cx="10160000" cy="5791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vite.config.ts: наш конфиг</a:t>
            </a:r>
            <a:endParaRPr sz="3200" b="1">
              <a:solidFill>
                <a:srgbClr val="111827"/>
              </a:solidFill>
            </a:endParaRPr>
          </a:p>
        </p:txBody>
      </p:sp>
      <p:sp>
        <p:nvSpPr>
          <p:cNvPr id="301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02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9CA3AF"/>
                </a:solidFill>
              </a:rPr>
              <a:t>7</a:t>
            </a:r>
            <a:endParaRPr sz="1100">
              <a:solidFill>
                <a:srgbClr val="9CA3AF"/>
              </a:solidFill>
            </a:endParaRPr>
          </a:p>
        </p:txBody>
      </p:sp>
      <p:sp>
        <p:nvSpPr>
          <p:cNvPr id="303" name="Rectangle 4"/>
          <p:cNvSpPr/>
          <p:nvPr/>
        </p:nvSpPr>
        <p:spPr>
          <a:xfrm>
            <a:off x="812800" y="1676400"/>
            <a:ext cx="10566400" cy="36830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04" name="TextBox 5"/>
          <p:cNvSpPr txBox="1"/>
          <p:nvPr/>
        </p:nvSpPr>
        <p:spPr>
          <a:xfrm>
            <a:off x="1117600" y="1854200"/>
            <a:ext cx="10058400" cy="3063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export default defineConfig({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  plugins: lazyPlugins(() =&gt; [tanstackRouter({ target: "react" }), react()]),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  resolve: { alias: { "@": resolve(__dirname, "./src") } },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  css: { preprocessorOptions: { scss: { additionalData: `@use "@/styles/variables.scss" as *;` } } },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  server: {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    port: 3000,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    proxy: {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      "/api":  { target: "http://localhost:3001", changeOrigin: true },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      "/mqtt": { target: "ws://localhost:8083", ws: true },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    },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  },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});</a:t>
            </a:r>
            <a:endParaRPr sz="1250">
              <a:solidFill>
                <a:srgbClr val="E2E8F0"/>
              </a:solidFill>
              <a:latin typeface="Consolas"/>
            </a:endParaRPr>
          </a:p>
        </p:txBody>
      </p:sp>
      <p:sp>
        <p:nvSpPr>
          <p:cNvPr id="305" name="Rectangle 6"/>
          <p:cNvSpPr/>
          <p:nvPr/>
        </p:nvSpPr>
        <p:spPr>
          <a:xfrm>
            <a:off x="812800" y="5588000"/>
            <a:ext cx="10566400" cy="66040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06" name="Rectangle 7"/>
          <p:cNvSpPr/>
          <p:nvPr/>
        </p:nvSpPr>
        <p:spPr>
          <a:xfrm>
            <a:off x="812800" y="5588000"/>
            <a:ext cx="76200" cy="6604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07" name="TextBox 8"/>
          <p:cNvSpPr txBox="1"/>
          <p:nvPr/>
        </p:nvSpPr>
        <p:spPr>
          <a:xfrm>
            <a:off x="1143000" y="5765800"/>
            <a:ext cx="9906000" cy="3200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1500">
                <a:solidFill>
                  <a:srgbClr val="312E81"/>
                </a:solidFill>
              </a:rPr>
              <a:t>Один файл описывает плагины, алиасы, препроцессор и прокси</a:t>
            </a:r>
            <a:endParaRPr sz="1500">
              <a:solidFill>
                <a:srgbClr val="312E8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TextBox 1"/>
          <p:cNvSpPr txBox="1"/>
          <p:nvPr/>
        </p:nvSpPr>
        <p:spPr>
          <a:xfrm>
            <a:off x="812800" y="381000"/>
            <a:ext cx="10160000" cy="5791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Ключевые опции конфига</a:t>
            </a:r>
            <a:endParaRPr sz="3200" b="1">
              <a:solidFill>
                <a:srgbClr val="111827"/>
              </a:solidFill>
            </a:endParaRPr>
          </a:p>
        </p:txBody>
      </p:sp>
      <p:sp>
        <p:nvSpPr>
          <p:cNvPr id="310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11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9CA3AF"/>
                </a:solidFill>
              </a:rPr>
              <a:t>8</a:t>
            </a:r>
            <a:endParaRPr sz="1100">
              <a:solidFill>
                <a:srgbClr val="9CA3AF"/>
              </a:solidFill>
            </a:endParaRPr>
          </a:p>
        </p:txBody>
      </p:sp>
      <p:sp>
        <p:nvSpPr>
          <p:cNvPr id="312" name="TextBox 4"/>
          <p:cNvSpPr txBox="1"/>
          <p:nvPr/>
        </p:nvSpPr>
        <p:spPr>
          <a:xfrm>
            <a:off x="812800" y="1676400"/>
            <a:ext cx="10566400" cy="20528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650">
                <a:solidFill>
                  <a:srgbClr val="374151"/>
                </a:solidFill>
              </a:rPr>
              <a:t>root — папка с index.html (по умолч. process.cwd())</a:t>
            </a:r>
            <a:endParaRPr sz="165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650">
                <a:solidFill>
                  <a:srgbClr val="374151"/>
                </a:solidFill>
              </a:rPr>
              <a:t>base — префикс путей и BASE_URL (по умолч. '/')</a:t>
            </a:r>
            <a:endParaRPr sz="165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650">
                <a:solidFill>
                  <a:srgbClr val="374151"/>
                </a:solidFill>
              </a:rPr>
              <a:t>publicDir — статика, копируется в dist (по умолч. 'public')</a:t>
            </a:r>
            <a:endParaRPr sz="165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650">
                <a:solidFill>
                  <a:srgbClr val="374151"/>
                </a:solidFill>
              </a:rPr>
              <a:t>define — замена идентификаторов на этапе сборки</a:t>
            </a:r>
            <a:endParaRPr sz="165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650">
                <a:solidFill>
                  <a:srgbClr val="374151"/>
                </a:solidFill>
              </a:rPr>
              <a:t>envDir / envPrefix — откуда и с каким префиксом грузить .env</a:t>
            </a:r>
            <a:endParaRPr sz="165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650">
                <a:solidFill>
                  <a:srgbClr val="374151"/>
                </a:solidFill>
              </a:rPr>
              <a:t>resolve.extensions — порядок расширений при import без расширения</a:t>
            </a:r>
            <a:endParaRPr sz="1650">
              <a:solidFill>
                <a:srgbClr val="374151"/>
              </a:solidFill>
            </a:endParaRPr>
          </a:p>
        </p:txBody>
      </p:sp>
      <p:sp>
        <p:nvSpPr>
          <p:cNvPr id="313" name="Rectangle 5"/>
          <p:cNvSpPr/>
          <p:nvPr/>
        </p:nvSpPr>
        <p:spPr>
          <a:xfrm>
            <a:off x="812800" y="5207000"/>
            <a:ext cx="10566400" cy="8890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14" name="TextBox 6"/>
          <p:cNvSpPr txBox="1"/>
          <p:nvPr/>
        </p:nvSpPr>
        <p:spPr>
          <a:xfrm>
            <a:off x="1117600" y="5384800"/>
            <a:ext cx="10058400" cy="6461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2E8F0"/>
                </a:solidFill>
                <a:latin typeface="Consolas"/>
              </a:rPr>
              <a:t>define: { __APP_VERSION__: JSON.stringify('1.0.0') },</a:t>
            </a:r>
            <a:endParaRPr sz="14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2E8F0"/>
                </a:solidFill>
                <a:latin typeface="Consolas"/>
              </a:rPr>
              <a:t>envPrefix: 'VITE_',</a:t>
            </a:r>
            <a:endParaRPr sz="1400">
              <a:solidFill>
                <a:srgbClr val="E2E8F0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TextBox 1"/>
          <p:cNvSpPr txBox="1"/>
          <p:nvPr/>
        </p:nvSpPr>
        <p:spPr>
          <a:xfrm>
            <a:off x="812800" y="381000"/>
            <a:ext cx="10160000" cy="5791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Конфиг как функция и loadEnv</a:t>
            </a:r>
            <a:endParaRPr sz="3200" b="1">
              <a:solidFill>
                <a:srgbClr val="111827"/>
              </a:solidFill>
            </a:endParaRPr>
          </a:p>
        </p:txBody>
      </p:sp>
      <p:sp>
        <p:nvSpPr>
          <p:cNvPr id="317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18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9CA3AF"/>
                </a:solidFill>
              </a:rPr>
              <a:t>9</a:t>
            </a:r>
            <a:endParaRPr sz="1100">
              <a:solidFill>
                <a:srgbClr val="9CA3AF"/>
              </a:solidFill>
            </a:endParaRPr>
          </a:p>
        </p:txBody>
      </p:sp>
      <p:sp>
        <p:nvSpPr>
          <p:cNvPr id="319" name="Rectangle 4"/>
          <p:cNvSpPr/>
          <p:nvPr/>
        </p:nvSpPr>
        <p:spPr>
          <a:xfrm>
            <a:off x="812800" y="1676400"/>
            <a:ext cx="10566400" cy="19050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20" name="TextBox 5"/>
          <p:cNvSpPr txBox="1"/>
          <p:nvPr/>
        </p:nvSpPr>
        <p:spPr>
          <a:xfrm>
            <a:off x="1117600" y="1854200"/>
            <a:ext cx="10058400" cy="20330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2E8F0"/>
                </a:solidFill>
                <a:latin typeface="Consolas"/>
              </a:rPr>
              <a:t>export default defineConfig(({ command, mode }) =&gt; {</a:t>
            </a:r>
            <a:endParaRPr sz="14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2E8F0"/>
                </a:solidFill>
                <a:latin typeface="Consolas"/>
              </a:rPr>
              <a:t>  const env = loadEnv(mode, process.cwd(), '');</a:t>
            </a:r>
            <a:endParaRPr sz="14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2E8F0"/>
                </a:solidFill>
                <a:latin typeface="Consolas"/>
              </a:rPr>
              <a:t>  return {</a:t>
            </a:r>
            <a:endParaRPr sz="14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2E8F0"/>
                </a:solidFill>
                <a:latin typeface="Consolas"/>
              </a:rPr>
              <a:t>    plugins: command === 'build' ? [legacy()] : [],</a:t>
            </a:r>
            <a:endParaRPr sz="14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2E8F0"/>
                </a:solidFill>
                <a:latin typeface="Consolas"/>
              </a:rPr>
              <a:t>    define: { __API__: JSON.stringify(env.VITE_API_URL) },</a:t>
            </a:r>
            <a:endParaRPr sz="14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2E8F0"/>
                </a:solidFill>
                <a:latin typeface="Consolas"/>
              </a:rPr>
              <a:t>  };</a:t>
            </a:r>
            <a:endParaRPr sz="14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2E8F0"/>
                </a:solidFill>
                <a:latin typeface="Consolas"/>
              </a:rPr>
              <a:t>});</a:t>
            </a:r>
            <a:endParaRPr sz="1400">
              <a:solidFill>
                <a:srgbClr val="E2E8F0"/>
              </a:solidFill>
              <a:latin typeface="Consolas"/>
            </a:endParaRPr>
          </a:p>
        </p:txBody>
      </p:sp>
      <p:sp>
        <p:nvSpPr>
          <p:cNvPr id="321" name="TextBox 6"/>
          <p:cNvSpPr txBox="1"/>
          <p:nvPr/>
        </p:nvSpPr>
        <p:spPr>
          <a:xfrm>
            <a:off x="812800" y="3810000"/>
            <a:ext cx="10566400" cy="1438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374151"/>
                </a:solidFill>
              </a:rPr>
              <a:t>.env недоступны в vite.config.ts через process.env — Vite грузит их после конфига</a:t>
            </a:r>
            <a:endParaRPr sz="17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374151"/>
                </a:solidFill>
              </a:rPr>
              <a:t>loadEnv(mode, root, prefix) читает .env вручную</a:t>
            </a:r>
            <a:endParaRPr sz="17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374151"/>
                </a:solidFill>
              </a:rPr>
              <a:t>command = 'serve' (dev) или 'build'</a:t>
            </a:r>
            <a:endParaRPr sz="17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374151"/>
                </a:solidFill>
              </a:rPr>
              <a:t>mode задаётся флагом --mode</a:t>
            </a:r>
            <a:endParaRPr sz="1700">
              <a:solidFill>
                <a:srgbClr val="37415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TextBox 1"/>
          <p:cNvSpPr txBox="1"/>
          <p:nvPr/>
        </p:nvSpPr>
        <p:spPr>
          <a:xfrm>
            <a:off x="812800" y="381000"/>
            <a:ext cx="10160000" cy="5791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Опции dev-сервера</a:t>
            </a:r>
            <a:endParaRPr sz="3200" b="1">
              <a:solidFill>
                <a:srgbClr val="111827"/>
              </a:solidFill>
            </a:endParaRPr>
          </a:p>
        </p:txBody>
      </p:sp>
      <p:sp>
        <p:nvSpPr>
          <p:cNvPr id="324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25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9CA3AF"/>
                </a:solidFill>
              </a:rPr>
              <a:t>10</a:t>
            </a:r>
            <a:endParaRPr sz="1100">
              <a:solidFill>
                <a:srgbClr val="9CA3AF"/>
              </a:solidFill>
            </a:endParaRPr>
          </a:p>
        </p:txBody>
      </p:sp>
      <p:graphicFrame>
        <p:nvGraphicFramePr>
          <p:cNvPr id="326" name="Table 4"/>
          <p:cNvGraphicFramePr>
            <a:graphicFrameLocks noGrp="1"/>
          </p:cNvGraphicFramePr>
          <p:nvPr/>
        </p:nvGraphicFramePr>
        <p:xfrm>
          <a:off x="812800" y="1676400"/>
          <a:ext cx="10566400" cy="292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3200"/>
                <a:gridCol w="5283200"/>
              </a:tblGrid>
              <a:tr h="417286">
                <a:tc>
                  <a:txBody>
                    <a:bodyPr/>
                    <a:lstStyle/>
                    <a:p>
                      <a:r>
                        <a:rPr/>
                        <a:t>Опция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Что делает</a:t>
                      </a:r>
                    </a:p>
                  </a:txBody>
                  <a:tcPr/>
                </a:tc>
              </a:tr>
              <a:tr h="417286">
                <a:tc>
                  <a:txBody>
                    <a:bodyPr/>
                    <a:lstStyle/>
                    <a:p>
                      <a:r>
                        <a:rPr/>
                        <a:t>port (5173)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порт dev-сервера</a:t>
                      </a:r>
                    </a:p>
                  </a:txBody>
                  <a:tcPr/>
                </a:tc>
              </a:tr>
              <a:tr h="417286">
                <a:tc>
                  <a:txBody>
                    <a:bodyPr/>
                    <a:lstStyle/>
                    <a:p>
                      <a:r>
                        <a:rPr/>
                        <a:t>strictPort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не занимать другой порт, если занят — ошибка</a:t>
                      </a:r>
                    </a:p>
                  </a:txBody>
                  <a:tcPr/>
                </a:tc>
              </a:tr>
              <a:tr h="417286">
                <a:tc>
                  <a:txBody>
                    <a:bodyPr/>
                    <a:lstStyle/>
                    <a:p>
                      <a:r>
                        <a:rPr/>
                        <a:t>https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TLS/HTTP2; плагин @vitejs/plugin-basic-ssl</a:t>
                      </a:r>
                    </a:p>
                  </a:txBody>
                  <a:tcPr/>
                </a:tc>
              </a:tr>
              <a:tr h="417286">
                <a:tc>
                  <a:txBody>
                    <a:bodyPr/>
                    <a:lstStyle/>
                    <a:p>
                      <a:r>
                        <a:rPr/>
                        <a:t>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открыть браузер при старте (строка = pathname)</a:t>
                      </a:r>
                    </a:p>
                  </a:txBody>
                  <a:tcPr/>
                </a:tc>
              </a:tr>
              <a:tr h="417286">
                <a:tc>
                  <a:txBody>
                    <a:bodyPr/>
                    <a:lstStyle/>
                    <a:p>
                      <a:r>
                        <a:rPr/>
                        <a:t>cors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true = любой origin, либо объект настроек</a:t>
                      </a:r>
                    </a:p>
                  </a:txBody>
                  <a:tcPr/>
                </a:tc>
              </a:tr>
              <a:tr h="417286">
                <a:tc>
                  <a:txBody>
                    <a:bodyPr/>
                    <a:lstStyle/>
                    <a:p>
                      <a:r>
                        <a:rPr/>
                        <a:t>forwardConsole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переносить console браузера в терминал (для AI-агентов)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27" name="TextBox 5"/>
          <p:cNvSpPr txBox="1"/>
          <p:nvPr/>
        </p:nvSpPr>
        <p:spPr>
          <a:xfrm>
            <a:off x="812800" y="4826000"/>
            <a:ext cx="10566400" cy="7254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374151"/>
                </a:solidFill>
              </a:rPr>
              <a:t>server.proxy перенаправляет запросы на бэкенд, обходя CORS</a:t>
            </a:r>
            <a:endParaRPr sz="16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374151"/>
                </a:solidFill>
              </a:rPr>
              <a:t>changeOrigin подменяет Host; ws: true для WebSocket</a:t>
            </a:r>
            <a:endParaRPr sz="1600">
              <a:solidFill>
                <a:srgbClr val="37415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TextBox 1"/>
          <p:cNvSpPr txBox="1"/>
          <p:nvPr/>
        </p:nvSpPr>
        <p:spPr>
          <a:xfrm>
            <a:off x="812800" y="381000"/>
            <a:ext cx="10160000" cy="5791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Ассеты: импорт и public/</a:t>
            </a:r>
            <a:endParaRPr sz="3200" b="1">
              <a:solidFill>
                <a:srgbClr val="111827"/>
              </a:solidFill>
            </a:endParaRPr>
          </a:p>
        </p:txBody>
      </p:sp>
      <p:sp>
        <p:nvSpPr>
          <p:cNvPr id="330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31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9CA3AF"/>
                </a:solidFill>
              </a:rPr>
              <a:t>11</a:t>
            </a:r>
            <a:endParaRPr sz="1100">
              <a:solidFill>
                <a:srgbClr val="9CA3AF"/>
              </a:solidFill>
            </a:endParaRPr>
          </a:p>
        </p:txBody>
      </p:sp>
      <p:sp>
        <p:nvSpPr>
          <p:cNvPr id="332" name="Rectangle 4"/>
          <p:cNvSpPr/>
          <p:nvPr/>
        </p:nvSpPr>
        <p:spPr>
          <a:xfrm>
            <a:off x="812800" y="1676400"/>
            <a:ext cx="10566400" cy="15240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33" name="TextBox 5"/>
          <p:cNvSpPr txBox="1"/>
          <p:nvPr/>
        </p:nvSpPr>
        <p:spPr>
          <a:xfrm>
            <a:off x="1117600" y="1854200"/>
            <a:ext cx="10058400" cy="12009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2E8F0"/>
                </a:solidFill>
                <a:latin typeface="Consolas"/>
              </a:rPr>
              <a:t>import imgUrl from './img.png';</a:t>
            </a:r>
            <a:endParaRPr sz="14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2E8F0"/>
                </a:solidFill>
                <a:latin typeface="Consolas"/>
              </a:rPr>
              <a:t>// imgUrl === '/assets/img-abc123.png' (URL)</a:t>
            </a:r>
            <a:endParaRPr sz="14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endParaRPr sz="14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2E8F0"/>
                </a:solidFill>
                <a:latin typeface="Consolas"/>
              </a:rPr>
              <a:t>&lt;img src={imgUrl} alt="..." /&gt;</a:t>
            </a:r>
            <a:endParaRPr sz="1400">
              <a:solidFill>
                <a:srgbClr val="E2E8F0"/>
              </a:solidFill>
              <a:latin typeface="Consolas"/>
            </a:endParaRPr>
          </a:p>
        </p:txBody>
      </p:sp>
      <p:sp>
        <p:nvSpPr>
          <p:cNvPr id="334" name="TextBox 6"/>
          <p:cNvSpPr txBox="1"/>
          <p:nvPr/>
        </p:nvSpPr>
        <p:spPr>
          <a:xfrm>
            <a:off x="812800" y="3429000"/>
            <a:ext cx="10566400" cy="1438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374151"/>
                </a:solidFill>
              </a:rPr>
              <a:t>Импортированная картинка → URL с хешем, попадает в бандл</a:t>
            </a:r>
            <a:endParaRPr sz="17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374151"/>
                </a:solidFill>
              </a:rPr>
              <a:t>Мелкие файлы (≤ 4 КБ) инлайнятся как data URL</a:t>
            </a:r>
            <a:endParaRPr sz="17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374151"/>
                </a:solidFill>
              </a:rPr>
              <a:t>public/ — файлы отдадаются как есть, без хеша и обработки</a:t>
            </a:r>
            <a:endParaRPr sz="17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374151"/>
                </a:solidFill>
              </a:rPr>
              <a:t>В prod public/ копируется в корень dist</a:t>
            </a:r>
            <a:endParaRPr sz="1700">
              <a:solidFill>
                <a:srgbClr val="37415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TextBox 1"/>
          <p:cNvSpPr txBox="1"/>
          <p:nvPr/>
        </p:nvSpPr>
        <p:spPr>
          <a:xfrm>
            <a:off x="812800" y="381000"/>
            <a:ext cx="10160000" cy="5791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Env-переменные и режимы</a:t>
            </a:r>
            <a:endParaRPr sz="3200" b="1">
              <a:solidFill>
                <a:srgbClr val="111827"/>
              </a:solidFill>
            </a:endParaRPr>
          </a:p>
        </p:txBody>
      </p:sp>
      <p:sp>
        <p:nvSpPr>
          <p:cNvPr id="337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38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9CA3AF"/>
                </a:solidFill>
              </a:rPr>
              <a:t>12</a:t>
            </a:r>
            <a:endParaRPr sz="1100">
              <a:solidFill>
                <a:srgbClr val="9CA3AF"/>
              </a:solidFill>
            </a:endParaRPr>
          </a:p>
        </p:txBody>
      </p:sp>
      <p:sp>
        <p:nvSpPr>
          <p:cNvPr id="339" name="TextBox 4"/>
          <p:cNvSpPr txBox="1"/>
          <p:nvPr/>
        </p:nvSpPr>
        <p:spPr>
          <a:xfrm>
            <a:off x="812800" y="1676400"/>
            <a:ext cx="5080000" cy="2944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374151"/>
                </a:solidFill>
              </a:rPr>
              <a:t>import.meta.env — подстановка на этапе сборки</a:t>
            </a:r>
            <a:endParaRPr sz="16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374151"/>
                </a:solidFill>
              </a:rPr>
              <a:t>В клиент попадают только переменные с префиксом VITE_</a:t>
            </a:r>
            <a:endParaRPr sz="16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374151"/>
                </a:solidFill>
              </a:rPr>
              <a:t>Кастомные всегда string, встроенные DEV/PROD/SSR — boolean</a:t>
            </a:r>
            <a:endParaRPr sz="16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374151"/>
                </a:solidFill>
              </a:rPr>
              <a:t>Порядок: .env.[mode].local → .env.[mode] → .env.local → .env</a:t>
            </a:r>
            <a:endParaRPr sz="16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374151"/>
                </a:solidFill>
              </a:rPr>
              <a:t>Типизация — в src/vite-env.d.ts через ImportMetaEnv</a:t>
            </a:r>
            <a:endParaRPr sz="1600">
              <a:solidFill>
                <a:srgbClr val="374151"/>
              </a:solidFill>
            </a:endParaRPr>
          </a:p>
        </p:txBody>
      </p:sp>
      <p:sp>
        <p:nvSpPr>
          <p:cNvPr id="340" name="Rectangle 5"/>
          <p:cNvSpPr/>
          <p:nvPr/>
        </p:nvSpPr>
        <p:spPr>
          <a:xfrm>
            <a:off x="812800" y="5969000"/>
            <a:ext cx="5410200" cy="31750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41" name="TextBox 6"/>
          <p:cNvSpPr txBox="1"/>
          <p:nvPr/>
        </p:nvSpPr>
        <p:spPr>
          <a:xfrm>
            <a:off x="1117600" y="6146800"/>
            <a:ext cx="4902200" cy="23202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// .env.development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VITE_API_URL=/api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VITE_MOCK_API=true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// vite-env.d.ts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interface ImportMetaEnv {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  readonly VITE_API_URL: string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}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interface ImportMeta { readonly env: ImportMetaEnv }</a:t>
            </a:r>
            <a:endParaRPr sz="1250">
              <a:solidFill>
                <a:srgbClr val="E2E8F0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TextBox 1"/>
          <p:cNvSpPr txBox="1"/>
          <p:nvPr/>
        </p:nvSpPr>
        <p:spPr>
          <a:xfrm>
            <a:off x="812800" y="381000"/>
            <a:ext cx="10160000" cy="5791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Pre-bundling зависимостей</a:t>
            </a:r>
            <a:endParaRPr sz="3200" b="1">
              <a:solidFill>
                <a:srgbClr val="111827"/>
              </a:solidFill>
            </a:endParaRPr>
          </a:p>
        </p:txBody>
      </p:sp>
      <p:sp>
        <p:nvSpPr>
          <p:cNvPr id="344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45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9CA3AF"/>
                </a:solidFill>
              </a:rPr>
              <a:t>12</a:t>
            </a:r>
            <a:endParaRPr sz="1100">
              <a:solidFill>
                <a:srgbClr val="9CA3AF"/>
              </a:solidFill>
            </a:endParaRPr>
          </a:p>
        </p:txBody>
      </p:sp>
      <p:sp>
        <p:nvSpPr>
          <p:cNvPr id="346" name="TextBox 4"/>
          <p:cNvSpPr txBox="1"/>
          <p:nvPr/>
        </p:nvSpPr>
        <p:spPr>
          <a:xfrm>
            <a:off x="812800" y="1676400"/>
            <a:ext cx="10566400" cy="15179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374151"/>
                </a:solidFill>
              </a:rPr>
              <a:t>Vite предсобирает node_modules один раз (esbuild)</a:t>
            </a:r>
            <a:endParaRPr sz="18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374151"/>
                </a:solidFill>
              </a:rPr>
              <a:t>Результат лежит в node_modules/.vite</a:t>
            </a:r>
            <a:endParaRPr sz="18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374151"/>
                </a:solidFill>
              </a:rPr>
              <a:t>Кеш инвалидируется по package.json и lock-файлу</a:t>
            </a:r>
            <a:endParaRPr sz="18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374151"/>
                </a:solidFill>
              </a:rPr>
              <a:t>--force сбросит кеш при проблемах</a:t>
            </a:r>
            <a:endParaRPr sz="1800">
              <a:solidFill>
                <a:srgbClr val="374151"/>
              </a:solidFill>
            </a:endParaRPr>
          </a:p>
        </p:txBody>
      </p:sp>
      <p:sp>
        <p:nvSpPr>
          <p:cNvPr id="347" name="Rectangle 5"/>
          <p:cNvSpPr/>
          <p:nvPr/>
        </p:nvSpPr>
        <p:spPr>
          <a:xfrm>
            <a:off x="812800" y="4191000"/>
            <a:ext cx="10566400" cy="7620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48" name="TextBox 6"/>
          <p:cNvSpPr txBox="1"/>
          <p:nvPr/>
        </p:nvSpPr>
        <p:spPr>
          <a:xfrm>
            <a:off x="1117600" y="4368800"/>
            <a:ext cx="10058400" cy="3688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2E8F0"/>
                </a:solidFill>
                <a:latin typeface="Consolas"/>
              </a:rPr>
              <a:t>vite --force   # пересобрать кеш зависимостей</a:t>
            </a:r>
            <a:endParaRPr sz="1400">
              <a:solidFill>
                <a:srgbClr val="E2E8F0"/>
              </a:solidFill>
              <a:latin typeface="Consolas"/>
            </a:endParaRPr>
          </a:p>
        </p:txBody>
      </p:sp>
      <p:sp>
        <p:nvSpPr>
          <p:cNvPr id="349" name="Rectangle 7"/>
          <p:cNvSpPr/>
          <p:nvPr/>
        </p:nvSpPr>
        <p:spPr>
          <a:xfrm>
            <a:off x="812800" y="5207000"/>
            <a:ext cx="10566400" cy="66040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50" name="Rectangle 8"/>
          <p:cNvSpPr/>
          <p:nvPr/>
        </p:nvSpPr>
        <p:spPr>
          <a:xfrm>
            <a:off x="812800" y="5207000"/>
            <a:ext cx="76200" cy="6604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51" name="TextBox 9"/>
          <p:cNvSpPr txBox="1"/>
          <p:nvPr/>
        </p:nvSpPr>
        <p:spPr>
          <a:xfrm>
            <a:off x="1143000" y="5384800"/>
            <a:ext cx="9906000" cy="3200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1500">
                <a:solidFill>
                  <a:srgbClr val="312E81"/>
                </a:solidFill>
              </a:rPr>
              <a:t>Без pre-bundle каждый import из node_modules превращался бы в сотни запросов</a:t>
            </a:r>
            <a:endParaRPr sz="1500">
              <a:solidFill>
                <a:srgbClr val="312E81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TextBox 1"/>
          <p:cNvSpPr txBox="1"/>
          <p:nvPr/>
        </p:nvSpPr>
        <p:spPr>
          <a:xfrm>
            <a:off x="812800" y="381000"/>
            <a:ext cx="10160000" cy="5791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HMR: обновляем только то, что изменилось</a:t>
            </a:r>
            <a:endParaRPr sz="3200" b="1">
              <a:solidFill>
                <a:srgbClr val="111827"/>
              </a:solidFill>
            </a:endParaRPr>
          </a:p>
        </p:txBody>
      </p:sp>
      <p:sp>
        <p:nvSpPr>
          <p:cNvPr id="354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55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9CA3AF"/>
                </a:solidFill>
              </a:rPr>
              <a:t>13</a:t>
            </a:r>
            <a:endParaRPr sz="1100">
              <a:solidFill>
                <a:srgbClr val="9CA3AF"/>
              </a:solidFill>
            </a:endParaRPr>
          </a:p>
        </p:txBody>
      </p:sp>
      <p:sp>
        <p:nvSpPr>
          <p:cNvPr id="356" name="TextBox 4"/>
          <p:cNvSpPr txBox="1"/>
          <p:nvPr/>
        </p:nvSpPr>
        <p:spPr>
          <a:xfrm>
            <a:off x="812800" y="1676400"/>
            <a:ext cx="10566400" cy="18745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374151"/>
                </a:solidFill>
              </a:rPr>
              <a:t>Vite хранит граф модулей и их импортёров</a:t>
            </a:r>
            <a:endParaRPr sz="18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374151"/>
                </a:solidFill>
              </a:rPr>
              <a:t>Изменение уходит в браузер по WebSocket</a:t>
            </a:r>
            <a:endParaRPr sz="18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374151"/>
                </a:solidFill>
              </a:rPr>
              <a:t>Обновляется ближайшая HMR-граница, а не страница</a:t>
            </a:r>
            <a:endParaRPr sz="18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374151"/>
                </a:solidFill>
              </a:rPr>
              <a:t>React Fast Refresh сохраняет состояние useState</a:t>
            </a:r>
            <a:endParaRPr sz="18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374151"/>
                </a:solidFill>
              </a:rPr>
              <a:t>Нет границы — полная перезагрузка</a:t>
            </a:r>
            <a:endParaRPr sz="1800">
              <a:solidFill>
                <a:srgbClr val="374151"/>
              </a:solidFill>
            </a:endParaRPr>
          </a:p>
        </p:txBody>
      </p:sp>
      <p:sp>
        <p:nvSpPr>
          <p:cNvPr id="357" name="Rectangle 5"/>
          <p:cNvSpPr/>
          <p:nvPr/>
        </p:nvSpPr>
        <p:spPr>
          <a:xfrm>
            <a:off x="812800" y="4953000"/>
            <a:ext cx="10566400" cy="10922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58" name="TextBox 6"/>
          <p:cNvSpPr txBox="1"/>
          <p:nvPr/>
        </p:nvSpPr>
        <p:spPr>
          <a:xfrm>
            <a:off x="1117600" y="5130800"/>
            <a:ext cx="10058400" cy="9235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2E8F0"/>
                </a:solidFill>
                <a:latin typeface="Consolas"/>
              </a:rPr>
              <a:t>if (import.meta.hot) {</a:t>
            </a:r>
            <a:endParaRPr sz="14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2E8F0"/>
                </a:solidFill>
                <a:latin typeface="Consolas"/>
              </a:rPr>
              <a:t>  import.meta.hot.accept((mod) =&gt; render(mod));</a:t>
            </a:r>
            <a:endParaRPr sz="14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2E8F0"/>
                </a:solidFill>
                <a:latin typeface="Consolas"/>
              </a:rPr>
              <a:t>}</a:t>
            </a:r>
            <a:endParaRPr sz="1400">
              <a:solidFill>
                <a:srgbClr val="E2E8F0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TextBox 1"/>
          <p:cNvSpPr txBox="1"/>
          <p:nvPr/>
        </p:nvSpPr>
        <p:spPr>
          <a:xfrm>
            <a:off x="812800" y="381000"/>
            <a:ext cx="10160000" cy="5791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Vite+: CLI vp</a:t>
            </a:r>
            <a:endParaRPr sz="3200" b="1">
              <a:solidFill>
                <a:srgbClr val="111827"/>
              </a:solidFill>
            </a:endParaRPr>
          </a:p>
        </p:txBody>
      </p:sp>
      <p:sp>
        <p:nvSpPr>
          <p:cNvPr id="361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62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9CA3AF"/>
                </a:solidFill>
              </a:rPr>
              <a:t>14</a:t>
            </a:r>
            <a:endParaRPr sz="1100">
              <a:solidFill>
                <a:srgbClr val="9CA3AF"/>
              </a:solidFill>
            </a:endParaRPr>
          </a:p>
        </p:txBody>
      </p:sp>
      <p:sp>
        <p:nvSpPr>
          <p:cNvPr id="363" name="TextBox 4"/>
          <p:cNvSpPr txBox="1"/>
          <p:nvPr/>
        </p:nvSpPr>
        <p:spPr>
          <a:xfrm>
            <a:off x="812800" y="1676400"/>
            <a:ext cx="10566400" cy="15179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374151"/>
                </a:solidFill>
              </a:rPr>
              <a:t>vp заменяет набор инструментов: dev, build, lint, fmt, test, run</a:t>
            </a:r>
            <a:endParaRPr sz="18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374151"/>
                </a:solidFill>
              </a:rPr>
              <a:t>Конфиг остаётся vite.config.ts — Vite+ его расширяет</a:t>
            </a:r>
            <a:endParaRPr sz="18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374151"/>
                </a:solidFill>
              </a:rPr>
              <a:t>vp add/remove/update, vpx (аналог npx)</a:t>
            </a:r>
            <a:endParaRPr sz="18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374151"/>
                </a:solidFill>
              </a:rPr>
              <a:t>vp run &lt;script&gt; запускает скрипт из package.json</a:t>
            </a:r>
            <a:endParaRPr sz="1800">
              <a:solidFill>
                <a:srgbClr val="374151"/>
              </a:solidFill>
            </a:endParaRPr>
          </a:p>
        </p:txBody>
      </p:sp>
      <p:sp>
        <p:nvSpPr>
          <p:cNvPr id="364" name="Rectangle 5"/>
          <p:cNvSpPr/>
          <p:nvPr/>
        </p:nvSpPr>
        <p:spPr>
          <a:xfrm>
            <a:off x="812800" y="4445000"/>
            <a:ext cx="10566400" cy="10922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65" name="TextBox 6"/>
          <p:cNvSpPr txBox="1"/>
          <p:nvPr/>
        </p:nvSpPr>
        <p:spPr>
          <a:xfrm>
            <a:off x="1117600" y="4622800"/>
            <a:ext cx="10058400" cy="6461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2E8F0"/>
                </a:solidFill>
                <a:latin typeface="Consolas"/>
              </a:rPr>
              <a:t>staged: { "*": "vp check --fix" },</a:t>
            </a:r>
            <a:endParaRPr sz="14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2E8F0"/>
                </a:solidFill>
                <a:latin typeface="Consolas"/>
              </a:rPr>
              <a:t>run: { cache: { scripts: false, tasks: true } },</a:t>
            </a:r>
            <a:endParaRPr sz="1400">
              <a:solidFill>
                <a:srgbClr val="E2E8F0"/>
              </a:solidFill>
              <a:latin typeface="Consolas"/>
            </a:endParaRPr>
          </a:p>
        </p:txBody>
      </p:sp>
      <p:sp>
        <p:nvSpPr>
          <p:cNvPr id="366" name="TextBox 7"/>
          <p:cNvSpPr txBox="1"/>
          <p:nvPr/>
        </p:nvSpPr>
        <p:spPr>
          <a:xfrm>
            <a:off x="812800" y="5791200"/>
            <a:ext cx="10566400" cy="3048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1400">
                <a:solidFill>
                  <a:srgbClr val="9CA3AF"/>
                </a:solidFill>
              </a:rPr>
              <a:t>vp check = форматирование + линтинг + проверка типов за один проход</a:t>
            </a:r>
            <a:endParaRPr sz="1400">
              <a:solidFill>
                <a:srgbClr val="9CA3AF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TextBox 1"/>
          <p:cNvSpPr txBox="1"/>
          <p:nvPr/>
        </p:nvSpPr>
        <p:spPr>
          <a:xfrm>
            <a:off x="812800" y="381000"/>
            <a:ext cx="10160000" cy="5791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Vite+: хуки, задачи, кеш</a:t>
            </a:r>
            <a:endParaRPr sz="3200" b="1">
              <a:solidFill>
                <a:srgbClr val="111827"/>
              </a:solidFill>
            </a:endParaRPr>
          </a:p>
        </p:txBody>
      </p:sp>
      <p:sp>
        <p:nvSpPr>
          <p:cNvPr id="369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70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9CA3AF"/>
                </a:solidFill>
              </a:rPr>
              <a:t>15</a:t>
            </a:r>
            <a:endParaRPr sz="1100">
              <a:solidFill>
                <a:srgbClr val="9CA3AF"/>
              </a:solidFill>
            </a:endParaRPr>
          </a:p>
        </p:txBody>
      </p:sp>
      <p:sp>
        <p:nvSpPr>
          <p:cNvPr id="371" name="TextBox 4"/>
          <p:cNvSpPr txBox="1"/>
          <p:nvPr/>
        </p:nvSpPr>
        <p:spPr>
          <a:xfrm>
            <a:off x="812800" y="1676400"/>
            <a:ext cx="10566400" cy="1438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374151"/>
                </a:solidFill>
              </a:rPr>
              <a:t>vp hooks enable/disable/status; скрипты в .vite-hooks</a:t>
            </a:r>
            <a:endParaRPr sz="17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374151"/>
                </a:solidFill>
              </a:rPr>
              <a:t>pre-commit: vp staged — проверка только изменённых файлов</a:t>
            </a:r>
            <a:endParaRPr sz="17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374151"/>
                </a:solidFill>
              </a:rPr>
              <a:t>run.tasks: именованные задачи с dependsOn и кешированием</a:t>
            </a:r>
            <a:endParaRPr sz="17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374151"/>
                </a:solidFill>
              </a:rPr>
              <a:t>vp upgrade обновляет глобальный vp; CI — voidzero-dev/setup-vp</a:t>
            </a:r>
            <a:endParaRPr sz="1700">
              <a:solidFill>
                <a:srgbClr val="374151"/>
              </a:solidFill>
            </a:endParaRPr>
          </a:p>
        </p:txBody>
      </p:sp>
      <p:sp>
        <p:nvSpPr>
          <p:cNvPr id="372" name="Rectangle 5"/>
          <p:cNvSpPr/>
          <p:nvPr/>
        </p:nvSpPr>
        <p:spPr>
          <a:xfrm>
            <a:off x="812800" y="4445000"/>
            <a:ext cx="10566400" cy="13970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73" name="TextBox 6"/>
          <p:cNvSpPr txBox="1"/>
          <p:nvPr/>
        </p:nvSpPr>
        <p:spPr>
          <a:xfrm>
            <a:off x="1117600" y="4622800"/>
            <a:ext cx="10058400" cy="14287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50">
                <a:solidFill>
                  <a:srgbClr val="E2E8F0"/>
                </a:solidFill>
                <a:latin typeface="Consolas"/>
              </a:rPr>
              <a:t>run: {</a:t>
            </a:r>
            <a:endParaRPr sz="13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50">
                <a:solidFill>
                  <a:srgbClr val="E2E8F0"/>
                </a:solidFill>
                <a:latin typeface="Consolas"/>
              </a:rPr>
              <a:t>  tasks: {</a:t>
            </a:r>
            <a:endParaRPr sz="13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50">
                <a:solidFill>
                  <a:srgbClr val="E2E8F0"/>
                </a:solidFill>
                <a:latin typeface="Consolas"/>
              </a:rPr>
              <a:t>    build: { command: 'vp build', dependsOn: ['lint'] },</a:t>
            </a:r>
            <a:endParaRPr sz="13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50">
                <a:solidFill>
                  <a:srgbClr val="E2E8F0"/>
                </a:solidFill>
                <a:latin typeface="Consolas"/>
              </a:rPr>
              <a:t>  },</a:t>
            </a:r>
            <a:endParaRPr sz="13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50">
                <a:solidFill>
                  <a:srgbClr val="E2E8F0"/>
                </a:solidFill>
                <a:latin typeface="Consolas"/>
              </a:rPr>
              <a:t>}</a:t>
            </a:r>
            <a:endParaRPr sz="1350">
              <a:solidFill>
                <a:srgbClr val="E2E8F0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TextBox 1"/>
          <p:cNvSpPr txBox="1"/>
          <p:nvPr/>
        </p:nvSpPr>
        <p:spPr>
          <a:xfrm>
            <a:off x="812800" y="381000"/>
            <a:ext cx="10160000" cy="5791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Oxc: Oxidation Compiler</a:t>
            </a:r>
            <a:endParaRPr sz="3200" b="1">
              <a:solidFill>
                <a:srgbClr val="111827"/>
              </a:solidFill>
            </a:endParaRPr>
          </a:p>
        </p:txBody>
      </p:sp>
      <p:sp>
        <p:nvSpPr>
          <p:cNvPr id="376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77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9CA3AF"/>
                </a:solidFill>
              </a:rPr>
              <a:t>16</a:t>
            </a:r>
            <a:endParaRPr sz="1100">
              <a:solidFill>
                <a:srgbClr val="9CA3AF"/>
              </a:solidFill>
            </a:endParaRPr>
          </a:p>
        </p:txBody>
      </p:sp>
      <p:sp>
        <p:nvSpPr>
          <p:cNvPr id="378" name="TextBox 4"/>
          <p:cNvSpPr txBox="1"/>
          <p:nvPr/>
        </p:nvSpPr>
        <p:spPr>
          <a:xfrm>
            <a:off x="812800" y="1676400"/>
            <a:ext cx="10566400" cy="15179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374151"/>
                </a:solidFill>
              </a:rPr>
              <a:t>Набор высокопроизводительных инструментов для JS/TS на Rust</a:t>
            </a:r>
            <a:endParaRPr sz="18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374151"/>
                </a:solidFill>
              </a:rPr>
              <a:t>Часть видения VoidZero: единый toolchain</a:t>
            </a:r>
            <a:endParaRPr sz="18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374151"/>
                </a:solidFill>
              </a:rPr>
              <a:t>Включает: Oxlint, Oxfmt, Parser, Transformer, Minifier, Resolver, TS Runner</a:t>
            </a:r>
            <a:endParaRPr sz="18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374151"/>
                </a:solidFill>
              </a:rPr>
              <a:t>Oxc питает Rolldown — бандлер Vite 8</a:t>
            </a:r>
            <a:endParaRPr sz="1800">
              <a:solidFill>
                <a:srgbClr val="374151"/>
              </a:solidFill>
            </a:endParaRPr>
          </a:p>
        </p:txBody>
      </p:sp>
      <p:sp>
        <p:nvSpPr>
          <p:cNvPr id="379" name="Rectangle 5"/>
          <p:cNvSpPr/>
          <p:nvPr/>
        </p:nvSpPr>
        <p:spPr>
          <a:xfrm>
            <a:off x="812800" y="5080000"/>
            <a:ext cx="10566400" cy="66040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80" name="Rectangle 6"/>
          <p:cNvSpPr/>
          <p:nvPr/>
        </p:nvSpPr>
        <p:spPr>
          <a:xfrm>
            <a:off x="812800" y="5080000"/>
            <a:ext cx="76200" cy="6604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81" name="TextBox 7"/>
          <p:cNvSpPr txBox="1"/>
          <p:nvPr/>
        </p:nvSpPr>
        <p:spPr>
          <a:xfrm>
            <a:off x="1143000" y="5257800"/>
            <a:ext cx="9906000" cy="3200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1500">
                <a:solidFill>
                  <a:srgbClr val="312E81"/>
                </a:solidFill>
              </a:rPr>
              <a:t>Oxidation — химический процесс, создающий ржавчину (rust)</a:t>
            </a:r>
            <a:endParaRPr sz="1500">
              <a:solidFill>
                <a:srgbClr val="312E81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TextBox 1"/>
          <p:cNvSpPr txBox="1"/>
          <p:nvPr/>
        </p:nvSpPr>
        <p:spPr>
          <a:xfrm>
            <a:off x="812800" y="381000"/>
            <a:ext cx="10160000" cy="5791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Oxlint vs ESLint</a:t>
            </a:r>
            <a:endParaRPr sz="3200" b="1">
              <a:solidFill>
                <a:srgbClr val="111827"/>
              </a:solidFill>
            </a:endParaRPr>
          </a:p>
        </p:txBody>
      </p:sp>
      <p:sp>
        <p:nvSpPr>
          <p:cNvPr id="384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85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9CA3AF"/>
                </a:solidFill>
              </a:rPr>
              <a:t>17</a:t>
            </a:r>
            <a:endParaRPr sz="1100">
              <a:solidFill>
                <a:srgbClr val="9CA3AF"/>
              </a:solidFill>
            </a:endParaRPr>
          </a:p>
        </p:txBody>
      </p:sp>
      <p:graphicFrame>
        <p:nvGraphicFramePr>
          <p:cNvPr id="386" name="Table 4"/>
          <p:cNvGraphicFramePr>
            <a:graphicFrameLocks noGrp="1"/>
          </p:cNvGraphicFramePr>
          <p:nvPr/>
        </p:nvGraphicFramePr>
        <p:xfrm>
          <a:off x="812800" y="1676400"/>
          <a:ext cx="10566400" cy="25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133"/>
                <a:gridCol w="3522133"/>
                <a:gridCol w="3522133"/>
              </a:tblGrid>
              <a:tr h="508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Oxlint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ESLint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/>
                        <a:t>Скорость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очень высокая (Rust)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средняя (JS)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/>
                        <a:t>Совместимость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целится в ESLint-экосистему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эталон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/>
                        <a:t>Конфиг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oxlint.config.ts / .oxlintrc.json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.eslintrc.*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/>
                        <a:t>Типизация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tsgo = TypeScript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tsc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87" name="TextBox 5"/>
          <p:cNvSpPr txBox="1"/>
          <p:nvPr/>
        </p:nvSpPr>
        <p:spPr>
          <a:xfrm>
            <a:off x="812800" y="4445000"/>
            <a:ext cx="10566400" cy="10424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374151"/>
                </a:solidFill>
              </a:rPr>
              <a:t>oxlint --init генерирует конфиг</a:t>
            </a:r>
            <a:endParaRPr sz="16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374151"/>
                </a:solidFill>
              </a:rPr>
              <a:t>npm install -D oxlint; скрипты: "lint": "oxlint", "lint:fix": "oxlint --fix"</a:t>
            </a:r>
            <a:endParaRPr sz="16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374151"/>
                </a:solidFill>
              </a:rPr>
              <a:t>Плагин eslint включён по умолчанию</a:t>
            </a:r>
            <a:endParaRPr sz="1600">
              <a:solidFill>
                <a:srgbClr val="374151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TextBox 1"/>
          <p:cNvSpPr txBox="1"/>
          <p:nvPr/>
        </p:nvSpPr>
        <p:spPr>
          <a:xfrm>
            <a:off x="812800" y="381000"/>
            <a:ext cx="10160000" cy="5791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Oxfmt: форматтер</a:t>
            </a:r>
            <a:endParaRPr sz="3200" b="1">
              <a:solidFill>
                <a:srgbClr val="111827"/>
              </a:solidFill>
            </a:endParaRPr>
          </a:p>
        </p:txBody>
      </p:sp>
      <p:sp>
        <p:nvSpPr>
          <p:cNvPr id="390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91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9CA3AF"/>
                </a:solidFill>
              </a:rPr>
              <a:t>18</a:t>
            </a:r>
            <a:endParaRPr sz="1100">
              <a:solidFill>
                <a:srgbClr val="9CA3AF"/>
              </a:solidFill>
            </a:endParaRPr>
          </a:p>
        </p:txBody>
      </p:sp>
      <p:sp>
        <p:nvSpPr>
          <p:cNvPr id="392" name="TextBox 4"/>
          <p:cNvSpPr txBox="1"/>
          <p:nvPr/>
        </p:nvSpPr>
        <p:spPr>
          <a:xfrm>
            <a:off x="812800" y="1676400"/>
            <a:ext cx="10566400" cy="15179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374151"/>
                </a:solidFill>
              </a:rPr>
              <a:t>Совместим с Prettier, работает быстрее (Rust)</a:t>
            </a:r>
            <a:endParaRPr sz="18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374151"/>
                </a:solidFill>
              </a:rPr>
              <a:t>Сортировка импортов, embedded-форматирование</a:t>
            </a:r>
            <a:endParaRPr sz="18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374151"/>
                </a:solidFill>
              </a:rPr>
              <a:t>Игнор-файлы и inline-комментарии</a:t>
            </a:r>
            <a:endParaRPr sz="18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374151"/>
                </a:solidFill>
              </a:rPr>
              <a:t>Миграция: prettier → oxfmt</a:t>
            </a:r>
            <a:endParaRPr sz="1800">
              <a:solidFill>
                <a:srgbClr val="374151"/>
              </a:solidFill>
            </a:endParaRPr>
          </a:p>
        </p:txBody>
      </p:sp>
      <p:sp>
        <p:nvSpPr>
          <p:cNvPr id="393" name="Rectangle 5"/>
          <p:cNvSpPr/>
          <p:nvPr/>
        </p:nvSpPr>
        <p:spPr>
          <a:xfrm>
            <a:off x="812800" y="4191000"/>
            <a:ext cx="10566400" cy="8890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94" name="TextBox 6"/>
          <p:cNvSpPr txBox="1"/>
          <p:nvPr/>
        </p:nvSpPr>
        <p:spPr>
          <a:xfrm>
            <a:off x="1117600" y="4368800"/>
            <a:ext cx="10058400" cy="6461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2E8F0"/>
                </a:solidFill>
                <a:latin typeface="Consolas"/>
              </a:rPr>
              <a:t>// vite.config.ts</a:t>
            </a:r>
            <a:endParaRPr sz="14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2E8F0"/>
                </a:solidFill>
                <a:latin typeface="Consolas"/>
              </a:rPr>
              <a:t>fmt: { /* настройки oxfmt */ }</a:t>
            </a:r>
            <a:endParaRPr sz="1400">
              <a:solidFill>
                <a:srgbClr val="E2E8F0"/>
              </a:solidFill>
              <a:latin typeface="Consolas"/>
            </a:endParaRPr>
          </a:p>
        </p:txBody>
      </p:sp>
      <p:sp>
        <p:nvSpPr>
          <p:cNvPr id="395" name="Rectangle 7"/>
          <p:cNvSpPr/>
          <p:nvPr/>
        </p:nvSpPr>
        <p:spPr>
          <a:xfrm>
            <a:off x="812800" y="5334000"/>
            <a:ext cx="10566400" cy="66040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96" name="Rectangle 8"/>
          <p:cNvSpPr/>
          <p:nvPr/>
        </p:nvSpPr>
        <p:spPr>
          <a:xfrm>
            <a:off x="812800" y="5334000"/>
            <a:ext cx="76200" cy="6604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97" name="TextBox 9"/>
          <p:cNvSpPr txBox="1"/>
          <p:nvPr/>
        </p:nvSpPr>
        <p:spPr>
          <a:xfrm>
            <a:off x="1143000" y="5511800"/>
            <a:ext cx="9906000" cy="3200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1500">
                <a:solidFill>
                  <a:srgbClr val="312E81"/>
                </a:solidFill>
              </a:rPr>
              <a:t>vp fmt запускает oxfmt; vp check включает fmt + lint + типы</a:t>
            </a:r>
            <a:endParaRPr sz="1500">
              <a:solidFill>
                <a:srgbClr val="312E81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TextBox 1"/>
          <p:cNvSpPr txBox="1"/>
          <p:nvPr/>
        </p:nvSpPr>
        <p:spPr>
          <a:xfrm>
            <a:off x="812800" y="381000"/>
            <a:ext cx="10160000" cy="5791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Инструменты Oxc</a:t>
            </a:r>
            <a:endParaRPr sz="3200" b="1">
              <a:solidFill>
                <a:srgbClr val="111827"/>
              </a:solidFill>
            </a:endParaRPr>
          </a:p>
        </p:txBody>
      </p:sp>
      <p:sp>
        <p:nvSpPr>
          <p:cNvPr id="400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01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9CA3AF"/>
                </a:solidFill>
              </a:rPr>
              <a:t>19</a:t>
            </a:r>
            <a:endParaRPr sz="1100">
              <a:solidFill>
                <a:srgbClr val="9CA3AF"/>
              </a:solidFill>
            </a:endParaRPr>
          </a:p>
        </p:txBody>
      </p:sp>
      <p:sp>
        <p:nvSpPr>
          <p:cNvPr id="402" name="TextBox 4"/>
          <p:cNvSpPr txBox="1"/>
          <p:nvPr/>
        </p:nvSpPr>
        <p:spPr>
          <a:xfrm>
            <a:off x="812800" y="1676400"/>
            <a:ext cx="10566400" cy="18745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374151"/>
                </a:solidFill>
              </a:rPr>
              <a:t>Parser — самый быстрый JS/TS-парсер с AST</a:t>
            </a:r>
            <a:endParaRPr sz="18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374151"/>
                </a:solidFill>
              </a:rPr>
              <a:t>Transformer — TS, JSX, modern JS lowering</a:t>
            </a:r>
            <a:endParaRPr sz="18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374151"/>
                </a:solidFill>
              </a:rPr>
              <a:t>Minifier — minify для продакшена</a:t>
            </a:r>
            <a:endParaRPr sz="18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374151"/>
                </a:solidFill>
              </a:rPr>
              <a:t>Resolver — разрешение модулей</a:t>
            </a:r>
            <a:endParaRPr sz="18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374151"/>
                </a:solidFill>
              </a:rPr>
              <a:t>TypeScript Runner — запуск TS/JSX в Node</a:t>
            </a:r>
            <a:endParaRPr sz="1800">
              <a:solidFill>
                <a:srgbClr val="374151"/>
              </a:solidFill>
            </a:endParaRPr>
          </a:p>
        </p:txBody>
      </p:sp>
      <p:sp>
        <p:nvSpPr>
          <p:cNvPr id="403" name="Rectangle 5"/>
          <p:cNvSpPr/>
          <p:nvPr/>
        </p:nvSpPr>
        <p:spPr>
          <a:xfrm>
            <a:off x="812800" y="5080000"/>
            <a:ext cx="10566400" cy="66040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04" name="Rectangle 6"/>
          <p:cNvSpPr/>
          <p:nvPr/>
        </p:nvSpPr>
        <p:spPr>
          <a:xfrm>
            <a:off x="812800" y="5080000"/>
            <a:ext cx="76200" cy="6604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05" name="TextBox 7"/>
          <p:cNvSpPr txBox="1"/>
          <p:nvPr/>
        </p:nvSpPr>
        <p:spPr>
          <a:xfrm>
            <a:off x="1143000" y="5257800"/>
            <a:ext cx="9906000" cy="3200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1500">
                <a:solidFill>
                  <a:srgbClr val="312E81"/>
                </a:solidFill>
              </a:rPr>
              <a:t>Все инструменты делят общие компоненты — меньше дублирования</a:t>
            </a:r>
            <a:endParaRPr sz="1500">
              <a:solidFill>
                <a:srgbClr val="312E81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TextBox 1"/>
          <p:cNvSpPr txBox="1"/>
          <p:nvPr/>
        </p:nvSpPr>
        <p:spPr>
          <a:xfrm>
            <a:off x="812800" y="381000"/>
            <a:ext cx="10160000" cy="5791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Vite+ использует Oxc</a:t>
            </a:r>
            <a:endParaRPr sz="3200" b="1">
              <a:solidFill>
                <a:srgbClr val="111827"/>
              </a:solidFill>
            </a:endParaRPr>
          </a:p>
        </p:txBody>
      </p:sp>
      <p:sp>
        <p:nvSpPr>
          <p:cNvPr id="408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09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9CA3AF"/>
                </a:solidFill>
              </a:rPr>
              <a:t>20</a:t>
            </a:r>
            <a:endParaRPr sz="1100">
              <a:solidFill>
                <a:srgbClr val="9CA3AF"/>
              </a:solidFill>
            </a:endParaRPr>
          </a:p>
        </p:txBody>
      </p:sp>
      <p:sp>
        <p:nvSpPr>
          <p:cNvPr id="410" name="Rectangle 4"/>
          <p:cNvSpPr/>
          <p:nvPr/>
        </p:nvSpPr>
        <p:spPr>
          <a:xfrm>
            <a:off x="812800" y="1676400"/>
            <a:ext cx="10566400" cy="22860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11" name="TextBox 5"/>
          <p:cNvSpPr txBox="1"/>
          <p:nvPr/>
        </p:nvSpPr>
        <p:spPr>
          <a:xfrm>
            <a:off x="1117600" y="1854200"/>
            <a:ext cx="10058400" cy="21518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// vite.config.ts</a:t>
            </a:r>
            <a:endParaRPr sz="13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lint: {</a:t>
            </a:r>
            <a:endParaRPr sz="13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  plugins: ["react", "typescript", "oxc"],</a:t>
            </a:r>
            <a:endParaRPr sz="13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  rules: { "react/rules-of-hooks": "error" },</a:t>
            </a:r>
            <a:endParaRPr sz="13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  options: { typeAware: true, typeCheck: true },</a:t>
            </a:r>
            <a:endParaRPr sz="13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},</a:t>
            </a:r>
            <a:endParaRPr sz="13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fmt: {},</a:t>
            </a:r>
            <a:endParaRPr sz="13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staged: { "*": "vp check --fix" },</a:t>
            </a:r>
            <a:endParaRPr sz="1300">
              <a:solidFill>
                <a:srgbClr val="E2E8F0"/>
              </a:solidFill>
              <a:latin typeface="Consolas"/>
            </a:endParaRPr>
          </a:p>
        </p:txBody>
      </p:sp>
      <p:sp>
        <p:nvSpPr>
          <p:cNvPr id="412" name="TextBox 6"/>
          <p:cNvSpPr txBox="1"/>
          <p:nvPr/>
        </p:nvSpPr>
        <p:spPr>
          <a:xfrm>
            <a:off x="812800" y="4191000"/>
            <a:ext cx="10566400" cy="10424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374151"/>
                </a:solidFill>
              </a:rPr>
              <a:t>vp lint = Oxlint; vp fmt = Oxfmt; vp check = всё вместе</a:t>
            </a:r>
            <a:endParaRPr sz="16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374151"/>
                </a:solidFill>
              </a:rPr>
              <a:t>Конфиг линтера/форматтера — в vite.config.ts, а не в oxlint.config.ts</a:t>
            </a:r>
            <a:endParaRPr sz="16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374151"/>
                </a:solidFill>
              </a:rPr>
              <a:t>JS-плагины и type-aware правила поддерживаются</a:t>
            </a:r>
            <a:endParaRPr sz="1600">
              <a:solidFill>
                <a:srgbClr val="374151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TextBox 1"/>
          <p:cNvSpPr txBox="1"/>
          <p:nvPr/>
        </p:nvSpPr>
        <p:spPr>
          <a:xfrm>
            <a:off x="812800" y="381000"/>
            <a:ext cx="10160000" cy="5791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TanStack Router: зачем</a:t>
            </a:r>
            <a:endParaRPr sz="3200" b="1">
              <a:solidFill>
                <a:srgbClr val="111827"/>
              </a:solidFill>
            </a:endParaRPr>
          </a:p>
        </p:txBody>
      </p:sp>
      <p:sp>
        <p:nvSpPr>
          <p:cNvPr id="415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16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9CA3AF"/>
                </a:solidFill>
              </a:rPr>
              <a:t>21</a:t>
            </a:r>
            <a:endParaRPr sz="1100">
              <a:solidFill>
                <a:srgbClr val="9CA3AF"/>
              </a:solidFill>
            </a:endParaRPr>
          </a:p>
        </p:txBody>
      </p:sp>
      <p:sp>
        <p:nvSpPr>
          <p:cNvPr id="417" name="TextBox 4"/>
          <p:cNvSpPr txBox="1"/>
          <p:nvPr/>
        </p:nvSpPr>
        <p:spPr>
          <a:xfrm>
            <a:off x="812800" y="1676400"/>
            <a:ext cx="10566400" cy="18745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374151"/>
                </a:solidFill>
              </a:rPr>
              <a:t>100% выведенный TypeScript: пути, params, search, контекст</a:t>
            </a:r>
            <a:endParaRPr sz="18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374151"/>
                </a:solidFill>
              </a:rPr>
              <a:t>Типобезопасная навигация: Link, useNavigate, useParams, useSearch</a:t>
            </a:r>
            <a:endParaRPr sz="18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374151"/>
                </a:solidFill>
              </a:rPr>
              <a:t>Встроенный SWR-кеш для loader'ов</a:t>
            </a:r>
            <a:endParaRPr sz="18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374151"/>
                </a:solidFill>
              </a:rPr>
              <a:t>JSON-first search params — состояние в URL</a:t>
            </a:r>
            <a:endParaRPr sz="18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374151"/>
                </a:solidFill>
              </a:rPr>
              <a:t>Файловая и кодовая маршрутизация одновременно</a:t>
            </a:r>
            <a:endParaRPr sz="1800">
              <a:solidFill>
                <a:srgbClr val="374151"/>
              </a:solidFill>
            </a:endParaRPr>
          </a:p>
        </p:txBody>
      </p:sp>
      <p:sp>
        <p:nvSpPr>
          <p:cNvPr id="418" name="Rectangle 5"/>
          <p:cNvSpPr/>
          <p:nvPr/>
        </p:nvSpPr>
        <p:spPr>
          <a:xfrm>
            <a:off x="812800" y="5080000"/>
            <a:ext cx="10566400" cy="66040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19" name="Rectangle 6"/>
          <p:cNvSpPr/>
          <p:nvPr/>
        </p:nvSpPr>
        <p:spPr>
          <a:xfrm>
            <a:off x="812800" y="5080000"/>
            <a:ext cx="76200" cy="6604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20" name="TextBox 7"/>
          <p:cNvSpPr txBox="1"/>
          <p:nvPr/>
        </p:nvSpPr>
        <p:spPr>
          <a:xfrm>
            <a:off x="1143000" y="5257800"/>
            <a:ext cx="9906000" cy="3200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1500">
                <a:solidFill>
                  <a:srgbClr val="312E81"/>
                </a:solidFill>
              </a:rPr>
              <a:t>URL — это state manager, а не просто строка</a:t>
            </a:r>
            <a:endParaRPr sz="1500">
              <a:solidFill>
                <a:srgbClr val="312E81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TextBox 1"/>
          <p:cNvSpPr txBox="1"/>
          <p:nvPr/>
        </p:nvSpPr>
        <p:spPr>
          <a:xfrm>
            <a:off x="812800" y="381000"/>
            <a:ext cx="10160000" cy="5791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Типобезопасность</a:t>
            </a:r>
            <a:endParaRPr sz="3200" b="1">
              <a:solidFill>
                <a:srgbClr val="111827"/>
              </a:solidFill>
            </a:endParaRPr>
          </a:p>
        </p:txBody>
      </p:sp>
      <p:sp>
        <p:nvSpPr>
          <p:cNvPr id="423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24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9CA3AF"/>
                </a:solidFill>
              </a:rPr>
              <a:t>22</a:t>
            </a:r>
            <a:endParaRPr sz="1100">
              <a:solidFill>
                <a:srgbClr val="9CA3AF"/>
              </a:solidFill>
            </a:endParaRPr>
          </a:p>
        </p:txBody>
      </p:sp>
      <p:sp>
        <p:nvSpPr>
          <p:cNvPr id="425" name="Rectangle 4"/>
          <p:cNvSpPr/>
          <p:nvPr/>
        </p:nvSpPr>
        <p:spPr>
          <a:xfrm>
            <a:off x="812800" y="1676400"/>
            <a:ext cx="10566400" cy="13970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26" name="TextBox 5"/>
          <p:cNvSpPr txBox="1"/>
          <p:nvPr/>
        </p:nvSpPr>
        <p:spPr>
          <a:xfrm>
            <a:off x="1117600" y="1854200"/>
            <a:ext cx="10058400" cy="11612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50">
                <a:solidFill>
                  <a:srgbClr val="E2E8F0"/>
                </a:solidFill>
                <a:latin typeface="Consolas"/>
              </a:rPr>
              <a:t>const router = createRouter({ routeTree });</a:t>
            </a:r>
            <a:endParaRPr sz="13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50">
                <a:solidFill>
                  <a:srgbClr val="E2E8F0"/>
                </a:solidFill>
                <a:latin typeface="Consolas"/>
              </a:rPr>
              <a:t>declare module '@tanstack/react-router' {</a:t>
            </a:r>
            <a:endParaRPr sz="13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50">
                <a:solidFill>
                  <a:srgbClr val="E2E8F0"/>
                </a:solidFill>
                <a:latin typeface="Consolas"/>
              </a:rPr>
              <a:t>  interface Register { router: typeof router }</a:t>
            </a:r>
            <a:endParaRPr sz="13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50">
                <a:solidFill>
                  <a:srgbClr val="E2E8F0"/>
                </a:solidFill>
                <a:latin typeface="Consolas"/>
              </a:rPr>
              <a:t>}</a:t>
            </a:r>
            <a:endParaRPr sz="1350">
              <a:solidFill>
                <a:srgbClr val="E2E8F0"/>
              </a:solidFill>
              <a:latin typeface="Consolas"/>
            </a:endParaRPr>
          </a:p>
        </p:txBody>
      </p:sp>
      <p:sp>
        <p:nvSpPr>
          <p:cNvPr id="427" name="TextBox 6"/>
          <p:cNvSpPr txBox="1"/>
          <p:nvPr/>
        </p:nvSpPr>
        <p:spPr>
          <a:xfrm>
            <a:off x="812800" y="3302000"/>
            <a:ext cx="10566400" cy="1438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374151"/>
                </a:solidFill>
              </a:rPr>
              <a:t>Register связывает типы роутера с экспортированными хуками</a:t>
            </a:r>
            <a:endParaRPr sz="17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374151"/>
                </a:solidFill>
              </a:rPr>
              <a:t>Route.useParams() / Route.useSearch() — типизированы</a:t>
            </a:r>
            <a:endParaRPr sz="17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374151"/>
                </a:solidFill>
              </a:rPr>
              <a:t>useNavigate({ from: Route.fullPath }) — подсказка контекста</a:t>
            </a:r>
            <a:endParaRPr sz="17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374151"/>
                </a:solidFill>
              </a:rPr>
              <a:t>strict: false — для общих компонентов без привязки к роуту</a:t>
            </a:r>
            <a:endParaRPr sz="1700">
              <a:solidFill>
                <a:srgbClr val="374151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TextBox 1"/>
          <p:cNvSpPr txBox="1"/>
          <p:nvPr/>
        </p:nvSpPr>
        <p:spPr>
          <a:xfrm>
            <a:off x="812800" y="381000"/>
            <a:ext cx="10160000" cy="5791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Файловая vs кодовая маршрутизация</a:t>
            </a:r>
            <a:endParaRPr sz="3200" b="1">
              <a:solidFill>
                <a:srgbClr val="111827"/>
              </a:solidFill>
            </a:endParaRPr>
          </a:p>
        </p:txBody>
      </p:sp>
      <p:sp>
        <p:nvSpPr>
          <p:cNvPr id="430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31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9CA3AF"/>
                </a:solidFill>
              </a:rPr>
              <a:t>23</a:t>
            </a:r>
            <a:endParaRPr sz="1100">
              <a:solidFill>
                <a:srgbClr val="9CA3AF"/>
              </a:solidFill>
            </a:endParaRPr>
          </a:p>
        </p:txBody>
      </p:sp>
      <p:graphicFrame>
        <p:nvGraphicFramePr>
          <p:cNvPr id="432" name="Table 4"/>
          <p:cNvGraphicFramePr>
            <a:graphicFrameLocks noGrp="1"/>
          </p:cNvGraphicFramePr>
          <p:nvPr/>
        </p:nvGraphicFramePr>
        <p:xfrm>
          <a:off x="812800" y="1676400"/>
          <a:ext cx="10566400" cy="203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133"/>
                <a:gridCol w="3522133"/>
                <a:gridCol w="3522133"/>
              </a:tblGrid>
              <a:tr h="508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Файловая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Кодовая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/>
                        <a:t>Определение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по файловой структуре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createRoute + addChildren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/>
                        <a:t>Типобезопасность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максимальная (генерация)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зависит от дисциплины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/>
                        <a:t>Когда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рекомендуется по умолчанию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полный контроль, динамика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33" name="TextBox 5"/>
          <p:cNvSpPr txBox="1"/>
          <p:nvPr/>
        </p:nvSpPr>
        <p:spPr>
          <a:xfrm>
            <a:off x="812800" y="3937000"/>
            <a:ext cx="10566400" cy="7650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374151"/>
                </a:solidFill>
              </a:rPr>
              <a:t>Оба подхода можно смешивать в одном проекте</a:t>
            </a:r>
            <a:endParaRPr sz="17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374151"/>
                </a:solidFill>
              </a:rPr>
              <a:t>Файловая генерирует routeTree.gen.ts автоматически (Vite plugin)</a:t>
            </a:r>
            <a:endParaRPr sz="1700">
              <a:solidFill>
                <a:srgbClr val="374151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TextBox 1"/>
          <p:cNvSpPr txBox="1"/>
          <p:nvPr/>
        </p:nvSpPr>
        <p:spPr>
          <a:xfrm>
            <a:off x="812800" y="381000"/>
            <a:ext cx="10160000" cy="5791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Именование файлов маршрутов</a:t>
            </a:r>
            <a:endParaRPr sz="3200" b="1">
              <a:solidFill>
                <a:srgbClr val="111827"/>
              </a:solidFill>
            </a:endParaRPr>
          </a:p>
        </p:txBody>
      </p:sp>
      <p:sp>
        <p:nvSpPr>
          <p:cNvPr id="436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37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9CA3AF"/>
                </a:solidFill>
              </a:rPr>
              <a:t>24</a:t>
            </a:r>
            <a:endParaRPr sz="1100">
              <a:solidFill>
                <a:srgbClr val="9CA3AF"/>
              </a:solidFill>
            </a:endParaRPr>
          </a:p>
        </p:txBody>
      </p:sp>
      <p:graphicFrame>
        <p:nvGraphicFramePr>
          <p:cNvPr id="438" name="Table 4"/>
          <p:cNvGraphicFramePr>
            <a:graphicFrameLocks noGrp="1"/>
          </p:cNvGraphicFramePr>
          <p:nvPr/>
        </p:nvGraphicFramePr>
        <p:xfrm>
          <a:off x="812800" y="1676400"/>
          <a:ext cx="1056640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3200"/>
                <a:gridCol w="5283200"/>
              </a:tblGrid>
              <a:tr h="428625">
                <a:tc>
                  <a:txBody>
                    <a:bodyPr/>
                    <a:lstStyle/>
                    <a:p>
                      <a:r>
                        <a:rPr/>
                        <a:t>Паттерн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Что значит</a:t>
                      </a:r>
                    </a:p>
                  </a:txBody>
                  <a:tcPr/>
                </a:tc>
              </a:tr>
              <a:tr h="428625">
                <a:tc>
                  <a:txBody>
                    <a:bodyPr/>
                    <a:lstStyle/>
                    <a:p>
                      <a:r>
                        <a:rPr/>
                        <a:t>index.tsx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индексный маршрут родителя</a:t>
                      </a:r>
                    </a:p>
                  </a:txBody>
                  <a:tcPr/>
                </a:tc>
              </a:tr>
              <a:tr h="428625">
                <a:tc>
                  <a:txBody>
                    <a:bodyPr/>
                    <a:lstStyle/>
                    <a:p>
                      <a:r>
                        <a:rPr/>
                        <a:t>$param.tsx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динамический сегмент</a:t>
                      </a:r>
                    </a:p>
                  </a:txBody>
                  <a:tcPr/>
                </a:tc>
              </a:tr>
              <a:tr h="428625">
                <a:tc>
                  <a:txBody>
                    <a:bodyPr/>
                    <a:lstStyle/>
                    <a:p>
                      <a:r>
                        <a:rPr/>
                        <a:t>$.tsx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splat / catch-all</a:t>
                      </a:r>
                    </a:p>
                  </a:txBody>
                  <a:tcPr/>
                </a:tc>
              </a:tr>
              <a:tr h="428625">
                <a:tc>
                  <a:txBody>
                    <a:bodyPr/>
                    <a:lstStyle/>
                    <a:p>
                      <a:r>
                        <a:rPr/>
                        <a:t>{-$param}.tsx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опциональный сегмент</a:t>
                      </a:r>
                    </a:p>
                  </a:txBody>
                  <a:tcPr/>
                </a:tc>
              </a:tr>
              <a:tr h="428625">
                <a:tc>
                  <a:txBody>
                    <a:bodyPr/>
                    <a:lstStyle/>
                    <a:p>
                      <a:r>
                        <a:rPr/>
                        <a:t>_layout.tsx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pathless layout</a:t>
                      </a:r>
                    </a:p>
                  </a:txBody>
                  <a:tcPr/>
                </a:tc>
              </a:tr>
              <a:tr h="428625">
                <a:tc>
                  <a:txBody>
                    <a:bodyPr/>
                    <a:lstStyle/>
                    <a:p>
                      <a:r>
                        <a:rPr/>
                        <a:t>posts_.$id.edit.tsx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non-nested (свой путь)</a:t>
                      </a:r>
                    </a:p>
                  </a:txBody>
                  <a:tcPr/>
                </a:tc>
              </a:tr>
              <a:tr h="428625">
                <a:tc>
                  <a:txBody>
                    <a:bodyPr/>
                    <a:lstStyle/>
                    <a:p>
                      <a:r>
                        <a:rPr/>
                        <a:t>-file.tsx / -dir/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исключить из роутов (колокация)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39" name="TextBox 5"/>
          <p:cNvSpPr txBox="1"/>
          <p:nvPr/>
        </p:nvSpPr>
        <p:spPr>
          <a:xfrm>
            <a:off x="812800" y="5334000"/>
            <a:ext cx="10566400" cy="3048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1400">
                <a:solidFill>
                  <a:srgbClr val="9CA3AF"/>
                </a:solidFill>
              </a:rPr>
              <a:t>Группы: (app)/, (auth)/ — чисто организационные папки</a:t>
            </a:r>
            <a:endParaRPr sz="1400">
              <a:solidFill>
                <a:srgbClr val="9CA3AF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TextBox 1"/>
          <p:cNvSpPr txBox="1"/>
          <p:nvPr/>
        </p:nvSpPr>
        <p:spPr>
          <a:xfrm>
            <a:off x="812800" y="381000"/>
            <a:ext cx="10160000" cy="5791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Кодовая маршрутизация: пример</a:t>
            </a:r>
            <a:endParaRPr sz="3200" b="1">
              <a:solidFill>
                <a:srgbClr val="111827"/>
              </a:solidFill>
            </a:endParaRPr>
          </a:p>
        </p:txBody>
      </p:sp>
      <p:sp>
        <p:nvSpPr>
          <p:cNvPr id="442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43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9CA3AF"/>
                </a:solidFill>
              </a:rPr>
              <a:t>25</a:t>
            </a:r>
            <a:endParaRPr sz="1100">
              <a:solidFill>
                <a:srgbClr val="9CA3AF"/>
              </a:solidFill>
            </a:endParaRPr>
          </a:p>
        </p:txBody>
      </p:sp>
      <p:sp>
        <p:nvSpPr>
          <p:cNvPr id="444" name="Rectangle 4"/>
          <p:cNvSpPr/>
          <p:nvPr/>
        </p:nvSpPr>
        <p:spPr>
          <a:xfrm>
            <a:off x="812800" y="1676400"/>
            <a:ext cx="10566400" cy="29210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45" name="TextBox 5"/>
          <p:cNvSpPr txBox="1"/>
          <p:nvPr/>
        </p:nvSpPr>
        <p:spPr>
          <a:xfrm>
            <a:off x="1117600" y="1854200"/>
            <a:ext cx="10058400" cy="34396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const rootRoute = createRootRoute();</a:t>
            </a:r>
            <a:endParaRPr sz="13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const postsRoute = createRoute({</a:t>
            </a:r>
            <a:endParaRPr sz="13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  getParentRoute: () =&gt; rootRoute,</a:t>
            </a:r>
            <a:endParaRPr sz="13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  path: 'posts',</a:t>
            </a:r>
            <a:endParaRPr sz="13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});</a:t>
            </a:r>
            <a:endParaRPr sz="13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const postRoute = createRoute({</a:t>
            </a:r>
            <a:endParaRPr sz="13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  getParentRoute: () =&gt; postsRoute,</a:t>
            </a:r>
            <a:endParaRPr sz="13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  path: '$postId',</a:t>
            </a:r>
            <a:endParaRPr sz="13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  loader: ({ params }) =&gt; fetchPost(params.postId),</a:t>
            </a:r>
            <a:endParaRPr sz="13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});</a:t>
            </a:r>
            <a:endParaRPr sz="13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const routeTree = rootRoute.addChildren([</a:t>
            </a:r>
            <a:endParaRPr sz="13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  postsRoute.addChildren([postRoute]),</a:t>
            </a:r>
            <a:endParaRPr sz="13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]);</a:t>
            </a:r>
            <a:endParaRPr sz="1300">
              <a:solidFill>
                <a:srgbClr val="E2E8F0"/>
              </a:solidFill>
              <a:latin typeface="Consolas"/>
            </a:endParaRPr>
          </a:p>
        </p:txBody>
      </p:sp>
      <p:sp>
        <p:nvSpPr>
          <p:cNvPr id="446" name="TextBox 6"/>
          <p:cNvSpPr txBox="1"/>
          <p:nvPr/>
        </p:nvSpPr>
        <p:spPr>
          <a:xfrm>
            <a:off x="812800" y="4826000"/>
            <a:ext cx="10566400" cy="10424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374151"/>
                </a:solidFill>
              </a:rPr>
              <a:t>getParentRoute обязателен — ради типобезопасности</a:t>
            </a:r>
            <a:endParaRPr sz="16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374151"/>
                </a:solidFill>
              </a:rPr>
              <a:t>addChildren строит дерево вручную</a:t>
            </a:r>
            <a:endParaRPr sz="16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374151"/>
                </a:solidFill>
              </a:rPr>
              <a:t>В реальных проектах смешивают с файловой</a:t>
            </a:r>
            <a:endParaRPr sz="1600">
              <a:solidFill>
                <a:srgbClr val="374151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TextBox 1"/>
          <p:cNvSpPr txBox="1"/>
          <p:nvPr/>
        </p:nvSpPr>
        <p:spPr>
          <a:xfrm>
            <a:off x="812800" y="381000"/>
            <a:ext cx="10160000" cy="5791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Параметры пути</a:t>
            </a:r>
            <a:endParaRPr sz="3200" b="1">
              <a:solidFill>
                <a:srgbClr val="111827"/>
              </a:solidFill>
            </a:endParaRPr>
          </a:p>
        </p:txBody>
      </p:sp>
      <p:sp>
        <p:nvSpPr>
          <p:cNvPr id="449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50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9CA3AF"/>
                </a:solidFill>
              </a:rPr>
              <a:t>26</a:t>
            </a:r>
            <a:endParaRPr sz="1100">
              <a:solidFill>
                <a:srgbClr val="9CA3AF"/>
              </a:solidFill>
            </a:endParaRPr>
          </a:p>
        </p:txBody>
      </p:sp>
      <p:sp>
        <p:nvSpPr>
          <p:cNvPr id="451" name="Rectangle 4"/>
          <p:cNvSpPr/>
          <p:nvPr/>
        </p:nvSpPr>
        <p:spPr>
          <a:xfrm>
            <a:off x="812800" y="1676400"/>
            <a:ext cx="10566400" cy="21590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52" name="TextBox 5"/>
          <p:cNvSpPr txBox="1"/>
          <p:nvPr/>
        </p:nvSpPr>
        <p:spPr>
          <a:xfrm>
            <a:off x="1117600" y="1854200"/>
            <a:ext cx="10058400" cy="223113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50">
                <a:solidFill>
                  <a:srgbClr val="E2E8F0"/>
                </a:solidFill>
                <a:latin typeface="Consolas"/>
              </a:rPr>
              <a:t>// posts/$postId.tsx</a:t>
            </a:r>
            <a:endParaRPr sz="13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50">
                <a:solidFill>
                  <a:srgbClr val="E2E8F0"/>
                </a:solidFill>
                <a:latin typeface="Consolas"/>
              </a:rPr>
              <a:t>export const Route = createFileRoute('/posts/$postId')({</a:t>
            </a:r>
            <a:endParaRPr sz="13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50">
                <a:solidFill>
                  <a:srgbClr val="E2E8F0"/>
                </a:solidFill>
                <a:latin typeface="Consolas"/>
              </a:rPr>
              <a:t>  loader: ({ params }) =&gt; fetchPost(params.postId),</a:t>
            </a:r>
            <a:endParaRPr sz="13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50">
                <a:solidFill>
                  <a:srgbClr val="E2E8F0"/>
                </a:solidFill>
                <a:latin typeface="Consolas"/>
              </a:rPr>
              <a:t>  component: PostComponent,</a:t>
            </a:r>
            <a:endParaRPr sz="13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50">
                <a:solidFill>
                  <a:srgbClr val="E2E8F0"/>
                </a:solidFill>
                <a:latin typeface="Consolas"/>
              </a:rPr>
              <a:t>});</a:t>
            </a:r>
            <a:endParaRPr sz="13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50">
                <a:solidFill>
                  <a:srgbClr val="E2E8F0"/>
                </a:solidFill>
                <a:latin typeface="Consolas"/>
              </a:rPr>
              <a:t>function PostComponent() {</a:t>
            </a:r>
            <a:endParaRPr sz="13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50">
                <a:solidFill>
                  <a:srgbClr val="E2E8F0"/>
                </a:solidFill>
                <a:latin typeface="Consolas"/>
              </a:rPr>
              <a:t>  const { postId } = Route.useParams();</a:t>
            </a:r>
            <a:endParaRPr sz="13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50">
                <a:solidFill>
                  <a:srgbClr val="E2E8F0"/>
                </a:solidFill>
                <a:latin typeface="Consolas"/>
              </a:rPr>
              <a:t>}</a:t>
            </a:r>
            <a:endParaRPr sz="1350">
              <a:solidFill>
                <a:srgbClr val="E2E8F0"/>
              </a:solidFill>
              <a:latin typeface="Consolas"/>
            </a:endParaRPr>
          </a:p>
        </p:txBody>
      </p:sp>
      <p:sp>
        <p:nvSpPr>
          <p:cNvPr id="453" name="TextBox 6"/>
          <p:cNvSpPr txBox="1"/>
          <p:nvPr/>
        </p:nvSpPr>
        <p:spPr>
          <a:xfrm>
            <a:off x="812800" y="4064000"/>
            <a:ext cx="10566400" cy="13990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650">
                <a:solidFill>
                  <a:srgbClr val="374151"/>
                </a:solidFill>
              </a:rPr>
              <a:t>$param — обязательный сегмент</a:t>
            </a:r>
            <a:endParaRPr sz="165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650">
                <a:solidFill>
                  <a:srgbClr val="374151"/>
                </a:solidFill>
              </a:rPr>
              <a:t>{-$param} — опциональный (undefined, если нет)</a:t>
            </a:r>
            <a:endParaRPr sz="165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650">
                <a:solidFill>
                  <a:srgbClr val="374151"/>
                </a:solidFill>
              </a:rPr>
              <a:t>$ — splat, значение в params._splat</a:t>
            </a:r>
            <a:endParaRPr sz="165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650">
                <a:solidFill>
                  <a:srgbClr val="374151"/>
                </a:solidFill>
              </a:rPr>
              <a:t>params доступны в loader, beforeLoad, компоненте</a:t>
            </a:r>
            <a:endParaRPr sz="1650">
              <a:solidFill>
                <a:srgbClr val="374151"/>
              </a:solidFill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TextBox 1"/>
          <p:cNvSpPr txBox="1"/>
          <p:nvPr/>
        </p:nvSpPr>
        <p:spPr>
          <a:xfrm>
            <a:off x="812800" y="381000"/>
            <a:ext cx="10160000" cy="5791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Layout и pathless routes</a:t>
            </a:r>
            <a:endParaRPr sz="3200" b="1">
              <a:solidFill>
                <a:srgbClr val="111827"/>
              </a:solidFill>
            </a:endParaRPr>
          </a:p>
        </p:txBody>
      </p:sp>
      <p:sp>
        <p:nvSpPr>
          <p:cNvPr id="456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57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9CA3AF"/>
                </a:solidFill>
              </a:rPr>
              <a:t>27</a:t>
            </a:r>
            <a:endParaRPr sz="1100">
              <a:solidFill>
                <a:srgbClr val="9CA3AF"/>
              </a:solidFill>
            </a:endParaRPr>
          </a:p>
        </p:txBody>
      </p:sp>
      <p:sp>
        <p:nvSpPr>
          <p:cNvPr id="458" name="Rectangle 4"/>
          <p:cNvSpPr/>
          <p:nvPr/>
        </p:nvSpPr>
        <p:spPr>
          <a:xfrm>
            <a:off x="812800" y="1676400"/>
            <a:ext cx="10566400" cy="21590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59" name="TextBox 5"/>
          <p:cNvSpPr txBox="1"/>
          <p:nvPr/>
        </p:nvSpPr>
        <p:spPr>
          <a:xfrm>
            <a:off x="1117600" y="1854200"/>
            <a:ext cx="10058400" cy="21518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// app.tsx — layout route</a:t>
            </a:r>
            <a:endParaRPr sz="13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export const Route = createFileRoute('/app')({</a:t>
            </a:r>
            <a:endParaRPr sz="13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  component: () =&gt; (&lt;div&gt;&lt;h1&gt;App&lt;/h1&gt;&lt;Outlet /&gt;&lt;/div&gt;),</a:t>
            </a:r>
            <a:endParaRPr sz="13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});</a:t>
            </a:r>
            <a:endParaRPr sz="13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// _pathlessLayout.tsx — без пути в URL</a:t>
            </a:r>
            <a:endParaRPr sz="13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export const Route = createFileRoute('/_pathlessLayout')({</a:t>
            </a:r>
            <a:endParaRPr sz="13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  component: () =&gt; (&lt;div&gt;&lt;h1&gt;PL&lt;/h1&gt;&lt;Outlet /&gt;&lt;/div&gt;),</a:t>
            </a:r>
            <a:endParaRPr sz="13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});</a:t>
            </a:r>
            <a:endParaRPr sz="1300">
              <a:solidFill>
                <a:srgbClr val="E2E8F0"/>
              </a:solidFill>
              <a:latin typeface="Consolas"/>
            </a:endParaRPr>
          </a:p>
        </p:txBody>
      </p:sp>
      <p:sp>
        <p:nvSpPr>
          <p:cNvPr id="460" name="TextBox 6"/>
          <p:cNvSpPr txBox="1"/>
          <p:nvPr/>
        </p:nvSpPr>
        <p:spPr>
          <a:xfrm>
            <a:off x="812800" y="4064000"/>
            <a:ext cx="10566400" cy="107213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650">
                <a:solidFill>
                  <a:srgbClr val="374151"/>
                </a:solidFill>
              </a:rPr>
              <a:t>Layout оборачивает дочерние роуты через &lt;Outlet /&gt;</a:t>
            </a:r>
            <a:endParaRPr sz="165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650">
                <a:solidFill>
                  <a:srgbClr val="374151"/>
                </a:solidFill>
              </a:rPr>
              <a:t>Pathless (_prefix) оборачивает без сегмента в URL</a:t>
            </a:r>
            <a:endParaRPr sz="165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650">
                <a:solidFill>
                  <a:srgbClr val="374151"/>
                </a:solidFill>
              </a:rPr>
              <a:t>Non-nested: суффикс _ у родителя «отсоединяет» дочерний маршрут</a:t>
            </a:r>
            <a:endParaRPr sz="1650">
              <a:solidFill>
                <a:srgbClr val="374151"/>
              </a:solidFill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TextBox 1"/>
          <p:cNvSpPr txBox="1"/>
          <p:nvPr/>
        </p:nvSpPr>
        <p:spPr>
          <a:xfrm>
            <a:off x="812800" y="381000"/>
            <a:ext cx="10160000" cy="5791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Search params: состояние в URL</a:t>
            </a:r>
            <a:endParaRPr sz="3200" b="1">
              <a:solidFill>
                <a:srgbClr val="111827"/>
              </a:solidFill>
            </a:endParaRPr>
          </a:p>
        </p:txBody>
      </p:sp>
      <p:sp>
        <p:nvSpPr>
          <p:cNvPr id="463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64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9CA3AF"/>
                </a:solidFill>
              </a:rPr>
              <a:t>28</a:t>
            </a:r>
            <a:endParaRPr sz="1100">
              <a:solidFill>
                <a:srgbClr val="9CA3AF"/>
              </a:solidFill>
            </a:endParaRPr>
          </a:p>
        </p:txBody>
      </p:sp>
      <p:sp>
        <p:nvSpPr>
          <p:cNvPr id="465" name="TextBox 4"/>
          <p:cNvSpPr txBox="1"/>
          <p:nvPr/>
        </p:nvSpPr>
        <p:spPr>
          <a:xfrm>
            <a:off x="812800" y="1676400"/>
            <a:ext cx="10566400" cy="1438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374151"/>
                </a:solidFill>
              </a:rPr>
              <a:t>JSON-first: вложенные структуры сериализуются автоматически</a:t>
            </a:r>
            <a:endParaRPr sz="17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374151"/>
                </a:solidFill>
              </a:rPr>
              <a:t>Наследуются от родительских маршрутов</a:t>
            </a:r>
            <a:endParaRPr sz="17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374151"/>
                </a:solidFill>
              </a:rPr>
              <a:t>Доступны в loader'ах, компонентах, хуках</a:t>
            </a:r>
            <a:endParaRPr sz="17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374151"/>
                </a:solidFill>
              </a:rPr>
              <a:t>Обновление через Link search, useNavigate, &lt;Navigate&gt;</a:t>
            </a:r>
            <a:endParaRPr sz="1700">
              <a:solidFill>
                <a:srgbClr val="374151"/>
              </a:solidFill>
            </a:endParaRPr>
          </a:p>
        </p:txBody>
      </p:sp>
      <p:sp>
        <p:nvSpPr>
          <p:cNvPr id="466" name="Rectangle 5"/>
          <p:cNvSpPr/>
          <p:nvPr/>
        </p:nvSpPr>
        <p:spPr>
          <a:xfrm>
            <a:off x="812800" y="4191000"/>
            <a:ext cx="10566400" cy="11430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67" name="TextBox 6"/>
          <p:cNvSpPr txBox="1"/>
          <p:nvPr/>
        </p:nvSpPr>
        <p:spPr>
          <a:xfrm>
            <a:off x="1117600" y="4368800"/>
            <a:ext cx="10058400" cy="6263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50">
                <a:solidFill>
                  <a:srgbClr val="E2E8F0"/>
                </a:solidFill>
                <a:latin typeface="Consolas"/>
              </a:rPr>
              <a:t>const { page, filter, sort } = Route.useSearch();</a:t>
            </a:r>
            <a:endParaRPr sz="13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50">
                <a:solidFill>
                  <a:srgbClr val="E2E8F0"/>
                </a:solidFill>
                <a:latin typeface="Consolas"/>
              </a:rPr>
              <a:t>&lt;Link from={Route.fullPath} search={(prev) =&gt; ({ page: prev.page + 1 })}&gt;Next&lt;/Link&gt;</a:t>
            </a:r>
            <a:endParaRPr sz="1350">
              <a:solidFill>
                <a:srgbClr val="E2E8F0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TextBox 1"/>
          <p:cNvSpPr txBox="1"/>
          <p:nvPr/>
        </p:nvSpPr>
        <p:spPr>
          <a:xfrm>
            <a:off x="812800" y="381000"/>
            <a:ext cx="10160000" cy="5791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Валидация search params: Zod</a:t>
            </a:r>
            <a:endParaRPr sz="3200" b="1">
              <a:solidFill>
                <a:srgbClr val="111827"/>
              </a:solidFill>
            </a:endParaRPr>
          </a:p>
        </p:txBody>
      </p:sp>
      <p:sp>
        <p:nvSpPr>
          <p:cNvPr id="470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71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9CA3AF"/>
                </a:solidFill>
              </a:rPr>
              <a:t>29</a:t>
            </a:r>
            <a:endParaRPr sz="1100">
              <a:solidFill>
                <a:srgbClr val="9CA3AF"/>
              </a:solidFill>
            </a:endParaRPr>
          </a:p>
        </p:txBody>
      </p:sp>
      <p:sp>
        <p:nvSpPr>
          <p:cNvPr id="472" name="Rectangle 4"/>
          <p:cNvSpPr/>
          <p:nvPr/>
        </p:nvSpPr>
        <p:spPr>
          <a:xfrm>
            <a:off x="812800" y="1676400"/>
            <a:ext cx="10566400" cy="22860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73" name="TextBox 5"/>
          <p:cNvSpPr txBox="1"/>
          <p:nvPr/>
        </p:nvSpPr>
        <p:spPr>
          <a:xfrm>
            <a:off x="1117600" y="1854200"/>
            <a:ext cx="10058400" cy="21518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const schema = z.object({</a:t>
            </a:r>
            <a:endParaRPr sz="13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  page: z.number().catch(1),</a:t>
            </a:r>
            <a:endParaRPr sz="13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  filter: z.string().catch(''),</a:t>
            </a:r>
            <a:endParaRPr sz="13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  sort: z.enum(['newest','oldest','price']).catch('newest'),</a:t>
            </a:r>
            <a:endParaRPr sz="13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});</a:t>
            </a:r>
            <a:endParaRPr sz="13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export const Route = createFileRoute('/shop/products')({</a:t>
            </a:r>
            <a:endParaRPr sz="13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  validateSearch: zodValidator(schema),</a:t>
            </a:r>
            <a:endParaRPr sz="13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});</a:t>
            </a:r>
            <a:endParaRPr sz="1300">
              <a:solidFill>
                <a:srgbClr val="E2E8F0"/>
              </a:solidFill>
              <a:latin typeface="Consolas"/>
            </a:endParaRPr>
          </a:p>
        </p:txBody>
      </p:sp>
      <p:sp>
        <p:nvSpPr>
          <p:cNvPr id="474" name="TextBox 6"/>
          <p:cNvSpPr txBox="1"/>
          <p:nvPr/>
        </p:nvSpPr>
        <p:spPr>
          <a:xfrm>
            <a:off x="812800" y="4191000"/>
            <a:ext cx="10566400" cy="13594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374151"/>
                </a:solidFill>
              </a:rPr>
              <a:t>zodValidator из @tanstack/zod-adapter для Zod v3</a:t>
            </a:r>
            <a:endParaRPr sz="16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374151"/>
                </a:solidFill>
              </a:rPr>
              <a:t>В Zod v4 схему можно передать напрямую</a:t>
            </a:r>
            <a:endParaRPr sz="16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374151"/>
                </a:solidFill>
              </a:rPr>
              <a:t>fallback() сохраняет типы при ошибке валидации</a:t>
            </a:r>
            <a:endParaRPr sz="16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374151"/>
                </a:solidFill>
              </a:rPr>
              <a:t>Поддерживаются Valibot, ArkType, Effect/Schema</a:t>
            </a:r>
            <a:endParaRPr sz="1600">
              <a:solidFill>
                <a:srgbClr val="374151"/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TextBox 1"/>
          <p:cNvSpPr txBox="1"/>
          <p:nvPr/>
        </p:nvSpPr>
        <p:spPr>
          <a:xfrm>
            <a:off x="812800" y="381000"/>
            <a:ext cx="10160000" cy="5791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Search middlewares</a:t>
            </a:r>
            <a:endParaRPr sz="3200" b="1">
              <a:solidFill>
                <a:srgbClr val="111827"/>
              </a:solidFill>
            </a:endParaRPr>
          </a:p>
        </p:txBody>
      </p:sp>
      <p:sp>
        <p:nvSpPr>
          <p:cNvPr id="477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78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9CA3AF"/>
                </a:solidFill>
              </a:rPr>
              <a:t>30</a:t>
            </a:r>
            <a:endParaRPr sz="1100">
              <a:solidFill>
                <a:srgbClr val="9CA3AF"/>
              </a:solidFill>
            </a:endParaRPr>
          </a:p>
        </p:txBody>
      </p:sp>
      <p:sp>
        <p:nvSpPr>
          <p:cNvPr id="479" name="Rectangle 4"/>
          <p:cNvSpPr/>
          <p:nvPr/>
        </p:nvSpPr>
        <p:spPr>
          <a:xfrm>
            <a:off x="812800" y="1676400"/>
            <a:ext cx="10566400" cy="15240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80" name="TextBox 5"/>
          <p:cNvSpPr txBox="1"/>
          <p:nvPr/>
        </p:nvSpPr>
        <p:spPr>
          <a:xfrm>
            <a:off x="1117600" y="1854200"/>
            <a:ext cx="10058400" cy="17556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2E8F0"/>
                </a:solidFill>
                <a:latin typeface="Consolas"/>
              </a:rPr>
              <a:t>search: {</a:t>
            </a:r>
            <a:endParaRPr sz="14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2E8F0"/>
                </a:solidFill>
                <a:latin typeface="Consolas"/>
              </a:rPr>
              <a:t>  middlewares: [</a:t>
            </a:r>
            <a:endParaRPr sz="14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2E8F0"/>
                </a:solidFill>
                <a:latin typeface="Consolas"/>
              </a:rPr>
              <a:t>    retainSearchParams(['rootValue']),</a:t>
            </a:r>
            <a:endParaRPr sz="14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2E8F0"/>
                </a:solidFill>
                <a:latin typeface="Consolas"/>
              </a:rPr>
              <a:t>    stripSearchParams({ page: 1 }),</a:t>
            </a:r>
            <a:endParaRPr sz="14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2E8F0"/>
                </a:solidFill>
                <a:latin typeface="Consolas"/>
              </a:rPr>
              <a:t>  ],</a:t>
            </a:r>
            <a:endParaRPr sz="14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2E8F0"/>
                </a:solidFill>
                <a:latin typeface="Consolas"/>
              </a:rPr>
              <a:t>}</a:t>
            </a:r>
            <a:endParaRPr sz="1400">
              <a:solidFill>
                <a:srgbClr val="E2E8F0"/>
              </a:solidFill>
              <a:latin typeface="Consolas"/>
            </a:endParaRPr>
          </a:p>
        </p:txBody>
      </p:sp>
      <p:sp>
        <p:nvSpPr>
          <p:cNvPr id="481" name="TextBox 6"/>
          <p:cNvSpPr txBox="1"/>
          <p:nvPr/>
        </p:nvSpPr>
        <p:spPr>
          <a:xfrm>
            <a:off x="812800" y="3429000"/>
            <a:ext cx="10566400" cy="11018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374151"/>
                </a:solidFill>
              </a:rPr>
              <a:t>retainSearchParams — сохранить param во всех ссылках</a:t>
            </a:r>
            <a:endParaRPr sz="17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374151"/>
                </a:solidFill>
              </a:rPr>
              <a:t>stripSearchParams — убрать param, если значение по умолчанию</a:t>
            </a:r>
            <a:endParaRPr sz="17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374151"/>
                </a:solidFill>
              </a:rPr>
              <a:t>Можно цепочкой комбинировать</a:t>
            </a:r>
            <a:endParaRPr sz="1700">
              <a:solidFill>
                <a:srgbClr val="374151"/>
              </a:solidFill>
            </a:endParaRPr>
          </a:p>
        </p:txBody>
      </p:sp>
      <p:sp>
        <p:nvSpPr>
          <p:cNvPr id="482" name="Rectangle 7"/>
          <p:cNvSpPr/>
          <p:nvPr/>
        </p:nvSpPr>
        <p:spPr>
          <a:xfrm>
            <a:off x="812800" y="5461000"/>
            <a:ext cx="10566400" cy="66040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83" name="Rectangle 8"/>
          <p:cNvSpPr/>
          <p:nvPr/>
        </p:nvSpPr>
        <p:spPr>
          <a:xfrm>
            <a:off x="812800" y="5461000"/>
            <a:ext cx="76200" cy="6604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84" name="TextBox 9"/>
          <p:cNvSpPr txBox="1"/>
          <p:nvPr/>
        </p:nvSpPr>
        <p:spPr>
          <a:xfrm>
            <a:off x="1143000" y="5638800"/>
            <a:ext cx="9906000" cy="3200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1500">
                <a:solidFill>
                  <a:srgbClr val="312E81"/>
                </a:solidFill>
              </a:rPr>
              <a:t>По умолчанию search params обновляются независимо от pathname</a:t>
            </a:r>
            <a:endParaRPr sz="1500">
              <a:solidFill>
                <a:srgbClr val="312E81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TextBox 1"/>
          <p:cNvSpPr txBox="1"/>
          <p:nvPr/>
        </p:nvSpPr>
        <p:spPr>
          <a:xfrm>
            <a:off x="812800" y="381000"/>
            <a:ext cx="10160000" cy="5791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Data loading: loader</a:t>
            </a:r>
            <a:endParaRPr sz="3200" b="1">
              <a:solidFill>
                <a:srgbClr val="111827"/>
              </a:solidFill>
            </a:endParaRPr>
          </a:p>
        </p:txBody>
      </p:sp>
      <p:sp>
        <p:nvSpPr>
          <p:cNvPr id="487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88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9CA3AF"/>
                </a:solidFill>
              </a:rPr>
              <a:t>31</a:t>
            </a:r>
            <a:endParaRPr sz="1100">
              <a:solidFill>
                <a:srgbClr val="9CA3AF"/>
              </a:solidFill>
            </a:endParaRPr>
          </a:p>
        </p:txBody>
      </p:sp>
      <p:sp>
        <p:nvSpPr>
          <p:cNvPr id="489" name="Rectangle 4"/>
          <p:cNvSpPr/>
          <p:nvPr/>
        </p:nvSpPr>
        <p:spPr>
          <a:xfrm>
            <a:off x="812800" y="1676400"/>
            <a:ext cx="10566400" cy="17780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90" name="TextBox 5"/>
          <p:cNvSpPr txBox="1"/>
          <p:nvPr/>
        </p:nvSpPr>
        <p:spPr>
          <a:xfrm>
            <a:off x="1117600" y="1854200"/>
            <a:ext cx="10058400" cy="14782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2E8F0"/>
                </a:solidFill>
                <a:latin typeface="Consolas"/>
              </a:rPr>
              <a:t>export const Route = createFileRoute('/posts')({</a:t>
            </a:r>
            <a:endParaRPr sz="14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2E8F0"/>
                </a:solidFill>
                <a:latin typeface="Consolas"/>
              </a:rPr>
              <a:t>  loader: ({ params, context }) =&gt; fetchPosts(),</a:t>
            </a:r>
            <a:endParaRPr sz="14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2E8F0"/>
                </a:solidFill>
                <a:latin typeface="Consolas"/>
              </a:rPr>
              <a:t>});</a:t>
            </a:r>
            <a:endParaRPr sz="14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2E8F0"/>
                </a:solidFill>
                <a:latin typeface="Consolas"/>
              </a:rPr>
              <a:t>// в компоненте:</a:t>
            </a:r>
            <a:endParaRPr sz="14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2E8F0"/>
                </a:solidFill>
                <a:latin typeface="Consolas"/>
              </a:rPr>
              <a:t>const posts = Route.useLoaderData();</a:t>
            </a:r>
            <a:endParaRPr sz="1400">
              <a:solidFill>
                <a:srgbClr val="E2E8F0"/>
              </a:solidFill>
              <a:latin typeface="Consolas"/>
            </a:endParaRPr>
          </a:p>
        </p:txBody>
      </p:sp>
      <p:sp>
        <p:nvSpPr>
          <p:cNvPr id="491" name="TextBox 6"/>
          <p:cNvSpPr txBox="1"/>
          <p:nvPr/>
        </p:nvSpPr>
        <p:spPr>
          <a:xfrm>
            <a:off x="812800" y="3683000"/>
            <a:ext cx="10566400" cy="1438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374151"/>
                </a:solidFill>
              </a:rPr>
              <a:t>loader вызывается при совпадении маршрута</a:t>
            </a:r>
            <a:endParaRPr sz="17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374151"/>
                </a:solidFill>
              </a:rPr>
              <a:t>useLoaderData — типизированный результат</a:t>
            </a:r>
            <a:endParaRPr sz="17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374151"/>
                </a:solidFill>
              </a:rPr>
              <a:t>beforeLoad — перед loader, для контекста и редиректов</a:t>
            </a:r>
            <a:endParaRPr sz="17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374151"/>
                </a:solidFill>
              </a:rPr>
              <a:t>loaderDeps — ключ кеша по search params</a:t>
            </a:r>
            <a:endParaRPr sz="1700">
              <a:solidFill>
                <a:srgbClr val="374151"/>
              </a:solidFill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TextBox 1"/>
          <p:cNvSpPr txBox="1"/>
          <p:nvPr/>
        </p:nvSpPr>
        <p:spPr>
          <a:xfrm>
            <a:off x="812800" y="381000"/>
            <a:ext cx="10160000" cy="5791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Кеширование loader'ов (SWR)</a:t>
            </a:r>
            <a:endParaRPr sz="3200" b="1">
              <a:solidFill>
                <a:srgbClr val="111827"/>
              </a:solidFill>
            </a:endParaRPr>
          </a:p>
        </p:txBody>
      </p:sp>
      <p:sp>
        <p:nvSpPr>
          <p:cNvPr id="494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95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9CA3AF"/>
                </a:solidFill>
              </a:rPr>
              <a:t>32</a:t>
            </a:r>
            <a:endParaRPr sz="1100">
              <a:solidFill>
                <a:srgbClr val="9CA3AF"/>
              </a:solidFill>
            </a:endParaRPr>
          </a:p>
        </p:txBody>
      </p:sp>
      <p:sp>
        <p:nvSpPr>
          <p:cNvPr id="496" name="TextBox 4"/>
          <p:cNvSpPr txBox="1"/>
          <p:nvPr/>
        </p:nvSpPr>
        <p:spPr>
          <a:xfrm>
            <a:off x="812800" y="1676400"/>
            <a:ext cx="10566400" cy="1775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374151"/>
                </a:solidFill>
              </a:rPr>
              <a:t>staleTime — свежесть данных (по умолч. 0 для nav, 30s для preload)</a:t>
            </a:r>
            <a:endParaRPr sz="17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374151"/>
                </a:solidFill>
              </a:rPr>
              <a:t>gcTime — время жизни в кеше (по умолч. 5 мин)</a:t>
            </a:r>
            <a:endParaRPr sz="17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374151"/>
                </a:solidFill>
              </a:rPr>
              <a:t>shouldReload — перезагружать ли при повторном входе</a:t>
            </a:r>
            <a:endParaRPr sz="17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374151"/>
                </a:solidFill>
              </a:rPr>
              <a:t>staleReloadMode: 'background' | 'blocking'</a:t>
            </a:r>
            <a:endParaRPr sz="17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374151"/>
                </a:solidFill>
              </a:rPr>
              <a:t>loaderDeps только из используемых params (не весь search!)</a:t>
            </a:r>
            <a:endParaRPr sz="1700">
              <a:solidFill>
                <a:srgbClr val="374151"/>
              </a:solidFill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TextBox 1"/>
          <p:cNvSpPr txBox="1"/>
          <p:nvPr/>
        </p:nvSpPr>
        <p:spPr>
          <a:xfrm>
            <a:off x="812800" y="381000"/>
            <a:ext cx="10160000" cy="5791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Контекст и beforeLoad (auth)</a:t>
            </a:r>
            <a:endParaRPr sz="3200" b="1">
              <a:solidFill>
                <a:srgbClr val="111827"/>
              </a:solidFill>
            </a:endParaRPr>
          </a:p>
        </p:txBody>
      </p:sp>
      <p:sp>
        <p:nvSpPr>
          <p:cNvPr id="499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00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9CA3AF"/>
                </a:solidFill>
              </a:rPr>
              <a:t>33</a:t>
            </a:r>
            <a:endParaRPr sz="1100">
              <a:solidFill>
                <a:srgbClr val="9CA3AF"/>
              </a:solidFill>
            </a:endParaRPr>
          </a:p>
        </p:txBody>
      </p:sp>
      <p:sp>
        <p:nvSpPr>
          <p:cNvPr id="501" name="Rectangle 4"/>
          <p:cNvSpPr/>
          <p:nvPr/>
        </p:nvSpPr>
        <p:spPr>
          <a:xfrm>
            <a:off x="812800" y="1676400"/>
            <a:ext cx="10566400" cy="20320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02" name="TextBox 5"/>
          <p:cNvSpPr txBox="1"/>
          <p:nvPr/>
        </p:nvSpPr>
        <p:spPr>
          <a:xfrm>
            <a:off x="1117600" y="1854200"/>
            <a:ext cx="10058400" cy="1894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export const Route = createFileRoute('/posts')({</a:t>
            </a:r>
            <a:endParaRPr sz="13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  beforeLoad: ({ context }) =&gt; {</a:t>
            </a:r>
            <a:endParaRPr sz="13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    if (!context.auth.isAuthenticated) throw redirect({ to: '/login' });</a:t>
            </a:r>
            <a:endParaRPr sz="13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    return { fetchPosts: () =&gt; ... };</a:t>
            </a:r>
            <a:endParaRPr sz="13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  },</a:t>
            </a:r>
            <a:endParaRPr sz="13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  loader: ({ context: { fetchPosts } }) =&gt; fetchPosts(),</a:t>
            </a:r>
            <a:endParaRPr sz="13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});</a:t>
            </a:r>
            <a:endParaRPr sz="1300">
              <a:solidFill>
                <a:srgbClr val="E2E8F0"/>
              </a:solidFill>
              <a:latin typeface="Consolas"/>
            </a:endParaRPr>
          </a:p>
        </p:txBody>
      </p:sp>
      <p:sp>
        <p:nvSpPr>
          <p:cNvPr id="503" name="TextBox 6"/>
          <p:cNvSpPr txBox="1"/>
          <p:nvPr/>
        </p:nvSpPr>
        <p:spPr>
          <a:xfrm>
            <a:off x="812800" y="3937000"/>
            <a:ext cx="10566400" cy="107213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650">
                <a:solidFill>
                  <a:srgbClr val="374151"/>
                </a:solidFill>
              </a:rPr>
              <a:t>createRootRouteWithContext&lt;T&gt;() задаёт тип контекста</a:t>
            </a:r>
            <a:endParaRPr sz="165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650">
                <a:solidFill>
                  <a:srgbClr val="374151"/>
                </a:solidFill>
              </a:rPr>
              <a:t>Контекст наследуется по дереву маршрутов</a:t>
            </a:r>
            <a:endParaRPr sz="165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650">
                <a:solidFill>
                  <a:srgbClr val="374151"/>
                </a:solidFill>
              </a:rPr>
              <a:t>beforeLoad — идеальное место для проверки auth и редиректов</a:t>
            </a:r>
            <a:endParaRPr sz="1650">
              <a:solidFill>
                <a:srgbClr val="374151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TextBox 1"/>
          <p:cNvSpPr txBox="1"/>
          <p:nvPr/>
        </p:nvSpPr>
        <p:spPr>
          <a:xfrm>
            <a:off x="812800" y="381000"/>
            <a:ext cx="10160000" cy="5791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Pending и обработка ошибок</a:t>
            </a:r>
            <a:endParaRPr sz="3200" b="1">
              <a:solidFill>
                <a:srgbClr val="111827"/>
              </a:solidFill>
            </a:endParaRPr>
          </a:p>
        </p:txBody>
      </p:sp>
      <p:sp>
        <p:nvSpPr>
          <p:cNvPr id="506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07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9CA3AF"/>
                </a:solidFill>
              </a:rPr>
              <a:t>34</a:t>
            </a:r>
            <a:endParaRPr sz="1100">
              <a:solidFill>
                <a:srgbClr val="9CA3AF"/>
              </a:solidFill>
            </a:endParaRPr>
          </a:p>
        </p:txBody>
      </p:sp>
      <p:sp>
        <p:nvSpPr>
          <p:cNvPr id="508" name="TextBox 4"/>
          <p:cNvSpPr txBox="1"/>
          <p:nvPr/>
        </p:nvSpPr>
        <p:spPr>
          <a:xfrm>
            <a:off x="812800" y="1676400"/>
            <a:ext cx="10566400" cy="1775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374151"/>
                </a:solidFill>
              </a:rPr>
              <a:t>pendingComponent показывается после pendingMs (по умолч. 1с)</a:t>
            </a:r>
            <a:endParaRPr sz="17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374151"/>
                </a:solidFill>
              </a:rPr>
              <a:t>pendingMinMs (500мс) избегает мигания</a:t>
            </a:r>
            <a:endParaRPr sz="17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374151"/>
                </a:solidFill>
              </a:rPr>
              <a:t>errorComponent с error и reset</a:t>
            </a:r>
            <a:endParaRPr sz="17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374151"/>
                </a:solidFill>
              </a:rPr>
              <a:t>onError / onCatch для логирования</a:t>
            </a:r>
            <a:endParaRPr sz="17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374151"/>
                </a:solidFill>
              </a:rPr>
              <a:t>AbortController в loader для отмены запросов</a:t>
            </a:r>
            <a:endParaRPr sz="1700">
              <a:solidFill>
                <a:srgbClr val="374151"/>
              </a:solidFill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TextBox 1"/>
          <p:cNvSpPr txBox="1"/>
          <p:nvPr/>
        </p:nvSpPr>
        <p:spPr>
          <a:xfrm>
            <a:off x="812800" y="381000"/>
            <a:ext cx="10160000" cy="5791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Preloading и code splitting</a:t>
            </a:r>
            <a:endParaRPr sz="3200" b="1">
              <a:solidFill>
                <a:srgbClr val="111827"/>
              </a:solidFill>
            </a:endParaRPr>
          </a:p>
        </p:txBody>
      </p:sp>
      <p:sp>
        <p:nvSpPr>
          <p:cNvPr id="511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12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9CA3AF"/>
                </a:solidFill>
              </a:rPr>
              <a:t>35</a:t>
            </a:r>
            <a:endParaRPr sz="1100">
              <a:solidFill>
                <a:srgbClr val="9CA3AF"/>
              </a:solidFill>
            </a:endParaRPr>
          </a:p>
        </p:txBody>
      </p:sp>
      <p:sp>
        <p:nvSpPr>
          <p:cNvPr id="513" name="TextBox 4"/>
          <p:cNvSpPr txBox="1"/>
          <p:nvPr/>
        </p:nvSpPr>
        <p:spPr>
          <a:xfrm>
            <a:off x="812800" y="1676400"/>
            <a:ext cx="10566400" cy="1438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374151"/>
                </a:solidFill>
              </a:rPr>
              <a:t>preload стратегии: intent, viewport, render</a:t>
            </a:r>
            <a:endParaRPr sz="17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374151"/>
                </a:solidFill>
              </a:rPr>
              <a:t>Компоненты роутов автоматически code-split'ятся</a:t>
            </a:r>
            <a:endParaRPr sz="17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374151"/>
                </a:solidFill>
              </a:rPr>
              <a:t>lazy routes для тяжёлых страниц</a:t>
            </a:r>
            <a:endParaRPr sz="17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374151"/>
                </a:solidFill>
              </a:rPr>
              <a:t>getRouteApi для доступа к Route без импорта конфига</a:t>
            </a:r>
            <a:endParaRPr sz="1700">
              <a:solidFill>
                <a:srgbClr val="374151"/>
              </a:solidFill>
            </a:endParaRPr>
          </a:p>
        </p:txBody>
      </p:sp>
      <p:sp>
        <p:nvSpPr>
          <p:cNvPr id="514" name="Rectangle 5"/>
          <p:cNvSpPr/>
          <p:nvPr/>
        </p:nvSpPr>
        <p:spPr>
          <a:xfrm>
            <a:off x="812800" y="4191000"/>
            <a:ext cx="10566400" cy="7620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15" name="TextBox 6"/>
          <p:cNvSpPr txBox="1"/>
          <p:nvPr/>
        </p:nvSpPr>
        <p:spPr>
          <a:xfrm>
            <a:off x="1117600" y="4368800"/>
            <a:ext cx="10058400" cy="6065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// vite.config.ts — включить code splitting</a:t>
            </a:r>
            <a:endParaRPr sz="13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// (по умолчанию в file-based routing)</a:t>
            </a:r>
            <a:endParaRPr sz="1300">
              <a:solidFill>
                <a:srgbClr val="E2E8F0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TextBox 1"/>
          <p:cNvSpPr txBox="1"/>
          <p:nvPr/>
        </p:nvSpPr>
        <p:spPr>
          <a:xfrm>
            <a:off x="812800" y="381000"/>
            <a:ext cx="10160000" cy="5791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Интеграция с TanStack Query</a:t>
            </a:r>
            <a:endParaRPr sz="3200" b="1">
              <a:solidFill>
                <a:srgbClr val="111827"/>
              </a:solidFill>
            </a:endParaRPr>
          </a:p>
        </p:txBody>
      </p:sp>
      <p:sp>
        <p:nvSpPr>
          <p:cNvPr id="518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19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9CA3AF"/>
                </a:solidFill>
              </a:rPr>
              <a:t>36</a:t>
            </a:r>
            <a:endParaRPr sz="1100">
              <a:solidFill>
                <a:srgbClr val="9CA3AF"/>
              </a:solidFill>
            </a:endParaRPr>
          </a:p>
        </p:txBody>
      </p:sp>
      <p:sp>
        <p:nvSpPr>
          <p:cNvPr id="520" name="Rectangle 4"/>
          <p:cNvSpPr/>
          <p:nvPr/>
        </p:nvSpPr>
        <p:spPr>
          <a:xfrm>
            <a:off x="812800" y="1676400"/>
            <a:ext cx="10566400" cy="10160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21" name="TextBox 5"/>
          <p:cNvSpPr txBox="1"/>
          <p:nvPr/>
        </p:nvSpPr>
        <p:spPr>
          <a:xfrm>
            <a:off x="1117600" y="1854200"/>
            <a:ext cx="10058400" cy="6263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50">
                <a:solidFill>
                  <a:srgbClr val="E2E8F0"/>
                </a:solidFill>
                <a:latin typeface="Consolas"/>
              </a:rPr>
              <a:t>loader: ({ context: { queryClient }, params }) =&gt;</a:t>
            </a:r>
            <a:endParaRPr sz="13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50">
                <a:solidFill>
                  <a:srgbClr val="E2E8F0"/>
                </a:solidFill>
                <a:latin typeface="Consolas"/>
              </a:rPr>
              <a:t>  queryClient.ensureQueryData(postQueryOptions(params.postId)),</a:t>
            </a:r>
            <a:endParaRPr sz="1350">
              <a:solidFill>
                <a:srgbClr val="E2E8F0"/>
              </a:solidFill>
              <a:latin typeface="Consolas"/>
            </a:endParaRPr>
          </a:p>
        </p:txBody>
      </p:sp>
      <p:sp>
        <p:nvSpPr>
          <p:cNvPr id="522" name="TextBox 6"/>
          <p:cNvSpPr txBox="1"/>
          <p:nvPr/>
        </p:nvSpPr>
        <p:spPr>
          <a:xfrm>
            <a:off x="812800" y="2921000"/>
            <a:ext cx="10566400" cy="1438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374151"/>
                </a:solidFill>
              </a:rPr>
              <a:t>router cache vs TanStack Query — выбирайте по размеру приложения</a:t>
            </a:r>
            <a:endParaRPr sz="17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374151"/>
                </a:solidFill>
              </a:rPr>
              <a:t>defaultPreloadStaleTime: 0 чтобы внешний кеш решал</a:t>
            </a:r>
            <a:endParaRPr sz="17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374151"/>
                </a:solidFill>
              </a:rPr>
              <a:t>shouldReload для условной перезагрузки</a:t>
            </a:r>
            <a:endParaRPr sz="17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374151"/>
                </a:solidFill>
              </a:rPr>
              <a:t>QueryClient передаётся через контекст роутера</a:t>
            </a:r>
            <a:endParaRPr sz="1700">
              <a:solidFill>
                <a:srgbClr val="374151"/>
              </a:solidFill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TextBox 1"/>
          <p:cNvSpPr txBox="1"/>
          <p:nvPr/>
        </p:nvSpPr>
        <p:spPr>
          <a:xfrm>
            <a:off x="812800" y="381000"/>
            <a:ext cx="10160000" cy="5791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SSR и TanStack Start</a:t>
            </a:r>
            <a:endParaRPr sz="3200" b="1">
              <a:solidFill>
                <a:srgbClr val="111827"/>
              </a:solidFill>
            </a:endParaRPr>
          </a:p>
        </p:txBody>
      </p:sp>
      <p:sp>
        <p:nvSpPr>
          <p:cNvPr id="525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26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9CA3AF"/>
                </a:solidFill>
              </a:rPr>
              <a:t>37</a:t>
            </a:r>
            <a:endParaRPr sz="1100">
              <a:solidFill>
                <a:srgbClr val="9CA3AF"/>
              </a:solidFill>
            </a:endParaRPr>
          </a:p>
        </p:txBody>
      </p:sp>
      <p:sp>
        <p:nvSpPr>
          <p:cNvPr id="527" name="TextBox 4"/>
          <p:cNvSpPr txBox="1"/>
          <p:nvPr/>
        </p:nvSpPr>
        <p:spPr>
          <a:xfrm>
            <a:off x="812800" y="1676400"/>
            <a:ext cx="10566400" cy="15179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374151"/>
                </a:solidFill>
              </a:rPr>
              <a:t>TanStack Router — client-first, Start добавляет сервер</a:t>
            </a:r>
            <a:endParaRPr sz="18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374151"/>
                </a:solidFill>
              </a:rPr>
              <a:t>SSR, streaming, typed server functions</a:t>
            </a:r>
            <a:endParaRPr sz="18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374151"/>
                </a:solidFill>
              </a:rPr>
              <a:t>Middleware, deployable server output</a:t>
            </a:r>
            <a:endParaRPr sz="18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374151"/>
                </a:solidFill>
              </a:rPr>
              <a:t>Тот же route tree и типы — без переписывания</a:t>
            </a:r>
            <a:endParaRPr sz="1800">
              <a:solidFill>
                <a:srgbClr val="374151"/>
              </a:solidFill>
            </a:endParaRPr>
          </a:p>
        </p:txBody>
      </p:sp>
      <p:sp>
        <p:nvSpPr>
          <p:cNvPr id="528" name="Rectangle 5"/>
          <p:cNvSpPr/>
          <p:nvPr/>
        </p:nvSpPr>
        <p:spPr>
          <a:xfrm>
            <a:off x="812800" y="4572000"/>
            <a:ext cx="10566400" cy="66040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29" name="Rectangle 6"/>
          <p:cNvSpPr/>
          <p:nvPr/>
        </p:nvSpPr>
        <p:spPr>
          <a:xfrm>
            <a:off x="812800" y="4572000"/>
            <a:ext cx="76200" cy="6604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30" name="TextBox 7"/>
          <p:cNvSpPr txBox="1"/>
          <p:nvPr/>
        </p:nvSpPr>
        <p:spPr>
          <a:xfrm>
            <a:off x="1143000" y="4749800"/>
            <a:ext cx="9906000" cy="3200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1500">
                <a:solidFill>
                  <a:srgbClr val="312E81"/>
                </a:solidFill>
              </a:rPr>
              <a:t>Start использует тот же route tree — миграция из client-only прозрачна</a:t>
            </a:r>
            <a:endParaRPr sz="1500">
              <a:solidFill>
                <a:srgbClr val="312E81"/>
              </a:solidFill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TextBox 1"/>
          <p:cNvSpPr txBox="1"/>
          <p:nvPr/>
        </p:nvSpPr>
        <p:spPr>
          <a:xfrm>
            <a:off x="812800" y="381000"/>
            <a:ext cx="10160000" cy="5791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Стек целиком</a:t>
            </a:r>
            <a:endParaRPr sz="3200" b="1">
              <a:solidFill>
                <a:srgbClr val="111827"/>
              </a:solidFill>
            </a:endParaRPr>
          </a:p>
        </p:txBody>
      </p:sp>
      <p:sp>
        <p:nvSpPr>
          <p:cNvPr id="533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34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9CA3AF"/>
                </a:solidFill>
              </a:rPr>
              <a:t>38</a:t>
            </a:r>
            <a:endParaRPr sz="1100">
              <a:solidFill>
                <a:srgbClr val="9CA3AF"/>
              </a:solidFill>
            </a:endParaRPr>
          </a:p>
        </p:txBody>
      </p:sp>
      <p:graphicFrame>
        <p:nvGraphicFramePr>
          <p:cNvPr id="535" name="Table 4"/>
          <p:cNvGraphicFramePr>
            <a:graphicFrameLocks noGrp="1"/>
          </p:cNvGraphicFramePr>
          <p:nvPr/>
        </p:nvGraphicFramePr>
        <p:xfrm>
          <a:off x="812800" y="1676400"/>
          <a:ext cx="10566400" cy="25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3200"/>
                <a:gridCol w="5283200"/>
              </a:tblGrid>
              <a:tr h="635000">
                <a:tc>
                  <a:txBody>
                    <a:bodyPr/>
                    <a:lstStyle/>
                    <a:p>
                      <a:r>
                        <a:rPr/>
                        <a:t>Слой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Инструмент</a:t>
                      </a:r>
                    </a:p>
                  </a:txBody>
                  <a:tcPr/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/>
                        <a:t>Сборка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Vite (dev: ESM, build: Rollup/Rolldown)</a:t>
                      </a:r>
                    </a:p>
                  </a:txBody>
                  <a:tcPr/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/>
                        <a:t>Линтинг / форматирование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Oxc: Oxlint + Oxfmt (Rust)</a:t>
                      </a:r>
                    </a:p>
                  </a:txBody>
                  <a:tcPr/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/>
                        <a:t>Роутинг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TanStack Router (типобезопасный)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36" name="TextBox 5"/>
          <p:cNvSpPr txBox="1"/>
          <p:nvPr/>
        </p:nvSpPr>
        <p:spPr>
          <a:xfrm>
            <a:off x="812800" y="4445000"/>
            <a:ext cx="10566400" cy="11018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374151"/>
                </a:solidFill>
              </a:rPr>
              <a:t>Vite+ объединяет всё: vp dev/build/lint/fmt/test</a:t>
            </a:r>
            <a:endParaRPr sz="17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374151"/>
                </a:solidFill>
              </a:rPr>
              <a:t>Один конфиг vite.config.ts на весь стек</a:t>
            </a:r>
            <a:endParaRPr sz="17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374151"/>
                </a:solidFill>
              </a:rPr>
              <a:t>TanStack Query — для серверного состояния поверх роутера</a:t>
            </a:r>
            <a:endParaRPr sz="1700">
              <a:solidFill>
                <a:srgbClr val="374151"/>
              </a:solidFill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TextBox 1"/>
          <p:cNvSpPr txBox="1"/>
          <p:nvPr/>
        </p:nvSpPr>
        <p:spPr>
          <a:xfrm>
            <a:off x="812800" y="381000"/>
            <a:ext cx="10160000" cy="5791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Что дальше</a:t>
            </a:r>
            <a:endParaRPr sz="3200" b="1">
              <a:solidFill>
                <a:srgbClr val="111827"/>
              </a:solidFill>
            </a:endParaRPr>
          </a:p>
        </p:txBody>
      </p:sp>
      <p:sp>
        <p:nvSpPr>
          <p:cNvPr id="539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40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9CA3AF"/>
                </a:solidFill>
              </a:rPr>
              <a:t>39</a:t>
            </a:r>
            <a:endParaRPr sz="1100">
              <a:solidFill>
                <a:srgbClr val="9CA3AF"/>
              </a:solidFill>
            </a:endParaRPr>
          </a:p>
        </p:txBody>
      </p:sp>
      <p:sp>
        <p:nvSpPr>
          <p:cNvPr id="541" name="TextBox 4"/>
          <p:cNvSpPr txBox="1"/>
          <p:nvPr/>
        </p:nvSpPr>
        <p:spPr>
          <a:xfrm>
            <a:off x="812800" y="1676400"/>
            <a:ext cx="10566400" cy="15179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374151"/>
                </a:solidFill>
              </a:rPr>
              <a:t>Практика: свой проект на Vite+ с TanStack Router</a:t>
            </a:r>
            <a:endParaRPr sz="18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374151"/>
                </a:solidFill>
              </a:rPr>
              <a:t>Изучить deferred data loading и route masking</a:t>
            </a:r>
            <a:endParaRPr sz="18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374151"/>
                </a:solidFill>
              </a:rPr>
              <a:t>Настроить CI: voidzero-dev/setup-vp + vp check</a:t>
            </a:r>
            <a:endParaRPr sz="1800">
              <a:solidFill>
                <a:srgbClr val="374151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6366F1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374151"/>
                </a:solidFill>
              </a:rPr>
              <a:t>Документация: vite.dev, oxc.rs, tanstack.com/router</a:t>
            </a:r>
            <a:endParaRPr sz="1800">
              <a:solidFill>
                <a:srgbClr val="374151"/>
              </a:solidFill>
            </a:endParaRPr>
          </a:p>
        </p:txBody>
      </p:sp>
      <p:sp>
        <p:nvSpPr>
          <p:cNvPr id="542" name="Rectangle 5"/>
          <p:cNvSpPr/>
          <p:nvPr/>
        </p:nvSpPr>
        <p:spPr>
          <a:xfrm>
            <a:off x="812800" y="4572000"/>
            <a:ext cx="10566400" cy="66040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43" name="Rectangle 6"/>
          <p:cNvSpPr/>
          <p:nvPr/>
        </p:nvSpPr>
        <p:spPr>
          <a:xfrm>
            <a:off x="812800" y="4572000"/>
            <a:ext cx="76200" cy="6604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44" name="TextBox 7"/>
          <p:cNvSpPr txBox="1"/>
          <p:nvPr/>
        </p:nvSpPr>
        <p:spPr>
          <a:xfrm>
            <a:off x="1143000" y="4749800"/>
            <a:ext cx="9906000" cy="3200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1500">
                <a:solidFill>
                  <a:srgbClr val="312E81"/>
                </a:solidFill>
              </a:rPr>
              <a:t>Ссылки на доки и сообщество: discord.gg/artcraft</a:t>
            </a:r>
            <a:endParaRPr sz="1500">
              <a:solidFill>
                <a:srgbClr val="312E8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late">
  <a:themeElements>
    <a:clrScheme name="Slate">
      <a:dk1>
        <a:srgbClr val="111827"/>
      </a:dk1>
      <a:lt1>
        <a:srgbClr val="FFFFFF"/>
      </a:lt1>
      <a:dk2>
        <a:srgbClr val="374151"/>
      </a:dk2>
      <a:lt2>
        <a:srgbClr val="F3F4F6"/>
      </a:lt2>
      <a:accent1>
        <a:srgbClr val="6366F1"/>
      </a:accent1>
      <a:accent2>
        <a:srgbClr val="0EA5E9"/>
      </a:accent2>
      <a:accent3>
        <a:srgbClr val="10B981"/>
      </a:accent3>
      <a:accent4>
        <a:srgbClr val="F59E0B"/>
      </a:accent4>
      <a:accent5>
        <a:srgbClr val="EF4444"/>
      </a:accent5>
      <a:accent6>
        <a:srgbClr val="8B5CF6"/>
      </a:accent6>
      <a:hlink>
        <a:srgbClr val="6366F1"/>
      </a:hlink>
      <a:folHlink>
        <a:srgbClr val="8B5CF6"/>
      </a:folHlink>
    </a:clrScheme>
    <a:fontScheme name="Slate">
      <a:majorFont>
        <a:latin typeface="Roboto"/>
        <a:ea typeface=""/>
        <a:cs typeface=""/>
      </a:majorFont>
      <a:minorFont>
        <a:latin typeface="Roboto"/>
        <a:ea typeface=""/>
        <a:cs typeface=""/>
      </a:minorFont>
    </a:fontScheme>
    <a:fmtScheme name="DeckCraft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3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lumMod val="105000"/>
                <a:satMod val="103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</a:gradFill>
      </a:fillStyleLst>
      <a:lnStyleLst>
        <a:ln w="9525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38100" dir="5400000" algn="t" rotWithShape="0">
              <a:srgbClr val="000000">
                <a:alpha val="4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lumMod val="102000"/>
                <a:satMod val="103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DeckCraft</Application>
  <Slides>40</Slides>
  <Notes>0</Notes>
  <HiddenSlides>0</Hidden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