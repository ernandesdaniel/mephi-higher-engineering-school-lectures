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theme" Target="theme/theme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TextBox 1"/>
          <p:cNvSpPr txBox="1"/>
          <p:nvPr/>
        </p:nvSpPr>
        <p:spPr>
          <a:xfrm>
            <a:off x="812800" y="812800"/>
            <a:ext cx="889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ЛЕКЦИЯ 1 · 2026</a:t>
            </a:r>
            <a:endParaRPr sz="1100" b="1">
              <a:solidFill>
                <a:srgbClr val="94A3B8"/>
              </a:solidFill>
              <a:latin typeface="Arial"/>
            </a:endParaRPr>
          </a:p>
        </p:txBody>
      </p:sp>
      <p:sp>
        <p:nvSpPr>
          <p:cNvPr id="261" name="TextBox 2"/>
          <p:cNvSpPr txBox="1"/>
          <p:nvPr/>
        </p:nvSpPr>
        <p:spPr>
          <a:xfrm>
            <a:off x="812800" y="1320800"/>
            <a:ext cx="10566400" cy="944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Arial"/>
              </a:rPr>
              <a:t>Vite, Vite+, Oxc и Nginx</a:t>
            </a:r>
          </a:p>
        </p:txBody>
      </p:sp>
      <p:sp>
        <p:nvSpPr>
          <p:cNvPr id="262" name="Rectangle 3"/>
          <p:cNvSpPr/>
          <p:nvPr/>
        </p:nvSpPr>
        <p:spPr>
          <a:xfrm>
            <a:off x="812800" y="3048000"/>
            <a:ext cx="1778000" cy="76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3" name="Rectangle 4"/>
          <p:cNvSpPr/>
          <p:nvPr/>
        </p:nvSpPr>
        <p:spPr>
          <a:xfrm>
            <a:off x="2743200" y="3048000"/>
            <a:ext cx="1778000" cy="76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4" name="Rectangle 5"/>
          <p:cNvSpPr/>
          <p:nvPr/>
        </p:nvSpPr>
        <p:spPr>
          <a:xfrm>
            <a:off x="4673600" y="3048000"/>
            <a:ext cx="1778000" cy="76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5" name="TextBox 6"/>
          <p:cNvSpPr txBox="1"/>
          <p:nvPr/>
        </p:nvSpPr>
        <p:spPr>
          <a:xfrm>
            <a:off x="812800" y="3530600"/>
            <a:ext cx="9652000" cy="955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100">
                <a:solidFill>
                  <a:srgbClr val="CBD5E1"/>
                </a:solidFill>
                <a:latin typeface="Arial"/>
              </a:rPr>
              <a:t>Современный инструментарий сборки,</a:t>
            </a:r>
          </a:p>
          <a:p>
            <a:pPr>
              <a:lnSpc>
                <a:spcPct val="135000"/>
              </a:lnSpc>
            </a:pPr>
            <a:r>
              <a:rPr sz="2100">
                <a:solidFill>
                  <a:srgbClr val="CBD5E1"/>
                </a:solidFill>
                <a:latin typeface="Arial"/>
              </a:rPr>
              <a:t>линтинга и доставки фронтенда</a:t>
            </a:r>
          </a:p>
        </p:txBody>
      </p:sp>
      <p:sp>
        <p:nvSpPr>
          <p:cNvPr id="266" name="TextBox 7"/>
          <p:cNvSpPr txBox="1"/>
          <p:nvPr/>
        </p:nvSpPr>
        <p:spPr>
          <a:xfrm>
            <a:off x="812800" y="5461000"/>
            <a:ext cx="96520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>
                <a:solidFill>
                  <a:srgbClr val="94A3B8"/>
                </a:solidFill>
                <a:latin typeface="Arial"/>
              </a:rPr>
              <a:t>143 карточки · 3 блока + Nginx</a:t>
            </a:r>
          </a:p>
        </p:txBody>
      </p:sp>
      <p:sp>
        <p:nvSpPr>
          <p:cNvPr id="267" name="TextBox 8"/>
          <p:cNvSpPr txBox="1"/>
          <p:nvPr/>
        </p:nvSpPr>
        <p:spPr>
          <a:xfrm>
            <a:off x="812800" y="5969000"/>
            <a:ext cx="965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Vite · Vite+ · Oxc · Nginx</a:t>
            </a:r>
          </a:p>
        </p:txBody>
      </p:sp>
      <p:sp>
        <p:nvSpPr>
          <p:cNvPr id="896" name="Rectangle 9"/>
          <p:cNvSpPr/>
          <p:nvPr/>
        </p:nvSpPr>
        <p:spPr>
          <a:xfrm>
            <a:off x="6604000" y="3048000"/>
            <a:ext cx="17780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7" name="TextBox 2"/>
          <p:cNvSpPr txBox="1"/>
          <p:nvPr/>
        </p:nvSpPr>
        <p:spPr>
          <a:xfrm>
            <a:off x="812800" y="4318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СОДЕРЖАНИЕ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868" name="TextBox 3"/>
          <p:cNvSpPr txBox="1"/>
          <p:nvPr/>
        </p:nvSpPr>
        <p:spPr>
          <a:xfrm>
            <a:off x="812800" y="711200"/>
            <a:ext cx="10566400" cy="51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800" b="1">
                <a:solidFill>
                  <a:srgbClr val="0F172A"/>
                </a:solidFill>
                <a:latin typeface="Arial"/>
              </a:rPr>
              <a:t>О лекции</a:t>
            </a:r>
            <a:endParaRPr sz="28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69" name="Rectangle 4"/>
          <p:cNvSpPr/>
          <p:nvPr/>
        </p:nvSpPr>
        <p:spPr>
          <a:xfrm>
            <a:off x="812800" y="13970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0" name="Rectangle 5"/>
          <p:cNvSpPr/>
          <p:nvPr/>
        </p:nvSpPr>
        <p:spPr>
          <a:xfrm>
            <a:off x="8128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1" name="Rectangle 6"/>
          <p:cNvSpPr/>
          <p:nvPr/>
        </p:nvSpPr>
        <p:spPr>
          <a:xfrm>
            <a:off x="812800" y="1905000"/>
            <a:ext cx="2489200" cy="76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2" name="TextBox 7"/>
          <p:cNvSpPr txBox="1"/>
          <p:nvPr/>
        </p:nvSpPr>
        <p:spPr>
          <a:xfrm>
            <a:off x="10414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646CFF"/>
                </a:solidFill>
                <a:latin typeface="Arial"/>
              </a:rPr>
              <a:t>85</a:t>
            </a:r>
            <a:endParaRPr sz="360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873" name="TextBox 8"/>
          <p:cNvSpPr txBox="1"/>
          <p:nvPr/>
        </p:nvSpPr>
        <p:spPr>
          <a:xfrm>
            <a:off x="10414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карточек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74" name="TextBox 9"/>
          <p:cNvSpPr txBox="1"/>
          <p:nvPr/>
        </p:nvSpPr>
        <p:spPr>
          <a:xfrm>
            <a:off x="10414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Vite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75" name="TextBox 10"/>
          <p:cNvSpPr txBox="1"/>
          <p:nvPr/>
        </p:nvSpPr>
        <p:spPr>
          <a:xfrm>
            <a:off x="10414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Создание проекта,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конфиг, dev-сервер,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env, ассеты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76" name="Rectangle 11"/>
          <p:cNvSpPr/>
          <p:nvPr/>
        </p:nvSpPr>
        <p:spPr>
          <a:xfrm>
            <a:off x="35052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7" name="Rectangle 12"/>
          <p:cNvSpPr/>
          <p:nvPr/>
        </p:nvSpPr>
        <p:spPr>
          <a:xfrm>
            <a:off x="3505200" y="1905000"/>
            <a:ext cx="2489200" cy="76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8" name="TextBox 13"/>
          <p:cNvSpPr txBox="1"/>
          <p:nvPr/>
        </p:nvSpPr>
        <p:spPr>
          <a:xfrm>
            <a:off x="37338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0EA5E9"/>
                </a:solidFill>
                <a:latin typeface="Arial"/>
              </a:rPr>
              <a:t>46</a:t>
            </a:r>
            <a:endParaRPr sz="360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879" name="TextBox 14"/>
          <p:cNvSpPr txBox="1"/>
          <p:nvPr/>
        </p:nvSpPr>
        <p:spPr>
          <a:xfrm>
            <a:off x="37338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карточек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80" name="TextBox 15"/>
          <p:cNvSpPr txBox="1"/>
          <p:nvPr/>
        </p:nvSpPr>
        <p:spPr>
          <a:xfrm>
            <a:off x="37338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Vite+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81" name="TextBox 16"/>
          <p:cNvSpPr txBox="1"/>
          <p:nvPr/>
        </p:nvSpPr>
        <p:spPr>
          <a:xfrm>
            <a:off x="37338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vp: зависимости, dev,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check, lint, fmt,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test, CI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82" name="Rectangle 17"/>
          <p:cNvSpPr/>
          <p:nvPr/>
        </p:nvSpPr>
        <p:spPr>
          <a:xfrm>
            <a:off x="61976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83" name="Rectangle 18"/>
          <p:cNvSpPr/>
          <p:nvPr/>
        </p:nvSpPr>
        <p:spPr>
          <a:xfrm>
            <a:off x="6197600" y="1905000"/>
            <a:ext cx="2489200" cy="76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84" name="TextBox 19"/>
          <p:cNvSpPr txBox="1"/>
          <p:nvPr/>
        </p:nvSpPr>
        <p:spPr>
          <a:xfrm>
            <a:off x="64262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F97316"/>
                </a:solidFill>
                <a:latin typeface="Arial"/>
              </a:rPr>
              <a:t>12</a:t>
            </a:r>
            <a:endParaRPr sz="360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885" name="TextBox 20"/>
          <p:cNvSpPr txBox="1"/>
          <p:nvPr/>
        </p:nvSpPr>
        <p:spPr>
          <a:xfrm>
            <a:off x="64262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карточек</a:t>
            </a:r>
            <a:endParaRPr sz="12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886" name="TextBox 21"/>
          <p:cNvSpPr txBox="1"/>
          <p:nvPr/>
        </p:nvSpPr>
        <p:spPr>
          <a:xfrm>
            <a:off x="64262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Oxc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87" name="TextBox 22"/>
          <p:cNvSpPr txBox="1"/>
          <p:nvPr/>
        </p:nvSpPr>
        <p:spPr>
          <a:xfrm>
            <a:off x="64262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Oxlint и Oxfmt: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быстрый линт и</a:t>
            </a:r>
            <a:endParaRPr sz="12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формат на Rust</a:t>
            </a:r>
            <a:endParaRPr sz="12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888" name="Rectangle 23"/>
          <p:cNvSpPr/>
          <p:nvPr/>
        </p:nvSpPr>
        <p:spPr>
          <a:xfrm>
            <a:off x="8890000" y="1905000"/>
            <a:ext cx="2489200" cy="3810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89" name="Rectangle 24"/>
          <p:cNvSpPr/>
          <p:nvPr/>
        </p:nvSpPr>
        <p:spPr>
          <a:xfrm>
            <a:off x="8890000" y="1905000"/>
            <a:ext cx="24892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90" name="TextBox 25"/>
          <p:cNvSpPr txBox="1"/>
          <p:nvPr/>
        </p:nvSpPr>
        <p:spPr>
          <a:xfrm>
            <a:off x="9118600" y="2108200"/>
            <a:ext cx="2032000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600" b="1">
                <a:solidFill>
                  <a:srgbClr val="009639"/>
                </a:solidFill>
                <a:latin typeface="Arial"/>
              </a:rPr>
              <a:t>4</a:t>
            </a:r>
          </a:p>
        </p:txBody>
      </p:sp>
      <p:sp>
        <p:nvSpPr>
          <p:cNvPr id="891" name="TextBox 26"/>
          <p:cNvSpPr txBox="1"/>
          <p:nvPr/>
        </p:nvSpPr>
        <p:spPr>
          <a:xfrm>
            <a:off x="9118600" y="2717800"/>
            <a:ext cx="203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темы</a:t>
            </a:r>
          </a:p>
        </p:txBody>
      </p:sp>
      <p:sp>
        <p:nvSpPr>
          <p:cNvPr id="892" name="TextBox 27"/>
          <p:cNvSpPr txBox="1"/>
          <p:nvPr/>
        </p:nvSpPr>
        <p:spPr>
          <a:xfrm>
            <a:off x="9118600" y="3073400"/>
            <a:ext cx="2032000" cy="4419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Nginx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893" name="TextBox 28"/>
          <p:cNvSpPr txBox="1"/>
          <p:nvPr/>
        </p:nvSpPr>
        <p:spPr>
          <a:xfrm>
            <a:off x="9118600" y="3606800"/>
            <a:ext cx="20320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Роль, конфиг,</a:t>
            </a: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ключевые директивы,</a:t>
            </a: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334155"/>
                </a:solidFill>
                <a:latin typeface="Arial"/>
              </a:rPr>
              <a:t>мини-пример</a:t>
            </a:r>
          </a:p>
        </p:txBody>
      </p:sp>
      <p:sp>
        <p:nvSpPr>
          <p:cNvPr id="894" name="TextBox 29"/>
          <p:cNvSpPr txBox="1"/>
          <p:nvPr/>
        </p:nvSpPr>
        <p:spPr>
          <a:xfrm>
            <a:off x="812800" y="5969000"/>
            <a:ext cx="10566400" cy="3108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64748B"/>
                </a:solidFill>
                <a:latin typeface="Arial"/>
              </a:rPr>
              <a:t>Все 143 карточки + обзор Nginx: роли, конфиг, директивы, пример.</a:t>
            </a:r>
          </a:p>
        </p:txBody>
      </p:sp>
      <p:sp>
        <p:nvSpPr>
          <p:cNvPr id="895" name="TextBox 30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46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01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6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Vite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Сборка и dev-сервер · 85 карточек · 10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299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СТАРТ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0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Создание проекта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0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СТАРТ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8" name="TextBox 8"/>
          <p:cNvSpPr txBox="1"/>
          <p:nvPr/>
        </p:nvSpPr>
        <p:spPr>
          <a:xfrm>
            <a:off x="812800" y="1422400"/>
            <a:ext cx="105664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i="1">
                <a:solidFill>
                  <a:srgbClr val="64748B"/>
                </a:solidFill>
                <a:latin typeface="Arial"/>
              </a:rPr>
              <a:t>Два способа начать: новый проект или интеграция в готовый.</a:t>
            </a:r>
            <a:endParaRPr sz="130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309" name="TextBox 9"/>
          <p:cNvSpPr txBox="1"/>
          <p:nvPr/>
        </p:nvSpPr>
        <p:spPr>
          <a:xfrm>
            <a:off x="812800" y="19304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npm create vite@latest — создать новый проект из шаблона.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npm install -D vite — добавить Vite в существующий проект.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Стартовые шаблоны: react, react-ts, vue, svelte, solid, preact, lit, vanilla.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 — dev-сервер и сборщик: в dev отдаёт ESM по запросу, в build собирает бандл.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КОНФИГ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1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vite.config.ts: файл и форма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1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1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18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Файл конфига для TypeScript-проекта — vite.config.ts.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Минимальный конфиг: defineConfig({}) из пакета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Если конфиг зависит от команды — экспортируется функция: defineConfig(({ command }) =&gt; ({ ... })).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command = serve при запуске vite (dev-режим).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command = build при запуске vite build.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process.env в Node.js — глобальный объект с переменными окружения процесса.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19" name="Rectangle 9"/>
          <p:cNvSpPr/>
          <p:nvPr/>
        </p:nvSpPr>
        <p:spPr>
          <a:xfrm>
            <a:off x="812800" y="43434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0" name="TextBox 10"/>
          <p:cNvSpPr txBox="1"/>
          <p:nvPr/>
        </p:nvSpPr>
        <p:spPr>
          <a:xfrm>
            <a:off x="1066800" y="4521200"/>
            <a:ext cx="10134600" cy="864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import { defineConfig } from 'vite';</a:t>
            </a: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3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  <a:latin typeface="Consolas"/>
              </a:rPr>
              <a:t>export default defineConfig({});</a:t>
            </a:r>
            <a:endParaRPr sz="13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КОНФИГ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2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Конфиг и .env: loadEnv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2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2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2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.env недоступны в vite.config.ts через process.env: Vite откладывает их загрузку.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Набор .env-файлов зависит от самого конфига — поэтому загрузка происходит позже.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process.env внутри конфига — только переменные окружения операционной системы.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loadEnv вручную загружает .env: const env = loadEnv(mode, process.cwd(), '').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process.cwd() — текущий рабочий каталог процесса Node.js.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30" name="Rectangle 9"/>
          <p:cNvSpPr/>
          <p:nvPr/>
        </p:nvSpPr>
        <p:spPr>
          <a:xfrm>
            <a:off x="812800" y="4191000"/>
            <a:ext cx="10566400" cy="1905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1" name="TextBox 10"/>
          <p:cNvSpPr txBox="1"/>
          <p:nvPr/>
        </p:nvSpPr>
        <p:spPr>
          <a:xfrm>
            <a:off x="1066800" y="43688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defineConfig(({ command, mode }) =&gt;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const env = loadEnv(mode, process.cwd(), '');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return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define: { __API__: JSON.stringify(env.VITE_API_URL)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3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root и base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3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3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0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root — папка, в которой находится файл index.html.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root = process.cwd() — каталог запуска команды.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base — запуск приложения при деплое в подпапку, а не в корень домена.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base = '/'.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base подставляет префикс во все пути и задаёт import.meta.env.BASE_URL.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dev-сервере приложение поднимается по этому пути: localhost:5173/app/.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4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define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4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4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define заменяет идентификаторы в коде на этапе сборки — аналог #define в C.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dev-режиме define добавляет свойство в globalThis.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define меняет код на уровне AST, подставляя значение вместо идентификатора.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Подводный камень: строки нужно оборачивать в JSON.stringify — значения подставляются как есть.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Глобалы из define типизируют в vite-env.d.ts.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50" name="Rectangle 9"/>
          <p:cNvSpPr/>
          <p:nvPr/>
        </p:nvSpPr>
        <p:spPr>
          <a:xfrm>
            <a:off x="812800" y="4699000"/>
            <a:ext cx="10566400" cy="1041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10"/>
          <p:cNvSpPr txBox="1"/>
          <p:nvPr/>
        </p:nvSpPr>
        <p:spPr>
          <a:xfrm>
            <a:off x="1066800" y="4876800"/>
            <a:ext cx="10134600" cy="3589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define: { __APP_VERSION__: JSON.stringify('1.0.0') }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5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plugins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5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5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60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plugins — массив плагинов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false / null / undefined в массиве игнорируются — удобно для isDev &amp;&amp; plugin().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Вложенные массивы распаковываются.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Promise дожидается разрешения перед запуском.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61" name="Rectangle 9"/>
          <p:cNvSpPr/>
          <p:nvPr/>
        </p:nvSpPr>
        <p:spPr>
          <a:xfrm>
            <a:off x="812800" y="40132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2" name="TextBox 10"/>
          <p:cNvSpPr txBox="1"/>
          <p:nvPr/>
        </p:nvSpPr>
        <p:spPr>
          <a:xfrm>
            <a:off x="1066800" y="4191000"/>
            <a:ext cx="10134600" cy="893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  plugins: [react(), isDev &amp;&amp; visualizer()],</a:t>
            </a:r>
            <a:endParaRPr sz="13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2E8F0"/>
                </a:solidFill>
                <a:latin typeface="Consolas"/>
              </a:rPr>
              <a:t>});</a:t>
            </a:r>
            <a:endParaRPr sz="13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5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66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Опция publicDir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67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8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9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0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1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publicDir — папка статичных ассетов, которые отдаются как есть (favicon и т.п.).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publicDir = public.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dev-режиме файлы доступны по корню /.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сборке папка копируется в корень outDir (dist).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publicDir: false отключает обслуживание и копирование статической папки.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7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resolve и clearScreen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7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80" name="TextBox 8"/>
          <p:cNvSpPr txBox="1"/>
          <p:nvPr/>
        </p:nvSpPr>
        <p:spPr>
          <a:xfrm>
            <a:off x="812800" y="1574800"/>
            <a:ext cx="4978400" cy="2400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resolve.extensions позволяет опускать расширения файлов в операторах import.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умолчанию: ['.mjs', '.js', '.mts', '.ts', '.jsx', '.tsx', '.json'].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Если подходит несколько файлов — побеждает расширение, стоящее раньше в списке.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resolve.tsconfigPaths включает алиасы из compilerOptions.paths в tsconfig.json.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381" name="TextBox 9"/>
          <p:cNvSpPr txBox="1"/>
          <p:nvPr/>
        </p:nvSpPr>
        <p:spPr>
          <a:xfrm>
            <a:off x="6400800" y="1574800"/>
            <a:ext cx="4978400" cy="1541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 resolve.tsconfigPaths = false.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clearScreen включает очистку терминала при логах и пересборках.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По умолчанию clearScreen = true; отключают, чтобы не терять историю логов при HMR.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SHARED OPTIONS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8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Опции envDir и envPrefix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8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SHARED OPTIONS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8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0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envDir — папка, из которой Vite грузит .env-файлы.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envDir = root (корень проекта).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envDir: false отключает загрузку 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envPrefix — префикс переменных, доступных в клиенте через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 умолчанию envPrefix = 'VITE_'.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Меняют envPrefix, чтобы защитить серверные секреты от попадания в клиентский бандл.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39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порт и HTTPS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39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399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server.port по умолчанию 5173.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server.strictPort запрещает занимать другой порт: если указанный занят, сервер не запустится.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server.https включает TLS/HTTP2 для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Принимает { key, cert } или плагин @vitejs/plugin-basic-ssl.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@vitejs/plugin-basic-ssl: добавь basicSsl() в plugins.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00" name="Rectangle 9"/>
          <p:cNvSpPr/>
          <p:nvPr/>
        </p:nvSpPr>
        <p:spPr>
          <a:xfrm>
            <a:off x="812800" y="4572000"/>
            <a:ext cx="10566400" cy="1168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1" name="TextBox 10"/>
          <p:cNvSpPr txBox="1"/>
          <p:nvPr/>
        </p:nvSpPr>
        <p:spPr>
          <a:xfrm>
            <a:off x="1066800" y="4749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basicSsl from '@vitejs/plugin-basic-ssl';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 plugins: [basicSsl()] 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0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браузер и CORS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0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0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0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server.open открывает приложение в браузере при старте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Строковое значение server.open — путь (pathname), который нужно открыть.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server.cors настраивает CORS для dev-сервера.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Значения server.cors: true (любой origin) или объект настроек, как CORS-middleware.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DEV SERVER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1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Dev-сервер: proxy и консоль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1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DEV SERVER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19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server.proxy перенаправляет запросы dev-сервера на другой сервер (бэкенд), обходя CORS.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server.forwardConsole перенаправляет события консоли браузера в терминал Vite.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server.forwardConsole: true включает перенаправление.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Полезен при разработке с AI-агентами — им становятся видны ошибки клиента.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20" name="Rectangle 9"/>
          <p:cNvSpPr/>
          <p:nvPr/>
        </p:nvSpPr>
        <p:spPr>
          <a:xfrm>
            <a:off x="812800" y="4191000"/>
            <a:ext cx="10566400" cy="1752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1" name="TextBox 10"/>
          <p:cNvSpPr txBox="1"/>
          <p:nvPr/>
        </p:nvSpPr>
        <p:spPr>
          <a:xfrm>
            <a:off x="1066800" y="4368800"/>
            <a:ext cx="10134600" cy="13296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server: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proxy: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  '/api': { target: 'http://localhost:8080', changeOrigin: true, ws: true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},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},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ПЛАГИНЫ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2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Плагины и кеш зависимостей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2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ПЛАГИНЫ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2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30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Vite для React — @vitejs/plugin-react.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@vitejs/plugin-basic-ssl подключается как basicSsl() в plugins.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 кеширует предварительно упакованные зависимости в node_modules/.vite.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31" name="Rectangle 9"/>
          <p:cNvSpPr/>
          <p:nvPr/>
        </p:nvSpPr>
        <p:spPr>
          <a:xfrm>
            <a:off x="812800" y="3810000"/>
            <a:ext cx="10566400" cy="1879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10"/>
          <p:cNvSpPr txBox="1"/>
          <p:nvPr/>
        </p:nvSpPr>
        <p:spPr>
          <a:xfrm>
            <a:off x="1066800" y="39878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react from '@vitejs/plugin-react';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basicSsl from '@vitejs/plugin-basic-ssl';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[react(), basicSsl()],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5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АССЕТЫ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36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Ассеты и препроцессоры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8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9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АССЕТЫ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40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41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 imgUrl from './img.png' при сборке превращается в URL-адрес файла.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imgUrl используется как обычный URL — например, в атрибуте src тега &lt;img&gt;.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Плагины для .scss / .sass / .less / .styl не нужны — поддержка встроена.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Нужен сам препроцессор как dev-зависимость: npm install -D sass.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@import для Sass/Less учитывает алиасы, настроенные в 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42" name="Rectangle 9"/>
          <p:cNvSpPr/>
          <p:nvPr/>
        </p:nvSpPr>
        <p:spPr>
          <a:xfrm>
            <a:off x="812800" y="4572000"/>
            <a:ext cx="10566400" cy="1143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10"/>
          <p:cNvSpPr txBox="1"/>
          <p:nvPr/>
        </p:nvSpPr>
        <p:spPr>
          <a:xfrm>
            <a:off x="1066800" y="4749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imgUrl from './img.png';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&lt;img src={imgUrl} alt="" /&gt;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4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префикс и доступ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4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5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52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Переменные в .env попадают в клиентский код, только если начинаются с VITE_.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import.meta.env переменные всегда string — даже если в .env записано число или булево.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Сравнение с булевым — явное: import.meta.env.VITE_F === 'true'.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 клиенте переменные доступны через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import.meta.env.DB_PASSWORD без префикса VITE_ вернёт undefined.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53" name="Rectangle 9"/>
          <p:cNvSpPr/>
          <p:nvPr/>
        </p:nvSpPr>
        <p:spPr>
          <a:xfrm>
            <a:off x="812800" y="4572000"/>
            <a:ext cx="10566400" cy="6858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4" name="Rectangle 10"/>
          <p:cNvSpPr/>
          <p:nvPr/>
        </p:nvSpPr>
        <p:spPr>
          <a:xfrm>
            <a:off x="812800" y="4572000"/>
            <a:ext cx="76200" cy="685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5" name="TextBox 11"/>
          <p:cNvSpPr txBox="1"/>
          <p:nvPr/>
        </p:nvSpPr>
        <p:spPr>
          <a:xfrm>
            <a:off x="1092200" y="4737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Секреты без префикса VITE_ не попадают в бандл. Это не замена серверной авторизации, но защищает от случайной утечки.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5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порядок загрузки и встроенные поля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6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6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19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64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Порядок приоритета: .env.[mode].local → .env.[mode] → .env.local → 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MODE — текущий режим: development или production.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BASE_URL — базовый URL приложения (из опции base).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PROD = true в продакшен-сборке.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DEV = true в режиме разработки.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SSR = true при серверном рендеринге.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65" name="Rectangle 9"/>
          <p:cNvSpPr/>
          <p:nvPr/>
        </p:nvSpPr>
        <p:spPr>
          <a:xfrm>
            <a:off x="812800" y="4191000"/>
            <a:ext cx="10566400" cy="1625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6" name="TextBox 10"/>
          <p:cNvSpPr txBox="1"/>
          <p:nvPr/>
        </p:nvSpPr>
        <p:spPr>
          <a:xfrm>
            <a:off x="1066800" y="4368800"/>
            <a:ext cx="10134600" cy="1082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import.meta.env.MODE      // 'development'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import.meta.env.BASE_URL  // '/'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import.meta.env.PROD      // false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import.meta.env.DEV       // true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7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import.meta и типы значений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7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7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20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75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Кастомные переменные — всегда string; встроенные PROD / DEV / SSR — boolean.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 — объект с метаданными текущего ESM-модуля.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 — объект с доступными переменными окружения, который создаёт Vite.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76" name="Rectangle 9"/>
          <p:cNvSpPr/>
          <p:nvPr/>
        </p:nvSpPr>
        <p:spPr>
          <a:xfrm>
            <a:off x="812800" y="36830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TextBox 10"/>
          <p:cNvSpPr txBox="1"/>
          <p:nvPr/>
        </p:nvSpPr>
        <p:spPr>
          <a:xfrm>
            <a:off x="1066800" y="3860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import.meta.env.MODE      //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import.meta.env.VITE_API  // string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import.meta.env.PROD      // boolean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478" name="Rectangle 11"/>
          <p:cNvSpPr/>
          <p:nvPr/>
        </p:nvSpPr>
        <p:spPr>
          <a:xfrm>
            <a:off x="812800" y="5334000"/>
            <a:ext cx="10566400" cy="6858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9" name="Rectangle 12"/>
          <p:cNvSpPr/>
          <p:nvPr/>
        </p:nvSpPr>
        <p:spPr>
          <a:xfrm>
            <a:off x="812800" y="5334000"/>
            <a:ext cx="76200" cy="685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0" name="TextBox 13"/>
          <p:cNvSpPr txBox="1"/>
          <p:nvPr/>
        </p:nvSpPr>
        <p:spPr>
          <a:xfrm>
            <a:off x="1092200" y="5499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Vite подставляет значения в код на этапе сборки — поэтому import.meta.env работает и в браузере.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3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646CFF"/>
                </a:solidFill>
                <a:latin typeface="Arial"/>
              </a:rPr>
              <a:t>VITE · ENV И РЕЖИМЫ</a:t>
            </a:r>
            <a:endParaRPr sz="1050" b="1">
              <a:solidFill>
                <a:srgbClr val="646CFF"/>
              </a:solidFill>
              <a:latin typeface="Arial"/>
            </a:endParaRPr>
          </a:p>
        </p:txBody>
      </p:sp>
      <p:sp>
        <p:nvSpPr>
          <p:cNvPr id="484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env: типизация в TypeScript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485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6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 · ENV И РЕЖИМЫ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88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489" name="TextBox 8"/>
          <p:cNvSpPr txBox="1"/>
          <p:nvPr/>
        </p:nvSpPr>
        <p:spPr>
          <a:xfrm>
            <a:off x="812800" y="1574800"/>
            <a:ext cx="10566400" cy="22816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ImportMetaEnv — интерфейс, описывающий структуру объекта import.meta.env.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TypeScript по умолчанию знает только встроенные поля: MODE, DEV, PROD, BASE_URL, SSR.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import.meta.env.VITE_APP_TITLE без типизации — ошибка типа.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Кастомные переменные типизируют в src/vite-env.d.ts.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Расширяют интерфейсы ImportMetaEnv и ImportMeta.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646CFF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/// &lt;reference types="vite/client" /&gt; подключает типы встроенных import.meta.env и ассетов.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490" name="Rectangle 9"/>
          <p:cNvSpPr/>
          <p:nvPr/>
        </p:nvSpPr>
        <p:spPr>
          <a:xfrm>
            <a:off x="812800" y="4292600"/>
            <a:ext cx="10566400" cy="1803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1" name="TextBox 10"/>
          <p:cNvSpPr txBox="1"/>
          <p:nvPr/>
        </p:nvSpPr>
        <p:spPr>
          <a:xfrm>
            <a:off x="1066800" y="4470400"/>
            <a:ext cx="10134600" cy="1577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ImportMetaEnv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VITE_APP_TITLE: string;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interface ImportMeta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readonly env: ImportMetaEnv;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02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Vite+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Единый CLI для установки, проверки и сборки · 46 карточек · 13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498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22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ОСНОВЫ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0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Vite+: состав и установка зависимостей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0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ОСНОВЫ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0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07" name="TextBox 8"/>
          <p:cNvSpPr txBox="1"/>
          <p:nvPr/>
        </p:nvSpPr>
        <p:spPr>
          <a:xfrm>
            <a:off x="812800" y="1574800"/>
            <a:ext cx="10566400" cy="2657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Vite+ состоит из глобального CLI vp и локального пакета vite-plus в каждом проекте.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add &lt;pkg&gt; — добавить 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add -D &lt;pkg&gt; — добавить dev-пакет.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remove &lt;pkg&gt; — удалить пакет.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update — обновить зависимости.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devEngines.packageManager в package.json задаёт менеджер пакетов для проекта.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packageManager в package.json указывает точную версию менеджера, например bun@1.1.20.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08" name="Rectangle 9"/>
          <p:cNvSpPr/>
          <p:nvPr/>
        </p:nvSpPr>
        <p:spPr>
          <a:xfrm>
            <a:off x="812800" y="4597400"/>
            <a:ext cx="10566400" cy="11176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10"/>
          <p:cNvSpPr txBox="1"/>
          <p:nvPr/>
        </p:nvSpPr>
        <p:spPr>
          <a:xfrm>
            <a:off x="1066800" y="4775200"/>
            <a:ext cx="10134600" cy="5669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"devEngines": { "packageManager": "bun"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"packageManager": "bun@1.1.20"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ОСНОВЫ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1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dev и check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1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ОСНОВЫ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1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18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dev запускает dev-сервер.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Конфигурация Vite+ находится в стандартном файле vite.config.ts.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check объединяет форматирование, линтинг и проверку типов.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check --fix включает автоисправление.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19" name="Rectangle 9"/>
          <p:cNvSpPr/>
          <p:nvPr/>
        </p:nvSpPr>
        <p:spPr>
          <a:xfrm>
            <a:off x="812800" y="3810000"/>
            <a:ext cx="10566400" cy="8128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Rectangle 10"/>
          <p:cNvSpPr/>
          <p:nvPr/>
        </p:nvSpPr>
        <p:spPr>
          <a:xfrm>
            <a:off x="812800" y="3810000"/>
            <a:ext cx="76200" cy="812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1" name="TextBox 11"/>
          <p:cNvSpPr txBox="1"/>
          <p:nvPr/>
        </p:nvSpPr>
        <p:spPr>
          <a:xfrm>
            <a:off x="1092200" y="3975100"/>
            <a:ext cx="10033000" cy="5867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Один конфиг vite.config.ts для dev, lint, fmt, test и run — не нужно держать отдельные oxlint.config.ts, oxfmt.config.ts и vitest.config.ts.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4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КАЧЕСТВО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25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lint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26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7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8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КАЧЕСТВО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29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25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30" name="TextBox 8"/>
          <p:cNvSpPr txBox="1"/>
          <p:nvPr/>
        </p:nvSpPr>
        <p:spPr>
          <a:xfrm>
            <a:off x="812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запускает линтинг.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--fix включает автоисправление.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typeCheck запускает компилятор TypeScript во время линтинга.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typeAware ищет логические ошибки на основе типов.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31" name="TextBox 9"/>
          <p:cNvSpPr txBox="1"/>
          <p:nvPr/>
        </p:nvSpPr>
        <p:spPr>
          <a:xfrm>
            <a:off x="6400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lint основан на Oxlint.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lint размещают в vite.config.ts, в блоке lint.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стоит размещать конфиг в oxlint.config.ts.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Базовая конфигурация: lint: { ignorePatterns: ['dist/**']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32" name="Rectangle 10"/>
          <p:cNvSpPr/>
          <p:nvPr/>
        </p:nvSpPr>
        <p:spPr>
          <a:xfrm>
            <a:off x="812800" y="4851400"/>
            <a:ext cx="10566400" cy="121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3" name="TextBox 11"/>
          <p:cNvSpPr txBox="1"/>
          <p:nvPr/>
        </p:nvSpPr>
        <p:spPr>
          <a:xfrm>
            <a:off x="1066800" y="5029200"/>
            <a:ext cx="10134600" cy="8046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lint: { ignorePatterns: ['dist/**']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});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КАЧЕСТВО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3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format и test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3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КАЧЕСТВО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4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42" name="TextBox 8"/>
          <p:cNvSpPr txBox="1"/>
          <p:nvPr/>
        </p:nvSpPr>
        <p:spPr>
          <a:xfrm>
            <a:off x="812800" y="1574800"/>
            <a:ext cx="4978400" cy="1912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форматирует код.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. --write записывает отформатированный код в файлы.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fmt основан на Oxfmt.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fmt — в vite.config.ts, блок fmt.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в oxfmt.config.ts.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43" name="TextBox 9"/>
          <p:cNvSpPr txBox="1"/>
          <p:nvPr/>
        </p:nvSpPr>
        <p:spPr>
          <a:xfrm>
            <a:off x="6400800" y="1574800"/>
            <a:ext cx="4978400" cy="13222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test запускает тесты.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Тесты Vite+ основаны на Vitest.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Конфиг vp test — в vite.config.ts, блок test.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Не в vitest.config.ts.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ЗАПУСК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4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run: скрипты и задачи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4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ЗАПУСК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5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52" name="TextBox 8"/>
          <p:cNvSpPr txBox="1"/>
          <p:nvPr/>
        </p:nvSpPr>
        <p:spPr>
          <a:xfrm>
            <a:off x="812800" y="1574800"/>
            <a:ext cx="4978400" cy="21310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run &lt;script-name&gt; запускает скрипты из package.json.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dev — встроенная команда, а vp run dev запускает скрипт dev из package.json.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Задача в конфиге: блок run.tasks в vite.config.ts.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dependsOn указывает зависимость одной задачи от другой.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53" name="TextBox 9"/>
          <p:cNvSpPr txBox="1"/>
          <p:nvPr/>
        </p:nvSpPr>
        <p:spPr>
          <a:xfrm>
            <a:off x="6400800" y="1574800"/>
            <a:ext cx="4978400" cy="1810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run &lt;task-name&gt; запускает задачу из конфига.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Задача (task) — именованный скрипт, состояние которого Vite+ кеширует по входным и выходным файлам.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Пример: build: { command: 'vp build', dependsOn: ['lint']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54" name="Rectangle 10"/>
          <p:cNvSpPr/>
          <p:nvPr/>
        </p:nvSpPr>
        <p:spPr>
          <a:xfrm>
            <a:off x="812800" y="4673600"/>
            <a:ext cx="10566400" cy="1524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5" name="TextBox 11"/>
          <p:cNvSpPr txBox="1"/>
          <p:nvPr/>
        </p:nvSpPr>
        <p:spPr>
          <a:xfrm>
            <a:off x="1066800" y="4851400"/>
            <a:ext cx="10134600" cy="1320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run: 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tasks: {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  build: { command: 'vp build', dependsOn: ['lint']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  },</a:t>
            </a:r>
            <a:endParaRPr sz="12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},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8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ИНСТРУМЕНТЫ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59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vpx, build, upgrade и CI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60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1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2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ИНСТРУМЕНТЫ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63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64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vpx — аналог npx / bunx в Vite+.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build собирает проект.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vp upgrade обновляет глобальный vp.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Для CI используют voidzero-dev/setup-vp.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65" name="Rectangle 9"/>
          <p:cNvSpPr/>
          <p:nvPr/>
        </p:nvSpPr>
        <p:spPr>
          <a:xfrm>
            <a:off x="812800" y="3810000"/>
            <a:ext cx="10566400" cy="68580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6" name="Rectangle 10"/>
          <p:cNvSpPr/>
          <p:nvPr/>
        </p:nvSpPr>
        <p:spPr>
          <a:xfrm>
            <a:off x="812800" y="3810000"/>
            <a:ext cx="76200" cy="685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7" name="TextBox 11"/>
          <p:cNvSpPr txBox="1"/>
          <p:nvPr/>
        </p:nvSpPr>
        <p:spPr>
          <a:xfrm>
            <a:off x="1092200" y="3975100"/>
            <a:ext cx="10033000" cy="3390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Vite+ закрывает весь цикл: install → dev → check → lint → fmt → test → run → build → CI.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EA5E9"/>
                </a:solidFill>
                <a:latin typeface="Arial"/>
              </a:rPr>
              <a:t>VITE+ · GIT-ХУКИ</a:t>
            </a:r>
            <a:endParaRPr sz="1050" b="1">
              <a:solidFill>
                <a:srgbClr val="0EA5E9"/>
              </a:solidFill>
              <a:latin typeface="Arial"/>
            </a:endParaRPr>
          </a:p>
        </p:txBody>
      </p:sp>
      <p:sp>
        <p:nvSpPr>
          <p:cNvPr id="57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Vite+ commit hooks и staged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7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VITE+ · GIT-ХУКИ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7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29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76" name="TextBox 8"/>
          <p:cNvSpPr txBox="1"/>
          <p:nvPr/>
        </p:nvSpPr>
        <p:spPr>
          <a:xfrm>
            <a:off x="812800" y="1574800"/>
            <a:ext cx="4978400" cy="159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enable — включить Git-хуки.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disable — выключить Git-хуки.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hooks status — проверить статус Git-хуков.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Скрипты Git-хуков лежат в папке .vite-hooks в корне проекта.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77" name="TextBox 9"/>
          <p:cNvSpPr txBox="1"/>
          <p:nvPr/>
        </p:nvSpPr>
        <p:spPr>
          <a:xfrm>
            <a:off x="6400800" y="1574800"/>
            <a:ext cx="4978400" cy="2400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Папку .vite-hooks нужно коммитить, чтобы хуки были одинаковыми у всех.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Хук pre-commit: создать .vite-hooks/pre-commit с командой vp staged.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vp staged проверяет только изменённые файлы перед коммитом.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2000"/>
              </a:lnSpc>
              <a:spcAft>
                <a:spcPts val="400"/>
              </a:spcAft>
              <a:buClr>
                <a:srgbClr val="0EA5E9"/>
              </a:buClr>
              <a:buSzPct val="90000"/>
              <a:buFont typeface="Arial"/>
              <a:buChar char="•"/>
            </a:pPr>
            <a:r>
              <a:rPr sz="1450">
                <a:solidFill>
                  <a:srgbClr val="334155"/>
                </a:solidFill>
                <a:latin typeface="Arial"/>
              </a:rPr>
              <a:t>Настройка staged в vite.config.ts: { '*.{js,ts,tsx}': 'vp check --fix' }.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78" name="Rectangle 10"/>
          <p:cNvSpPr/>
          <p:nvPr/>
        </p:nvSpPr>
        <p:spPr>
          <a:xfrm>
            <a:off x="812800" y="4927600"/>
            <a:ext cx="10566400" cy="914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9" name="TextBox 11"/>
          <p:cNvSpPr txBox="1"/>
          <p:nvPr/>
        </p:nvSpPr>
        <p:spPr>
          <a:xfrm>
            <a:off x="1066800" y="5105400"/>
            <a:ext cx="101346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2E8F0"/>
                </a:solidFill>
                <a:latin typeface="Consolas"/>
              </a:rPr>
              <a:t>staged: { '*.{js,ts,tsx}': 'vp check --fix' }</a:t>
            </a:r>
            <a:endParaRPr sz="120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7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03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3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Oxc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Oxlint и Oxfmt: быстрый линт и форматирование на Rust · 12 карточек · 5 тем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586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30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59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Oxc и Oxlint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59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9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31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595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Oxc — набор высокопроизводительных инструментов для JavaScript и TypeScript на Rust.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— высокопроизводительный линтер для JS/TS на стеке Oxc, совместимый с ESLint.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использует tsgo — он же TypeScript 7.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Установка: npm install -D oxlint.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Скрипты: "lint": "oxlint" и "lint:fix": "oxlint --fix".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596" name="Rectangle 9"/>
          <p:cNvSpPr/>
          <p:nvPr/>
        </p:nvSpPr>
        <p:spPr>
          <a:xfrm>
            <a:off x="812800" y="4445000"/>
            <a:ext cx="10566400" cy="1422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7" name="TextBox 10"/>
          <p:cNvSpPr txBox="1"/>
          <p:nvPr/>
        </p:nvSpPr>
        <p:spPr>
          <a:xfrm>
            <a:off x="1066800" y="4597400"/>
            <a:ext cx="10134600" cy="1206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"scripts": 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"lint": "oxlint",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"lint:fix": "oxlint --fix"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0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601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Oxlint: конфигурация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02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3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4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05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32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06" name="TextBox 8"/>
          <p:cNvSpPr txBox="1"/>
          <p:nvPr/>
        </p:nvSpPr>
        <p:spPr>
          <a:xfrm>
            <a:off x="812800" y="1574800"/>
            <a:ext cx="10566400" cy="11547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oxlint --init инициализирует конфиг.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Файл конфига: .oxlintrc.json или oxlint.config.ts.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Базовый конфиг: import { defineConfig } from 'oxlint'; export default defineConfig({});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07" name="Rectangle 9"/>
          <p:cNvSpPr/>
          <p:nvPr/>
        </p:nvSpPr>
        <p:spPr>
          <a:xfrm>
            <a:off x="812800" y="4191000"/>
            <a:ext cx="10566400" cy="1270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08" name="TextBox 10"/>
          <p:cNvSpPr txBox="1"/>
          <p:nvPr/>
        </p:nvSpPr>
        <p:spPr>
          <a:xfrm>
            <a:off x="1066800" y="43688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import { defineConfig } from 'oxlint';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F97316"/>
                </a:solidFill>
                <a:latin typeface="Arial"/>
              </a:rPr>
              <a:t>OXC · OXLINT</a:t>
            </a:r>
            <a:endParaRPr sz="1050" b="1">
              <a:solidFill>
                <a:srgbClr val="F97316"/>
              </a:solidFill>
              <a:latin typeface="Arial"/>
            </a:endParaRPr>
          </a:p>
        </p:txBody>
      </p:sp>
      <p:sp>
        <p:nvSpPr>
          <p:cNvPr id="61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Oxlint: встроенные плагины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1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OXC · OXLINT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1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33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17" name="TextBox 8"/>
          <p:cNvSpPr txBox="1"/>
          <p:nvPr/>
        </p:nvSpPr>
        <p:spPr>
          <a:xfrm>
            <a:off x="812800" y="1574800"/>
            <a:ext cx="10566400" cy="15304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— именованная группа правил; его включение делает правила доступными.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Встроенные плагины включают в поле plugins, например plugins: ['import'].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Запись plugins переопределяет плагины, включённые по умолчанию.</a:t>
            </a:r>
            <a:endParaRPr sz="1600">
              <a:solidFill>
                <a:srgbClr val="334155"/>
              </a:solidFill>
              <a:latin typeface="Arial"/>
            </a:endParaRP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F97316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Плагин eslint включён по умолчанию — он подключает основные правила ESLint.</a:t>
            </a:r>
            <a:endParaRPr sz="16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618" name="Rectangle 9"/>
          <p:cNvSpPr/>
          <p:nvPr/>
        </p:nvSpPr>
        <p:spPr>
          <a:xfrm>
            <a:off x="812800" y="4089400"/>
            <a:ext cx="10566400" cy="1168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9" name="TextBox 10"/>
          <p:cNvSpPr txBox="1"/>
          <p:nvPr/>
        </p:nvSpPr>
        <p:spPr>
          <a:xfrm>
            <a:off x="1066800" y="4267200"/>
            <a:ext cx="10134600" cy="8343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export default defineConfig({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  plugins: ['import'],</a:t>
            </a:r>
            <a:endParaRPr sz="125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  <a:latin typeface="Consolas"/>
              </a:rPr>
              <a:t>});</a:t>
            </a:r>
            <a:endParaRPr sz="1250">
              <a:solidFill>
                <a:srgbClr val="E2E8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ИТОГ</a:t>
            </a:r>
            <a:endParaRPr sz="105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2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Шпаргалка: команды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2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ИТОГ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2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34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28" name="Rectangle 8"/>
          <p:cNvSpPr/>
          <p:nvPr/>
        </p:nvSpPr>
        <p:spPr>
          <a:xfrm>
            <a:off x="8128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9" name="Rectangle 9"/>
          <p:cNvSpPr/>
          <p:nvPr/>
        </p:nvSpPr>
        <p:spPr>
          <a:xfrm>
            <a:off x="812800" y="1651000"/>
            <a:ext cx="3378200" cy="457200"/>
          </a:xfrm>
          <a:prstGeom prst="rect">
            <a:avLst/>
          </a:prstGeom>
          <a:solidFill>
            <a:srgbClr val="646C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0" name="TextBox 10"/>
          <p:cNvSpPr txBox="1"/>
          <p:nvPr/>
        </p:nvSpPr>
        <p:spPr>
          <a:xfrm>
            <a:off x="10160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Vite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11"/>
          <p:cNvSpPr txBox="1"/>
          <p:nvPr/>
        </p:nvSpPr>
        <p:spPr>
          <a:xfrm>
            <a:off x="1041400" y="2336800"/>
            <a:ext cx="2921000" cy="11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create vite@latest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install -D vite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vite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vite build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632" name="Rectangle 12"/>
          <p:cNvSpPr/>
          <p:nvPr/>
        </p:nvSpPr>
        <p:spPr>
          <a:xfrm>
            <a:off x="44069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3" name="Rectangle 13"/>
          <p:cNvSpPr/>
          <p:nvPr/>
        </p:nvSpPr>
        <p:spPr>
          <a:xfrm>
            <a:off x="4406900" y="1651000"/>
            <a:ext cx="3378200" cy="4572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TextBox 14"/>
          <p:cNvSpPr txBox="1"/>
          <p:nvPr/>
        </p:nvSpPr>
        <p:spPr>
          <a:xfrm>
            <a:off x="46101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Vite+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Box 15"/>
          <p:cNvSpPr txBox="1"/>
          <p:nvPr/>
        </p:nvSpPr>
        <p:spPr>
          <a:xfrm>
            <a:off x="4635500" y="2336800"/>
            <a:ext cx="2921000" cy="23785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add / add -D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remove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update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dev / build / test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check / lint / fmt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run &lt;script&gt;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vpx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hooks enable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vp staged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636" name="Rectangle 16"/>
          <p:cNvSpPr/>
          <p:nvPr/>
        </p:nvSpPr>
        <p:spPr>
          <a:xfrm>
            <a:off x="8001000" y="1651000"/>
            <a:ext cx="3378200" cy="3937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7" name="Rectangle 17"/>
          <p:cNvSpPr/>
          <p:nvPr/>
        </p:nvSpPr>
        <p:spPr>
          <a:xfrm>
            <a:off x="8001000" y="1651000"/>
            <a:ext cx="3378200" cy="457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8" name="TextBox 18"/>
          <p:cNvSpPr txBox="1"/>
          <p:nvPr/>
        </p:nvSpPr>
        <p:spPr>
          <a:xfrm>
            <a:off x="8204200" y="1778000"/>
            <a:ext cx="29718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Oxc</a:t>
            </a:r>
            <a:endParaRPr sz="14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19"/>
          <p:cNvSpPr txBox="1"/>
          <p:nvPr/>
        </p:nvSpPr>
        <p:spPr>
          <a:xfrm>
            <a:off x="8229600" y="2336800"/>
            <a:ext cx="2921000" cy="11079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npm install -D oxlint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 --fix</a:t>
            </a:r>
            <a:endParaRPr sz="1150">
              <a:solidFill>
                <a:srgbClr val="0F172A"/>
              </a:solidFill>
              <a:latin typeface="Consolas"/>
            </a:endParaRP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0F172A"/>
                </a:solidFill>
                <a:latin typeface="Consolas"/>
              </a:rPr>
              <a:t>oxlint --init</a:t>
            </a:r>
            <a:endParaRPr sz="1150">
              <a:solidFill>
                <a:srgbClr val="0F172A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96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TextBox 1"/>
          <p:cNvSpPr txBox="1"/>
          <p:nvPr/>
        </p:nvSpPr>
        <p:spPr>
          <a:xfrm>
            <a:off x="812800" y="1168400"/>
            <a:ext cx="5080000" cy="1920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0" b="1">
                <a:solidFill>
                  <a:srgbClr val="FFFFFF"/>
                </a:solidFill>
                <a:latin typeface="Arial"/>
              </a:rPr>
              <a:t>04</a:t>
            </a:r>
            <a:endParaRPr sz="120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ectangle 2"/>
          <p:cNvSpPr/>
          <p:nvPr/>
        </p:nvSpPr>
        <p:spPr>
          <a:xfrm>
            <a:off x="812800" y="3683000"/>
            <a:ext cx="1219200" cy="6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2" name="TextBox 3"/>
          <p:cNvSpPr txBox="1"/>
          <p:nvPr/>
        </p:nvSpPr>
        <p:spPr>
          <a:xfrm>
            <a:off x="812800" y="4038600"/>
            <a:ext cx="10566400" cy="883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Nginx</a:t>
            </a:r>
            <a:endParaRPr sz="5200" b="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Box 4"/>
          <p:cNvSpPr txBox="1"/>
          <p:nvPr/>
        </p:nvSpPr>
        <p:spPr>
          <a:xfrm>
            <a:off x="812800" y="5054600"/>
            <a:ext cx="10566400" cy="408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Arial"/>
              </a:rPr>
              <a:t>Конфиг, раздача SPA, proxy и HTTPS · основные настройки</a:t>
            </a:r>
            <a:endParaRPr sz="16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5"/>
          <p:cNvSpPr txBox="1"/>
          <p:nvPr/>
        </p:nvSpPr>
        <p:spPr>
          <a:xfrm>
            <a:off x="812800" y="6451600"/>
            <a:ext cx="105664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Vite, Vite+, Oxc и Nginx · Лекция 1</a:t>
            </a:r>
          </a:p>
        </p:txBody>
      </p:sp>
      <p:sp>
        <p:nvSpPr>
          <p:cNvPr id="705" name="TextBox 6"/>
          <p:cNvSpPr txBox="1"/>
          <p:nvPr/>
        </p:nvSpPr>
        <p:spPr>
          <a:xfrm>
            <a:off x="10820400" y="64516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FFFFFF"/>
                </a:solidFill>
                <a:latin typeface="Arial"/>
              </a:rPr>
              <a:t>35</a:t>
            </a:r>
            <a:endParaRPr sz="90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99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ОБЗОР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00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Зачем Nginx фронтенду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901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02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03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ОБЗОР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904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36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905" name="TextBox 8"/>
          <p:cNvSpPr txBox="1"/>
          <p:nvPr/>
        </p:nvSpPr>
        <p:spPr>
          <a:xfrm>
            <a:off x="812800" y="1473200"/>
            <a:ext cx="105664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i="1">
                <a:solidFill>
                  <a:srgbClr val="64748B"/>
                </a:solidFill>
                <a:latin typeface="Arial"/>
              </a:rPr>
              <a:t>Три задачи, которые он закрывает в деплое Vite-приложения.</a:t>
            </a:r>
            <a:endParaRPr sz="135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906" name="Rectangle 9"/>
          <p:cNvSpPr/>
          <p:nvPr/>
        </p:nvSpPr>
        <p:spPr>
          <a:xfrm>
            <a:off x="812800" y="2006600"/>
            <a:ext cx="3378200" cy="2717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07" name="Rectangle 10"/>
          <p:cNvSpPr/>
          <p:nvPr/>
        </p:nvSpPr>
        <p:spPr>
          <a:xfrm>
            <a:off x="812800" y="2006600"/>
            <a:ext cx="33782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08" name="TextBox 11"/>
          <p:cNvSpPr txBox="1"/>
          <p:nvPr/>
        </p:nvSpPr>
        <p:spPr>
          <a:xfrm>
            <a:off x="1041400" y="2209800"/>
            <a:ext cx="2921000" cy="236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50" b="1">
                <a:solidFill>
                  <a:srgbClr val="009639"/>
                </a:solidFill>
                <a:latin typeface="Arial"/>
              </a:rPr>
              <a:t>01</a:t>
            </a:r>
            <a:endParaRPr sz="9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09" name="TextBox 12"/>
          <p:cNvSpPr txBox="1"/>
          <p:nvPr/>
        </p:nvSpPr>
        <p:spPr>
          <a:xfrm>
            <a:off x="1041400" y="2489200"/>
            <a:ext cx="2921000" cy="4770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Статика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910" name="TextBox 13"/>
          <p:cNvSpPr txBox="1"/>
          <p:nvPr/>
        </p:nvSpPr>
        <p:spPr>
          <a:xfrm>
            <a:off x="1041400" y="3124200"/>
            <a:ext cx="2921000" cy="987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400">
                <a:solidFill>
                  <a:srgbClr val="334155"/>
                </a:solidFill>
                <a:latin typeface="Arial"/>
              </a:rPr>
              <a:t>HTML, JS, CSS и шрифты. Отдаёт файлы быстрее и дешевле, чем Node-сервер.</a:t>
            </a:r>
            <a:endParaRPr sz="14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11" name="Rectangle 14"/>
          <p:cNvSpPr/>
          <p:nvPr/>
        </p:nvSpPr>
        <p:spPr>
          <a:xfrm>
            <a:off x="4406900" y="2006600"/>
            <a:ext cx="3378200" cy="2717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12" name="Rectangle 15"/>
          <p:cNvSpPr/>
          <p:nvPr/>
        </p:nvSpPr>
        <p:spPr>
          <a:xfrm>
            <a:off x="4406900" y="2006600"/>
            <a:ext cx="33782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13" name="TextBox 16"/>
          <p:cNvSpPr txBox="1"/>
          <p:nvPr/>
        </p:nvSpPr>
        <p:spPr>
          <a:xfrm>
            <a:off x="4635500" y="2209800"/>
            <a:ext cx="2921000" cy="236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50" b="1">
                <a:solidFill>
                  <a:srgbClr val="009639"/>
                </a:solidFill>
                <a:latin typeface="Arial"/>
              </a:rPr>
              <a:t>02</a:t>
            </a:r>
            <a:endParaRPr sz="9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14" name="TextBox 17"/>
          <p:cNvSpPr txBox="1"/>
          <p:nvPr/>
        </p:nvSpPr>
        <p:spPr>
          <a:xfrm>
            <a:off x="4635500" y="2489200"/>
            <a:ext cx="2921000" cy="4770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Reverse proxy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915" name="TextBox 18"/>
          <p:cNvSpPr txBox="1"/>
          <p:nvPr/>
        </p:nvSpPr>
        <p:spPr>
          <a:xfrm>
            <a:off x="4635500" y="3124200"/>
            <a:ext cx="2921000" cy="987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400">
                <a:solidFill>
                  <a:srgbClr val="334155"/>
                </a:solidFill>
                <a:latin typeface="Arial"/>
              </a:rPr>
              <a:t>Прячет API, снимает CORS и балансирует нагрузку между инстансами.</a:t>
            </a:r>
            <a:endParaRPr sz="14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16" name="Rectangle 19"/>
          <p:cNvSpPr/>
          <p:nvPr/>
        </p:nvSpPr>
        <p:spPr>
          <a:xfrm>
            <a:off x="8001000" y="2006600"/>
            <a:ext cx="3378200" cy="27178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17" name="Rectangle 20"/>
          <p:cNvSpPr/>
          <p:nvPr/>
        </p:nvSpPr>
        <p:spPr>
          <a:xfrm>
            <a:off x="8001000" y="2006600"/>
            <a:ext cx="3378200" cy="762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18" name="TextBox 21"/>
          <p:cNvSpPr txBox="1"/>
          <p:nvPr/>
        </p:nvSpPr>
        <p:spPr>
          <a:xfrm>
            <a:off x="8229600" y="2209800"/>
            <a:ext cx="2921000" cy="236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50" b="1">
                <a:solidFill>
                  <a:srgbClr val="009639"/>
                </a:solidFill>
                <a:latin typeface="Arial"/>
              </a:rPr>
              <a:t>03</a:t>
            </a:r>
            <a:endParaRPr sz="9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19" name="TextBox 22"/>
          <p:cNvSpPr txBox="1"/>
          <p:nvPr/>
        </p:nvSpPr>
        <p:spPr>
          <a:xfrm>
            <a:off x="8229600" y="2489200"/>
            <a:ext cx="2921000" cy="4770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300" b="1">
                <a:solidFill>
                  <a:srgbClr val="0F172A"/>
                </a:solidFill>
                <a:latin typeface="Arial"/>
              </a:rPr>
              <a:t>TLS и кэш</a:t>
            </a:r>
            <a:endParaRPr sz="23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920" name="TextBox 23"/>
          <p:cNvSpPr txBox="1"/>
          <p:nvPr/>
        </p:nvSpPr>
        <p:spPr>
          <a:xfrm>
            <a:off x="8229600" y="3124200"/>
            <a:ext cx="2921000" cy="987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400">
                <a:solidFill>
                  <a:srgbClr val="334155"/>
                </a:solidFill>
                <a:latin typeface="Arial"/>
              </a:rPr>
              <a:t>Терминирует HTTPS, сжимает gzip и кэширует ассеты на клиенте.</a:t>
            </a:r>
            <a:endParaRPr sz="14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21" name="Rectangle 24"/>
          <p:cNvSpPr/>
          <p:nvPr/>
        </p:nvSpPr>
        <p:spPr>
          <a:xfrm>
            <a:off x="812800" y="5334000"/>
            <a:ext cx="10566400" cy="6350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22" name="Rectangle 25"/>
          <p:cNvSpPr/>
          <p:nvPr/>
        </p:nvSpPr>
        <p:spPr>
          <a:xfrm>
            <a:off x="812800" y="5334000"/>
            <a:ext cx="76200" cy="635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23" name="TextBox 26"/>
          <p:cNvSpPr txBox="1"/>
          <p:nvPr/>
        </p:nvSpPr>
        <p:spPr>
          <a:xfrm>
            <a:off x="1092200" y="5499100"/>
            <a:ext cx="10033000" cy="3291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E293B"/>
                </a:solidFill>
                <a:latin typeface="Arial"/>
              </a:rPr>
              <a:t>В деплое Vite-приложения Nginx — точка входа, а Node/API — за ним.</a:t>
            </a:r>
            <a:endParaRPr sz="130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26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КОНФИГ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27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Карта конфига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928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29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30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КОНФИГ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931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37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932" name="TextBox 8"/>
          <p:cNvSpPr txBox="1"/>
          <p:nvPr/>
        </p:nvSpPr>
        <p:spPr>
          <a:xfrm>
            <a:off x="812800" y="1473200"/>
            <a:ext cx="105664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i="1">
                <a:solidFill>
                  <a:srgbClr val="64748B"/>
                </a:solidFill>
                <a:latin typeface="Arial"/>
              </a:rPr>
              <a:t>Пять уровней вложенности: от глобальных настроек до правила по URI.</a:t>
            </a:r>
            <a:endParaRPr sz="135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933" name="Rectangle 9"/>
          <p:cNvSpPr/>
          <p:nvPr/>
        </p:nvSpPr>
        <p:spPr>
          <a:xfrm>
            <a:off x="812800" y="2159000"/>
            <a:ext cx="1981200" cy="1854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34" name="Rectangle 10"/>
          <p:cNvSpPr/>
          <p:nvPr/>
        </p:nvSpPr>
        <p:spPr>
          <a:xfrm>
            <a:off x="812800" y="2159000"/>
            <a:ext cx="1981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35" name="TextBox 11"/>
          <p:cNvSpPr txBox="1"/>
          <p:nvPr/>
        </p:nvSpPr>
        <p:spPr>
          <a:xfrm>
            <a:off x="990600" y="2336800"/>
            <a:ext cx="16256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09639"/>
                </a:solidFill>
                <a:latin typeface="Consolas"/>
              </a:rPr>
              <a:t>main</a:t>
            </a:r>
            <a:endParaRPr sz="1600" b="1">
              <a:solidFill>
                <a:srgbClr val="009639"/>
              </a:solidFill>
              <a:latin typeface="Consolas"/>
            </a:endParaRPr>
          </a:p>
        </p:txBody>
      </p:sp>
      <p:sp>
        <p:nvSpPr>
          <p:cNvPr id="936" name="TextBox 12"/>
          <p:cNvSpPr txBox="1"/>
          <p:nvPr/>
        </p:nvSpPr>
        <p:spPr>
          <a:xfrm>
            <a:off x="990600" y="2692400"/>
            <a:ext cx="1625600" cy="770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user, worker_processes,</a:t>
            </a:r>
            <a:endParaRPr sz="110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error_log</a:t>
            </a:r>
            <a:endParaRPr sz="11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38" name="Rectangle 14"/>
          <p:cNvSpPr/>
          <p:nvPr/>
        </p:nvSpPr>
        <p:spPr>
          <a:xfrm>
            <a:off x="2946400" y="2159000"/>
            <a:ext cx="1981200" cy="1854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39" name="Rectangle 15"/>
          <p:cNvSpPr/>
          <p:nvPr/>
        </p:nvSpPr>
        <p:spPr>
          <a:xfrm>
            <a:off x="2946400" y="2159000"/>
            <a:ext cx="1981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40" name="TextBox 16"/>
          <p:cNvSpPr txBox="1"/>
          <p:nvPr/>
        </p:nvSpPr>
        <p:spPr>
          <a:xfrm>
            <a:off x="3124200" y="2336800"/>
            <a:ext cx="16256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09639"/>
                </a:solidFill>
                <a:latin typeface="Consolas"/>
              </a:rPr>
              <a:t>events</a:t>
            </a:r>
            <a:endParaRPr sz="1600" b="1">
              <a:solidFill>
                <a:srgbClr val="009639"/>
              </a:solidFill>
              <a:latin typeface="Consolas"/>
            </a:endParaRPr>
          </a:p>
        </p:txBody>
      </p:sp>
      <p:sp>
        <p:nvSpPr>
          <p:cNvPr id="941" name="TextBox 17"/>
          <p:cNvSpPr txBox="1"/>
          <p:nvPr/>
        </p:nvSpPr>
        <p:spPr>
          <a:xfrm>
            <a:off x="3124200" y="2692400"/>
            <a:ext cx="1625600" cy="317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worker_connections</a:t>
            </a:r>
            <a:endParaRPr sz="11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43" name="Rectangle 19"/>
          <p:cNvSpPr/>
          <p:nvPr/>
        </p:nvSpPr>
        <p:spPr>
          <a:xfrm>
            <a:off x="5080000" y="2159000"/>
            <a:ext cx="1981200" cy="1854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44" name="Rectangle 20"/>
          <p:cNvSpPr/>
          <p:nvPr/>
        </p:nvSpPr>
        <p:spPr>
          <a:xfrm>
            <a:off x="5080000" y="2159000"/>
            <a:ext cx="1981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45" name="TextBox 21"/>
          <p:cNvSpPr txBox="1"/>
          <p:nvPr/>
        </p:nvSpPr>
        <p:spPr>
          <a:xfrm>
            <a:off x="5257800" y="2336800"/>
            <a:ext cx="16256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09639"/>
                </a:solidFill>
                <a:latin typeface="Consolas"/>
              </a:rPr>
              <a:t>http</a:t>
            </a:r>
            <a:endParaRPr sz="1600" b="1">
              <a:solidFill>
                <a:srgbClr val="009639"/>
              </a:solidFill>
              <a:latin typeface="Consolas"/>
            </a:endParaRPr>
          </a:p>
        </p:txBody>
      </p:sp>
      <p:sp>
        <p:nvSpPr>
          <p:cNvPr id="946" name="TextBox 22"/>
          <p:cNvSpPr txBox="1"/>
          <p:nvPr/>
        </p:nvSpPr>
        <p:spPr>
          <a:xfrm>
            <a:off x="5257800" y="2692400"/>
            <a:ext cx="1625600" cy="5440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mime.types, gzip,</a:t>
            </a:r>
            <a:endParaRPr sz="110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upstream</a:t>
            </a:r>
            <a:endParaRPr sz="11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48" name="Rectangle 24"/>
          <p:cNvSpPr/>
          <p:nvPr/>
        </p:nvSpPr>
        <p:spPr>
          <a:xfrm>
            <a:off x="7213600" y="2159000"/>
            <a:ext cx="1981200" cy="1854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49" name="Rectangle 25"/>
          <p:cNvSpPr/>
          <p:nvPr/>
        </p:nvSpPr>
        <p:spPr>
          <a:xfrm>
            <a:off x="7213600" y="2159000"/>
            <a:ext cx="1981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50" name="TextBox 26"/>
          <p:cNvSpPr txBox="1"/>
          <p:nvPr/>
        </p:nvSpPr>
        <p:spPr>
          <a:xfrm>
            <a:off x="7391400" y="2336800"/>
            <a:ext cx="16256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09639"/>
                </a:solidFill>
                <a:latin typeface="Consolas"/>
              </a:rPr>
              <a:t>server</a:t>
            </a:r>
            <a:endParaRPr sz="1600" b="1">
              <a:solidFill>
                <a:srgbClr val="009639"/>
              </a:solidFill>
              <a:latin typeface="Consolas"/>
            </a:endParaRPr>
          </a:p>
        </p:txBody>
      </p:sp>
      <p:sp>
        <p:nvSpPr>
          <p:cNvPr id="951" name="TextBox 27"/>
          <p:cNvSpPr txBox="1"/>
          <p:nvPr/>
        </p:nvSpPr>
        <p:spPr>
          <a:xfrm>
            <a:off x="7391400" y="2692400"/>
            <a:ext cx="1625600" cy="5440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listen, server_name,</a:t>
            </a:r>
            <a:endParaRPr sz="110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root</a:t>
            </a:r>
            <a:endParaRPr sz="11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53" name="Rectangle 29"/>
          <p:cNvSpPr/>
          <p:nvPr/>
        </p:nvSpPr>
        <p:spPr>
          <a:xfrm>
            <a:off x="9347200" y="2159000"/>
            <a:ext cx="1981200" cy="1854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54" name="Rectangle 30"/>
          <p:cNvSpPr/>
          <p:nvPr/>
        </p:nvSpPr>
        <p:spPr>
          <a:xfrm>
            <a:off x="9347200" y="2159000"/>
            <a:ext cx="1981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55" name="TextBox 31"/>
          <p:cNvSpPr txBox="1"/>
          <p:nvPr/>
        </p:nvSpPr>
        <p:spPr>
          <a:xfrm>
            <a:off x="9525000" y="2336800"/>
            <a:ext cx="1625600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009639"/>
                </a:solidFill>
                <a:latin typeface="Consolas"/>
              </a:rPr>
              <a:t>location</a:t>
            </a:r>
            <a:endParaRPr sz="1600" b="1">
              <a:solidFill>
                <a:srgbClr val="009639"/>
              </a:solidFill>
              <a:latin typeface="Consolas"/>
            </a:endParaRPr>
          </a:p>
        </p:txBody>
      </p:sp>
      <p:sp>
        <p:nvSpPr>
          <p:cNvPr id="956" name="TextBox 32"/>
          <p:cNvSpPr txBox="1"/>
          <p:nvPr/>
        </p:nvSpPr>
        <p:spPr>
          <a:xfrm>
            <a:off x="9525000" y="2692400"/>
            <a:ext cx="1625600" cy="5440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URI-правила,</a:t>
            </a:r>
            <a:endParaRPr sz="110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334155"/>
                </a:solidFill>
                <a:latin typeface="Arial"/>
              </a:rPr>
              <a:t>try_files, proxy_pass</a:t>
            </a:r>
            <a:endParaRPr sz="110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57" name="TextBox 33"/>
          <p:cNvSpPr txBox="1"/>
          <p:nvPr/>
        </p:nvSpPr>
        <p:spPr>
          <a:xfrm>
            <a:off x="812800" y="4521200"/>
            <a:ext cx="10566400" cy="9532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50">
                <a:solidFill>
                  <a:srgbClr val="334155"/>
                </a:solidFill>
                <a:latin typeface="Arial"/>
              </a:rPr>
              <a:t>Простые директивы заканчиваются ;, блочные — { }.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450">
                <a:solidFill>
                  <a:srgbClr val="334155"/>
                </a:solidFill>
                <a:latin typeface="Arial"/>
              </a:rPr>
              <a:t>include /etc/nginx/conf.d/*.conf; — подключение файлов.</a:t>
            </a:r>
            <a:endParaRPr sz="1450">
              <a:solidFill>
                <a:srgbClr val="334155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450">
                <a:solidFill>
                  <a:srgbClr val="334155"/>
                </a:solidFill>
                <a:latin typeface="Arial"/>
              </a:rPr>
              <a:t>Настройки наследуются сверху вниз: http → server → location.</a:t>
            </a:r>
            <a:endParaRPr sz="14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58" name="Rectangle 34"/>
          <p:cNvSpPr/>
          <p:nvPr/>
        </p:nvSpPr>
        <p:spPr>
          <a:xfrm>
            <a:off x="812800" y="5740400"/>
            <a:ext cx="10566400" cy="4318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59" name="TextBox 35"/>
          <p:cNvSpPr txBox="1"/>
          <p:nvPr/>
        </p:nvSpPr>
        <p:spPr>
          <a:xfrm>
            <a:off x="1066800" y="5854700"/>
            <a:ext cx="101092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50">
                <a:solidFill>
                  <a:srgbClr val="64748B"/>
                </a:solidFill>
                <a:latin typeface="Arial"/>
              </a:rPr>
              <a:t>Основной файл — /etc/nginx/nginx.conf. server слушает порт и домен, location выбирает правило по URI.</a:t>
            </a:r>
            <a:endParaRPr sz="1150">
              <a:solidFill>
                <a:srgbClr val="64748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6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ДИРЕКТИВЫ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6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Что настроить в первую очередь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96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6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6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ДИРЕКТИВЫ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96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38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968" name="TextBox 8"/>
          <p:cNvSpPr txBox="1"/>
          <p:nvPr/>
        </p:nvSpPr>
        <p:spPr>
          <a:xfrm>
            <a:off x="812800" y="1473200"/>
            <a:ext cx="105664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i="1">
                <a:solidFill>
                  <a:srgbClr val="64748B"/>
                </a:solidFill>
                <a:latin typeface="Arial"/>
              </a:rPr>
              <a:t>Минимум для типового SPA: статика, fallback, API и HTTPS.</a:t>
            </a:r>
            <a:endParaRPr sz="135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969" name="Rectangle 9"/>
          <p:cNvSpPr/>
          <p:nvPr/>
        </p:nvSpPr>
        <p:spPr>
          <a:xfrm>
            <a:off x="812800" y="1778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70" name="Rectangle 10"/>
          <p:cNvSpPr/>
          <p:nvPr/>
        </p:nvSpPr>
        <p:spPr>
          <a:xfrm>
            <a:off x="812800" y="1778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71" name="TextBox 11"/>
          <p:cNvSpPr txBox="1"/>
          <p:nvPr/>
        </p:nvSpPr>
        <p:spPr>
          <a:xfrm>
            <a:off x="1016000" y="1943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01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72" name="TextBox 12"/>
          <p:cNvSpPr txBox="1"/>
          <p:nvPr/>
        </p:nvSpPr>
        <p:spPr>
          <a:xfrm>
            <a:off x="1016000" y="2171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listen · server_name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973" name="TextBox 13"/>
          <p:cNvSpPr txBox="1"/>
          <p:nvPr/>
        </p:nvSpPr>
        <p:spPr>
          <a:xfrm>
            <a:off x="1016000" y="2667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Порт и домен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74" name="Rectangle 14"/>
          <p:cNvSpPr/>
          <p:nvPr/>
        </p:nvSpPr>
        <p:spPr>
          <a:xfrm>
            <a:off x="3505200" y="1778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75" name="Rectangle 15"/>
          <p:cNvSpPr/>
          <p:nvPr/>
        </p:nvSpPr>
        <p:spPr>
          <a:xfrm>
            <a:off x="3505200" y="1778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76" name="TextBox 16"/>
          <p:cNvSpPr txBox="1"/>
          <p:nvPr/>
        </p:nvSpPr>
        <p:spPr>
          <a:xfrm>
            <a:off x="3708400" y="1943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02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77" name="TextBox 17"/>
          <p:cNvSpPr txBox="1"/>
          <p:nvPr/>
        </p:nvSpPr>
        <p:spPr>
          <a:xfrm>
            <a:off x="3708400" y="2171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root · index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978" name="TextBox 18"/>
          <p:cNvSpPr txBox="1"/>
          <p:nvPr/>
        </p:nvSpPr>
        <p:spPr>
          <a:xfrm>
            <a:off x="3708400" y="2667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Корень статики и главный файл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79" name="Rectangle 19"/>
          <p:cNvSpPr/>
          <p:nvPr/>
        </p:nvSpPr>
        <p:spPr>
          <a:xfrm>
            <a:off x="6197600" y="1778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80" name="Rectangle 20"/>
          <p:cNvSpPr/>
          <p:nvPr/>
        </p:nvSpPr>
        <p:spPr>
          <a:xfrm>
            <a:off x="6197600" y="1778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81" name="TextBox 21"/>
          <p:cNvSpPr txBox="1"/>
          <p:nvPr/>
        </p:nvSpPr>
        <p:spPr>
          <a:xfrm>
            <a:off x="6400800" y="1943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03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82" name="TextBox 22"/>
          <p:cNvSpPr txBox="1"/>
          <p:nvPr/>
        </p:nvSpPr>
        <p:spPr>
          <a:xfrm>
            <a:off x="6400800" y="2171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location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983" name="TextBox 23"/>
          <p:cNvSpPr txBox="1"/>
          <p:nvPr/>
        </p:nvSpPr>
        <p:spPr>
          <a:xfrm>
            <a:off x="6400800" y="2667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Правила по URI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84" name="Rectangle 24"/>
          <p:cNvSpPr/>
          <p:nvPr/>
        </p:nvSpPr>
        <p:spPr>
          <a:xfrm>
            <a:off x="8890000" y="1778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85" name="Rectangle 25"/>
          <p:cNvSpPr/>
          <p:nvPr/>
        </p:nvSpPr>
        <p:spPr>
          <a:xfrm>
            <a:off x="8890000" y="1778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86" name="TextBox 26"/>
          <p:cNvSpPr txBox="1"/>
          <p:nvPr/>
        </p:nvSpPr>
        <p:spPr>
          <a:xfrm>
            <a:off x="9093200" y="1943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04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87" name="TextBox 27"/>
          <p:cNvSpPr txBox="1"/>
          <p:nvPr/>
        </p:nvSpPr>
        <p:spPr>
          <a:xfrm>
            <a:off x="9093200" y="2171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try_files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988" name="TextBox 28"/>
          <p:cNvSpPr txBox="1"/>
          <p:nvPr/>
        </p:nvSpPr>
        <p:spPr>
          <a:xfrm>
            <a:off x="9093200" y="2667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SPA-fallback на index.html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89" name="Rectangle 29"/>
          <p:cNvSpPr/>
          <p:nvPr/>
        </p:nvSpPr>
        <p:spPr>
          <a:xfrm>
            <a:off x="812800" y="3683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90" name="Rectangle 30"/>
          <p:cNvSpPr/>
          <p:nvPr/>
        </p:nvSpPr>
        <p:spPr>
          <a:xfrm>
            <a:off x="812800" y="3683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91" name="TextBox 31"/>
          <p:cNvSpPr txBox="1"/>
          <p:nvPr/>
        </p:nvSpPr>
        <p:spPr>
          <a:xfrm>
            <a:off x="1016000" y="3848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05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92" name="TextBox 32"/>
          <p:cNvSpPr txBox="1"/>
          <p:nvPr/>
        </p:nvSpPr>
        <p:spPr>
          <a:xfrm>
            <a:off x="1016000" y="4076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proxy_pass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993" name="TextBox 33"/>
          <p:cNvSpPr txBox="1"/>
          <p:nvPr/>
        </p:nvSpPr>
        <p:spPr>
          <a:xfrm>
            <a:off x="1016000" y="4572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Запросы в API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94" name="Rectangle 34"/>
          <p:cNvSpPr/>
          <p:nvPr/>
        </p:nvSpPr>
        <p:spPr>
          <a:xfrm>
            <a:off x="3505200" y="3683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95" name="Rectangle 35"/>
          <p:cNvSpPr/>
          <p:nvPr/>
        </p:nvSpPr>
        <p:spPr>
          <a:xfrm>
            <a:off x="3505200" y="3683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96" name="TextBox 36"/>
          <p:cNvSpPr txBox="1"/>
          <p:nvPr/>
        </p:nvSpPr>
        <p:spPr>
          <a:xfrm>
            <a:off x="3708400" y="3848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06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997" name="TextBox 37"/>
          <p:cNvSpPr txBox="1"/>
          <p:nvPr/>
        </p:nvSpPr>
        <p:spPr>
          <a:xfrm>
            <a:off x="3708400" y="4076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upstream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998" name="TextBox 38"/>
          <p:cNvSpPr txBox="1"/>
          <p:nvPr/>
        </p:nvSpPr>
        <p:spPr>
          <a:xfrm>
            <a:off x="3708400" y="4572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Несколько бэкендов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999" name="Rectangle 39"/>
          <p:cNvSpPr/>
          <p:nvPr/>
        </p:nvSpPr>
        <p:spPr>
          <a:xfrm>
            <a:off x="6197600" y="3683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00" name="Rectangle 40"/>
          <p:cNvSpPr/>
          <p:nvPr/>
        </p:nvSpPr>
        <p:spPr>
          <a:xfrm>
            <a:off x="6197600" y="3683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01" name="TextBox 41"/>
          <p:cNvSpPr txBox="1"/>
          <p:nvPr/>
        </p:nvSpPr>
        <p:spPr>
          <a:xfrm>
            <a:off x="6400800" y="3848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07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1002" name="TextBox 42"/>
          <p:cNvSpPr txBox="1"/>
          <p:nvPr/>
        </p:nvSpPr>
        <p:spPr>
          <a:xfrm>
            <a:off x="6400800" y="4076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expires · gzip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1003" name="TextBox 43"/>
          <p:cNvSpPr txBox="1"/>
          <p:nvPr/>
        </p:nvSpPr>
        <p:spPr>
          <a:xfrm>
            <a:off x="6400800" y="4572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Кэш и сжатие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  <p:sp>
        <p:nvSpPr>
          <p:cNvPr id="1004" name="Rectangle 44"/>
          <p:cNvSpPr/>
          <p:nvPr/>
        </p:nvSpPr>
        <p:spPr>
          <a:xfrm>
            <a:off x="8890000" y="3683000"/>
            <a:ext cx="2489200" cy="172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05" name="Rectangle 45"/>
          <p:cNvSpPr/>
          <p:nvPr/>
        </p:nvSpPr>
        <p:spPr>
          <a:xfrm>
            <a:off x="8890000" y="3683000"/>
            <a:ext cx="2489200" cy="635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06" name="TextBox 46"/>
          <p:cNvSpPr txBox="1"/>
          <p:nvPr/>
        </p:nvSpPr>
        <p:spPr>
          <a:xfrm>
            <a:off x="9093200" y="3848100"/>
            <a:ext cx="2082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1">
                <a:solidFill>
                  <a:srgbClr val="009639"/>
                </a:solidFill>
                <a:latin typeface="Arial"/>
              </a:rPr>
              <a:t>08</a:t>
            </a:r>
            <a:endParaRPr sz="90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1007" name="TextBox 47"/>
          <p:cNvSpPr txBox="1"/>
          <p:nvPr/>
        </p:nvSpPr>
        <p:spPr>
          <a:xfrm>
            <a:off x="9093200" y="4076700"/>
            <a:ext cx="20828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0F172A"/>
                </a:solidFill>
                <a:latin typeface="Consolas"/>
              </a:rPr>
              <a:t>ssl · return 301</a:t>
            </a:r>
            <a:endParaRPr sz="1350" b="1">
              <a:solidFill>
                <a:srgbClr val="0F172A"/>
              </a:solidFill>
              <a:latin typeface="Consolas"/>
            </a:endParaRPr>
          </a:p>
        </p:txBody>
      </p:sp>
      <p:sp>
        <p:nvSpPr>
          <p:cNvPr id="1008" name="TextBox 48"/>
          <p:cNvSpPr txBox="1"/>
          <p:nvPr/>
        </p:nvSpPr>
        <p:spPr>
          <a:xfrm>
            <a:off x="9093200" y="4572000"/>
            <a:ext cx="2082800" cy="558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150">
                <a:solidFill>
                  <a:srgbClr val="334155"/>
                </a:solidFill>
                <a:latin typeface="Arial"/>
              </a:rPr>
              <a:t>HTTPS и редирект</a:t>
            </a:r>
            <a:endParaRPr sz="1150">
              <a:solidFill>
                <a:srgbClr val="334155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11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09639"/>
                </a:solidFill>
                <a:latin typeface="Arial"/>
              </a:rPr>
              <a:t>NGINX · ПРИМЕР</a:t>
            </a:r>
            <a:endParaRPr sz="1050" b="1">
              <a:solidFill>
                <a:srgbClr val="009639"/>
              </a:solidFill>
              <a:latin typeface="Arial"/>
            </a:endParaRPr>
          </a:p>
        </p:txBody>
      </p:sp>
      <p:sp>
        <p:nvSpPr>
          <p:cNvPr id="1012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Минимальный конфиг для SPA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1013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14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15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NGINX · ПРИМЕР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1016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39</a:t>
            </a:r>
            <a:endParaRPr sz="900">
              <a:solidFill>
                <a:srgbClr val="64748B"/>
              </a:solidFill>
              <a:latin typeface="Arial"/>
            </a:endParaRPr>
          </a:p>
        </p:txBody>
      </p:sp>
      <p:sp>
        <p:nvSpPr>
          <p:cNvPr id="1017" name="TextBox 8"/>
          <p:cNvSpPr txBox="1"/>
          <p:nvPr/>
        </p:nvSpPr>
        <p:spPr>
          <a:xfrm>
            <a:off x="812800" y="1473200"/>
            <a:ext cx="10566400" cy="338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50" i="1">
                <a:solidFill>
                  <a:srgbClr val="64748B"/>
                </a:solidFill>
                <a:latin typeface="Arial"/>
              </a:rPr>
              <a:t>Один server: статика, SPA-fallback и proxy на API.</a:t>
            </a:r>
            <a:endParaRPr sz="1350" i="1">
              <a:solidFill>
                <a:srgbClr val="64748B"/>
              </a:solidFill>
              <a:latin typeface="Arial"/>
            </a:endParaRPr>
          </a:p>
        </p:txBody>
      </p:sp>
      <p:sp>
        <p:nvSpPr>
          <p:cNvPr id="1018" name="Rectangle 9"/>
          <p:cNvSpPr/>
          <p:nvPr/>
        </p:nvSpPr>
        <p:spPr>
          <a:xfrm>
            <a:off x="812800" y="1879600"/>
            <a:ext cx="10566400" cy="32004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19" name="TextBox 10"/>
          <p:cNvSpPr txBox="1"/>
          <p:nvPr/>
        </p:nvSpPr>
        <p:spPr>
          <a:xfrm>
            <a:off x="1066800" y="2032000"/>
            <a:ext cx="10134600" cy="29077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server {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listen 80;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server_name example.com;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root /usr/share/nginx/html;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index index.html;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location / {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  try_files $uri $uri/ /index.html;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}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location /api/ {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  proxy_pass http://backend:8080/;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  }</a:t>
            </a:r>
            <a:endParaRPr sz="1100">
              <a:solidFill>
                <a:srgbClr val="E2E8F0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E2E8F0"/>
                </a:solidFill>
                <a:latin typeface="Consolas"/>
              </a:rPr>
              <a:t>}</a:t>
            </a:r>
            <a:endParaRPr sz="110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020" name="Rectangle 11"/>
          <p:cNvSpPr/>
          <p:nvPr/>
        </p:nvSpPr>
        <p:spPr>
          <a:xfrm>
            <a:off x="812800" y="5334000"/>
            <a:ext cx="10566400" cy="7620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21" name="Rectangle 12"/>
          <p:cNvSpPr/>
          <p:nvPr/>
        </p:nvSpPr>
        <p:spPr>
          <a:xfrm>
            <a:off x="812800" y="5334000"/>
            <a:ext cx="76200" cy="762000"/>
          </a:xfrm>
          <a:prstGeom prst="rect">
            <a:avLst/>
          </a:prstGeom>
          <a:solidFill>
            <a:srgbClr val="0096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022" name="TextBox 13"/>
          <p:cNvSpPr txBox="1"/>
          <p:nvPr/>
        </p:nvSpPr>
        <p:spPr>
          <a:xfrm>
            <a:off x="1092200" y="5486400"/>
            <a:ext cx="10033000" cy="5867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1E293B"/>
                </a:solidFill>
                <a:latin typeface="Arial"/>
              </a:rPr>
              <a:t>Без try_files прямой заход на /posts/1 даст 404. gzip, кэш и HTTPS добавляются в этот же server.</a:t>
            </a:r>
            <a:endParaRPr sz="1250">
              <a:solidFill>
                <a:srgbClr val="1E293B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1E293B"/>
                </a:solidFill>
                <a:latin typeface="Arial"/>
              </a:rPr>
              <a:t>Проверка: nginx -t → nginx -s reload.</a:t>
            </a:r>
            <a:endParaRPr sz="1250">
              <a:solidFill>
                <a:srgbClr val="1E293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Rectangle 1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2" name="TextBox 2"/>
          <p:cNvSpPr txBox="1"/>
          <p:nvPr/>
        </p:nvSpPr>
        <p:spPr>
          <a:xfrm>
            <a:off x="812800" y="330200"/>
            <a:ext cx="8890000" cy="251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ИТОГ</a:t>
            </a:r>
            <a:endParaRPr sz="105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43" name="TextBox 3"/>
          <p:cNvSpPr txBox="1"/>
          <p:nvPr/>
        </p:nvSpPr>
        <p:spPr>
          <a:xfrm>
            <a:off x="812800" y="609600"/>
            <a:ext cx="10566400" cy="5273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F172A"/>
                </a:solidFill>
                <a:latin typeface="Arial"/>
              </a:rPr>
              <a:t>Что дальше</a:t>
            </a:r>
            <a:endParaRPr sz="2600" b="1">
              <a:solidFill>
                <a:srgbClr val="0F172A"/>
              </a:solidFill>
              <a:latin typeface="Arial"/>
            </a:endParaRPr>
          </a:p>
        </p:txBody>
      </p:sp>
      <p:sp>
        <p:nvSpPr>
          <p:cNvPr id="644" name="Rectangle 4"/>
          <p:cNvSpPr/>
          <p:nvPr/>
        </p:nvSpPr>
        <p:spPr>
          <a:xfrm>
            <a:off x="812800" y="1295400"/>
            <a:ext cx="609600" cy="50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5" name="Rectangle 5"/>
          <p:cNvSpPr/>
          <p:nvPr/>
        </p:nvSpPr>
        <p:spPr>
          <a:xfrm>
            <a:off x="812800" y="6362700"/>
            <a:ext cx="105664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6" name="TextBox 6"/>
          <p:cNvSpPr txBox="1"/>
          <p:nvPr/>
        </p:nvSpPr>
        <p:spPr>
          <a:xfrm>
            <a:off x="812800" y="6438900"/>
            <a:ext cx="7620000" cy="22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64748B"/>
                </a:solidFill>
                <a:latin typeface="Arial"/>
              </a:rPr>
              <a:t>ИТОГ</a:t>
            </a:r>
            <a:endParaRPr sz="850">
              <a:solidFill>
                <a:srgbClr val="64748B"/>
              </a:solidFill>
              <a:latin typeface="Arial"/>
            </a:endParaRPr>
          </a:p>
        </p:txBody>
      </p:sp>
      <p:sp>
        <p:nvSpPr>
          <p:cNvPr id="647" name="TextBox 7"/>
          <p:cNvSpPr txBox="1"/>
          <p:nvPr/>
        </p:nvSpPr>
        <p:spPr>
          <a:xfrm>
            <a:off x="10820400" y="6438900"/>
            <a:ext cx="558800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>
                <a:solidFill>
                  <a:srgbClr val="64748B"/>
                </a:solidFill>
                <a:latin typeface="Arial"/>
              </a:rPr>
              <a:t>40</a:t>
            </a:r>
          </a:p>
        </p:txBody>
      </p:sp>
      <p:sp>
        <p:nvSpPr>
          <p:cNvPr id="648" name="TextBox 8"/>
          <p:cNvSpPr txBox="1"/>
          <p:nvPr/>
        </p:nvSpPr>
        <p:spPr>
          <a:xfrm>
            <a:off x="812800" y="1574800"/>
            <a:ext cx="10566400" cy="1906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Практика: собрать проект на Vite+ с Oxlint и раздать его через Nginx.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Развернуть SPA: Docker + Nginx, try_files, proxy на API.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Настроить CI: voidzero-dev/setup-vp + vp check.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Документация: vite.dev, viteplus.dev, oxc.rs, nginx.org.</a:t>
            </a:r>
          </a:p>
          <a:p>
            <a:pPr marL="228600" indent="-228600">
              <a:lnSpc>
                <a:spcPct val="128000"/>
              </a:lnSpc>
              <a:spcAft>
                <a:spcPts val="500"/>
              </a:spcAft>
              <a:buClr>
                <a:srgbClr val="0F172A"/>
              </a:buClr>
              <a:buSzPct val="90000"/>
              <a:buFont typeface="Arial"/>
              <a:buChar char="•"/>
            </a:pPr>
            <a:r>
              <a:rPr sz="1600">
                <a:solidFill>
                  <a:srgbClr val="334155"/>
                </a:solidFill>
                <a:latin typeface="Arial"/>
              </a:rPr>
              <a:t>Карточки: 143 вопроса + конфиг Nginx — для самопроверки.</a:t>
            </a:r>
          </a:p>
        </p:txBody>
      </p:sp>
      <p:sp>
        <p:nvSpPr>
          <p:cNvPr id="649" name="Rectangle 9"/>
          <p:cNvSpPr/>
          <p:nvPr/>
        </p:nvSpPr>
        <p:spPr>
          <a:xfrm>
            <a:off x="812800" y="4953000"/>
            <a:ext cx="10566400" cy="8890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0" name="Rectangle 10"/>
          <p:cNvSpPr/>
          <p:nvPr/>
        </p:nvSpPr>
        <p:spPr>
          <a:xfrm>
            <a:off x="812800" y="4953000"/>
            <a:ext cx="76200" cy="889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1" name="TextBox 11"/>
          <p:cNvSpPr txBox="1"/>
          <p:nvPr/>
        </p:nvSpPr>
        <p:spPr>
          <a:xfrm>
            <a:off x="1117600" y="5130800"/>
            <a:ext cx="10033000" cy="3474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Покрытие: Vite — 85 карточек, Vite+ — 46, Oxc — 12. Плюс блок Nginx: конфиг, proxy, кэш, HTTPS.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aper">
  <a:themeElements>
    <a:clrScheme name="Paper">
      <a:dk1>
        <a:srgbClr val="262626"/>
      </a:dk1>
      <a:lt1>
        <a:srgbClr val="FFFFFF"/>
      </a:lt1>
      <a:dk2>
        <a:srgbClr val="404040"/>
      </a:dk2>
      <a:lt2>
        <a:srgbClr val="F2F2F2"/>
      </a:lt2>
      <a:accent1>
        <a:srgbClr val="595959"/>
      </a:accent1>
      <a:accent2>
        <a:srgbClr val="8C8C8C"/>
      </a:accent2>
      <a:accent3>
        <a:srgbClr val="C0504D"/>
      </a:accent3>
      <a:accent4>
        <a:srgbClr val="4F81BD"/>
      </a:accent4>
      <a:accent5>
        <a:srgbClr val="9BBB59"/>
      </a:accent5>
      <a:accent6>
        <a:srgbClr val="F79646"/>
      </a:accent6>
      <a:hlink>
        <a:srgbClr val="4F81BD"/>
      </a:hlink>
      <a:folHlink>
        <a:srgbClr val="8064A2"/>
      </a:folHlink>
    </a:clrScheme>
    <a:fontScheme name="Paper">
      <a:majorFont>
        <a:latin typeface="Playfair Display"/>
        <a:ea typeface=""/>
        <a:cs typeface=""/>
      </a:majorFont>
      <a:minorFont>
        <a:latin typeface="Lato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40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Vite, Vite+, Oxc и Nginx — Лекция 1</dc:title>
  <dc:subject>Сборка, линтинг, доставка фронтенда и Nginx</dc:subject>
  <dc:creator>Лекция 1</dc:creator>
  <cp:keywords>Vite, Vite+, Oxc, Oxlint, Oxfmt, Nginx</cp:keywords>
  <dc:description>143 карточки: Vite 85, Vite+ 46, Oxc 12 + блок Nginx</dc:description>
</cp:coreProperties>
</file>