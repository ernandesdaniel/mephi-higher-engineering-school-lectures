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slideMasters/slideMaster2.xml" ContentType="application/vnd.openxmlformats-officedocument.presentationml.slideMaster+xml"/>
  <Override PartName="/ppt/theme/theme3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presentation.xml" ContentType="application/vnd.openxmlformats-officedocument.presentationml.presentation.main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50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</p:sldIdLst>
  <p:sldSz cx="12192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3C8753EA-CB70-4392-8250-16E8700934DB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</p14:sldIdLst>
        </p14:section>
      </p14:sectionLst>
    </p:ext>
    <p:ext xmlns:p="http://schemas.openxmlformats.org/presentationml/2006/main"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</p:showPr>
</p:presentationPr>
</file>

<file path=ppt/tableStyles.xml><?xml version="1.0" encoding="utf-8"?>
<a:tblStyleLst xmlns:a="http://schemas.openxmlformats.org/drawingml/2006/main" def="{5C22544A-7EE6-4342-B048-85BDC9FD1C3A}">
  <a:tblStyle xmlns:a="http://schemas.openxmlformats.org/drawingml/2006/main"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xmlns:a="http://schemas.openxmlformats.org/drawingml/2006/main" styleId="{073A0DAA-6AF3-43AB-8588-CEC1D06C72B9}" styleName="Средний стиль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xmlns:a="http://schemas.openxmlformats.org/drawingml/2006/main" styleId="{5940675A-B579-460E-94D1-54222C63F5DA}" styleName="Нет стиля, сетка таблиц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theme" Target="theme/theme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998F326-38F9-40E9-844A-EC66DA56CEC0}" type="datetimeFigureOut">
              <a:rPr lang="ru-RU"/>
              <a:t>10.12.2025</a:t>
            </a:fld>
            <a:endParaRPr lang="ru-RU"/>
          </a:p>
        </p:txBody>
      </p:sp>
      <p:sp>
        <p:nvSpPr>
          <p:cNvPr id="4" name="Slide Image Placeholder 3"/>
          <p:cNvSpPr>
            <a:spLocks noGrp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44DB33E-DF1A-4DDD-8617-8BEBD58B3BBA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cust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 hasCustomPrompt="1"/>
          </p:nvPr>
        </p:nvSpPr>
        <p:spPr>
          <a:xfrm>
            <a:off x="719666" y="2827365"/>
            <a:ext cx="7615767" cy="1583916"/>
          </a:xfrm>
          <a:prstGeom prst="rect">
            <a:avLst/>
          </a:prstGeom>
        </p:spPr>
        <p:txBody>
          <a:bodyPr lIns="0" tIns="0" rIns="0" bIns="0"/>
          <a:lstStyle>
            <a:lvl1pPr>
              <a:defRPr sz="3597" b="1">
                <a:solidFill>
                  <a:srgbClr val="404040"/>
                </a:solidFill>
                <a:latin typeface="+mn-lt"/>
              </a:defRPr>
            </a:lvl1pPr>
          </a:lstStyle>
          <a:p>
            <a:pPr marL="0" marR="0" indent="0" defTabSz="1218072" eaLnBrk="1" latinLnBrk="0" hangingPunct="1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ru-RU" sz="3597" b="1" i="0" u="none" strike="noStrike" kern="0" cap="none" spc="0" baseline="0" noProof="0">
                <a:ln>
                  <a:noFill/>
                </a:ln>
                <a:solidFill>
                  <a:sysClr val="windowText" lastClr="000000">
                    <a:lumMod val="75000"/>
                    <a:lumOff val="25000"/>
                  </a:sysClr>
                </a:solidFill>
                <a:latin typeface="Arial"/>
              </a:rPr>
              <a:t>Тема презентации</a:t>
            </a:r>
            <a:endParaRPr lang="en-US" sz="3597" b="1" i="0" u="none" strike="noStrike" kern="0" cap="none" spc="0" baseline="0" noProof="0">
              <a:ln>
                <a:noFill/>
              </a:ln>
              <a:solidFill>
                <a:sysClr val="windowText" lastClr="000000">
                  <a:lumMod val="75000"/>
                  <a:lumOff val="25000"/>
                </a:sysClr>
              </a:solidFill>
              <a:latin typeface="Arial"/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719666" y="5059671"/>
            <a:ext cx="7615767" cy="379226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1865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defRPr>
            </a:lvl1pPr>
          </a:lstStyle>
          <a:p>
            <a:r>
              <a:rPr lang="ru-RU">
                <a:latin typeface="Arial"/>
                <a:cs typeface="Arial"/>
              </a:rPr>
              <a:t>Наименование мероприятия </a:t>
            </a:r>
            <a:r>
              <a:rPr lang="en-US">
                <a:latin typeface="Arial"/>
                <a:cs typeface="Arial"/>
              </a:rPr>
              <a:t>/</a:t>
            </a:r>
            <a:r>
              <a:rPr lang="ru-RU">
                <a:latin typeface="Arial"/>
                <a:cs typeface="Arial"/>
              </a:rPr>
              <a:t> название площадки</a:t>
            </a:r>
          </a:p>
        </p:txBody>
      </p:sp>
      <p:sp>
        <p:nvSpPr>
          <p:cNvPr id="6" name="Text Placeholder 3"/>
          <p:cNvSpPr>
            <a:spLocks noGrp="1"/>
          </p:cNvSpPr>
          <p:nvPr>
            <p:ph type="body" sz="quarter" idx="11" hasCustomPrompt="1"/>
          </p:nvPr>
        </p:nvSpPr>
        <p:spPr>
          <a:xfrm>
            <a:off x="719666" y="5610804"/>
            <a:ext cx="7615767" cy="291045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1218072" rtl="0" eaLnBrk="1" latinLnBrk="0" hangingPunct="1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65" b="1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defRPr>
            </a:lvl1pPr>
          </a:lstStyle>
          <a:p>
            <a:pPr marL="0" marR="0" indent="0" algn="l" defTabSz="1218072" rtl="0" eaLnBrk="1" latinLnBrk="0" hangingPunct="1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ru-RU" sz="1865" b="1">
                <a:solidFill>
                  <a:srgbClr val="333333"/>
                </a:solidFill>
                <a:latin typeface="Arial"/>
                <a:ea typeface="Rosatom Light"/>
                <a:cs typeface="Arial"/>
              </a:rPr>
              <a:t>ФИО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719666" y="5898539"/>
            <a:ext cx="7615767" cy="379226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1218072" rtl="0" eaLnBrk="1" latinLnBrk="0" hangingPunct="1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65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defRPr>
            </a:lvl1pPr>
          </a:lstStyle>
          <a:p>
            <a:pPr marL="0" marR="0" indent="0" algn="l" defTabSz="1218072" rtl="0" eaLnBrk="1" latinLnBrk="0" hangingPunct="1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ru-RU" sz="1865">
                <a:solidFill>
                  <a:srgbClr val="333333"/>
                </a:solidFill>
                <a:latin typeface="Arial"/>
                <a:ea typeface="Rosatom Light"/>
                <a:cs typeface="Arial"/>
              </a:rPr>
              <a:t>Должность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D0F9E-EF7E-4C26-8662-25A73F2263DD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C18080-B33E-4073-8615-72D8F5AE8F78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CB9569-04AF-4288-8880-64CE52ABE7A3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533E07-937E-4FED-8300-891295843456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28B55B-FA15-48BA-860D-0231187503D9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E0EBC0-ADA9-4FA7-889C-9287646BC79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A25AB8-FB3A-479C-8780-0B7E5F586C0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FC29A-6C4F-4141-86E3-1A3E2D58E3A2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19C649-D3E0-46CB-87C1-67136E4226A6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EBE78A-EB3E-401E-81B5-D7F53201DAF3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07AEC-4DB1-4201-8352-72C66BEDFD2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cust">
  <p:cSld name="1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cust">
  <p:cSld name="1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cust">
  <p:cSld name="1_Пользовательский маке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 hasCustomPrompt="1"/>
          </p:nvPr>
        </p:nvSpPr>
        <p:spPr>
          <a:xfrm>
            <a:off x="1953928" y="38400"/>
            <a:ext cx="8876299" cy="1087755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numCol="1" anchor="ctr" anchorCtr="0"/>
          <a:lstStyle>
            <a:lvl1pPr>
              <a:defRPr spc="0" baseline="0"/>
            </a:lvl1pPr>
          </a:lstStyle>
          <a:p>
            <a:r>
              <a:rPr lang="ru-RU"/>
              <a:t>ОБРАЗЕЦ ЗАГОЛОВКА</a:t>
            </a:r>
          </a:p>
        </p:txBody>
      </p:sp>
    </p:spTree>
  </p:cSld>
  <p:clrMapOvr>
    <a:masterClrMapping/>
  </p:clrMapOvr>
  <p:extLst>
    <p:ext xmlns:a="http://schemas.openxmlformats.org/drawingml/2006/main" xmlns:p="http://schemas.openxmlformats.org/presentationml/2006/main" uri="{DCECCB84-F9BA-43D5-87BE-67443E8EF086}">
      <p15:sldGuideLst xmlns:p15="http://schemas.microsoft.com/office/powerpoint/2012/main">
        <p15:guide id="1" pos="1232">
          <p15:clr>
            <a:srgbClr val="FBAE40"/>
          </p15:clr>
        </p15:guide>
        <p15:guide id="2" orient="horz" pos="459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Masters/_rels/slideMaster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slideLayout" Target="../slideLayouts/slideLayout3.xml"/><Relationship Id="rId3" Type="http://schemas.openxmlformats.org/officeDocument/2006/relationships/slideLayout" Target="../slideLayouts/slideLayout4.xml"/><Relationship Id="rId4" Type="http://schemas.openxmlformats.org/officeDocument/2006/relationships/slideLayout" Target="../slideLayouts/slideLayout5.xml"/><Relationship Id="rId5" Type="http://schemas.openxmlformats.org/officeDocument/2006/relationships/slideLayout" Target="../slideLayouts/slideLayout6.xml"/><Relationship Id="rId6" Type="http://schemas.openxmlformats.org/officeDocument/2006/relationships/slideLayout" Target="../slideLayouts/slideLayout7.xml"/><Relationship Id="rId7" Type="http://schemas.openxmlformats.org/officeDocument/2006/relationships/slideLayout" Target="../slideLayouts/slideLayout8.xml"/><Relationship Id="rId8" Type="http://schemas.openxmlformats.org/officeDocument/2006/relationships/slideLayout" Target="../slideLayouts/slideLayout9.xml"/><Relationship Id="rId9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11.xml"/><Relationship Id="rId11" Type="http://schemas.openxmlformats.org/officeDocument/2006/relationships/slideLayout" Target="../slideLayouts/slideLayout12.xml"/><Relationship Id="rId12" Type="http://schemas.openxmlformats.org/officeDocument/2006/relationships/slideLayout" Target="../slideLayouts/slideLayout13.xml"/><Relationship Id="rId13" Type="http://schemas.openxmlformats.org/officeDocument/2006/relationships/slideLayout" Target="../slideLayouts/slideLayout14.xml"/><Relationship Id="rId14" Type="http://schemas.openxmlformats.org/officeDocument/2006/relationships/slideLayout" Target="../slideLayouts/slideLayout15.xml"/><Relationship Id="rId15" Type="http://schemas.openxmlformats.org/officeDocument/2006/relationships/theme" Target="../theme/theme2.xml"/><Relationship Id="rId16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 name="Титульный слайд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0" y="1"/>
            <a:ext cx="12192000" cy="6864096"/>
          </a:xfrm>
          <a:prstGeom prst="rect">
            <a:avLst/>
          </a:prstGeom>
        </p:spPr>
      </p:pic>
      <p:pic>
        <p:nvPicPr>
          <p:cNvPr id="4" name="Picture 1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208800" y="482153"/>
            <a:ext cx="3106425" cy="1151610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3554" rtl="0" eaLnBrk="1" latinLnBrk="0" hangingPunct="1">
        <a:lnSpc>
          <a:spcPct val="90000"/>
        </a:lnSpc>
        <a:spcBef>
          <a:spcPct val="0"/>
        </a:spcBef>
        <a:buNone/>
        <a:defRPr sz="439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389" indent="-228389" algn="l" defTabSz="913554" rtl="0" eaLnBrk="1" latinLnBrk="0" hangingPunct="1">
        <a:lnSpc>
          <a:spcPct val="90000"/>
        </a:lnSpc>
        <a:spcBef>
          <a:spcPts val="999"/>
        </a:spcBef>
        <a:buFont typeface="Arial"/>
        <a:buChar char="•"/>
        <a:defRPr sz="2797" kern="1200">
          <a:solidFill>
            <a:schemeClr val="tx1"/>
          </a:solidFill>
          <a:latin typeface="+mn-lt"/>
          <a:ea typeface="+mn-ea"/>
          <a:cs typeface="+mn-cs"/>
        </a:defRPr>
      </a:lvl1pPr>
      <a:lvl2pPr marL="685166" indent="-228389" algn="l" defTabSz="913554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398" kern="1200">
          <a:solidFill>
            <a:schemeClr val="tx1"/>
          </a:solidFill>
          <a:latin typeface="+mn-lt"/>
          <a:ea typeface="+mn-ea"/>
          <a:cs typeface="+mn-cs"/>
        </a:defRPr>
      </a:lvl2pPr>
      <a:lvl3pPr marL="1141943" indent="-228389" algn="l" defTabSz="913554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998" kern="1200">
          <a:solidFill>
            <a:schemeClr val="tx1"/>
          </a:solidFill>
          <a:latin typeface="+mn-lt"/>
          <a:ea typeface="+mn-ea"/>
          <a:cs typeface="+mn-cs"/>
        </a:defRPr>
      </a:lvl3pPr>
      <a:lvl4pPr marL="1598720" indent="-228389" algn="l" defTabSz="913554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798" kern="1200">
          <a:solidFill>
            <a:schemeClr val="tx1"/>
          </a:solidFill>
          <a:latin typeface="+mn-lt"/>
          <a:ea typeface="+mn-ea"/>
          <a:cs typeface="+mn-cs"/>
        </a:defRPr>
      </a:lvl4pPr>
      <a:lvl5pPr marL="2055497" indent="-228389" algn="l" defTabSz="913554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798" kern="1200">
          <a:solidFill>
            <a:schemeClr val="tx1"/>
          </a:solidFill>
          <a:latin typeface="+mn-lt"/>
          <a:ea typeface="+mn-ea"/>
          <a:cs typeface="+mn-cs"/>
        </a:defRPr>
      </a:lvl5pPr>
      <a:lvl6pPr marL="2512274" indent="-228389" algn="l" defTabSz="913554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798" kern="1200">
          <a:solidFill>
            <a:schemeClr val="tx1"/>
          </a:solidFill>
          <a:latin typeface="+mn-lt"/>
          <a:ea typeface="+mn-ea"/>
          <a:cs typeface="+mn-cs"/>
        </a:defRPr>
      </a:lvl6pPr>
      <a:lvl7pPr marL="2969051" indent="-228389" algn="l" defTabSz="913554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798" kern="1200">
          <a:solidFill>
            <a:schemeClr val="tx1"/>
          </a:solidFill>
          <a:latin typeface="+mn-lt"/>
          <a:ea typeface="+mn-ea"/>
          <a:cs typeface="+mn-cs"/>
        </a:defRPr>
      </a:lvl7pPr>
      <a:lvl8pPr marL="3425828" indent="-228389" algn="l" defTabSz="913554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798" kern="1200">
          <a:solidFill>
            <a:schemeClr val="tx1"/>
          </a:solidFill>
          <a:latin typeface="+mn-lt"/>
          <a:ea typeface="+mn-ea"/>
          <a:cs typeface="+mn-cs"/>
        </a:defRPr>
      </a:lvl8pPr>
      <a:lvl9pPr marL="3882605" indent="-228389" algn="l" defTabSz="913554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79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defTabSz="913554" rtl="0" eaLnBrk="1" latinLnBrk="0" hangingPunct="1">
        <a:defRPr sz="1798" kern="1200">
          <a:solidFill>
            <a:schemeClr val="tx1"/>
          </a:solidFill>
          <a:latin typeface="+mn-lt"/>
          <a:ea typeface="+mn-ea"/>
          <a:cs typeface="+mn-cs"/>
        </a:defRPr>
      </a:lvl1pPr>
      <a:lvl2pPr marL="456777" algn="l" defTabSz="913554" rtl="0" eaLnBrk="1" latinLnBrk="0" hangingPunct="1">
        <a:defRPr sz="1798" kern="1200">
          <a:solidFill>
            <a:schemeClr val="tx1"/>
          </a:solidFill>
          <a:latin typeface="+mn-lt"/>
          <a:ea typeface="+mn-ea"/>
          <a:cs typeface="+mn-cs"/>
        </a:defRPr>
      </a:lvl2pPr>
      <a:lvl3pPr marL="913554" algn="l" defTabSz="913554" rtl="0" eaLnBrk="1" latinLnBrk="0" hangingPunct="1">
        <a:defRPr sz="1798" kern="1200">
          <a:solidFill>
            <a:schemeClr val="tx1"/>
          </a:solidFill>
          <a:latin typeface="+mn-lt"/>
          <a:ea typeface="+mn-ea"/>
          <a:cs typeface="+mn-cs"/>
        </a:defRPr>
      </a:lvl3pPr>
      <a:lvl4pPr marL="1370331" algn="l" defTabSz="913554" rtl="0" eaLnBrk="1" latinLnBrk="0" hangingPunct="1">
        <a:defRPr sz="1798" kern="1200">
          <a:solidFill>
            <a:schemeClr val="tx1"/>
          </a:solidFill>
          <a:latin typeface="+mn-lt"/>
          <a:ea typeface="+mn-ea"/>
          <a:cs typeface="+mn-cs"/>
        </a:defRPr>
      </a:lvl4pPr>
      <a:lvl5pPr marL="1827108" algn="l" defTabSz="913554" rtl="0" eaLnBrk="1" latinLnBrk="0" hangingPunct="1">
        <a:defRPr sz="1798" kern="1200">
          <a:solidFill>
            <a:schemeClr val="tx1"/>
          </a:solidFill>
          <a:latin typeface="+mn-lt"/>
          <a:ea typeface="+mn-ea"/>
          <a:cs typeface="+mn-cs"/>
        </a:defRPr>
      </a:lvl5pPr>
      <a:lvl6pPr marL="2283885" algn="l" defTabSz="913554" rtl="0" eaLnBrk="1" latinLnBrk="0" hangingPunct="1">
        <a:defRPr sz="1798" kern="1200">
          <a:solidFill>
            <a:schemeClr val="tx1"/>
          </a:solidFill>
          <a:latin typeface="+mn-lt"/>
          <a:ea typeface="+mn-ea"/>
          <a:cs typeface="+mn-cs"/>
        </a:defRPr>
      </a:lvl6pPr>
      <a:lvl7pPr marL="2740663" algn="l" defTabSz="913554" rtl="0" eaLnBrk="1" latinLnBrk="0" hangingPunct="1">
        <a:defRPr sz="1798" kern="1200">
          <a:solidFill>
            <a:schemeClr val="tx1"/>
          </a:solidFill>
          <a:latin typeface="+mn-lt"/>
          <a:ea typeface="+mn-ea"/>
          <a:cs typeface="+mn-cs"/>
        </a:defRPr>
      </a:lvl7pPr>
      <a:lvl8pPr marL="3197440" algn="l" defTabSz="913554" rtl="0" eaLnBrk="1" latinLnBrk="0" hangingPunct="1">
        <a:defRPr sz="1798" kern="1200">
          <a:solidFill>
            <a:schemeClr val="tx1"/>
          </a:solidFill>
          <a:latin typeface="+mn-lt"/>
          <a:ea typeface="+mn-ea"/>
          <a:cs typeface="+mn-cs"/>
        </a:defRPr>
      </a:lvl8pPr>
      <a:lvl9pPr marL="3654217" algn="l" defTabSz="913554" rtl="0" eaLnBrk="1" latinLnBrk="0" hangingPunct="1">
        <a:defRPr sz="179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Тема Offic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232FA55-4C96-42CE-81AC-E697BF02C4F9}" type="slidenum">
              <a:rPr lang="en-US"/>
              <a:t>‹#›</a:t>
            </a:fld>
            <a:endParaRPr lang="en-US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 rotWithShape="1">
          <a:blip r:embed="rId16"/>
          <a:stretch>
            <a:fillRect/>
          </a:stretch>
        </p:blipFill>
        <p:spPr>
          <a:xfrm>
            <a:off x="10470687" y="106965"/>
            <a:ext cx="1766225" cy="655293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12"/>
    <p:sldLayoutId id="2147483663" r:id="rId13"/>
    <p:sldLayoutId id="2147483664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19666" y="2827365"/>
            <a:ext cx="7615767" cy="1583916"/>
          </a:xfrm>
          <a:prstGeom prst="rect">
            <a:avLst/>
          </a:prstGeom>
        </p:spPr>
        <p:txBody>
          <a:bodyPr/>
          <a:lstStyle/>
          <a:p>
            <a:r>
              <a:rPr lang="en-US" sz="3800">
                <a:latin typeface="Arial"/>
              </a:rPr>
              <a:t>Vite, Vite+, Oxc и Nginx</a:t>
            </a:r>
            <a:endParaRPr sz="3800">
              <a:latin typeface="Arial"/>
            </a:endParaRPr>
          </a:p>
        </p:txBody>
      </p:sp>
      <p:sp>
        <p:nvSpPr>
          <p:cNvPr id="4" name="Текст 3"/>
          <p:cNvSpPr>
            <a:spLocks noGrp="1"/>
          </p:cNvSpPr>
          <p:nvPr>
            <p:ph type="body" sz="quarter" idx="11"/>
          </p:nvPr>
        </p:nvSpPr>
        <p:spPr>
          <a:xfrm>
            <a:off x="719664" y="5096852"/>
            <a:ext cx="7615767" cy="291045"/>
          </a:xfrm>
          <a:prstGeom prst="rect">
            <a:avLst/>
          </a:prstGeom>
        </p:spPr>
        <p:txBody>
          <a:bodyPr/>
          <a:lstStyle/>
          <a:p>
            <a:r>
              <a:rPr lang="ru-RU"/>
              <a:t>Эрнандес Гарсия Даниэль Дельевич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12"/>
          </p:nvPr>
        </p:nvSpPr>
        <p:spPr>
          <a:xfrm>
            <a:off x="719664" y="5486289"/>
            <a:ext cx="7615767" cy="379226"/>
          </a:xfrm>
          <a:prstGeom prst="rect">
            <a:avLst/>
          </a:prstGeom>
        </p:spPr>
        <p:txBody>
          <a:bodyPr/>
          <a:lstStyle/>
          <a:p>
            <a:r>
              <a:rPr lang="ru-RU"/>
              <a:t>Веб-разработчик</a:t>
            </a:r>
            <a:endParaRPr lang="ru-RU"/>
          </a:p>
        </p:txBody>
      </p:sp>
      <p:sp>
        <p:nvSpPr>
          <p:cNvPr id="41" name="TextBox 4"/>
          <p:cNvSpPr txBox="1"/>
          <p:nvPr/>
        </p:nvSpPr>
        <p:spPr>
          <a:xfrm>
            <a:off x="719709" y="2336800"/>
            <a:ext cx="5080000" cy="3048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400" b="1">
                <a:solidFill>
                  <a:srgbClr val="1B75BB"/>
                </a:solidFill>
                <a:latin typeface="Arial"/>
              </a:rPr>
              <a:t>Лекция 1</a:t>
            </a:r>
            <a:endParaRPr sz="1400" b="1">
              <a:solidFill>
                <a:srgbClr val="1B75BB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TextBox 1"/>
          <p:cNvSpPr txBox="1"/>
          <p:nvPr/>
        </p:nvSpPr>
        <p:spPr>
          <a:xfrm>
            <a:off x="302133" y="238506"/>
            <a:ext cx="9906000" cy="3962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2000" b="1">
                <a:solidFill>
                  <a:srgbClr val="404040"/>
                </a:solidFill>
                <a:latin typeface="Arial"/>
              </a:rPr>
              <a:t>О чём лекция</a:t>
            </a:r>
            <a:endParaRPr sz="2000" b="1">
              <a:solidFill>
                <a:srgbClr val="404040"/>
              </a:solidFill>
              <a:latin typeface="Arial"/>
            </a:endParaRPr>
          </a:p>
        </p:txBody>
      </p:sp>
      <p:sp>
        <p:nvSpPr>
          <p:cNvPr id="255" name="TextBox 2"/>
          <p:cNvSpPr txBox="1"/>
          <p:nvPr/>
        </p:nvSpPr>
        <p:spPr>
          <a:xfrm>
            <a:off x="302133" y="736600"/>
            <a:ext cx="10160000" cy="32997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Соберём инструментарий, с которым фронтенд-проект удобно запускать, проверять и доставлять до пользователя.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30000"/>
              </a:lnSpc>
              <a:spcAft>
                <a:spcPts val="500"/>
              </a:spcAft>
            </a:pP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Vite отвечает за разработку и сборку: мгновенный старт, HMR и оптимизированный production-бандл.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Vite+ добавляет единый CLI: зависимости, линтинг, форматирование, тесты и задачи.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Oxc даёт быстрые линтер и форматтер на Rust.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Nginx принимает трафик в проде: статика, SPA-fallback, proxy и HTTPS.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30000"/>
              </a:lnSpc>
              <a:spcAft>
                <a:spcPts val="500"/>
              </a:spcAft>
            </a:pP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Разберём, как всё устроено, какие настройки действительно важны и как выглядит рабочий конфиг.</a:t>
            </a:r>
            <a:endParaRPr sz="1550">
              <a:solidFill>
                <a:srgbClr val="40404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" name="TextBox 1"/>
          <p:cNvSpPr txBox="1"/>
          <p:nvPr/>
        </p:nvSpPr>
        <p:spPr>
          <a:xfrm>
            <a:off x="1016000" y="2032000"/>
            <a:ext cx="5080000" cy="15544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9600" b="1">
                <a:solidFill>
                  <a:srgbClr val="1B75BB"/>
                </a:solidFill>
                <a:latin typeface="Arial"/>
              </a:rPr>
              <a:t>01</a:t>
            </a:r>
            <a:endParaRPr sz="9600" b="1">
              <a:solidFill>
                <a:srgbClr val="1B75BB"/>
              </a:solidFill>
              <a:latin typeface="Arial"/>
            </a:endParaRPr>
          </a:p>
        </p:txBody>
      </p:sp>
      <p:sp>
        <p:nvSpPr>
          <p:cNvPr id="522" name="TextBox 2"/>
          <p:cNvSpPr txBox="1"/>
          <p:nvPr/>
        </p:nvSpPr>
        <p:spPr>
          <a:xfrm>
            <a:off x="1016000" y="3556000"/>
            <a:ext cx="10414000" cy="7010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404040"/>
                </a:solidFill>
                <a:latin typeface="Arial"/>
              </a:rPr>
              <a:t>Vite</a:t>
            </a:r>
            <a:endParaRPr sz="4000" b="1">
              <a:solidFill>
                <a:srgbClr val="404040"/>
              </a:solidFill>
              <a:latin typeface="Arial"/>
            </a:endParaRPr>
          </a:p>
        </p:txBody>
      </p:sp>
      <p:sp>
        <p:nvSpPr>
          <p:cNvPr id="523" name="Rectangle 3"/>
          <p:cNvSpPr/>
          <p:nvPr/>
        </p:nvSpPr>
        <p:spPr>
          <a:xfrm>
            <a:off x="1016000" y="4419600"/>
            <a:ext cx="2286000" cy="38100"/>
          </a:xfrm>
          <a:prstGeom prst="rect">
            <a:avLst/>
          </a:prstGeom>
          <a:solidFill>
            <a:srgbClr val="1B75B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24" name="TextBox 4"/>
          <p:cNvSpPr txBox="1"/>
          <p:nvPr/>
        </p:nvSpPr>
        <p:spPr>
          <a:xfrm>
            <a:off x="1016000" y="4673600"/>
            <a:ext cx="9652000" cy="4084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600">
                <a:solidFill>
                  <a:srgbClr val="666666"/>
                </a:solidFill>
                <a:latin typeface="Arial"/>
              </a:rPr>
              <a:t>Dev-сервер, сборка и конфиг</a:t>
            </a:r>
            <a:endParaRPr sz="1600">
              <a:solidFill>
                <a:srgbClr val="666666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TextBox 1"/>
          <p:cNvSpPr txBox="1"/>
          <p:nvPr/>
        </p:nvSpPr>
        <p:spPr>
          <a:xfrm>
            <a:off x="302133" y="238506"/>
            <a:ext cx="9906000" cy="3962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2000" b="1">
                <a:solidFill>
                  <a:srgbClr val="404040"/>
                </a:solidFill>
                <a:latin typeface="Arial"/>
              </a:rPr>
              <a:t>Как Vite ускоряет разработку</a:t>
            </a:r>
            <a:endParaRPr sz="2000" b="1">
              <a:solidFill>
                <a:srgbClr val="404040"/>
              </a:solidFill>
              <a:latin typeface="Arial"/>
            </a:endParaRPr>
          </a:p>
        </p:txBody>
      </p:sp>
      <p:sp>
        <p:nvSpPr>
          <p:cNvPr id="260" name="TextBox 2"/>
          <p:cNvSpPr txBox="1"/>
          <p:nvPr/>
        </p:nvSpPr>
        <p:spPr>
          <a:xfrm>
            <a:off x="302133" y="736600"/>
            <a:ext cx="10160000" cy="19221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В dev-режиме Vite не собирает весь проект заранее. Он отдаёт исходники по запросу как ESM: браузер сам подгружает модули, а Vite пересобирает только изменённое. Поэтому старт почти мгновенный, а HMR обновляет страницу без полной перезагрузки.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В production Vite собирает оптимизированный бандл: минифицирует код, разбивает его на чанки и подготавливает ассеты.</a:t>
            </a:r>
            <a:endParaRPr sz="1550">
              <a:solidFill>
                <a:srgbClr val="404040"/>
              </a:solidFill>
              <a:latin typeface="Arial"/>
            </a:endParaRPr>
          </a:p>
        </p:txBody>
      </p:sp>
      <p:graphicFrame>
        <p:nvGraphicFramePr>
          <p:cNvPr id="261" name="Table 3"/>
          <p:cNvGraphicFramePr>
            <a:graphicFrameLocks noGrp="1"/>
          </p:cNvGraphicFramePr>
          <p:nvPr/>
        </p:nvGraphicFramePr>
        <p:xfrm>
          <a:off x="302133" y="3175000"/>
          <a:ext cx="10160000" cy="15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02000"/>
                <a:gridCol w="6858000"/>
              </a:tblGrid>
              <a:tr h="508000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Команда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1B75B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Что делает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1B75BB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npm create vite@latest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Новый проект из шаблона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npm install -D vite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Vite в существующий проект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2" name="TextBox 4"/>
          <p:cNvSpPr txBox="1"/>
          <p:nvPr/>
        </p:nvSpPr>
        <p:spPr>
          <a:xfrm>
            <a:off x="302133" y="4889500"/>
            <a:ext cx="10160000" cy="338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350">
                <a:solidFill>
                  <a:srgbClr val="404040"/>
                </a:solidFill>
                <a:latin typeface="Arial"/>
              </a:rPr>
              <a:t>Шаблоны: react, react-ts, vue, svelte, solid, preact, lit, vanilla.</a:t>
            </a:r>
            <a:endParaRPr sz="1350">
              <a:solidFill>
                <a:srgbClr val="40404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5" name="TextBox 1"/>
          <p:cNvSpPr txBox="1"/>
          <p:nvPr/>
        </p:nvSpPr>
        <p:spPr>
          <a:xfrm>
            <a:off x="302133" y="238506"/>
            <a:ext cx="9906000" cy="3962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2000" b="1">
                <a:solidFill>
                  <a:srgbClr val="404040"/>
                </a:solidFill>
                <a:latin typeface="Arial"/>
              </a:rPr>
              <a:t>Конфиг: файл и форма</a:t>
            </a:r>
            <a:endParaRPr sz="2000" b="1">
              <a:solidFill>
                <a:srgbClr val="404040"/>
              </a:solidFill>
              <a:latin typeface="Arial"/>
            </a:endParaRPr>
          </a:p>
        </p:txBody>
      </p:sp>
      <p:sp>
        <p:nvSpPr>
          <p:cNvPr id="576" name="TextBox 2"/>
          <p:cNvSpPr txBox="1"/>
          <p:nvPr/>
        </p:nvSpPr>
        <p:spPr>
          <a:xfrm>
            <a:off x="302133" y="736600"/>
            <a:ext cx="10160000" cy="3796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Конфиг Vite живёт в vite.config.ts. Минимальный вариант — объект:</a:t>
            </a:r>
            <a:endParaRPr sz="1550">
              <a:solidFill>
                <a:srgbClr val="404040"/>
              </a:solidFill>
              <a:latin typeface="Arial"/>
            </a:endParaRPr>
          </a:p>
        </p:txBody>
      </p:sp>
      <p:sp>
        <p:nvSpPr>
          <p:cNvPr id="577" name="Rectangle 3"/>
          <p:cNvSpPr/>
          <p:nvPr/>
        </p:nvSpPr>
        <p:spPr>
          <a:xfrm>
            <a:off x="302133" y="1460500"/>
            <a:ext cx="10160000" cy="9525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78" name="Rectangle 4"/>
          <p:cNvSpPr/>
          <p:nvPr/>
        </p:nvSpPr>
        <p:spPr>
          <a:xfrm>
            <a:off x="302133" y="1460500"/>
            <a:ext cx="50800" cy="952500"/>
          </a:xfrm>
          <a:prstGeom prst="rect">
            <a:avLst/>
          </a:prstGeom>
          <a:solidFill>
            <a:srgbClr val="1B75B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79" name="TextBox 5"/>
          <p:cNvSpPr txBox="1"/>
          <p:nvPr/>
        </p:nvSpPr>
        <p:spPr>
          <a:xfrm>
            <a:off x="508000" y="1587500"/>
            <a:ext cx="9779000" cy="74980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Arial"/>
              </a:rPr>
              <a:t>import { defineConfig } from 'vite';</a:t>
            </a:r>
            <a:endParaRPr sz="1200">
              <a:solidFill>
                <a:srgbClr val="333333"/>
              </a:solidFill>
              <a:latin typeface="Arial"/>
            </a:endParaRPr>
          </a:p>
          <a:p>
            <a:pPr>
              <a:lnSpc>
                <a:spcPct val="120000"/>
              </a:lnSpc>
            </a:pPr>
            <a:endParaRPr sz="1200">
              <a:solidFill>
                <a:srgbClr val="333333"/>
              </a:solidFill>
              <a:latin typeface="Arial"/>
            </a:endParaRP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Arial"/>
              </a:rPr>
              <a:t>export default defineConfig({});</a:t>
            </a:r>
            <a:endParaRPr sz="1200">
              <a:solidFill>
                <a:srgbClr val="333333"/>
              </a:solidFill>
              <a:latin typeface="Arial"/>
            </a:endParaRPr>
          </a:p>
        </p:txBody>
      </p:sp>
      <p:sp>
        <p:nvSpPr>
          <p:cNvPr id="580" name="TextBox 6"/>
          <p:cNvSpPr txBox="1"/>
          <p:nvPr/>
        </p:nvSpPr>
        <p:spPr>
          <a:xfrm>
            <a:off x="302133" y="2540000"/>
            <a:ext cx="10160000" cy="667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Если настройки зависят от команды, экспортируйте функцию. Vite передаёт command: serve для vite и build для vite build.</a:t>
            </a:r>
            <a:endParaRPr sz="1550">
              <a:solidFill>
                <a:srgbClr val="404040"/>
              </a:solidFill>
              <a:latin typeface="Arial"/>
            </a:endParaRPr>
          </a:p>
        </p:txBody>
      </p:sp>
      <p:sp>
        <p:nvSpPr>
          <p:cNvPr id="581" name="Rectangle 7"/>
          <p:cNvSpPr/>
          <p:nvPr/>
        </p:nvSpPr>
        <p:spPr>
          <a:xfrm>
            <a:off x="302133" y="3429000"/>
            <a:ext cx="10160000" cy="1016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82" name="Rectangle 8"/>
          <p:cNvSpPr/>
          <p:nvPr/>
        </p:nvSpPr>
        <p:spPr>
          <a:xfrm>
            <a:off x="302133" y="3429000"/>
            <a:ext cx="50800" cy="1016000"/>
          </a:xfrm>
          <a:prstGeom prst="rect">
            <a:avLst/>
          </a:prstGeom>
          <a:solidFill>
            <a:srgbClr val="1B75B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83" name="TextBox 9"/>
          <p:cNvSpPr txBox="1"/>
          <p:nvPr/>
        </p:nvSpPr>
        <p:spPr>
          <a:xfrm>
            <a:off x="508000" y="3556000"/>
            <a:ext cx="9779000" cy="74980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Arial"/>
              </a:rPr>
              <a:t>export default defineConfig(({ command }) =&gt; ({</a:t>
            </a:r>
            <a:endParaRPr sz="1200">
              <a:solidFill>
                <a:srgbClr val="333333"/>
              </a:solidFill>
              <a:latin typeface="Arial"/>
            </a:endParaRP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Arial"/>
              </a:rPr>
              <a:t>  base: command === 'build' ? '/app/' : '/',</a:t>
            </a:r>
            <a:endParaRPr sz="1200">
              <a:solidFill>
                <a:srgbClr val="333333"/>
              </a:solidFill>
              <a:latin typeface="Arial"/>
            </a:endParaRP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Arial"/>
              </a:rPr>
              <a:t>}));</a:t>
            </a:r>
            <a:endParaRPr sz="1200">
              <a:solidFill>
                <a:srgbClr val="333333"/>
              </a:solidFill>
              <a:latin typeface="Arial"/>
            </a:endParaRPr>
          </a:p>
        </p:txBody>
      </p:sp>
      <p:graphicFrame>
        <p:nvGraphicFramePr>
          <p:cNvPr id="584" name="Table 10"/>
          <p:cNvGraphicFramePr>
            <a:graphicFrameLocks noGrp="1"/>
          </p:cNvGraphicFramePr>
          <p:nvPr/>
        </p:nvGraphicFramePr>
        <p:xfrm>
          <a:off x="302133" y="4635500"/>
          <a:ext cx="10160000" cy="1143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3556000"/>
                <a:gridCol w="4318000"/>
              </a:tblGrid>
              <a:tr h="381000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Форма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1B75B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Когда нужна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1B75B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Что получает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1B75BB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объект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статичные настройки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—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функция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разные serve/build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{ command, mode }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5" name="TextBox 1"/>
          <p:cNvSpPr txBox="1"/>
          <p:nvPr/>
        </p:nvSpPr>
        <p:spPr>
          <a:xfrm>
            <a:off x="302133" y="238506"/>
            <a:ext cx="9906000" cy="3962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2000" b="1">
                <a:solidFill>
                  <a:srgbClr val="404040"/>
                </a:solidFill>
                <a:latin typeface="Arial"/>
              </a:rPr>
              <a:t>Почему .env не виден в конфиге</a:t>
            </a:r>
            <a:endParaRPr sz="2000" b="1">
              <a:solidFill>
                <a:srgbClr val="404040"/>
              </a:solidFill>
              <a:latin typeface="Arial"/>
            </a:endParaRPr>
          </a:p>
        </p:txBody>
      </p:sp>
      <p:sp>
        <p:nvSpPr>
          <p:cNvPr id="586" name="TextBox 2"/>
          <p:cNvSpPr txBox="1"/>
          <p:nvPr/>
        </p:nvSpPr>
        <p:spPr>
          <a:xfrm>
            <a:off x="302133" y="736600"/>
            <a:ext cx="10160000" cy="163398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Vite выполняет конфиг раньше, чем читает .env: иначе он не знал бы envDir (откуда брать файлы) и envPrefix (что пускать в клиент). Поэтому в process.env внутри конфига — только переменные ОС. process.env — глобальный объект Node.js, process.cwd() — текущий рабочий каталог.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Значения из .env загружают вручную через loadEnv:</a:t>
            </a:r>
            <a:endParaRPr sz="1550">
              <a:solidFill>
                <a:srgbClr val="404040"/>
              </a:solidFill>
              <a:latin typeface="Arial"/>
            </a:endParaRPr>
          </a:p>
        </p:txBody>
      </p:sp>
      <p:sp>
        <p:nvSpPr>
          <p:cNvPr id="587" name="Rectangle 3"/>
          <p:cNvSpPr/>
          <p:nvPr/>
        </p:nvSpPr>
        <p:spPr>
          <a:xfrm>
            <a:off x="302133" y="2603500"/>
            <a:ext cx="10160000" cy="1905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88" name="Rectangle 4"/>
          <p:cNvSpPr/>
          <p:nvPr/>
        </p:nvSpPr>
        <p:spPr>
          <a:xfrm>
            <a:off x="302133" y="2603500"/>
            <a:ext cx="50800" cy="1905000"/>
          </a:xfrm>
          <a:prstGeom prst="rect">
            <a:avLst/>
          </a:prstGeom>
          <a:solidFill>
            <a:srgbClr val="1B75B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89" name="TextBox 5"/>
          <p:cNvSpPr txBox="1"/>
          <p:nvPr/>
        </p:nvSpPr>
        <p:spPr>
          <a:xfrm>
            <a:off x="508000" y="2730500"/>
            <a:ext cx="9779000" cy="184708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Arial"/>
              </a:rPr>
              <a:t>import { defineConfig, loadEnv } from 'vite';</a:t>
            </a:r>
            <a:endParaRPr sz="1200">
              <a:solidFill>
                <a:srgbClr val="333333"/>
              </a:solidFill>
              <a:latin typeface="Arial"/>
            </a:endParaRPr>
          </a:p>
          <a:p>
            <a:pPr>
              <a:lnSpc>
                <a:spcPct val="120000"/>
              </a:lnSpc>
            </a:pPr>
            <a:endParaRPr sz="1200">
              <a:solidFill>
                <a:srgbClr val="333333"/>
              </a:solidFill>
              <a:latin typeface="Arial"/>
            </a:endParaRP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Arial"/>
              </a:rPr>
              <a:t>export default defineConfig(({ mode }) =&gt; {</a:t>
            </a:r>
            <a:endParaRPr sz="1200">
              <a:solidFill>
                <a:srgbClr val="333333"/>
              </a:solidFill>
              <a:latin typeface="Arial"/>
            </a:endParaRP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Arial"/>
              </a:rPr>
              <a:t>  const env = loadEnv(mode, process.cwd(), '');</a:t>
            </a:r>
            <a:endParaRPr sz="1200">
              <a:solidFill>
                <a:srgbClr val="333333"/>
              </a:solidFill>
              <a:latin typeface="Arial"/>
            </a:endParaRP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Arial"/>
              </a:rPr>
              <a:t>  return {</a:t>
            </a:r>
            <a:endParaRPr sz="1200">
              <a:solidFill>
                <a:srgbClr val="333333"/>
              </a:solidFill>
              <a:latin typeface="Arial"/>
            </a:endParaRP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Arial"/>
              </a:rPr>
              <a:t>    define: { __API__: JSON.stringify(env.VITE_API_URL) },</a:t>
            </a:r>
            <a:endParaRPr sz="1200">
              <a:solidFill>
                <a:srgbClr val="333333"/>
              </a:solidFill>
              <a:latin typeface="Arial"/>
            </a:endParaRP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Arial"/>
              </a:rPr>
              <a:t>  };</a:t>
            </a:r>
            <a:endParaRPr sz="1200">
              <a:solidFill>
                <a:srgbClr val="333333"/>
              </a:solidFill>
              <a:latin typeface="Arial"/>
            </a:endParaRP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Arial"/>
              </a:rPr>
              <a:t>});</a:t>
            </a:r>
            <a:endParaRPr sz="1200">
              <a:solidFill>
                <a:srgbClr val="333333"/>
              </a:solidFill>
              <a:latin typeface="Arial"/>
            </a:endParaRPr>
          </a:p>
        </p:txBody>
      </p:sp>
      <p:graphicFrame>
        <p:nvGraphicFramePr>
          <p:cNvPr id="590" name="Table 6"/>
          <p:cNvGraphicFramePr>
            <a:graphicFrameLocks noGrp="1"/>
          </p:cNvGraphicFramePr>
          <p:nvPr/>
        </p:nvGraphicFramePr>
        <p:xfrm>
          <a:off x="302133" y="4699000"/>
          <a:ext cx="10160000" cy="1460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0000"/>
                <a:gridCol w="2921000"/>
                <a:gridCol w="4699000"/>
              </a:tblGrid>
              <a:tr h="365125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Что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1B75B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Когда читается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1B75B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Что содержит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1B75BB"/>
                    </a:solidFill>
                  </a:tcPr>
                </a:tc>
              </a:tr>
              <a:tr h="365125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process.env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при выполнении конфига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переменные ОС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5125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.env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после конфига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VITE_-переменные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5125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import.meta.env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в коде приложения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клиентские значения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1" name="TextBox 1"/>
          <p:cNvSpPr txBox="1"/>
          <p:nvPr/>
        </p:nvSpPr>
        <p:spPr>
          <a:xfrm>
            <a:off x="302133" y="238506"/>
            <a:ext cx="9906000" cy="3962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2000" b="1">
                <a:solidFill>
                  <a:srgbClr val="404040"/>
                </a:solidFill>
                <a:latin typeface="Arial"/>
              </a:rPr>
              <a:t>root и base: что это и когда менять</a:t>
            </a:r>
            <a:endParaRPr sz="2000" b="1">
              <a:solidFill>
                <a:srgbClr val="404040"/>
              </a:solidFill>
              <a:latin typeface="Arial"/>
            </a:endParaRPr>
          </a:p>
        </p:txBody>
      </p:sp>
      <p:sp>
        <p:nvSpPr>
          <p:cNvPr id="592" name="TextBox 2"/>
          <p:cNvSpPr txBox="1"/>
          <p:nvPr/>
        </p:nvSpPr>
        <p:spPr>
          <a:xfrm>
            <a:off x="302133" y="736600"/>
            <a:ext cx="10160000" cy="163398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root — папка с index.html. По умолчанию — process.cwd(), каталог запуска команды. Если index.html в app/, укажите root: 'app', иначе dev-сервер его не найдёт.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base — путь приложения на домене. По умолчанию '/'; для деплоя в подпапку — '/app/'. Vite добавит префикс к путям и в import.meta.env.BASE_URL.</a:t>
            </a:r>
            <a:endParaRPr sz="1550">
              <a:solidFill>
                <a:srgbClr val="404040"/>
              </a:solidFill>
              <a:latin typeface="Arial"/>
            </a:endParaRPr>
          </a:p>
        </p:txBody>
      </p:sp>
      <p:sp>
        <p:nvSpPr>
          <p:cNvPr id="593" name="Rectangle 3"/>
          <p:cNvSpPr/>
          <p:nvPr/>
        </p:nvSpPr>
        <p:spPr>
          <a:xfrm>
            <a:off x="302133" y="2540000"/>
            <a:ext cx="10160000" cy="12065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94" name="Rectangle 4"/>
          <p:cNvSpPr/>
          <p:nvPr/>
        </p:nvSpPr>
        <p:spPr>
          <a:xfrm>
            <a:off x="302133" y="2540000"/>
            <a:ext cx="50800" cy="1206500"/>
          </a:xfrm>
          <a:prstGeom prst="rect">
            <a:avLst/>
          </a:prstGeom>
          <a:solidFill>
            <a:srgbClr val="1B75B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95" name="TextBox 5"/>
          <p:cNvSpPr txBox="1"/>
          <p:nvPr/>
        </p:nvSpPr>
        <p:spPr>
          <a:xfrm>
            <a:off x="508000" y="2667000"/>
            <a:ext cx="9779000" cy="9692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Arial"/>
              </a:rPr>
              <a:t>export default defineConfig({</a:t>
            </a:r>
            <a:endParaRPr sz="1200">
              <a:solidFill>
                <a:srgbClr val="333333"/>
              </a:solidFill>
              <a:latin typeface="Arial"/>
            </a:endParaRP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Arial"/>
              </a:rPr>
              <a:t>  root: 'app',</a:t>
            </a:r>
            <a:endParaRPr sz="1200">
              <a:solidFill>
                <a:srgbClr val="333333"/>
              </a:solidFill>
              <a:latin typeface="Arial"/>
            </a:endParaRP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Arial"/>
              </a:rPr>
              <a:t>  base: '/app/',</a:t>
            </a:r>
            <a:endParaRPr sz="1200">
              <a:solidFill>
                <a:srgbClr val="333333"/>
              </a:solidFill>
              <a:latin typeface="Arial"/>
            </a:endParaRP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Arial"/>
              </a:rPr>
              <a:t>});</a:t>
            </a:r>
            <a:endParaRPr sz="1200">
              <a:solidFill>
                <a:srgbClr val="333333"/>
              </a:solidFill>
              <a:latin typeface="Arial"/>
            </a:endParaRPr>
          </a:p>
        </p:txBody>
      </p:sp>
      <p:graphicFrame>
        <p:nvGraphicFramePr>
          <p:cNvPr id="596" name="Table 6"/>
          <p:cNvGraphicFramePr>
            <a:graphicFrameLocks noGrp="1"/>
          </p:cNvGraphicFramePr>
          <p:nvPr/>
        </p:nvGraphicFramePr>
        <p:xfrm>
          <a:off x="302133" y="3937000"/>
          <a:ext cx="10160000" cy="1333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3048000"/>
                <a:gridCol w="4826000"/>
              </a:tblGrid>
              <a:tr h="444500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Опция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1B75B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По умолчанию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1B75B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Пример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1B75BB"/>
                    </a:solidFill>
                  </a:tcPr>
                </a:tc>
              </a:tr>
              <a:tr h="444500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root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process.cwd()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root: 'app'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44500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base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'/'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base: '/app/'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97" name="TextBox 7"/>
          <p:cNvSpPr txBox="1"/>
          <p:nvPr/>
        </p:nvSpPr>
        <p:spPr>
          <a:xfrm>
            <a:off x="302133" y="5461000"/>
            <a:ext cx="10160000" cy="338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350">
                <a:solidFill>
                  <a:srgbClr val="404040"/>
                </a:solidFill>
                <a:latin typeface="Arial"/>
              </a:rPr>
              <a:t>В dev-сервере приложение откроется на localhost:5173/app/.</a:t>
            </a:r>
            <a:endParaRPr sz="1350">
              <a:solidFill>
                <a:srgbClr val="40404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8" name="TextBox 1"/>
          <p:cNvSpPr txBox="1"/>
          <p:nvPr/>
        </p:nvSpPr>
        <p:spPr>
          <a:xfrm>
            <a:off x="302133" y="238506"/>
            <a:ext cx="9906000" cy="3962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2000" b="1">
                <a:solidFill>
                  <a:srgbClr val="404040"/>
                </a:solidFill>
                <a:latin typeface="Arial"/>
              </a:rPr>
              <a:t>define: подстановка значений</a:t>
            </a:r>
            <a:endParaRPr sz="2000" b="1">
              <a:solidFill>
                <a:srgbClr val="404040"/>
              </a:solidFill>
              <a:latin typeface="Arial"/>
            </a:endParaRPr>
          </a:p>
        </p:txBody>
      </p:sp>
      <p:sp>
        <p:nvSpPr>
          <p:cNvPr id="599" name="TextBox 2"/>
          <p:cNvSpPr txBox="1"/>
          <p:nvPr/>
        </p:nvSpPr>
        <p:spPr>
          <a:xfrm>
            <a:off x="302133" y="736600"/>
            <a:ext cx="10160000" cy="9560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define заменяет идентификаторы на этапе сборки — как #define в C. В dev значение добавляется в globalThis, в сборке Vite меняет код на уровне AST. Строки оборачивайте в JSON.stringify, иначе подставится идентификатор, а не строка. Глобалы типизируют в vite-env.d.ts.</a:t>
            </a:r>
            <a:endParaRPr sz="1550">
              <a:solidFill>
                <a:srgbClr val="404040"/>
              </a:solidFill>
              <a:latin typeface="Arial"/>
            </a:endParaRPr>
          </a:p>
        </p:txBody>
      </p:sp>
      <p:sp>
        <p:nvSpPr>
          <p:cNvPr id="600" name="Rectangle 3"/>
          <p:cNvSpPr/>
          <p:nvPr/>
        </p:nvSpPr>
        <p:spPr>
          <a:xfrm>
            <a:off x="302133" y="2667000"/>
            <a:ext cx="10160000" cy="13335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01" name="Rectangle 4"/>
          <p:cNvSpPr/>
          <p:nvPr/>
        </p:nvSpPr>
        <p:spPr>
          <a:xfrm>
            <a:off x="302133" y="2667000"/>
            <a:ext cx="50800" cy="1333500"/>
          </a:xfrm>
          <a:prstGeom prst="rect">
            <a:avLst/>
          </a:prstGeom>
          <a:solidFill>
            <a:srgbClr val="1B75B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02" name="TextBox 5"/>
          <p:cNvSpPr txBox="1"/>
          <p:nvPr/>
        </p:nvSpPr>
        <p:spPr>
          <a:xfrm>
            <a:off x="508000" y="2794000"/>
            <a:ext cx="9779000" cy="11887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Arial"/>
              </a:rPr>
              <a:t>export default defineConfig({</a:t>
            </a:r>
            <a:endParaRPr sz="1200">
              <a:solidFill>
                <a:srgbClr val="333333"/>
              </a:solidFill>
              <a:latin typeface="Arial"/>
            </a:endParaRP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Arial"/>
              </a:rPr>
              <a:t>  define: {</a:t>
            </a:r>
            <a:endParaRPr sz="1200">
              <a:solidFill>
                <a:srgbClr val="333333"/>
              </a:solidFill>
              <a:latin typeface="Arial"/>
            </a:endParaRP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Arial"/>
              </a:rPr>
              <a:t>    __APP_VERSION__: JSON.stringify('1.0.0'),</a:t>
            </a:r>
            <a:endParaRPr sz="1200">
              <a:solidFill>
                <a:srgbClr val="333333"/>
              </a:solidFill>
              <a:latin typeface="Arial"/>
            </a:endParaRP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Arial"/>
              </a:rPr>
              <a:t>  },</a:t>
            </a:r>
            <a:endParaRPr sz="1200">
              <a:solidFill>
                <a:srgbClr val="333333"/>
              </a:solidFill>
              <a:latin typeface="Arial"/>
            </a:endParaRP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Arial"/>
              </a:rPr>
              <a:t>});</a:t>
            </a:r>
            <a:endParaRPr sz="1200">
              <a:solidFill>
                <a:srgbClr val="333333"/>
              </a:solidFill>
              <a:latin typeface="Arial"/>
            </a:endParaRPr>
          </a:p>
        </p:txBody>
      </p:sp>
      <p:graphicFrame>
        <p:nvGraphicFramePr>
          <p:cNvPr id="603" name="Table 6"/>
          <p:cNvGraphicFramePr>
            <a:graphicFrameLocks noGrp="1"/>
          </p:cNvGraphicFramePr>
          <p:nvPr/>
        </p:nvGraphicFramePr>
        <p:xfrm>
          <a:off x="302133" y="4191000"/>
          <a:ext cx="10160000" cy="1333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0"/>
                <a:gridCol w="7112000"/>
              </a:tblGrid>
              <a:tr h="333375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Режим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1B75B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Что происходит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1B75BB"/>
                    </a:solidFill>
                  </a:tcPr>
                </a:tc>
              </a:tr>
              <a:tr h="333375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dev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значение в globalThis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33375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build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подстановка в AST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33375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строка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нужен JSON.stringify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04" name="TextBox 7"/>
          <p:cNvSpPr txBox="1"/>
          <p:nvPr/>
        </p:nvSpPr>
        <p:spPr>
          <a:xfrm>
            <a:off x="302133" y="5651500"/>
            <a:ext cx="10160000" cy="338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350">
                <a:solidFill>
                  <a:srgbClr val="404040"/>
                </a:solidFill>
                <a:latin typeface="Arial"/>
              </a:rPr>
              <a:t>TypeScript: объявите __APP_VERSION__ в vite-env.d.ts.</a:t>
            </a:r>
            <a:endParaRPr sz="1350">
              <a:solidFill>
                <a:srgbClr val="40404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TextBox 1"/>
          <p:cNvSpPr txBox="1"/>
          <p:nvPr/>
        </p:nvSpPr>
        <p:spPr>
          <a:xfrm>
            <a:off x="302133" y="238506"/>
            <a:ext cx="9906000" cy="3962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2000" b="1">
                <a:solidFill>
                  <a:srgbClr val="404040"/>
                </a:solidFill>
                <a:latin typeface="Arial"/>
              </a:rPr>
              <a:t>plugins и publicDir</a:t>
            </a:r>
            <a:endParaRPr sz="2000" b="1">
              <a:solidFill>
                <a:srgbClr val="404040"/>
              </a:solidFill>
              <a:latin typeface="Arial"/>
            </a:endParaRPr>
          </a:p>
        </p:txBody>
      </p:sp>
      <p:sp>
        <p:nvSpPr>
          <p:cNvPr id="606" name="TextBox 2"/>
          <p:cNvSpPr txBox="1"/>
          <p:nvPr/>
        </p:nvSpPr>
        <p:spPr>
          <a:xfrm>
            <a:off x="302133" y="736600"/>
            <a:ext cx="10160000" cy="163398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plugins — массив плагинов. false, null и undefined Vite игнорирует, вложенные массивы распаковывает, Promise дожидается. Поэтому удобно писать isDev &amp;&amp; plugin().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publicDir — статика, которая отдаётся как есть: favicon, robots.txt, картинки. По умолчанию public. В dev файлы доступны от /, в сборке копируются в dist. publicDir: false отключает и то, и другое.</a:t>
            </a:r>
            <a:endParaRPr sz="1550">
              <a:solidFill>
                <a:srgbClr val="404040"/>
              </a:solidFill>
              <a:latin typeface="Arial"/>
            </a:endParaRPr>
          </a:p>
        </p:txBody>
      </p:sp>
      <p:sp>
        <p:nvSpPr>
          <p:cNvPr id="607" name="Rectangle 3"/>
          <p:cNvSpPr/>
          <p:nvPr/>
        </p:nvSpPr>
        <p:spPr>
          <a:xfrm>
            <a:off x="302133" y="3048000"/>
            <a:ext cx="10160000" cy="12065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08" name="Rectangle 4"/>
          <p:cNvSpPr/>
          <p:nvPr/>
        </p:nvSpPr>
        <p:spPr>
          <a:xfrm>
            <a:off x="302133" y="3048000"/>
            <a:ext cx="50800" cy="1206500"/>
          </a:xfrm>
          <a:prstGeom prst="rect">
            <a:avLst/>
          </a:prstGeom>
          <a:solidFill>
            <a:srgbClr val="1B75B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09" name="TextBox 5"/>
          <p:cNvSpPr txBox="1"/>
          <p:nvPr/>
        </p:nvSpPr>
        <p:spPr>
          <a:xfrm>
            <a:off x="508000" y="3175000"/>
            <a:ext cx="9779000" cy="9692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Arial"/>
              </a:rPr>
              <a:t>export default defineConfig({</a:t>
            </a:r>
            <a:endParaRPr sz="1200">
              <a:solidFill>
                <a:srgbClr val="333333"/>
              </a:solidFill>
              <a:latin typeface="Arial"/>
            </a:endParaRP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Arial"/>
              </a:rPr>
              <a:t>  plugins: [react()],</a:t>
            </a:r>
            <a:endParaRPr sz="1200">
              <a:solidFill>
                <a:srgbClr val="333333"/>
              </a:solidFill>
              <a:latin typeface="Arial"/>
            </a:endParaRP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Arial"/>
              </a:rPr>
              <a:t>  publicDir: 'static',</a:t>
            </a:r>
            <a:endParaRPr sz="1200">
              <a:solidFill>
                <a:srgbClr val="333333"/>
              </a:solidFill>
              <a:latin typeface="Arial"/>
            </a:endParaRP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Arial"/>
              </a:rPr>
              <a:t>});</a:t>
            </a:r>
            <a:endParaRPr sz="1200">
              <a:solidFill>
                <a:srgbClr val="333333"/>
              </a:solidFill>
              <a:latin typeface="Arial"/>
            </a:endParaRPr>
          </a:p>
        </p:txBody>
      </p:sp>
      <p:graphicFrame>
        <p:nvGraphicFramePr>
          <p:cNvPr id="610" name="Table 6"/>
          <p:cNvGraphicFramePr>
            <a:graphicFrameLocks noGrp="1"/>
          </p:cNvGraphicFramePr>
          <p:nvPr/>
        </p:nvGraphicFramePr>
        <p:xfrm>
          <a:off x="302133" y="4445000"/>
          <a:ext cx="10160000" cy="1333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4000"/>
                <a:gridCol w="4318000"/>
                <a:gridCol w="3048000"/>
              </a:tblGrid>
              <a:tr h="333375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Настройка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1B75B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Что делает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1B75B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По умолчанию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1B75BB"/>
                    </a:solidFill>
                  </a:tcPr>
                </a:tc>
              </a:tr>
              <a:tr h="333375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plugins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подключает плагины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[]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33375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publicDir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статика без обработки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'public'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33375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publicDir: false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отключает статику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—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11" name="TextBox 7"/>
          <p:cNvSpPr txBox="1"/>
          <p:nvPr/>
        </p:nvSpPr>
        <p:spPr>
          <a:xfrm>
            <a:off x="302133" y="5905500"/>
            <a:ext cx="10160000" cy="338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350">
                <a:solidFill>
                  <a:srgbClr val="404040"/>
                </a:solidFill>
                <a:latin typeface="Arial"/>
              </a:rPr>
              <a:t>Файл static/logo.png будет доступен как /logo.png.</a:t>
            </a:r>
            <a:endParaRPr sz="1350">
              <a:solidFill>
                <a:srgbClr val="40404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2" name="TextBox 1"/>
          <p:cNvSpPr txBox="1"/>
          <p:nvPr/>
        </p:nvSpPr>
        <p:spPr>
          <a:xfrm>
            <a:off x="302133" y="238506"/>
            <a:ext cx="9906000" cy="3962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2000" b="1">
                <a:solidFill>
                  <a:srgbClr val="404040"/>
                </a:solidFill>
                <a:latin typeface="Arial"/>
              </a:rPr>
              <a:t>resolve и служебные опции</a:t>
            </a:r>
            <a:endParaRPr sz="2000" b="1">
              <a:solidFill>
                <a:srgbClr val="404040"/>
              </a:solidFill>
              <a:latin typeface="Arial"/>
            </a:endParaRPr>
          </a:p>
        </p:txBody>
      </p:sp>
      <p:sp>
        <p:nvSpPr>
          <p:cNvPr id="613" name="TextBox 2"/>
          <p:cNvSpPr txBox="1"/>
          <p:nvPr/>
        </p:nvSpPr>
        <p:spPr>
          <a:xfrm>
            <a:off x="302133" y="736600"/>
            <a:ext cx="10160000" cy="153238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resolve.extensions позволяет опускать расширения в import; по умолчанию: .mjs, .js, .mts, .ts, .jsx, .tsx, .json — побеждает раннее. resolve.tsconfigPaths включает алиасы из compilerOptions.paths (по умолчанию false). clearScreen чистит терминал (true); отключают, чтобы не терять логи HMR. envDir — папка .env (root; false отключает), envPrefix — префикс клиентских переменных (VITE_); меняют, чтобы серверные секреты не попали в бандл.</a:t>
            </a:r>
          </a:p>
        </p:txBody>
      </p:sp>
      <p:sp>
        <p:nvSpPr>
          <p:cNvPr id="614" name="Rectangle 3"/>
          <p:cNvSpPr/>
          <p:nvPr/>
        </p:nvSpPr>
        <p:spPr>
          <a:xfrm>
            <a:off x="302133" y="2476500"/>
            <a:ext cx="10160000" cy="15875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15" name="Rectangle 4"/>
          <p:cNvSpPr/>
          <p:nvPr/>
        </p:nvSpPr>
        <p:spPr>
          <a:xfrm>
            <a:off x="302133" y="2476500"/>
            <a:ext cx="50800" cy="1587500"/>
          </a:xfrm>
          <a:prstGeom prst="rect">
            <a:avLst/>
          </a:prstGeom>
          <a:solidFill>
            <a:srgbClr val="1B75B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16" name="TextBox 5"/>
          <p:cNvSpPr txBox="1"/>
          <p:nvPr/>
        </p:nvSpPr>
        <p:spPr>
          <a:xfrm>
            <a:off x="508000" y="2603500"/>
            <a:ext cx="9779000" cy="184708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Arial"/>
              </a:rPr>
              <a:t>export default defineConfig({</a:t>
            </a:r>
            <a:endParaRPr sz="1200">
              <a:solidFill>
                <a:srgbClr val="333333"/>
              </a:solidFill>
              <a:latin typeface="Arial"/>
            </a:endParaRP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Arial"/>
              </a:rPr>
              <a:t>  resolve: {</a:t>
            </a:r>
            <a:endParaRPr sz="1200">
              <a:solidFill>
                <a:srgbClr val="333333"/>
              </a:solidFill>
              <a:latin typeface="Arial"/>
            </a:endParaRP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Arial"/>
              </a:rPr>
              <a:t>    extensions: ['.ts', '.tsx', '.js'],</a:t>
            </a:r>
            <a:endParaRPr sz="1200">
              <a:solidFill>
                <a:srgbClr val="333333"/>
              </a:solidFill>
              <a:latin typeface="Arial"/>
            </a:endParaRP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Arial"/>
              </a:rPr>
              <a:t>    tsconfigPaths: true,</a:t>
            </a:r>
            <a:endParaRPr sz="1200">
              <a:solidFill>
                <a:srgbClr val="333333"/>
              </a:solidFill>
              <a:latin typeface="Arial"/>
            </a:endParaRP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Arial"/>
              </a:rPr>
              <a:t>  },</a:t>
            </a:r>
            <a:endParaRPr sz="1200">
              <a:solidFill>
                <a:srgbClr val="333333"/>
              </a:solidFill>
              <a:latin typeface="Arial"/>
            </a:endParaRP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Arial"/>
              </a:rPr>
              <a:t>  clearScreen: false,</a:t>
            </a:r>
            <a:endParaRPr sz="1200">
              <a:solidFill>
                <a:srgbClr val="333333"/>
              </a:solidFill>
              <a:latin typeface="Arial"/>
            </a:endParaRP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Arial"/>
              </a:rPr>
              <a:t>  envPrefix: 'APP_',</a:t>
            </a:r>
            <a:endParaRPr sz="1200">
              <a:solidFill>
                <a:srgbClr val="333333"/>
              </a:solidFill>
              <a:latin typeface="Arial"/>
            </a:endParaRP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Arial"/>
              </a:rPr>
              <a:t>});</a:t>
            </a:r>
            <a:endParaRPr sz="1200">
              <a:solidFill>
                <a:srgbClr val="333333"/>
              </a:solidFill>
              <a:latin typeface="Arial"/>
            </a:endParaRPr>
          </a:p>
        </p:txBody>
      </p:sp>
      <p:graphicFrame>
        <p:nvGraphicFramePr>
          <p:cNvPr id="617" name="Table 6"/>
          <p:cNvGraphicFramePr>
            <a:graphicFrameLocks noGrp="1"/>
          </p:cNvGraphicFramePr>
          <p:nvPr/>
        </p:nvGraphicFramePr>
        <p:xfrm>
          <a:off x="302133" y="4254500"/>
          <a:ext cx="10160000" cy="1905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7000"/>
                <a:gridCol w="3048000"/>
                <a:gridCol w="4445000"/>
              </a:tblGrid>
              <a:tr h="317500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Опция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1B75B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По умолчанию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1B75B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Зачем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1B75BB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resolve.extensions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список расширений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опускать расширения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resolve.tsconfigPaths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false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алиасы из tsconfig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clearScreen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true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чистить терминал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envDir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root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папка .env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envPrefix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VITE_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клиентские переменные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TextBox 1"/>
          <p:cNvSpPr txBox="1"/>
          <p:nvPr/>
        </p:nvSpPr>
        <p:spPr>
          <a:xfrm>
            <a:off x="302133" y="238506"/>
            <a:ext cx="9906000" cy="3962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2000" b="1">
                <a:solidFill>
                  <a:srgbClr val="404040"/>
                </a:solidFill>
                <a:latin typeface="Arial"/>
              </a:rPr>
              <a:t>Dev-сервер: порт, HTTPS и proxy</a:t>
            </a:r>
            <a:endParaRPr sz="2000" b="1">
              <a:solidFill>
                <a:srgbClr val="404040"/>
              </a:solidFill>
              <a:latin typeface="Arial"/>
            </a:endParaRPr>
          </a:p>
        </p:txBody>
      </p:sp>
      <p:sp>
        <p:nvSpPr>
          <p:cNvPr id="619" name="TextBox 2"/>
          <p:cNvSpPr txBox="1"/>
          <p:nvPr/>
        </p:nvSpPr>
        <p:spPr>
          <a:xfrm>
            <a:off x="302133" y="736600"/>
            <a:ext cx="10160000" cy="163398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Порт по умолчанию — 5173; strictPort запрещает занимать другой. https включает TLS/HTTP2, open открывает браузер, cors настраивает CORS.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proxy перенаправляет API на бэкенд и обходит CORS, forwardConsole: true показывает консоль браузера в терминале.</a:t>
            </a:r>
            <a:endParaRPr sz="1550">
              <a:solidFill>
                <a:srgbClr val="404040"/>
              </a:solidFill>
              <a:latin typeface="Arial"/>
            </a:endParaRPr>
          </a:p>
        </p:txBody>
      </p:sp>
      <p:sp>
        <p:nvSpPr>
          <p:cNvPr id="620" name="Rectangle 3"/>
          <p:cNvSpPr/>
          <p:nvPr/>
        </p:nvSpPr>
        <p:spPr>
          <a:xfrm>
            <a:off x="302133" y="2540000"/>
            <a:ext cx="10160000" cy="18415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21" name="Rectangle 4"/>
          <p:cNvSpPr/>
          <p:nvPr/>
        </p:nvSpPr>
        <p:spPr>
          <a:xfrm>
            <a:off x="302133" y="2540000"/>
            <a:ext cx="50800" cy="1841500"/>
          </a:xfrm>
          <a:prstGeom prst="rect">
            <a:avLst/>
          </a:prstGeom>
          <a:solidFill>
            <a:srgbClr val="1B75B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22" name="TextBox 5"/>
          <p:cNvSpPr txBox="1"/>
          <p:nvPr/>
        </p:nvSpPr>
        <p:spPr>
          <a:xfrm>
            <a:off x="508000" y="2667000"/>
            <a:ext cx="9779000" cy="184708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Arial"/>
              </a:rPr>
              <a:t>export default defineConfig({</a:t>
            </a:r>
            <a:endParaRPr sz="1200">
              <a:solidFill>
                <a:srgbClr val="333333"/>
              </a:solidFill>
              <a:latin typeface="Arial"/>
            </a:endParaRP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Arial"/>
              </a:rPr>
              <a:t>  server: {</a:t>
            </a:r>
            <a:endParaRPr sz="1200">
              <a:solidFill>
                <a:srgbClr val="333333"/>
              </a:solidFill>
              <a:latin typeface="Arial"/>
            </a:endParaRP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Arial"/>
              </a:rPr>
              <a:t>    port: 3000,</a:t>
            </a:r>
            <a:endParaRPr sz="1200">
              <a:solidFill>
                <a:srgbClr val="333333"/>
              </a:solidFill>
              <a:latin typeface="Arial"/>
            </a:endParaRP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Arial"/>
              </a:rPr>
              <a:t>    strictPort: true,</a:t>
            </a:r>
            <a:endParaRPr sz="1200">
              <a:solidFill>
                <a:srgbClr val="333333"/>
              </a:solidFill>
              <a:latin typeface="Arial"/>
            </a:endParaRP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Arial"/>
              </a:rPr>
              <a:t>    proxy: { '/api': 'http://localhost:8080' },</a:t>
            </a:r>
            <a:endParaRPr sz="1200">
              <a:solidFill>
                <a:srgbClr val="333333"/>
              </a:solidFill>
              <a:latin typeface="Arial"/>
            </a:endParaRP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Arial"/>
              </a:rPr>
              <a:t>    forwardConsole: true,</a:t>
            </a:r>
            <a:endParaRPr sz="1200">
              <a:solidFill>
                <a:srgbClr val="333333"/>
              </a:solidFill>
              <a:latin typeface="Arial"/>
            </a:endParaRP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Arial"/>
              </a:rPr>
              <a:t>  },</a:t>
            </a:r>
            <a:endParaRPr sz="1200">
              <a:solidFill>
                <a:srgbClr val="333333"/>
              </a:solidFill>
              <a:latin typeface="Arial"/>
            </a:endParaRP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Arial"/>
              </a:rPr>
              <a:t>});</a:t>
            </a:r>
            <a:endParaRPr sz="1200">
              <a:solidFill>
                <a:srgbClr val="333333"/>
              </a:solidFill>
              <a:latin typeface="Arial"/>
            </a:endParaRPr>
          </a:p>
        </p:txBody>
      </p:sp>
      <p:graphicFrame>
        <p:nvGraphicFramePr>
          <p:cNvPr id="623" name="Table 6"/>
          <p:cNvGraphicFramePr>
            <a:graphicFrameLocks noGrp="1"/>
          </p:cNvGraphicFramePr>
          <p:nvPr/>
        </p:nvGraphicFramePr>
        <p:xfrm>
          <a:off x="302133" y="4546600"/>
          <a:ext cx="10160000" cy="180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13000"/>
                <a:gridCol w="2540000"/>
                <a:gridCol w="5207000"/>
              </a:tblGrid>
              <a:tr h="225425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Опция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1B75B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По умолчанию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1B75B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Что делает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1B75BB"/>
                    </a:solidFill>
                  </a:tcPr>
                </a:tc>
              </a:tr>
              <a:tr h="225425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port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5173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Порт dev-сервера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5425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strictPort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false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Запрещает другой порт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5425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https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false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TLS/HTTP2; key/cert или SSL-плагин</a:t>
                      </a: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5425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open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false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Браузер; строка — путь</a:t>
                      </a: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5425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cors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false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true — любой origin; объект</a:t>
                      </a: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5425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proxy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—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API на бэкенд, обход CORS</a:t>
                      </a: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5425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forwardConsole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false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Консоль браузера в терминал</a:t>
                      </a: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TextBox 1"/>
          <p:cNvSpPr txBox="1"/>
          <p:nvPr/>
        </p:nvSpPr>
        <p:spPr>
          <a:xfrm>
            <a:off x="302133" y="238506"/>
            <a:ext cx="9906000" cy="3962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2000" b="1">
                <a:solidFill>
                  <a:srgbClr val="404040"/>
                </a:solidFill>
                <a:latin typeface="Arial"/>
              </a:rPr>
              <a:t>Плагины и кеш зависимостей</a:t>
            </a:r>
            <a:endParaRPr sz="2000" b="1">
              <a:solidFill>
                <a:srgbClr val="404040"/>
              </a:solidFill>
              <a:latin typeface="Arial"/>
            </a:endParaRPr>
          </a:p>
        </p:txBody>
      </p:sp>
      <p:sp>
        <p:nvSpPr>
          <p:cNvPr id="625" name="TextBox 2"/>
          <p:cNvSpPr txBox="1"/>
          <p:nvPr/>
        </p:nvSpPr>
        <p:spPr>
          <a:xfrm>
            <a:off x="302133" y="736600"/>
            <a:ext cx="10160000" cy="3796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Для React — @vitejs/plugin-react; для HTTPS — @vitejs/plugin-basic-ssl:</a:t>
            </a:r>
            <a:endParaRPr sz="1550">
              <a:solidFill>
                <a:srgbClr val="404040"/>
              </a:solidFill>
              <a:latin typeface="Arial"/>
            </a:endParaRPr>
          </a:p>
        </p:txBody>
      </p:sp>
      <p:sp>
        <p:nvSpPr>
          <p:cNvPr id="626" name="Rectangle 3"/>
          <p:cNvSpPr/>
          <p:nvPr/>
        </p:nvSpPr>
        <p:spPr>
          <a:xfrm>
            <a:off x="302133" y="1333500"/>
            <a:ext cx="10160000" cy="1270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27" name="Rectangle 4"/>
          <p:cNvSpPr/>
          <p:nvPr/>
        </p:nvSpPr>
        <p:spPr>
          <a:xfrm>
            <a:off x="302133" y="1333500"/>
            <a:ext cx="50800" cy="1270000"/>
          </a:xfrm>
          <a:prstGeom prst="rect">
            <a:avLst/>
          </a:prstGeom>
          <a:solidFill>
            <a:srgbClr val="1B75B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28" name="TextBox 5"/>
          <p:cNvSpPr txBox="1"/>
          <p:nvPr/>
        </p:nvSpPr>
        <p:spPr>
          <a:xfrm>
            <a:off x="508000" y="1460500"/>
            <a:ext cx="9779000" cy="11887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Arial"/>
              </a:rPr>
              <a:t>import basicSsl from '@vitejs/plugin-basic-ssl';</a:t>
            </a:r>
            <a:endParaRPr sz="1200">
              <a:solidFill>
                <a:srgbClr val="333333"/>
              </a:solidFill>
              <a:latin typeface="Arial"/>
            </a:endParaRPr>
          </a:p>
          <a:p>
            <a:pPr>
              <a:lnSpc>
                <a:spcPct val="120000"/>
              </a:lnSpc>
            </a:pPr>
            <a:endParaRPr sz="1200">
              <a:solidFill>
                <a:srgbClr val="333333"/>
              </a:solidFill>
              <a:latin typeface="Arial"/>
            </a:endParaRP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Arial"/>
              </a:rPr>
              <a:t>export default {</a:t>
            </a:r>
            <a:endParaRPr sz="1200">
              <a:solidFill>
                <a:srgbClr val="333333"/>
              </a:solidFill>
              <a:latin typeface="Arial"/>
            </a:endParaRP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Arial"/>
              </a:rPr>
              <a:t>  plugins: [basicSsl()],</a:t>
            </a:r>
            <a:endParaRPr sz="1200">
              <a:solidFill>
                <a:srgbClr val="333333"/>
              </a:solidFill>
              <a:latin typeface="Arial"/>
            </a:endParaRP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Arial"/>
              </a:rPr>
              <a:t>};</a:t>
            </a:r>
            <a:endParaRPr sz="1200">
              <a:solidFill>
                <a:srgbClr val="333333"/>
              </a:solidFill>
              <a:latin typeface="Arial"/>
            </a:endParaRPr>
          </a:p>
        </p:txBody>
      </p:sp>
      <p:sp>
        <p:nvSpPr>
          <p:cNvPr id="629" name="TextBox 6"/>
          <p:cNvSpPr txBox="1"/>
          <p:nvPr/>
        </p:nvSpPr>
        <p:spPr>
          <a:xfrm>
            <a:off x="302133" y="2794000"/>
            <a:ext cx="10160000" cy="667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@vitejs/plugin-react включает Fast Refresh. Зависимости кешируются в node_modules/.vite — это ускоряет повторный старт; кеш можно удалить.</a:t>
            </a:r>
            <a:endParaRPr sz="1550">
              <a:solidFill>
                <a:srgbClr val="404040"/>
              </a:solidFill>
              <a:latin typeface="Arial"/>
            </a:endParaRPr>
          </a:p>
        </p:txBody>
      </p:sp>
      <p:graphicFrame>
        <p:nvGraphicFramePr>
          <p:cNvPr id="630" name="Table 7"/>
          <p:cNvGraphicFramePr>
            <a:graphicFrameLocks noGrp="1"/>
          </p:cNvGraphicFramePr>
          <p:nvPr/>
        </p:nvGraphicFramePr>
        <p:xfrm>
          <a:off x="302133" y="3746500"/>
          <a:ext cx="10160000" cy="1397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4000"/>
                <a:gridCol w="3302000"/>
                <a:gridCol w="4064000"/>
              </a:tblGrid>
              <a:tr h="349250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Что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1B75B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Где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1B75B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Зачем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1B75BB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react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plugins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React + Fast Refresh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basic-ssl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plugins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локальный HTTPS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кеш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node_modules/.vite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быстрый старт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TextBox 1"/>
          <p:cNvSpPr txBox="1"/>
          <p:nvPr/>
        </p:nvSpPr>
        <p:spPr>
          <a:xfrm>
            <a:off x="302133" y="238506"/>
            <a:ext cx="9906000" cy="3962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2000" b="1">
                <a:solidFill>
                  <a:srgbClr val="404040"/>
                </a:solidFill>
                <a:latin typeface="Arial"/>
              </a:rPr>
              <a:t>Ассеты и стили</a:t>
            </a:r>
            <a:endParaRPr sz="2000" b="1">
              <a:solidFill>
                <a:srgbClr val="404040"/>
              </a:solidFill>
              <a:latin typeface="Arial"/>
            </a:endParaRPr>
          </a:p>
        </p:txBody>
      </p:sp>
      <p:sp>
        <p:nvSpPr>
          <p:cNvPr id="632" name="TextBox 2"/>
          <p:cNvSpPr txBox="1"/>
          <p:nvPr/>
        </p:nvSpPr>
        <p:spPr>
          <a:xfrm>
            <a:off x="302133" y="736600"/>
            <a:ext cx="10160000" cy="134579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import imgUrl from './img.png' при сборке превращается в URL; используйте его как обычную ссылку, например в src тега &lt;img&gt;.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Для .scss, .sass, .less и .styl плагины не нужны — поставьте сам препроцессор:</a:t>
            </a:r>
            <a:endParaRPr sz="1550">
              <a:solidFill>
                <a:srgbClr val="404040"/>
              </a:solidFill>
              <a:latin typeface="Arial"/>
            </a:endParaRPr>
          </a:p>
        </p:txBody>
      </p:sp>
      <p:sp>
        <p:nvSpPr>
          <p:cNvPr id="633" name="Rectangle 3"/>
          <p:cNvSpPr/>
          <p:nvPr/>
        </p:nvSpPr>
        <p:spPr>
          <a:xfrm>
            <a:off x="302133" y="2476500"/>
            <a:ext cx="10160000" cy="6985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34" name="Rectangle 4"/>
          <p:cNvSpPr/>
          <p:nvPr/>
        </p:nvSpPr>
        <p:spPr>
          <a:xfrm>
            <a:off x="302133" y="2476500"/>
            <a:ext cx="50800" cy="698500"/>
          </a:xfrm>
          <a:prstGeom prst="rect">
            <a:avLst/>
          </a:prstGeom>
          <a:solidFill>
            <a:srgbClr val="1B75B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35" name="TextBox 5"/>
          <p:cNvSpPr txBox="1"/>
          <p:nvPr/>
        </p:nvSpPr>
        <p:spPr>
          <a:xfrm>
            <a:off x="508000" y="2603500"/>
            <a:ext cx="9779000" cy="31089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Arial"/>
              </a:rPr>
              <a:t>npm install -D sass</a:t>
            </a:r>
            <a:endParaRPr sz="1200">
              <a:solidFill>
                <a:srgbClr val="333333"/>
              </a:solidFill>
              <a:latin typeface="Arial"/>
            </a:endParaRPr>
          </a:p>
        </p:txBody>
      </p:sp>
      <p:sp>
        <p:nvSpPr>
          <p:cNvPr id="636" name="TextBox 6"/>
          <p:cNvSpPr txBox="1"/>
          <p:nvPr/>
        </p:nvSpPr>
        <p:spPr>
          <a:xfrm>
            <a:off x="302133" y="3365500"/>
            <a:ext cx="10160000" cy="3796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Vite подхватит его и учтёт алиасы из конфига в @import для Sass/Less.</a:t>
            </a:r>
            <a:endParaRPr sz="1550">
              <a:solidFill>
                <a:srgbClr val="404040"/>
              </a:solidFill>
              <a:latin typeface="Arial"/>
            </a:endParaRPr>
          </a:p>
        </p:txBody>
      </p:sp>
      <p:graphicFrame>
        <p:nvGraphicFramePr>
          <p:cNvPr id="637" name="Table 7"/>
          <p:cNvGraphicFramePr>
            <a:graphicFrameLocks noGrp="1"/>
          </p:cNvGraphicFramePr>
          <p:nvPr/>
        </p:nvGraphicFramePr>
        <p:xfrm>
          <a:off x="302133" y="4127500"/>
          <a:ext cx="10160000" cy="1333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02000"/>
                <a:gridCol w="6858000"/>
              </a:tblGrid>
              <a:tr h="333375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Что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1B75B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Как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1B75BB"/>
                    </a:solidFill>
                  </a:tcPr>
                </a:tc>
              </a:tr>
              <a:tr h="333375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картинка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import imgUrl from './img.png'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33375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препроцессор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npm i -D sass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33375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алиасы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учитываются в @import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TextBox 1"/>
          <p:cNvSpPr txBox="1"/>
          <p:nvPr/>
        </p:nvSpPr>
        <p:spPr>
          <a:xfrm>
            <a:off x="302133" y="238506"/>
            <a:ext cx="9906000" cy="3962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2000" b="1">
                <a:solidFill>
                  <a:srgbClr val="404040"/>
                </a:solidFill>
                <a:latin typeface="Arial"/>
              </a:rPr>
              <a:t>.env и режимы: что и когда загружается</a:t>
            </a:r>
            <a:endParaRPr sz="2000" b="1">
              <a:solidFill>
                <a:srgbClr val="404040"/>
              </a:solidFill>
              <a:latin typeface="Arial"/>
            </a:endParaRPr>
          </a:p>
        </p:txBody>
      </p:sp>
      <p:sp>
        <p:nvSpPr>
          <p:cNvPr id="639" name="TextBox 2"/>
          <p:cNvSpPr txBox="1"/>
          <p:nvPr/>
        </p:nvSpPr>
        <p:spPr>
          <a:xfrm>
            <a:off x="302133" y="736600"/>
            <a:ext cx="10160000" cy="667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В клиент попадают только переменные с префиксом VITE_. Все значения в import.meta.env — строки, сравнивайте явно: VITE_F === 'true'. Без префикса — undefined. Префикс меняется опцией envPrefix.</a:t>
            </a:r>
            <a:endParaRPr sz="1550">
              <a:solidFill>
                <a:srgbClr val="404040"/>
              </a:solidFill>
              <a:latin typeface="Arial"/>
            </a:endParaRPr>
          </a:p>
        </p:txBody>
      </p:sp>
      <p:sp>
        <p:nvSpPr>
          <p:cNvPr id="640" name="Rectangle 3"/>
          <p:cNvSpPr/>
          <p:nvPr/>
        </p:nvSpPr>
        <p:spPr>
          <a:xfrm>
            <a:off x="302133" y="1841500"/>
            <a:ext cx="10160000" cy="1016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41" name="Rectangle 4"/>
          <p:cNvSpPr/>
          <p:nvPr/>
        </p:nvSpPr>
        <p:spPr>
          <a:xfrm>
            <a:off x="302133" y="1841500"/>
            <a:ext cx="50800" cy="1016000"/>
          </a:xfrm>
          <a:prstGeom prst="rect">
            <a:avLst/>
          </a:prstGeom>
          <a:solidFill>
            <a:srgbClr val="1B75B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42" name="TextBox 5"/>
          <p:cNvSpPr txBox="1"/>
          <p:nvPr/>
        </p:nvSpPr>
        <p:spPr>
          <a:xfrm>
            <a:off x="508000" y="1968500"/>
            <a:ext cx="9779000" cy="9692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Arial"/>
              </a:rPr>
              <a:t>export default defineConfig({</a:t>
            </a:r>
            <a:endParaRPr sz="1200">
              <a:solidFill>
                <a:srgbClr val="333333"/>
              </a:solidFill>
              <a:latin typeface="Arial"/>
            </a:endParaRP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Arial"/>
              </a:rPr>
              <a:t>  envDir: './env',</a:t>
            </a:r>
            <a:endParaRPr sz="1200">
              <a:solidFill>
                <a:srgbClr val="333333"/>
              </a:solidFill>
              <a:latin typeface="Arial"/>
            </a:endParaRP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Arial"/>
              </a:rPr>
              <a:t>  envPrefix: 'APP_',</a:t>
            </a:r>
            <a:endParaRPr sz="1200">
              <a:solidFill>
                <a:srgbClr val="333333"/>
              </a:solidFill>
              <a:latin typeface="Arial"/>
            </a:endParaRP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Arial"/>
              </a:rPr>
              <a:t>});</a:t>
            </a:r>
            <a:endParaRPr sz="1200">
              <a:solidFill>
                <a:srgbClr val="333333"/>
              </a:solidFill>
              <a:latin typeface="Arial"/>
            </a:endParaRPr>
          </a:p>
        </p:txBody>
      </p:sp>
      <p:graphicFrame>
        <p:nvGraphicFramePr>
          <p:cNvPr id="643" name="Table 6"/>
          <p:cNvGraphicFramePr>
            <a:graphicFrameLocks noGrp="1"/>
          </p:cNvGraphicFramePr>
          <p:nvPr/>
        </p:nvGraphicFramePr>
        <p:xfrm>
          <a:off x="302133" y="3048000"/>
          <a:ext cx="10160000" cy="1587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0000"/>
                <a:gridCol w="7620000"/>
              </a:tblGrid>
              <a:tr h="317500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Приоритет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1B75B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Файл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1B75BB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1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.env.[mode].local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2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.env.[mode]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3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.env.local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4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.env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4" name="TextBox 7"/>
          <p:cNvSpPr txBox="1"/>
          <p:nvPr/>
        </p:nvSpPr>
        <p:spPr>
          <a:xfrm>
            <a:off x="302133" y="4826000"/>
            <a:ext cx="10160000" cy="9560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Встроенные поля: MODE — текущий режим (development или production), BASE_URL — базовый URL из base, PROD/DEV/SSR — булевы флаги продакшена, разработки и SSR. Кастомные переменные всегда строки, встроенные — boolean.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TextBox 1"/>
          <p:cNvSpPr txBox="1"/>
          <p:nvPr/>
        </p:nvSpPr>
        <p:spPr>
          <a:xfrm>
            <a:off x="302133" y="238506"/>
            <a:ext cx="9906000" cy="3962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2000" b="1">
                <a:solidFill>
                  <a:srgbClr val="404040"/>
                </a:solidFill>
                <a:latin typeface="Arial"/>
              </a:rPr>
              <a:t>Типы для import.meta.env</a:t>
            </a:r>
            <a:endParaRPr sz="2000" b="1">
              <a:solidFill>
                <a:srgbClr val="404040"/>
              </a:solidFill>
              <a:latin typeface="Arial"/>
            </a:endParaRPr>
          </a:p>
        </p:txBody>
      </p:sp>
      <p:sp>
        <p:nvSpPr>
          <p:cNvPr id="646" name="TextBox 2"/>
          <p:cNvSpPr txBox="1"/>
          <p:nvPr/>
        </p:nvSpPr>
        <p:spPr>
          <a:xfrm>
            <a:off x="302133" y="736600"/>
            <a:ext cx="10160000" cy="9560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import.meta — объект с метаданными ESM-модуля; Vite добавляет env. В TypeScript структуру описывает ImportMetaEnv: по умолчанию TS знает только MODE, DEV, PROD, BASE_URL, SSR. Остальные переменные объявите в src/vite-env.d.ts — иначе ошибка типа.</a:t>
            </a:r>
          </a:p>
        </p:txBody>
      </p:sp>
      <p:sp>
        <p:nvSpPr>
          <p:cNvPr id="647" name="Rectangle 3"/>
          <p:cNvSpPr/>
          <p:nvPr/>
        </p:nvSpPr>
        <p:spPr>
          <a:xfrm>
            <a:off x="302133" y="1778000"/>
            <a:ext cx="10160000" cy="20955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48" name="Rectangle 4"/>
          <p:cNvSpPr/>
          <p:nvPr/>
        </p:nvSpPr>
        <p:spPr>
          <a:xfrm>
            <a:off x="302133" y="1778000"/>
            <a:ext cx="50800" cy="2095500"/>
          </a:xfrm>
          <a:prstGeom prst="rect">
            <a:avLst/>
          </a:prstGeom>
          <a:solidFill>
            <a:srgbClr val="1B75B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49" name="TextBox 5"/>
          <p:cNvSpPr txBox="1"/>
          <p:nvPr/>
        </p:nvSpPr>
        <p:spPr>
          <a:xfrm>
            <a:off x="508000" y="1905000"/>
            <a:ext cx="9779000" cy="20665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Arial"/>
              </a:rPr>
              <a:t>/// &lt;reference types="vite/client" /&gt;</a:t>
            </a:r>
            <a:endParaRPr sz="1200">
              <a:solidFill>
                <a:srgbClr val="333333"/>
              </a:solidFill>
              <a:latin typeface="Arial"/>
            </a:endParaRPr>
          </a:p>
          <a:p>
            <a:pPr>
              <a:lnSpc>
                <a:spcPct val="120000"/>
              </a:lnSpc>
            </a:pPr>
            <a:endParaRPr sz="1200">
              <a:solidFill>
                <a:srgbClr val="333333"/>
              </a:solidFill>
              <a:latin typeface="Arial"/>
            </a:endParaRP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Arial"/>
              </a:rPr>
              <a:t>interface ImportMetaEnv {</a:t>
            </a:r>
            <a:endParaRPr sz="1200">
              <a:solidFill>
                <a:srgbClr val="333333"/>
              </a:solidFill>
              <a:latin typeface="Arial"/>
            </a:endParaRP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Arial"/>
              </a:rPr>
              <a:t>  readonly VITE_APP_TITLE: string;</a:t>
            </a:r>
            <a:endParaRPr sz="1200">
              <a:solidFill>
                <a:srgbClr val="333333"/>
              </a:solidFill>
              <a:latin typeface="Arial"/>
            </a:endParaRP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Arial"/>
              </a:rPr>
              <a:t>}</a:t>
            </a:r>
            <a:endParaRPr sz="1200">
              <a:solidFill>
                <a:srgbClr val="333333"/>
              </a:solidFill>
              <a:latin typeface="Arial"/>
            </a:endParaRPr>
          </a:p>
          <a:p>
            <a:pPr>
              <a:lnSpc>
                <a:spcPct val="120000"/>
              </a:lnSpc>
            </a:pPr>
            <a:endParaRPr sz="1200">
              <a:solidFill>
                <a:srgbClr val="333333"/>
              </a:solidFill>
              <a:latin typeface="Arial"/>
            </a:endParaRP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Arial"/>
              </a:rPr>
              <a:t>interface ImportMeta {</a:t>
            </a:r>
            <a:endParaRPr sz="1200">
              <a:solidFill>
                <a:srgbClr val="333333"/>
              </a:solidFill>
              <a:latin typeface="Arial"/>
            </a:endParaRP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Arial"/>
              </a:rPr>
              <a:t>  readonly env: ImportMetaEnv;</a:t>
            </a:r>
            <a:endParaRPr sz="1200">
              <a:solidFill>
                <a:srgbClr val="333333"/>
              </a:solidFill>
              <a:latin typeface="Arial"/>
            </a:endParaRP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Arial"/>
              </a:rPr>
              <a:t>}</a:t>
            </a:r>
            <a:endParaRPr sz="1200">
              <a:solidFill>
                <a:srgbClr val="333333"/>
              </a:solidFill>
              <a:latin typeface="Arial"/>
            </a:endParaRPr>
          </a:p>
        </p:txBody>
      </p:sp>
      <p:graphicFrame>
        <p:nvGraphicFramePr>
          <p:cNvPr id="650" name="Table 6"/>
          <p:cNvGraphicFramePr>
            <a:graphicFrameLocks noGrp="1"/>
          </p:cNvGraphicFramePr>
          <p:nvPr/>
        </p:nvGraphicFramePr>
        <p:xfrm>
          <a:off x="302133" y="4064000"/>
          <a:ext cx="10160000" cy="127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/>
                <a:gridCol w="6350000"/>
              </a:tblGrid>
              <a:tr h="317500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Поле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1B75B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Тип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1B75BB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MODE, BASE_URL, VITE_*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string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DEV, PROD, SSR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boolean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ImportMetaEnv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интерфейс для env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4" name="TextBox 1"/>
          <p:cNvSpPr txBox="1"/>
          <p:nvPr/>
        </p:nvSpPr>
        <p:spPr>
          <a:xfrm>
            <a:off x="1016000" y="2032000"/>
            <a:ext cx="5080000" cy="15544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9600" b="1">
                <a:solidFill>
                  <a:srgbClr val="1B75BB"/>
                </a:solidFill>
                <a:latin typeface="Arial"/>
              </a:rPr>
              <a:t>02</a:t>
            </a:r>
            <a:endParaRPr sz="9600" b="1">
              <a:solidFill>
                <a:srgbClr val="1B75BB"/>
              </a:solidFill>
              <a:latin typeface="Arial"/>
            </a:endParaRPr>
          </a:p>
        </p:txBody>
      </p:sp>
      <p:sp>
        <p:nvSpPr>
          <p:cNvPr id="515" name="TextBox 2"/>
          <p:cNvSpPr txBox="1"/>
          <p:nvPr/>
        </p:nvSpPr>
        <p:spPr>
          <a:xfrm>
            <a:off x="1016000" y="3556000"/>
            <a:ext cx="10414000" cy="7010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404040"/>
                </a:solidFill>
                <a:latin typeface="Arial"/>
              </a:rPr>
              <a:t>Vite+</a:t>
            </a:r>
            <a:endParaRPr sz="4000" b="1">
              <a:solidFill>
                <a:srgbClr val="404040"/>
              </a:solidFill>
              <a:latin typeface="Arial"/>
            </a:endParaRPr>
          </a:p>
        </p:txBody>
      </p:sp>
      <p:sp>
        <p:nvSpPr>
          <p:cNvPr id="516" name="Rectangle 3"/>
          <p:cNvSpPr/>
          <p:nvPr/>
        </p:nvSpPr>
        <p:spPr>
          <a:xfrm>
            <a:off x="1016000" y="4419600"/>
            <a:ext cx="2286000" cy="38100"/>
          </a:xfrm>
          <a:prstGeom prst="rect">
            <a:avLst/>
          </a:prstGeom>
          <a:solidFill>
            <a:srgbClr val="1B75B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17" name="TextBox 4"/>
          <p:cNvSpPr txBox="1"/>
          <p:nvPr/>
        </p:nvSpPr>
        <p:spPr>
          <a:xfrm>
            <a:off x="1016000" y="4673600"/>
            <a:ext cx="9652000" cy="4084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600">
                <a:solidFill>
                  <a:srgbClr val="666666"/>
                </a:solidFill>
                <a:latin typeface="Arial"/>
              </a:rPr>
              <a:t>Единый CLI для зависимостей и проверок</a:t>
            </a:r>
            <a:endParaRPr sz="1600">
              <a:solidFill>
                <a:srgbClr val="666666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TextBox 1"/>
          <p:cNvSpPr txBox="1"/>
          <p:nvPr/>
        </p:nvSpPr>
        <p:spPr>
          <a:xfrm>
            <a:off x="302133" y="238506"/>
            <a:ext cx="9906000" cy="3962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2000" b="1">
                <a:solidFill>
                  <a:srgbClr val="404040"/>
                </a:solidFill>
                <a:latin typeface="Arial"/>
              </a:rPr>
              <a:t>Vite+: CLI и пакет — разные вещи</a:t>
            </a:r>
            <a:endParaRPr sz="2000" b="1">
              <a:solidFill>
                <a:srgbClr val="404040"/>
              </a:solidFill>
              <a:latin typeface="Arial"/>
            </a:endParaRPr>
          </a:p>
        </p:txBody>
      </p:sp>
      <p:sp>
        <p:nvSpPr>
          <p:cNvPr id="652" name="TextBox 2"/>
          <p:cNvSpPr txBox="1"/>
          <p:nvPr/>
        </p:nvSpPr>
        <p:spPr>
          <a:xfrm>
            <a:off x="302133" y="736600"/>
            <a:ext cx="10160000" cy="9560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vp — глобальный CLI, который вы запускаете в терминале. vite-plus — локальный пакет проекта: он даёт defineConfig, плагины и фиксирует версию инструментов. Без vp не запустятся команды, без vite-plus проект потеряет локальную версию.</a:t>
            </a:r>
            <a:endParaRPr sz="1550">
              <a:solidFill>
                <a:srgbClr val="404040"/>
              </a:solidFill>
              <a:latin typeface="Arial"/>
            </a:endParaRPr>
          </a:p>
        </p:txBody>
      </p:sp>
      <p:sp>
        <p:nvSpPr>
          <p:cNvPr id="653" name="Rectangle 3"/>
          <p:cNvSpPr/>
          <p:nvPr/>
        </p:nvSpPr>
        <p:spPr>
          <a:xfrm>
            <a:off x="302133" y="2095500"/>
            <a:ext cx="10160000" cy="12065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54" name="Rectangle 4"/>
          <p:cNvSpPr/>
          <p:nvPr/>
        </p:nvSpPr>
        <p:spPr>
          <a:xfrm>
            <a:off x="302133" y="2095500"/>
            <a:ext cx="50800" cy="1206500"/>
          </a:xfrm>
          <a:prstGeom prst="rect">
            <a:avLst/>
          </a:prstGeom>
          <a:solidFill>
            <a:srgbClr val="1B75B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55" name="TextBox 5"/>
          <p:cNvSpPr txBox="1"/>
          <p:nvPr/>
        </p:nvSpPr>
        <p:spPr>
          <a:xfrm>
            <a:off x="508000" y="2222500"/>
            <a:ext cx="9779000" cy="11887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Arial"/>
              </a:rPr>
              <a:t>import { defineConfig } from 'vite-plus';</a:t>
            </a:r>
            <a:endParaRPr sz="1200">
              <a:solidFill>
                <a:srgbClr val="333333"/>
              </a:solidFill>
              <a:latin typeface="Arial"/>
            </a:endParaRPr>
          </a:p>
          <a:p>
            <a:pPr>
              <a:lnSpc>
                <a:spcPct val="120000"/>
              </a:lnSpc>
            </a:pPr>
            <a:endParaRPr sz="1200">
              <a:solidFill>
                <a:srgbClr val="333333"/>
              </a:solidFill>
              <a:latin typeface="Arial"/>
            </a:endParaRP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Arial"/>
              </a:rPr>
              <a:t>export default defineConfig({</a:t>
            </a:r>
            <a:endParaRPr sz="1200">
              <a:solidFill>
                <a:srgbClr val="333333"/>
              </a:solidFill>
              <a:latin typeface="Arial"/>
            </a:endParaRP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Arial"/>
              </a:rPr>
              <a:t>  plugins: [react()],</a:t>
            </a:r>
            <a:endParaRPr sz="1200">
              <a:solidFill>
                <a:srgbClr val="333333"/>
              </a:solidFill>
              <a:latin typeface="Arial"/>
            </a:endParaRP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Arial"/>
              </a:rPr>
              <a:t>});</a:t>
            </a:r>
            <a:endParaRPr sz="1200">
              <a:solidFill>
                <a:srgbClr val="333333"/>
              </a:solidFill>
              <a:latin typeface="Arial"/>
            </a:endParaRPr>
          </a:p>
        </p:txBody>
      </p:sp>
      <p:graphicFrame>
        <p:nvGraphicFramePr>
          <p:cNvPr id="656" name="Table 6"/>
          <p:cNvGraphicFramePr>
            <a:graphicFrameLocks noGrp="1"/>
          </p:cNvGraphicFramePr>
          <p:nvPr/>
        </p:nvGraphicFramePr>
        <p:xfrm>
          <a:off x="302133" y="3492500"/>
          <a:ext cx="10160000" cy="1333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794000"/>
                <a:gridCol w="5080000"/>
              </a:tblGrid>
              <a:tr h="333375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Что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1B75B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Где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1B75B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Зачем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1B75BB"/>
                    </a:solidFill>
                  </a:tcPr>
                </a:tc>
              </a:tr>
              <a:tr h="333375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vp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глобально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dev, build, check, fmt, test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33375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vite-plus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dependencies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defineConfig, plugins, версия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33375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vite.config.ts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проект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единый конфиг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57" name="TextBox 7"/>
          <p:cNvSpPr txBox="1"/>
          <p:nvPr/>
        </p:nvSpPr>
        <p:spPr>
          <a:xfrm>
            <a:off x="302133" y="5016500"/>
            <a:ext cx="10160000" cy="3796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vite.config.ts остаётся стандартным: Vite+ не вводит второй конфиг.</a:t>
            </a:r>
            <a:endParaRPr sz="1550">
              <a:solidFill>
                <a:srgbClr val="40404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TextBox 1"/>
          <p:cNvSpPr txBox="1"/>
          <p:nvPr/>
        </p:nvSpPr>
        <p:spPr>
          <a:xfrm>
            <a:off x="302133" y="238506"/>
            <a:ext cx="9906000" cy="3962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2000" b="1">
                <a:solidFill>
                  <a:srgbClr val="404040"/>
                </a:solidFill>
                <a:latin typeface="Arial"/>
              </a:rPr>
              <a:t>Vite+: зависимости и команды</a:t>
            </a:r>
            <a:endParaRPr sz="2000" b="1">
              <a:solidFill>
                <a:srgbClr val="404040"/>
              </a:solidFill>
              <a:latin typeface="Arial"/>
            </a:endParaRPr>
          </a:p>
        </p:txBody>
      </p:sp>
      <p:sp>
        <p:nvSpPr>
          <p:cNvPr id="667" name="TextBox 2"/>
          <p:cNvSpPr txBox="1"/>
          <p:nvPr/>
        </p:nvSpPr>
        <p:spPr>
          <a:xfrm>
            <a:off x="302133" y="736600"/>
            <a:ext cx="10160000" cy="667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Зависимости ставятся через vp. Менеджер пакетов задаётся в package.json полем devEngines.packageManager, а точная версия — полем packageManager, например bun@1.1.20.</a:t>
            </a:r>
            <a:endParaRPr sz="1550">
              <a:solidFill>
                <a:srgbClr val="404040"/>
              </a:solidFill>
              <a:latin typeface="Arial"/>
            </a:endParaRPr>
          </a:p>
        </p:txBody>
      </p:sp>
      <p:graphicFrame>
        <p:nvGraphicFramePr>
          <p:cNvPr id="668" name="Table 3"/>
          <p:cNvGraphicFramePr>
            <a:graphicFrameLocks noGrp="1"/>
          </p:cNvGraphicFramePr>
          <p:nvPr/>
        </p:nvGraphicFramePr>
        <p:xfrm>
          <a:off x="302133" y="1841500"/>
          <a:ext cx="10160000" cy="1587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56000"/>
                <a:gridCol w="6604000"/>
              </a:tblGrid>
              <a:tr h="317500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Команда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1B75B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Действие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1B75BB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vp add &lt;pkg&gt;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добавить пакет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vp add -D &lt;pkg&gt;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добавить dev-пакет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vp remove &lt;pkg&gt;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удалить пакет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vp update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обновить зависимости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69" name="TextBox 4"/>
          <p:cNvSpPr txBox="1"/>
          <p:nvPr/>
        </p:nvSpPr>
        <p:spPr>
          <a:xfrm>
            <a:off x="302133" y="3683000"/>
            <a:ext cx="10160000" cy="667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vp dev — dev-сервер, vp build — сборка, vp upgrade — обновление глобального CLI. Для CI — voidzero-dev/setup-vp.</a:t>
            </a:r>
            <a:endParaRPr sz="1550">
              <a:solidFill>
                <a:srgbClr val="40404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TextBox 1"/>
          <p:cNvSpPr txBox="1"/>
          <p:nvPr/>
        </p:nvSpPr>
        <p:spPr>
          <a:xfrm>
            <a:off x="302133" y="238506"/>
            <a:ext cx="9906000" cy="3962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2000" b="1">
                <a:solidFill>
                  <a:srgbClr val="404040"/>
                </a:solidFill>
                <a:latin typeface="Arial"/>
              </a:rPr>
              <a:t>Проверки: check и lint</a:t>
            </a:r>
            <a:endParaRPr sz="2000" b="1">
              <a:solidFill>
                <a:srgbClr val="404040"/>
              </a:solidFill>
              <a:latin typeface="Arial"/>
            </a:endParaRPr>
          </a:p>
        </p:txBody>
      </p:sp>
      <p:sp>
        <p:nvSpPr>
          <p:cNvPr id="393" name="TextBox 2"/>
          <p:cNvSpPr txBox="1"/>
          <p:nvPr/>
        </p:nvSpPr>
        <p:spPr>
          <a:xfrm>
            <a:off x="302133" y="736600"/>
            <a:ext cx="10160000" cy="163398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vp check — одна команда для форматирования, линтинга и проверки типов; флаг --fix включает автоисправление. Под капотом vp lint работает на Oxlint. У него есть typeCheck (запускает компилятор TypeScript во время линтинга) и typeAware (ищет логические ошибки на основе типов).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Конфиг линтера живёт в vite.config.ts, в блоке lint, а не в oxlint.config.ts:</a:t>
            </a:r>
            <a:endParaRPr sz="1550">
              <a:solidFill>
                <a:srgbClr val="404040"/>
              </a:solidFill>
              <a:latin typeface="Arial"/>
            </a:endParaRPr>
          </a:p>
        </p:txBody>
      </p:sp>
      <p:sp>
        <p:nvSpPr>
          <p:cNvPr id="394" name="Rectangle 3"/>
          <p:cNvSpPr/>
          <p:nvPr/>
        </p:nvSpPr>
        <p:spPr>
          <a:xfrm>
            <a:off x="302133" y="2857500"/>
            <a:ext cx="10160000" cy="9906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95" name="Rectangle 4"/>
          <p:cNvSpPr/>
          <p:nvPr/>
        </p:nvSpPr>
        <p:spPr>
          <a:xfrm>
            <a:off x="302133" y="2857500"/>
            <a:ext cx="50800" cy="990600"/>
          </a:xfrm>
          <a:prstGeom prst="rect">
            <a:avLst/>
          </a:prstGeom>
          <a:solidFill>
            <a:srgbClr val="1B75B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96" name="TextBox 5"/>
          <p:cNvSpPr txBox="1"/>
          <p:nvPr/>
        </p:nvSpPr>
        <p:spPr>
          <a:xfrm>
            <a:off x="508000" y="2984500"/>
            <a:ext cx="9779000" cy="74980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Consolas"/>
              </a:rPr>
              <a:t>export default defineConfig({</a:t>
            </a:r>
            <a:endParaRPr sz="1200">
              <a:solidFill>
                <a:srgbClr val="333333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Consolas"/>
              </a:rPr>
              <a:t>  lint: { ignorePatterns: ['dist/**'] },</a:t>
            </a:r>
            <a:endParaRPr sz="1200">
              <a:solidFill>
                <a:srgbClr val="333333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Consolas"/>
              </a:rPr>
              <a:t>});</a:t>
            </a:r>
            <a:endParaRPr sz="1200">
              <a:solidFill>
                <a:srgbClr val="333333"/>
              </a:solidFill>
              <a:latin typeface="Consolas"/>
            </a:endParaRPr>
          </a:p>
        </p:txBody>
      </p:sp>
      <p:sp>
        <p:nvSpPr>
          <p:cNvPr id="397" name="TextBox 6"/>
          <p:cNvSpPr txBox="1"/>
          <p:nvPr/>
        </p:nvSpPr>
        <p:spPr>
          <a:xfrm>
            <a:off x="302133" y="4064000"/>
            <a:ext cx="10160000" cy="667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vp lint запускает линтинг, vp lint --fix — с автоисправлением. Флаг --fix у vp check включает автоисправление сразу для форматтера и линтера.</a:t>
            </a:r>
            <a:endParaRPr sz="1550">
              <a:solidFill>
                <a:srgbClr val="40404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TextBox 1"/>
          <p:cNvSpPr txBox="1"/>
          <p:nvPr/>
        </p:nvSpPr>
        <p:spPr>
          <a:xfrm>
            <a:off x="302133" y="238506"/>
            <a:ext cx="9906000" cy="3962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2000" b="1">
                <a:solidFill>
                  <a:srgbClr val="404040"/>
                </a:solidFill>
                <a:latin typeface="Arial"/>
              </a:rPr>
              <a:t>Форматирование и тесты</a:t>
            </a:r>
            <a:endParaRPr sz="2000" b="1">
              <a:solidFill>
                <a:srgbClr val="404040"/>
              </a:solidFill>
              <a:latin typeface="Arial"/>
            </a:endParaRPr>
          </a:p>
        </p:txBody>
      </p:sp>
      <p:sp>
        <p:nvSpPr>
          <p:cNvPr id="406" name="TextBox 2"/>
          <p:cNvSpPr txBox="1"/>
          <p:nvPr/>
        </p:nvSpPr>
        <p:spPr>
          <a:xfrm>
            <a:off x="302133" y="736600"/>
            <a:ext cx="10160000" cy="20237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vp fmt форматирует код. По умолчанию он ничего не пишет в файлы: чтобы сохранить результат, нужно vp fmt . --write. Под капотом — Oxfmt.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Тесты запускаются командой vp test и работают на Vitest.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Оба конфига живут в vite.config.ts — в блоках fmt и test, а не в отдельных oxfmt.config.ts и vitest.config.ts.</a:t>
            </a:r>
            <a:endParaRPr sz="1550">
              <a:solidFill>
                <a:srgbClr val="404040"/>
              </a:solidFill>
              <a:latin typeface="Arial"/>
            </a:endParaRPr>
          </a:p>
        </p:txBody>
      </p:sp>
      <p:graphicFrame>
        <p:nvGraphicFramePr>
          <p:cNvPr id="407" name="Table 3"/>
          <p:cNvGraphicFramePr>
            <a:graphicFrameLocks noGrp="1"/>
          </p:cNvGraphicFramePr>
          <p:nvPr/>
        </p:nvGraphicFramePr>
        <p:xfrm>
          <a:off x="302133" y="2857500"/>
          <a:ext cx="10160000" cy="127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56000"/>
                <a:gridCol w="6604000"/>
              </a:tblGrid>
              <a:tr h="317500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Команда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1B75B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Что делает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1B75BB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vp fmt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форматирование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vp fmt . --write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записать в файлы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vp test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тесты (Vitest)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08" name="Table 4"/>
          <p:cNvGraphicFramePr>
            <a:graphicFrameLocks noGrp="1"/>
          </p:cNvGraphicFramePr>
          <p:nvPr/>
        </p:nvGraphicFramePr>
        <p:xfrm>
          <a:off x="302133" y="4381500"/>
          <a:ext cx="10160000" cy="101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794000"/>
                <a:gridCol w="5080000"/>
              </a:tblGrid>
              <a:tr h="338667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Инструмент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1B75B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Блок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1B75B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Не в файле</a:t>
                      </a:r>
                      <a:endParaRPr sz="1150">
                        <a:latin typeface="Arial"/>
                      </a:endParaRPr>
                    </a:p>
                  </a:txBody>
                  <a:tcPr>
                    <a:lnL w="9525">
                      <a:solidFill>
                        <a:srgbClr val="D9D9D9"/>
                      </a:solidFill>
                    </a:lnL>
                    <a:solidFill>
                      <a:srgbClr val="1B75BB"/>
                    </a:solidFill>
                  </a:tcPr>
                </a:tc>
              </a:tr>
              <a:tr h="338667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fmt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fmt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oxfmt.config.ts</a:t>
                      </a:r>
                      <a:endParaRPr sz="1150">
                        <a:latin typeface="Arial"/>
                      </a:endParaRPr>
                    </a:p>
                  </a:txBody>
                  <a:tcPr>
                    <a:lnL w="9525">
                      <a:solidFill>
                        <a:srgbClr val="D9D9D9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338667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test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test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vitest.config.ts</a:t>
                      </a:r>
                      <a:endParaRPr sz="1150">
                        <a:latin typeface="Arial"/>
                      </a:endParaRPr>
                    </a:p>
                  </a:txBody>
                  <a:tcPr>
                    <a:lnL w="9525">
                      <a:solidFill>
                        <a:srgbClr val="D9D9D9"/>
                      </a:solidFill>
                    </a:lnL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TextBox 1"/>
          <p:cNvSpPr txBox="1"/>
          <p:nvPr/>
        </p:nvSpPr>
        <p:spPr>
          <a:xfrm>
            <a:off x="302133" y="238506"/>
            <a:ext cx="9906000" cy="3962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2000" b="1">
                <a:solidFill>
                  <a:srgbClr val="404040"/>
                </a:solidFill>
                <a:latin typeface="Arial"/>
              </a:rPr>
              <a:t>Задачи и vpx</a:t>
            </a:r>
            <a:endParaRPr sz="2000" b="1">
              <a:solidFill>
                <a:srgbClr val="404040"/>
              </a:solidFill>
              <a:latin typeface="Arial"/>
            </a:endParaRPr>
          </a:p>
        </p:txBody>
      </p:sp>
      <p:sp>
        <p:nvSpPr>
          <p:cNvPr id="415" name="TextBox 2"/>
          <p:cNvSpPr txBox="1"/>
          <p:nvPr/>
        </p:nvSpPr>
        <p:spPr>
          <a:xfrm>
            <a:off x="302133" y="736600"/>
            <a:ext cx="10160000" cy="19686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vp run &lt;script-name&gt; запускает скрипт из package.json. Разница с vp dev: vp dev — встроенная команда, а vp run dev запускает именно скрипт dev из package.json.</a:t>
            </a:r>
          </a:p>
          <a:p>
            <a:pPr>
              <a:lnSpc>
                <a:spcPct val="122000"/>
              </a:lnSpc>
              <a:spcAft>
                <a:spcPts val="400"/>
              </a:spcAft>
            </a:p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Задача — именованный скрипт. Задачи описываются в vite.config.ts, в блоке run.tasks; у задачи есть command и dependsOn — зависимость от другой задачи. Vite+ кеширует состояние задачи по входным и выходным файлам, поэтому повторный запуск может быть почти мгновенным.</a:t>
            </a:r>
          </a:p>
        </p:txBody>
      </p:sp>
      <p:sp>
        <p:nvSpPr>
          <p:cNvPr id="416" name="Rectangle 3"/>
          <p:cNvSpPr/>
          <p:nvPr/>
        </p:nvSpPr>
        <p:spPr>
          <a:xfrm>
            <a:off x="302133" y="2921000"/>
            <a:ext cx="10160000" cy="1397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17" name="Rectangle 4"/>
          <p:cNvSpPr/>
          <p:nvPr/>
        </p:nvSpPr>
        <p:spPr>
          <a:xfrm>
            <a:off x="302133" y="2921000"/>
            <a:ext cx="50800" cy="1397000"/>
          </a:xfrm>
          <a:prstGeom prst="rect">
            <a:avLst/>
          </a:prstGeom>
          <a:solidFill>
            <a:srgbClr val="1B75B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18" name="TextBox 5"/>
          <p:cNvSpPr txBox="1"/>
          <p:nvPr/>
        </p:nvSpPr>
        <p:spPr>
          <a:xfrm>
            <a:off x="508000" y="3048000"/>
            <a:ext cx="9779000" cy="11887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Consolas"/>
              </a:rPr>
              <a:t>run: {</a:t>
            </a:r>
            <a:endParaRPr sz="1200">
              <a:solidFill>
                <a:srgbClr val="333333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Consolas"/>
              </a:rPr>
              <a:t>  tasks: {</a:t>
            </a:r>
            <a:endParaRPr sz="1200">
              <a:solidFill>
                <a:srgbClr val="333333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Consolas"/>
              </a:rPr>
              <a:t>    build: { command: 'vp build', dependsOn: ['test'] },</a:t>
            </a:r>
            <a:endParaRPr sz="1200">
              <a:solidFill>
                <a:srgbClr val="333333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Consolas"/>
              </a:rPr>
              <a:t>  },</a:t>
            </a:r>
            <a:endParaRPr sz="1200">
              <a:solidFill>
                <a:srgbClr val="333333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Consolas"/>
              </a:rPr>
              <a:t>}</a:t>
            </a:r>
            <a:endParaRPr sz="1200">
              <a:solidFill>
                <a:srgbClr val="333333"/>
              </a:solidFill>
              <a:latin typeface="Consolas"/>
            </a:endParaRPr>
          </a:p>
        </p:txBody>
      </p:sp>
      <p:sp>
        <p:nvSpPr>
          <p:cNvPr id="419" name="TextBox 6"/>
          <p:cNvSpPr txBox="1"/>
          <p:nvPr/>
        </p:nvSpPr>
        <p:spPr>
          <a:xfrm>
            <a:off x="302133" y="4572000"/>
            <a:ext cx="10160000" cy="3796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Запуск задачи — vp run &lt;task-name&gt;. Для разовых бинарников есть vpx — аналог npx и bunx.</a:t>
            </a:r>
            <a:endParaRPr sz="1550">
              <a:solidFill>
                <a:srgbClr val="40404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TextBox 1"/>
          <p:cNvSpPr txBox="1"/>
          <p:nvPr/>
        </p:nvSpPr>
        <p:spPr>
          <a:xfrm>
            <a:off x="302133" y="238506"/>
            <a:ext cx="9906000" cy="3962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2000" b="1">
                <a:solidFill>
                  <a:srgbClr val="404040"/>
                </a:solidFill>
                <a:latin typeface="Arial"/>
              </a:rPr>
              <a:t>Git-хуки</a:t>
            </a:r>
            <a:endParaRPr sz="2000" b="1">
              <a:solidFill>
                <a:srgbClr val="404040"/>
              </a:solidFill>
              <a:latin typeface="Arial"/>
            </a:endParaRPr>
          </a:p>
        </p:txBody>
      </p:sp>
      <p:sp>
        <p:nvSpPr>
          <p:cNvPr id="428" name="TextBox 2"/>
          <p:cNvSpPr txBox="1"/>
          <p:nvPr/>
        </p:nvSpPr>
        <p:spPr>
          <a:xfrm>
            <a:off x="302133" y="736600"/>
            <a:ext cx="10160000" cy="19221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Хуки включаются командой vp hooks enable и выключаются через vp hooks disable; vp hooks status показывает текущее состояние.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Скрипты лежат в папке .vite-hooks в корне проекта. Её нужно коммитить, чтобы у всей команды были одинаковые хуки. Для pre-commit создаётся файл .vite-hooks/pre-commit с командой vp staged — она проверяет только изменённые файлы.</a:t>
            </a:r>
            <a:endParaRPr sz="1550">
              <a:solidFill>
                <a:srgbClr val="404040"/>
              </a:solidFill>
              <a:latin typeface="Arial"/>
            </a:endParaRPr>
          </a:p>
        </p:txBody>
      </p:sp>
      <p:sp>
        <p:nvSpPr>
          <p:cNvPr id="429" name="Rectangle 3"/>
          <p:cNvSpPr/>
          <p:nvPr/>
        </p:nvSpPr>
        <p:spPr>
          <a:xfrm>
            <a:off x="302133" y="3111500"/>
            <a:ext cx="10160000" cy="9906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30" name="Rectangle 4"/>
          <p:cNvSpPr/>
          <p:nvPr/>
        </p:nvSpPr>
        <p:spPr>
          <a:xfrm>
            <a:off x="302133" y="3111500"/>
            <a:ext cx="50800" cy="990600"/>
          </a:xfrm>
          <a:prstGeom prst="rect">
            <a:avLst/>
          </a:prstGeom>
          <a:solidFill>
            <a:srgbClr val="1B75B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31" name="TextBox 5"/>
          <p:cNvSpPr txBox="1"/>
          <p:nvPr/>
        </p:nvSpPr>
        <p:spPr>
          <a:xfrm>
            <a:off x="508000" y="3238500"/>
            <a:ext cx="9779000" cy="5303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Consolas"/>
              </a:rPr>
              <a:t># .vite-hooks/pre-commit</a:t>
            </a:r>
            <a:endParaRPr sz="1200">
              <a:solidFill>
                <a:srgbClr val="333333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Consolas"/>
              </a:rPr>
              <a:t>vp staged</a:t>
            </a:r>
            <a:endParaRPr sz="1200">
              <a:solidFill>
                <a:srgbClr val="333333"/>
              </a:solidFill>
              <a:latin typeface="Consolas"/>
            </a:endParaRPr>
          </a:p>
        </p:txBody>
      </p:sp>
      <p:sp>
        <p:nvSpPr>
          <p:cNvPr id="432" name="TextBox 6"/>
          <p:cNvSpPr txBox="1"/>
          <p:nvPr/>
        </p:nvSpPr>
        <p:spPr>
          <a:xfrm>
            <a:off x="302133" y="4318000"/>
            <a:ext cx="10160000" cy="3796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Через staged в vite.config можно задать свои команды: staged: { '*.{js,ts,tsx}': 'vp check --fix' }.</a:t>
            </a:r>
            <a:endParaRPr sz="1550">
              <a:solidFill>
                <a:srgbClr val="40404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TextBox 1"/>
          <p:cNvSpPr txBox="1"/>
          <p:nvPr/>
        </p:nvSpPr>
        <p:spPr>
          <a:xfrm>
            <a:off x="1016000" y="2032000"/>
            <a:ext cx="5080000" cy="15544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9600" b="1">
                <a:solidFill>
                  <a:srgbClr val="1B75BB"/>
                </a:solidFill>
                <a:latin typeface="Arial"/>
              </a:rPr>
              <a:t>03</a:t>
            </a:r>
            <a:endParaRPr sz="9600" b="1">
              <a:solidFill>
                <a:srgbClr val="1B75BB"/>
              </a:solidFill>
              <a:latin typeface="Arial"/>
            </a:endParaRPr>
          </a:p>
        </p:txBody>
      </p:sp>
      <p:sp>
        <p:nvSpPr>
          <p:cNvPr id="508" name="TextBox 2"/>
          <p:cNvSpPr txBox="1"/>
          <p:nvPr/>
        </p:nvSpPr>
        <p:spPr>
          <a:xfrm>
            <a:off x="1016000" y="3556000"/>
            <a:ext cx="10414000" cy="7010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404040"/>
                </a:solidFill>
                <a:latin typeface="Arial"/>
              </a:rPr>
              <a:t>Oxc</a:t>
            </a:r>
            <a:endParaRPr sz="4000" b="1">
              <a:solidFill>
                <a:srgbClr val="404040"/>
              </a:solidFill>
              <a:latin typeface="Arial"/>
            </a:endParaRPr>
          </a:p>
        </p:txBody>
      </p:sp>
      <p:sp>
        <p:nvSpPr>
          <p:cNvPr id="509" name="Rectangle 3"/>
          <p:cNvSpPr/>
          <p:nvPr/>
        </p:nvSpPr>
        <p:spPr>
          <a:xfrm>
            <a:off x="1016000" y="4419600"/>
            <a:ext cx="2286000" cy="38100"/>
          </a:xfrm>
          <a:prstGeom prst="rect">
            <a:avLst/>
          </a:prstGeom>
          <a:solidFill>
            <a:srgbClr val="1B75B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10" name="TextBox 4"/>
          <p:cNvSpPr txBox="1"/>
          <p:nvPr/>
        </p:nvSpPr>
        <p:spPr>
          <a:xfrm>
            <a:off x="1016000" y="4673600"/>
            <a:ext cx="9652000" cy="4084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600">
                <a:solidFill>
                  <a:srgbClr val="666666"/>
                </a:solidFill>
                <a:latin typeface="Arial"/>
              </a:rPr>
              <a:t>Линтер и форматтер на Rust</a:t>
            </a:r>
            <a:endParaRPr sz="1600">
              <a:solidFill>
                <a:srgbClr val="666666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TextBox 1"/>
          <p:cNvSpPr txBox="1"/>
          <p:nvPr/>
        </p:nvSpPr>
        <p:spPr>
          <a:xfrm>
            <a:off x="302133" y="238506"/>
            <a:ext cx="9906000" cy="3962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2000" b="1">
                <a:solidFill>
                  <a:srgbClr val="404040"/>
                </a:solidFill>
                <a:latin typeface="Arial"/>
              </a:rPr>
              <a:t>Oxc и Oxlint</a:t>
            </a:r>
            <a:endParaRPr sz="2000" b="1">
              <a:solidFill>
                <a:srgbClr val="404040"/>
              </a:solidFill>
              <a:latin typeface="Arial"/>
            </a:endParaRPr>
          </a:p>
        </p:txBody>
      </p:sp>
      <p:sp>
        <p:nvSpPr>
          <p:cNvPr id="441" name="TextBox 2"/>
          <p:cNvSpPr txBox="1"/>
          <p:nvPr/>
        </p:nvSpPr>
        <p:spPr>
          <a:xfrm>
            <a:off x="302133" y="736600"/>
            <a:ext cx="10160000" cy="139227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Oxc — набор высокопроизводительных инструментов для JavaScript и TypeScript, написанных на Rust. Oxlint — его линтер на стеке Oxc: быстрый, совместимый с ESLint и использующий tsgo (TypeScript 7).</a:t>
            </a:r>
          </a:p>
          <a:p>
            <a:pPr>
              <a:lnSpc>
                <a:spcPct val="122000"/>
              </a:lnSpc>
              <a:spcAft>
                <a:spcPts val="400"/>
              </a:spcAft>
            </a:p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Установка и скрипты:</a:t>
            </a:r>
          </a:p>
        </p:txBody>
      </p:sp>
      <p:sp>
        <p:nvSpPr>
          <p:cNvPr id="442" name="Rectangle 3"/>
          <p:cNvSpPr/>
          <p:nvPr/>
        </p:nvSpPr>
        <p:spPr>
          <a:xfrm>
            <a:off x="302133" y="2159000"/>
            <a:ext cx="10160000" cy="177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43" name="Rectangle 4"/>
          <p:cNvSpPr/>
          <p:nvPr/>
        </p:nvSpPr>
        <p:spPr>
          <a:xfrm>
            <a:off x="302133" y="2159000"/>
            <a:ext cx="50800" cy="1778000"/>
          </a:xfrm>
          <a:prstGeom prst="rect">
            <a:avLst/>
          </a:prstGeom>
          <a:solidFill>
            <a:srgbClr val="1B75B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44" name="TextBox 5"/>
          <p:cNvSpPr txBox="1"/>
          <p:nvPr/>
        </p:nvSpPr>
        <p:spPr>
          <a:xfrm>
            <a:off x="508000" y="2159000"/>
            <a:ext cx="9779000" cy="16510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Consolas"/>
              </a:rPr>
              <a:t>npm install -D oxlint</a:t>
            </a:r>
          </a:p>
          <a:p>
            <a:pPr>
              <a:lnSpc>
                <a:spcPct val="120000"/>
              </a:lnSpc>
            </a:pP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Consolas"/>
              </a:rPr>
              <a:t>// package.json</a:t>
            </a: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Consolas"/>
              </a:rPr>
              <a:t>"scripts": {</a:t>
            </a:r>
          </a:p>
          <a:p>
            <a:r>
              <a:rPr sz="1200">
                <a:solidFill>
                  <a:srgbClr val="333333"/>
                </a:solidFill>
                <a:latin typeface="Consolas"/>
              </a:rPr>
              <a:t>  "lint": "oxlint",</a:t>
            </a:r>
          </a:p>
          <a:p>
            <a:r>
              <a:rPr sz="1200">
                <a:solidFill>
                  <a:srgbClr val="333333"/>
                </a:solidFill>
                <a:latin typeface="Consolas"/>
              </a:rPr>
              <a:t>  "lint:fix": "oxlint --fix"</a:t>
            </a:r>
          </a:p>
          <a:p>
            <a:r>
              <a:rPr sz="1200">
                <a:solidFill>
                  <a:srgbClr val="333333"/>
                </a:solidFill>
                <a:latin typeface="Consolas"/>
              </a:rPr>
              <a:t>}</a:t>
            </a:r>
          </a:p>
        </p:txBody>
      </p:sp>
      <p:sp>
        <p:nvSpPr>
          <p:cNvPr id="445" name="TextBox 6"/>
          <p:cNvSpPr txBox="1"/>
          <p:nvPr/>
        </p:nvSpPr>
        <p:spPr>
          <a:xfrm>
            <a:off x="302133" y="4381500"/>
            <a:ext cx="10160000" cy="667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Oxlint проверяет код, а --fix автоматически исправляет то, что можно исправить. Запуск: npm run lint или npm run lint:fix.</a:t>
            </a:r>
            <a:endParaRPr sz="1550">
              <a:solidFill>
                <a:srgbClr val="40404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TextBox 1"/>
          <p:cNvSpPr txBox="1"/>
          <p:nvPr/>
        </p:nvSpPr>
        <p:spPr>
          <a:xfrm>
            <a:off x="302133" y="238506"/>
            <a:ext cx="9906000" cy="3962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2000" b="1">
                <a:solidFill>
                  <a:srgbClr val="404040"/>
                </a:solidFill>
                <a:latin typeface="Arial"/>
              </a:rPr>
              <a:t>Конфиг и плагины Oxlint</a:t>
            </a:r>
            <a:endParaRPr sz="2000" b="1">
              <a:solidFill>
                <a:srgbClr val="404040"/>
              </a:solidFill>
              <a:latin typeface="Arial"/>
            </a:endParaRPr>
          </a:p>
        </p:txBody>
      </p:sp>
      <p:sp>
        <p:nvSpPr>
          <p:cNvPr id="454" name="TextBox 2"/>
          <p:cNvSpPr txBox="1"/>
          <p:nvPr/>
        </p:nvSpPr>
        <p:spPr>
          <a:xfrm>
            <a:off x="302133" y="736600"/>
            <a:ext cx="10160000" cy="3796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Конфиг создаётся командой oxlint --init. Файл называется .oxlintrc.json или oxlint.config.ts. Базовый вариант:</a:t>
            </a:r>
            <a:endParaRPr sz="1550">
              <a:solidFill>
                <a:srgbClr val="404040"/>
              </a:solidFill>
              <a:latin typeface="Arial"/>
            </a:endParaRPr>
          </a:p>
        </p:txBody>
      </p:sp>
      <p:sp>
        <p:nvSpPr>
          <p:cNvPr id="455" name="Rectangle 3"/>
          <p:cNvSpPr/>
          <p:nvPr/>
        </p:nvSpPr>
        <p:spPr>
          <a:xfrm>
            <a:off x="302133" y="1968500"/>
            <a:ext cx="10160000" cy="9906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56" name="Rectangle 4"/>
          <p:cNvSpPr/>
          <p:nvPr/>
        </p:nvSpPr>
        <p:spPr>
          <a:xfrm>
            <a:off x="302133" y="1968500"/>
            <a:ext cx="50800" cy="990600"/>
          </a:xfrm>
          <a:prstGeom prst="rect">
            <a:avLst/>
          </a:prstGeom>
          <a:solidFill>
            <a:srgbClr val="1B75B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57" name="TextBox 5"/>
          <p:cNvSpPr txBox="1"/>
          <p:nvPr/>
        </p:nvSpPr>
        <p:spPr>
          <a:xfrm>
            <a:off x="508000" y="2095500"/>
            <a:ext cx="9779000" cy="74980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Consolas"/>
              </a:rPr>
              <a:t>import { defineConfig } from 'oxlint';</a:t>
            </a:r>
            <a:endParaRPr sz="1200">
              <a:solidFill>
                <a:srgbClr val="333333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endParaRPr sz="1200">
              <a:solidFill>
                <a:srgbClr val="333333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Consolas"/>
              </a:rPr>
              <a:t>export default defineConfig({});</a:t>
            </a:r>
            <a:endParaRPr sz="1200">
              <a:solidFill>
                <a:srgbClr val="333333"/>
              </a:solidFill>
              <a:latin typeface="Consolas"/>
            </a:endParaRPr>
          </a:p>
        </p:txBody>
      </p:sp>
      <p:sp>
        <p:nvSpPr>
          <p:cNvPr id="458" name="TextBox 6"/>
          <p:cNvSpPr txBox="1"/>
          <p:nvPr/>
        </p:nvSpPr>
        <p:spPr>
          <a:xfrm>
            <a:off x="302133" y="3238500"/>
            <a:ext cx="10160000" cy="124419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Плагин — это именованная группа правил; его включение делает правила доступными. Встроенные плагины перечисляются в поле plugins, например plugins: ['import']. Эта запись переопределяет набор плагинов, включённых по умолчанию. Плагин eslint включён по умолчанию и подключает основные правила ESLint.</a:t>
            </a:r>
            <a:endParaRPr sz="1550">
              <a:solidFill>
                <a:srgbClr val="40404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7" name="TextBox 1"/>
          <p:cNvSpPr txBox="1"/>
          <p:nvPr/>
        </p:nvSpPr>
        <p:spPr>
          <a:xfrm>
            <a:off x="302133" y="238506"/>
            <a:ext cx="9906000" cy="3962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2000" b="1">
                <a:solidFill>
                  <a:srgbClr val="404040"/>
                </a:solidFill>
                <a:latin typeface="Arial"/>
              </a:rPr>
              <a:t>Oxc внутри Vite+</a:t>
            </a:r>
            <a:endParaRPr sz="2000" b="1">
              <a:solidFill>
                <a:srgbClr val="404040"/>
              </a:solidFill>
              <a:latin typeface="Arial"/>
            </a:endParaRPr>
          </a:p>
        </p:txBody>
      </p:sp>
      <p:sp>
        <p:nvSpPr>
          <p:cNvPr id="678" name="TextBox 2"/>
          <p:cNvSpPr txBox="1"/>
          <p:nvPr/>
        </p:nvSpPr>
        <p:spPr>
          <a:xfrm>
            <a:off x="302133" y="736600"/>
            <a:ext cx="10160000" cy="667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В проекте на Vite+ отдельный .oxlintrc.json не нужен: Oxc настраивается прямо в vite.config.ts. Вот реальный фрагмент конфига:</a:t>
            </a:r>
            <a:endParaRPr sz="1550">
              <a:solidFill>
                <a:srgbClr val="404040"/>
              </a:solidFill>
              <a:latin typeface="Arial"/>
            </a:endParaRPr>
          </a:p>
        </p:txBody>
      </p:sp>
      <p:sp>
        <p:nvSpPr>
          <p:cNvPr id="679" name="Rectangle 3"/>
          <p:cNvSpPr/>
          <p:nvPr/>
        </p:nvSpPr>
        <p:spPr>
          <a:xfrm>
            <a:off x="302133" y="1524000"/>
            <a:ext cx="10160000" cy="2540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80" name="Rectangle 4"/>
          <p:cNvSpPr/>
          <p:nvPr/>
        </p:nvSpPr>
        <p:spPr>
          <a:xfrm>
            <a:off x="302133" y="1524000"/>
            <a:ext cx="50800" cy="2540000"/>
          </a:xfrm>
          <a:prstGeom prst="rect">
            <a:avLst/>
          </a:prstGeom>
          <a:solidFill>
            <a:srgbClr val="1B75B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81" name="TextBox 5"/>
          <p:cNvSpPr txBox="1"/>
          <p:nvPr/>
        </p:nvSpPr>
        <p:spPr>
          <a:xfrm>
            <a:off x="508000" y="1651000"/>
            <a:ext cx="9779000" cy="25054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Arial"/>
              </a:rPr>
              <a:t>import { defineConfig } from 'vite-plus';</a:t>
            </a:r>
            <a:endParaRPr sz="1200">
              <a:solidFill>
                <a:srgbClr val="333333"/>
              </a:solidFill>
              <a:latin typeface="Arial"/>
            </a:endParaRPr>
          </a:p>
          <a:p>
            <a:pPr>
              <a:lnSpc>
                <a:spcPct val="120000"/>
              </a:lnSpc>
            </a:pPr>
            <a:endParaRPr sz="1200">
              <a:solidFill>
                <a:srgbClr val="333333"/>
              </a:solidFill>
              <a:latin typeface="Arial"/>
            </a:endParaRP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Arial"/>
              </a:rPr>
              <a:t>export default defineConfig({</a:t>
            </a:r>
            <a:endParaRPr sz="1200">
              <a:solidFill>
                <a:srgbClr val="333333"/>
              </a:solidFill>
              <a:latin typeface="Arial"/>
            </a:endParaRP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Arial"/>
              </a:rPr>
              <a:t>  lint: {</a:t>
            </a:r>
            <a:endParaRPr sz="1200">
              <a:solidFill>
                <a:srgbClr val="333333"/>
              </a:solidFill>
              <a:latin typeface="Arial"/>
            </a:endParaRP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Arial"/>
              </a:rPr>
              <a:t>    ignorePatterns: ['dist/**', 'node_modules/**'],</a:t>
            </a:r>
            <a:endParaRPr sz="1200">
              <a:solidFill>
                <a:srgbClr val="333333"/>
              </a:solidFill>
              <a:latin typeface="Arial"/>
            </a:endParaRP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Arial"/>
              </a:rPr>
              <a:t>    plugins: ['react', 'typescript', 'oxc'],</a:t>
            </a:r>
            <a:endParaRPr sz="1200">
              <a:solidFill>
                <a:srgbClr val="333333"/>
              </a:solidFill>
              <a:latin typeface="Arial"/>
            </a:endParaRP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Arial"/>
              </a:rPr>
              <a:t>    rules: { 'react/rules-of-hooks': 'error' },</a:t>
            </a:r>
            <a:endParaRPr sz="1200">
              <a:solidFill>
                <a:srgbClr val="333333"/>
              </a:solidFill>
              <a:latin typeface="Arial"/>
            </a:endParaRP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Arial"/>
              </a:rPr>
              <a:t>    options: { typeAware: true, typeCheck: true },</a:t>
            </a:r>
            <a:endParaRPr sz="1200">
              <a:solidFill>
                <a:srgbClr val="333333"/>
              </a:solidFill>
              <a:latin typeface="Arial"/>
            </a:endParaRP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Arial"/>
              </a:rPr>
              <a:t>  },</a:t>
            </a:r>
            <a:endParaRPr sz="1200">
              <a:solidFill>
                <a:srgbClr val="333333"/>
              </a:solidFill>
              <a:latin typeface="Arial"/>
            </a:endParaRP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Arial"/>
              </a:rPr>
              <a:t>  fmt: {},</a:t>
            </a:r>
            <a:endParaRPr sz="1200">
              <a:solidFill>
                <a:srgbClr val="333333"/>
              </a:solidFill>
              <a:latin typeface="Arial"/>
            </a:endParaRP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Arial"/>
              </a:rPr>
              <a:t>});</a:t>
            </a:r>
            <a:endParaRPr sz="1200">
              <a:solidFill>
                <a:srgbClr val="333333"/>
              </a:solidFill>
              <a:latin typeface="Arial"/>
            </a:endParaRPr>
          </a:p>
        </p:txBody>
      </p:sp>
      <p:graphicFrame>
        <p:nvGraphicFramePr>
          <p:cNvPr id="682" name="Table 6"/>
          <p:cNvGraphicFramePr>
            <a:graphicFrameLocks noGrp="1"/>
          </p:cNvGraphicFramePr>
          <p:nvPr/>
        </p:nvGraphicFramePr>
        <p:xfrm>
          <a:off x="302133" y="4254500"/>
          <a:ext cx="10160000" cy="1333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/>
                <a:gridCol w="6350000"/>
              </a:tblGrid>
              <a:tr h="266700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Блок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1B75B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Зачем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1B75BB"/>
                    </a:solidFill>
                  </a:tcPr>
                </a:tc>
              </a:tr>
              <a:tr h="266700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lint.plugins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react, typescript, oxc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6700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lint.rules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точечные правила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6700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lint.options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typeAware + typeCheck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6700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fmt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настройки Oxfmt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83" name="TextBox 7"/>
          <p:cNvSpPr txBox="1"/>
          <p:nvPr/>
        </p:nvSpPr>
        <p:spPr>
          <a:xfrm>
            <a:off x="302133" y="5740400"/>
            <a:ext cx="10160000" cy="3796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vp check запускает всё сразу: Oxfmt, Oxlint и проверку типов.</a:t>
            </a:r>
            <a:endParaRPr sz="1550">
              <a:solidFill>
                <a:srgbClr val="40404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TextBox 1"/>
          <p:cNvSpPr txBox="1"/>
          <p:nvPr/>
        </p:nvSpPr>
        <p:spPr>
          <a:xfrm>
            <a:off x="1016000" y="2032000"/>
            <a:ext cx="5080000" cy="15544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9600" b="1">
                <a:solidFill>
                  <a:srgbClr val="1B75BB"/>
                </a:solidFill>
                <a:latin typeface="Arial"/>
              </a:rPr>
              <a:t>04</a:t>
            </a:r>
            <a:endParaRPr sz="9600" b="1">
              <a:solidFill>
                <a:srgbClr val="1B75BB"/>
              </a:solidFill>
              <a:latin typeface="Arial"/>
            </a:endParaRPr>
          </a:p>
        </p:txBody>
      </p:sp>
      <p:sp>
        <p:nvSpPr>
          <p:cNvPr id="501" name="TextBox 2"/>
          <p:cNvSpPr txBox="1"/>
          <p:nvPr/>
        </p:nvSpPr>
        <p:spPr>
          <a:xfrm>
            <a:off x="1016000" y="3556000"/>
            <a:ext cx="10414000" cy="7010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404040"/>
                </a:solidFill>
                <a:latin typeface="Arial"/>
              </a:rPr>
              <a:t>Nginx</a:t>
            </a:r>
            <a:endParaRPr sz="4000" b="1">
              <a:solidFill>
                <a:srgbClr val="404040"/>
              </a:solidFill>
              <a:latin typeface="Arial"/>
            </a:endParaRPr>
          </a:p>
        </p:txBody>
      </p:sp>
      <p:sp>
        <p:nvSpPr>
          <p:cNvPr id="502" name="Rectangle 3"/>
          <p:cNvSpPr/>
          <p:nvPr/>
        </p:nvSpPr>
        <p:spPr>
          <a:xfrm>
            <a:off x="1016000" y="4419600"/>
            <a:ext cx="2286000" cy="38100"/>
          </a:xfrm>
          <a:prstGeom prst="rect">
            <a:avLst/>
          </a:prstGeom>
          <a:solidFill>
            <a:srgbClr val="1B75B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03" name="TextBox 4"/>
          <p:cNvSpPr txBox="1"/>
          <p:nvPr/>
        </p:nvSpPr>
        <p:spPr>
          <a:xfrm>
            <a:off x="1016000" y="4673600"/>
            <a:ext cx="9652000" cy="4084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600">
                <a:solidFill>
                  <a:srgbClr val="666666"/>
                </a:solidFill>
                <a:latin typeface="Arial"/>
              </a:rPr>
              <a:t>Точка входа в production: статика, proxy и HTTPS</a:t>
            </a:r>
            <a:endParaRPr sz="1600">
              <a:solidFill>
                <a:srgbClr val="666666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TextBox 1"/>
          <p:cNvSpPr txBox="1"/>
          <p:nvPr/>
        </p:nvSpPr>
        <p:spPr>
          <a:xfrm>
            <a:off x="302133" y="238506"/>
            <a:ext cx="9906000" cy="3962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2000" b="1">
                <a:solidFill>
                  <a:srgbClr val="404040"/>
                </a:solidFill>
                <a:latin typeface="Arial"/>
              </a:rPr>
              <a:t>Зачем Nginx фронтенду</a:t>
            </a:r>
            <a:endParaRPr sz="2000" b="1">
              <a:solidFill>
                <a:srgbClr val="404040"/>
              </a:solidFill>
              <a:latin typeface="Arial"/>
            </a:endParaRPr>
          </a:p>
        </p:txBody>
      </p:sp>
      <p:sp>
        <p:nvSpPr>
          <p:cNvPr id="467" name="TextBox 2"/>
          <p:cNvSpPr txBox="1"/>
          <p:nvPr/>
        </p:nvSpPr>
        <p:spPr>
          <a:xfrm>
            <a:off x="302133" y="736600"/>
            <a:ext cx="10160000" cy="270174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После сборки Vite получается папка dist с HTML, JS, CSS и шрифтами. Отдавать её через Node-сервер можно, но дороже и медленнее: Nginx делает это эффективнее и берёт на себя инфраструктурные задачи.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Статика — быстрая отдача файлов.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Reverse proxy — прячет API, снимает CORS и балансирует нагрузку между инстансами.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TLS и кэш — терминирует HTTPS, сжимает gzip и кэширует ассеты на клиенте.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В типичном деплое Nginx — точка входа, а Node/API — за ним.</a:t>
            </a:r>
            <a:endParaRPr sz="1550">
              <a:solidFill>
                <a:srgbClr val="404040"/>
              </a:solidFill>
              <a:latin typeface="Arial"/>
            </a:endParaRPr>
          </a:p>
        </p:txBody>
      </p:sp>
      <p:graphicFrame>
        <p:nvGraphicFramePr>
          <p:cNvPr id="468" name="Table 3"/>
          <p:cNvGraphicFramePr>
            <a:graphicFrameLocks noGrp="1"/>
          </p:cNvGraphicFramePr>
          <p:nvPr/>
        </p:nvGraphicFramePr>
        <p:xfrm>
          <a:off x="302133" y="3873500"/>
          <a:ext cx="10160000" cy="15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0"/>
                <a:gridCol w="7112000"/>
              </a:tblGrid>
              <a:tr h="381000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Роль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1B75B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Что делает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1B75BB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Статика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HTML, JS, CSS, шрифты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Reverse proxy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API, CORS, балансировка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TLS и кэш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HTTPS, gzip, кэш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TextBox 1"/>
          <p:cNvSpPr txBox="1"/>
          <p:nvPr/>
        </p:nvSpPr>
        <p:spPr>
          <a:xfrm>
            <a:off x="302133" y="238506"/>
            <a:ext cx="9906000" cy="3962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2000" b="1">
                <a:solidFill>
                  <a:srgbClr val="404040"/>
                </a:solidFill>
                <a:latin typeface="Arial"/>
              </a:rPr>
              <a:t>Карта конфига и ключевые директивы</a:t>
            </a:r>
            <a:endParaRPr sz="2000" b="1">
              <a:solidFill>
                <a:srgbClr val="404040"/>
              </a:solidFill>
              <a:latin typeface="Arial"/>
            </a:endParaRPr>
          </a:p>
        </p:txBody>
      </p:sp>
      <p:sp>
        <p:nvSpPr>
          <p:cNvPr id="474" name="TextBox 2"/>
          <p:cNvSpPr txBox="1"/>
          <p:nvPr/>
        </p:nvSpPr>
        <p:spPr>
          <a:xfrm>
            <a:off x="302133" y="736600"/>
            <a:ext cx="10160000" cy="667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Конфиг Nginx вложен сверху вниз: настройки из http наследуются в server, а из server — в location. Простые директивы заканчиваются ;, блочные — { }. Подключение файлов — include /etc/nginx/conf.d/*.conf;.</a:t>
            </a:r>
            <a:endParaRPr sz="1550">
              <a:solidFill>
                <a:srgbClr val="404040"/>
              </a:solidFill>
              <a:latin typeface="Arial"/>
            </a:endParaRPr>
          </a:p>
        </p:txBody>
      </p:sp>
      <p:graphicFrame>
        <p:nvGraphicFramePr>
          <p:cNvPr id="475" name="Table 3"/>
          <p:cNvGraphicFramePr>
            <a:graphicFrameLocks noGrp="1"/>
          </p:cNvGraphicFramePr>
          <p:nvPr/>
        </p:nvGraphicFramePr>
        <p:xfrm>
          <a:off x="302133" y="1905000"/>
          <a:ext cx="10160000" cy="215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0000"/>
                <a:gridCol w="7620000"/>
              </a:tblGrid>
              <a:tr h="359833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Контекст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1B75B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Что настраивает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1B75BB"/>
                    </a:solidFill>
                  </a:tcPr>
                </a:tc>
              </a:tr>
              <a:tr h="359833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main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user, worker_processes, error_log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59833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events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worker_connections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59833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http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mime.types, gzip, upstream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59833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server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listen, server_name, root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59833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location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try_files, proxy_pass</a:t>
                      </a:r>
                      <a:endParaRPr sz="1150">
                        <a:latin typeface="Arial"/>
                      </a:endParaRPr>
                    </a:p>
                  </a:txBody>
                  <a:tcPr marL="45720" marR="45720" marT="45720" marB="45720" anchor="ctr">
                    <a:lnL w="9525">
                      <a:solidFill>
                        <a:srgbClr val="D9D9D9"/>
                      </a:solidFill>
                    </a:lnL>
                    <a:lnR w="9525">
                      <a:solidFill>
                        <a:srgbClr val="D9D9D9"/>
                      </a:solidFill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76" name="TextBox 4"/>
          <p:cNvSpPr txBox="1"/>
          <p:nvPr/>
        </p:nvSpPr>
        <p:spPr>
          <a:xfrm>
            <a:off x="302133" y="4318000"/>
            <a:ext cx="10160000" cy="667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Для SPA важны try_files (fallback на index.html), для API — proxy_pass, для ассетов — expires и gzip, для HTTPS — ssl и return 301.</a:t>
            </a:r>
            <a:endParaRPr sz="1550">
              <a:solidFill>
                <a:srgbClr val="40404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TextBox 1"/>
          <p:cNvSpPr txBox="1"/>
          <p:nvPr/>
        </p:nvSpPr>
        <p:spPr>
          <a:xfrm>
            <a:off x="302133" y="238506"/>
            <a:ext cx="9906000" cy="3962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2000" b="1">
                <a:solidFill>
                  <a:srgbClr val="404040"/>
                </a:solidFill>
                <a:latin typeface="Arial"/>
              </a:rPr>
              <a:t>Минимальный конфиг SPA</a:t>
            </a:r>
            <a:endParaRPr sz="2000" b="1">
              <a:solidFill>
                <a:srgbClr val="404040"/>
              </a:solidFill>
              <a:latin typeface="Arial"/>
            </a:endParaRPr>
          </a:p>
        </p:txBody>
      </p:sp>
      <p:sp>
        <p:nvSpPr>
          <p:cNvPr id="483" name="TextBox 2"/>
          <p:cNvSpPr txBox="1"/>
          <p:nvPr/>
        </p:nvSpPr>
        <p:spPr>
          <a:xfrm>
            <a:off x="302133" y="736600"/>
            <a:ext cx="10160000" cy="3796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Вот минимальный server, которого хватает для SPA: статика, fallback на index.html и proxy на API.</a:t>
            </a:r>
            <a:endParaRPr sz="1550">
              <a:solidFill>
                <a:srgbClr val="404040"/>
              </a:solidFill>
              <a:latin typeface="Arial"/>
            </a:endParaRPr>
          </a:p>
        </p:txBody>
      </p:sp>
      <p:sp>
        <p:nvSpPr>
          <p:cNvPr id="484" name="Rectangle 3"/>
          <p:cNvSpPr/>
          <p:nvPr/>
        </p:nvSpPr>
        <p:spPr>
          <a:xfrm>
            <a:off x="302133" y="1333500"/>
            <a:ext cx="10160000" cy="36195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85" name="Rectangle 4"/>
          <p:cNvSpPr/>
          <p:nvPr/>
        </p:nvSpPr>
        <p:spPr>
          <a:xfrm>
            <a:off x="302133" y="1333500"/>
            <a:ext cx="50800" cy="3619500"/>
          </a:xfrm>
          <a:prstGeom prst="rect">
            <a:avLst/>
          </a:prstGeom>
          <a:solidFill>
            <a:srgbClr val="1B75B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86" name="TextBox 5"/>
          <p:cNvSpPr txBox="1"/>
          <p:nvPr/>
        </p:nvSpPr>
        <p:spPr>
          <a:xfrm>
            <a:off x="508000" y="1333500"/>
            <a:ext cx="9779000" cy="34925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Consolas"/>
              </a:rPr>
              <a:t>server {</a:t>
            </a: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Consolas"/>
              </a:rPr>
              <a:t>  listen 80;</a:t>
            </a: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Consolas"/>
              </a:rPr>
              <a:t>  server_name example.com;</a:t>
            </a: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Consolas"/>
              </a:rPr>
              <a:t>  root /usr/share/nginx/html;</a:t>
            </a:r>
          </a:p>
          <a:p>
            <a:pPr>
              <a:lnSpc>
                <a:spcPct val="120000"/>
              </a:lnSpc>
            </a:pP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Consolas"/>
              </a:rPr>
              <a:t>  location / {</a:t>
            </a: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Consolas"/>
              </a:rPr>
              <a:t>    try_files $uri $uri/ /index.html;</a:t>
            </a: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Consolas"/>
              </a:rPr>
              <a:t>  }</a:t>
            </a: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Consolas"/>
              </a:rPr>
              <a:t>  location /api/ { proxy_pass http://api:3000/; }</a:t>
            </a: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Consolas"/>
              </a:rPr>
              <a:t>  location ~* \.(js|css|png|svg|woff2)$ {</a:t>
            </a: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Consolas"/>
              </a:rPr>
              <a:t>    expires 30d;</a:t>
            </a: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Consolas"/>
              </a:rPr>
              <a:t>    add_header Cache-Control "public, immutable";</a:t>
            </a: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Consolas"/>
              </a:rPr>
              <a:t>  }</a:t>
            </a: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Consolas"/>
              </a:rPr>
              <a:t>}</a:t>
            </a:r>
          </a:p>
        </p:txBody>
      </p:sp>
      <p:sp>
        <p:nvSpPr>
          <p:cNvPr id="487" name="TextBox 6"/>
          <p:cNvSpPr txBox="1"/>
          <p:nvPr/>
        </p:nvSpPr>
        <p:spPr>
          <a:xfrm>
            <a:off x="302133" y="5080000"/>
            <a:ext cx="10160000" cy="5852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350">
                <a:solidFill>
                  <a:srgbClr val="404040"/>
                </a:solidFill>
                <a:latin typeface="Arial"/>
              </a:rPr>
              <a:t>Без try_files прямой заход на /posts/1 даст 404. gzip, кэш и HTTPS добавляются в этот же server. Проверка: nginx -t → nginx -s reload.</a:t>
            </a:r>
            <a:endParaRPr sz="1350">
              <a:solidFill>
                <a:srgbClr val="40404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TextBox 1"/>
          <p:cNvSpPr txBox="1"/>
          <p:nvPr/>
        </p:nvSpPr>
        <p:spPr>
          <a:xfrm>
            <a:off x="302133" y="238506"/>
            <a:ext cx="9906000" cy="3962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2000" b="1">
                <a:solidFill>
                  <a:srgbClr val="404040"/>
                </a:solidFill>
                <a:latin typeface="Arial"/>
              </a:rPr>
              <a:t>Итог</a:t>
            </a:r>
            <a:endParaRPr sz="2000" b="1">
              <a:solidFill>
                <a:srgbClr val="404040"/>
              </a:solidFill>
              <a:latin typeface="Arial"/>
            </a:endParaRPr>
          </a:p>
        </p:txBody>
      </p:sp>
      <p:sp>
        <p:nvSpPr>
          <p:cNvPr id="496" name="TextBox 2"/>
          <p:cNvSpPr txBox="1"/>
          <p:nvPr/>
        </p:nvSpPr>
        <p:spPr>
          <a:xfrm>
            <a:off x="302133" y="736600"/>
            <a:ext cx="10160000" cy="25745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600">
                <a:solidFill>
                  <a:srgbClr val="404040"/>
                </a:solidFill>
                <a:latin typeface="Arial"/>
              </a:rPr>
              <a:t>Vite — быстрый dev-сервер и сборщик; его конфиг живёт в vite.config.ts.</a:t>
            </a:r>
            <a:endParaRPr sz="160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600">
                <a:solidFill>
                  <a:srgbClr val="404040"/>
                </a:solidFill>
                <a:latin typeface="Arial"/>
              </a:rPr>
              <a:t>Vite+ — единый CLI vp для зависимостей, проверок, тестов и задач.</a:t>
            </a:r>
            <a:endParaRPr sz="160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600">
                <a:solidFill>
                  <a:srgbClr val="404040"/>
                </a:solidFill>
                <a:latin typeface="Arial"/>
              </a:rPr>
              <a:t>Oxc — Oxlint и Oxfmt на Rust для быстрого линтинга и форматирования.</a:t>
            </a:r>
            <a:endParaRPr sz="160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600">
                <a:solidFill>
                  <a:srgbClr val="404040"/>
                </a:solidFill>
                <a:latin typeface="Arial"/>
              </a:rPr>
              <a:t>Nginx — точка входа в проде: статика, SPA-fallback, proxy и HTTPS.</a:t>
            </a:r>
            <a:endParaRPr sz="160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35000"/>
              </a:lnSpc>
              <a:spcAft>
                <a:spcPts val="800"/>
              </a:spcAft>
            </a:pPr>
            <a:endParaRPr sz="160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600">
                <a:solidFill>
                  <a:srgbClr val="404040"/>
                </a:solidFill>
                <a:latin typeface="Arial"/>
              </a:rPr>
              <a:t>Дальше: собрать проект на Vite+, настроить vp check и развернуть его за Nginx.</a:t>
            </a:r>
            <a:endParaRPr sz="1600">
              <a:solidFill>
                <a:srgbClr val="404040"/>
              </a:solidFill>
              <a:latin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Титульный слайд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Классическая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>
          <a:solidFill>
            <a:schemeClr val="phClr"/>
          </a:solidFill>
          <a:prstDash val="solid"/>
          <a:miter/>
        </a:ln>
        <a:ln w="12700" cap="flat" cmpd="sng">
          <a:solidFill>
            <a:schemeClr val="phClr"/>
          </a:solidFill>
          <a:prstDash val="solid"/>
          <a:miter/>
        </a:ln>
        <a:ln w="19050" cap="flat" cmpd="sng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 xmlns:a="http://schemas.openxmlformats.org/drawingml/2006/main"/>
  <a:extraClrSchemeLst xmlns:a="http://schemas.openxmlformats.org/drawingml/2006/main"/>
</a:theme>
</file>

<file path=ppt/theme/theme2.xml><?xml version="1.0" encoding="utf-8"?>
<a:theme xmlns:a="http://schemas.openxmlformats.org/drawingml/2006/main" xmlns:r="http://schemas.openxmlformats.org/officeDocument/2006/relationships" name="Тема Office">
  <a:themeElements>
    <a:clrScheme name="АСЭ няшная">
      <a:dk1>
        <a:srgbClr val="726F6F"/>
      </a:dk1>
      <a:lt1>
        <a:srgbClr val="FFFFFF"/>
      </a:lt1>
      <a:dk2>
        <a:srgbClr val="033174"/>
      </a:dk2>
      <a:lt2>
        <a:srgbClr val="E7E6E6"/>
      </a:lt2>
      <a:accent1>
        <a:srgbClr val="F1D8D9"/>
      </a:accent1>
      <a:accent2>
        <a:srgbClr val="E09BB0"/>
      </a:accent2>
      <a:accent3>
        <a:srgbClr val="3B91C7"/>
      </a:accent3>
      <a:accent4>
        <a:srgbClr val="7EAB7C"/>
      </a:accent4>
      <a:accent5>
        <a:srgbClr val="ABD0E0"/>
      </a:accent5>
      <a:accent6>
        <a:srgbClr val="6495BC"/>
      </a:accent6>
      <a:hlink>
        <a:srgbClr val="AEBCD7"/>
      </a:hlink>
      <a:folHlink>
        <a:srgbClr val="954F72"/>
      </a:folHlink>
    </a:clrScheme>
    <a:fontScheme name="Тема 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>
          <a:solidFill>
            <a:schemeClr val="phClr"/>
          </a:solidFill>
          <a:prstDash val="solid"/>
          <a:miter/>
        </a:ln>
        <a:ln w="12700" cap="flat" cmpd="sng">
          <a:solidFill>
            <a:schemeClr val="phClr"/>
          </a:solidFill>
          <a:prstDash val="solid"/>
          <a:miter/>
        </a:ln>
        <a:ln w="19050" cap="flat" cmpd="sng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 xmlns:a="http://schemas.openxmlformats.org/drawingml/2006/main"/>
  <a:extraClrSchemeLst xmlns:a="http://schemas.openxmlformats.org/drawingml/2006/main"/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>
          <a:solidFill>
            <a:schemeClr val="phClr"/>
          </a:solidFill>
          <a:prstDash val="solid"/>
          <a:miter/>
        </a:ln>
        <a:ln w="12700" cap="flat" cmpd="sng">
          <a:solidFill>
            <a:schemeClr val="phClr"/>
          </a:solidFill>
          <a:prstDash val="solid"/>
          <a:miter/>
        </a:ln>
        <a:ln w="19050" cap="flat" cmpd="sng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 xmlns:a="http://schemas.openxmlformats.org/drawingml/2006/main"/>
  <a:extraClrSchemeLst xmlns:a="http://schemas.openxmlformats.org/drawingml/2006/main"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DeckCraft</Application>
  <Slides>31</Slides>
  <Notes>0</Notes>
  <HiddenSlides>0</Hidden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Vite, Vite+, Oxc и Nginx — Лекция 1</dc:title>
  <dc:subject>Инструменты сборки, линтинга и доставки фронтенда</dc:subject>
  <dc:creator>Пользователь</dc:creator>
  <cp:keywords>Vite, Vite+, Oxc, Oxlint, Oxfmt, Nginx</cp:keywords>
  <cp:lastModifiedBy>Даниэль Эрнандес Гарсия</cp:lastModifiedBy>
  <cp:revision>100</cp:revision>
  <dcterms:created xsi:type="dcterms:W3CDTF">2020-10-13T10:00:27Z</dcterms:created>
  <dcterms:modified xsi:type="dcterms:W3CDTF">2025-12-09T21:58:05Z</dcterms:modified>
</cp:coreProperties>
</file>