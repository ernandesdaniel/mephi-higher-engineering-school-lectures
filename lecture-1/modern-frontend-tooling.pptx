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theme" Target="theme/theme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Box 1"/>
          <p:cNvSpPr txBox="1"/>
          <p:nvPr/>
        </p:nvSpPr>
        <p:spPr>
          <a:xfrm>
            <a:off x="812800" y="812800"/>
            <a:ext cx="88900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ЛЕКЦИЯ 1 · 2026</a:t>
            </a:r>
            <a:endParaRPr sz="1100" b="1">
              <a:solidFill>
                <a:srgbClr val="94A3B8"/>
              </a:solidFill>
              <a:latin typeface="Arial"/>
            </a:endParaRPr>
          </a:p>
        </p:txBody>
      </p:sp>
      <p:sp>
        <p:nvSpPr>
          <p:cNvPr id="261" name="TextBox 2"/>
          <p:cNvSpPr txBox="1"/>
          <p:nvPr/>
        </p:nvSpPr>
        <p:spPr>
          <a:xfrm>
            <a:off x="812800" y="1320800"/>
            <a:ext cx="10566400" cy="944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Arial"/>
              </a:rPr>
              <a:t>Vite, Vite+, Oxc и Nginx</a:t>
            </a:r>
          </a:p>
        </p:txBody>
      </p:sp>
      <p:sp>
        <p:nvSpPr>
          <p:cNvPr id="262" name="Rectangle 3"/>
          <p:cNvSpPr/>
          <p:nvPr/>
        </p:nvSpPr>
        <p:spPr>
          <a:xfrm>
            <a:off x="812800" y="3048000"/>
            <a:ext cx="1778000" cy="762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3" name="Rectangle 4"/>
          <p:cNvSpPr/>
          <p:nvPr/>
        </p:nvSpPr>
        <p:spPr>
          <a:xfrm>
            <a:off x="2743200" y="3048000"/>
            <a:ext cx="1778000" cy="76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4" name="Rectangle 5"/>
          <p:cNvSpPr/>
          <p:nvPr/>
        </p:nvSpPr>
        <p:spPr>
          <a:xfrm>
            <a:off x="4673600" y="3048000"/>
            <a:ext cx="1778000" cy="76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5" name="TextBox 6"/>
          <p:cNvSpPr txBox="1"/>
          <p:nvPr/>
        </p:nvSpPr>
        <p:spPr>
          <a:xfrm>
            <a:off x="812800" y="3530600"/>
            <a:ext cx="9652000" cy="955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2100">
                <a:solidFill>
                  <a:srgbClr val="CBD5E1"/>
                </a:solidFill>
                <a:latin typeface="Arial"/>
              </a:rPr>
              <a:t>Современный инструментарий сборки,</a:t>
            </a:r>
          </a:p>
          <a:p>
            <a:pPr>
              <a:lnSpc>
                <a:spcPct val="135000"/>
              </a:lnSpc>
            </a:pPr>
            <a:r>
              <a:rPr sz="2100">
                <a:solidFill>
                  <a:srgbClr val="CBD5E1"/>
                </a:solidFill>
                <a:latin typeface="Arial"/>
              </a:rPr>
              <a:t>линтинга и доставки фронтенда</a:t>
            </a:r>
          </a:p>
        </p:txBody>
      </p:sp>
      <p:sp>
        <p:nvSpPr>
          <p:cNvPr id="266" name="TextBox 7"/>
          <p:cNvSpPr txBox="1"/>
          <p:nvPr/>
        </p:nvSpPr>
        <p:spPr>
          <a:xfrm>
            <a:off x="812800" y="5461000"/>
            <a:ext cx="96520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>
                <a:solidFill>
                  <a:srgbClr val="94A3B8"/>
                </a:solidFill>
                <a:latin typeface="Arial"/>
              </a:rPr>
              <a:t>143 карточки · 3 блока + Nginx</a:t>
            </a:r>
          </a:p>
        </p:txBody>
      </p:sp>
      <p:sp>
        <p:nvSpPr>
          <p:cNvPr id="267" name="TextBox 8"/>
          <p:cNvSpPr txBox="1"/>
          <p:nvPr/>
        </p:nvSpPr>
        <p:spPr>
          <a:xfrm>
            <a:off x="812800" y="5969000"/>
            <a:ext cx="965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Vite · Vite+ · Oxc · Nginx</a:t>
            </a:r>
          </a:p>
        </p:txBody>
      </p:sp>
      <p:sp>
        <p:nvSpPr>
          <p:cNvPr id="896" name="Rectangle 9"/>
          <p:cNvSpPr/>
          <p:nvPr/>
        </p:nvSpPr>
        <p:spPr>
          <a:xfrm>
            <a:off x="6604000" y="3048000"/>
            <a:ext cx="1778000" cy="762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7" name="TextBox 2"/>
          <p:cNvSpPr txBox="1"/>
          <p:nvPr/>
        </p:nvSpPr>
        <p:spPr>
          <a:xfrm>
            <a:off x="812800" y="4318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СОДЕРЖАНИЕ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868" name="TextBox 3"/>
          <p:cNvSpPr txBox="1"/>
          <p:nvPr/>
        </p:nvSpPr>
        <p:spPr>
          <a:xfrm>
            <a:off x="812800" y="711200"/>
            <a:ext cx="10566400" cy="518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800" b="1">
                <a:solidFill>
                  <a:srgbClr val="0F172A"/>
                </a:solidFill>
                <a:latin typeface="Arial"/>
              </a:rPr>
              <a:t>О лекции</a:t>
            </a:r>
            <a:endParaRPr sz="28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69" name="Rectangle 4"/>
          <p:cNvSpPr/>
          <p:nvPr/>
        </p:nvSpPr>
        <p:spPr>
          <a:xfrm>
            <a:off x="812800" y="13970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0" name="Rectangle 5"/>
          <p:cNvSpPr/>
          <p:nvPr/>
        </p:nvSpPr>
        <p:spPr>
          <a:xfrm>
            <a:off x="812800" y="1905000"/>
            <a:ext cx="2489200" cy="3810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1" name="Rectangle 6"/>
          <p:cNvSpPr/>
          <p:nvPr/>
        </p:nvSpPr>
        <p:spPr>
          <a:xfrm>
            <a:off x="812800" y="1905000"/>
            <a:ext cx="2489200" cy="762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2" name="TextBox 7"/>
          <p:cNvSpPr txBox="1"/>
          <p:nvPr/>
        </p:nvSpPr>
        <p:spPr>
          <a:xfrm>
            <a:off x="1041400" y="2108200"/>
            <a:ext cx="2032000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3600" b="1">
                <a:solidFill>
                  <a:srgbClr val="646CFF"/>
                </a:solidFill>
                <a:latin typeface="Arial"/>
              </a:rPr>
              <a:t>85</a:t>
            </a:r>
            <a:endParaRPr sz="360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873" name="TextBox 8"/>
          <p:cNvSpPr txBox="1"/>
          <p:nvPr/>
        </p:nvSpPr>
        <p:spPr>
          <a:xfrm>
            <a:off x="1041400" y="2717800"/>
            <a:ext cx="203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карточек</a:t>
            </a:r>
            <a:endParaRPr sz="12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74" name="TextBox 9"/>
          <p:cNvSpPr txBox="1"/>
          <p:nvPr/>
        </p:nvSpPr>
        <p:spPr>
          <a:xfrm>
            <a:off x="1041400" y="3073400"/>
            <a:ext cx="2032000" cy="4419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F172A"/>
                </a:solidFill>
                <a:latin typeface="Arial"/>
              </a:rPr>
              <a:t>Vite</a:t>
            </a:r>
            <a:endParaRPr sz="23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75" name="TextBox 10"/>
          <p:cNvSpPr txBox="1"/>
          <p:nvPr/>
        </p:nvSpPr>
        <p:spPr>
          <a:xfrm>
            <a:off x="1041400" y="3606800"/>
            <a:ext cx="20320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Создание проекта,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конфиг, dev-сервер,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env, ассеты</a:t>
            </a:r>
            <a:endParaRPr sz="12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876" name="Rectangle 11"/>
          <p:cNvSpPr/>
          <p:nvPr/>
        </p:nvSpPr>
        <p:spPr>
          <a:xfrm>
            <a:off x="3505200" y="1905000"/>
            <a:ext cx="2489200" cy="3810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7" name="Rectangle 12"/>
          <p:cNvSpPr/>
          <p:nvPr/>
        </p:nvSpPr>
        <p:spPr>
          <a:xfrm>
            <a:off x="3505200" y="1905000"/>
            <a:ext cx="2489200" cy="76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8" name="TextBox 13"/>
          <p:cNvSpPr txBox="1"/>
          <p:nvPr/>
        </p:nvSpPr>
        <p:spPr>
          <a:xfrm>
            <a:off x="3733800" y="2108200"/>
            <a:ext cx="2032000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3600" b="1">
                <a:solidFill>
                  <a:srgbClr val="0EA5E9"/>
                </a:solidFill>
                <a:latin typeface="Arial"/>
              </a:rPr>
              <a:t>46</a:t>
            </a:r>
            <a:endParaRPr sz="360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879" name="TextBox 14"/>
          <p:cNvSpPr txBox="1"/>
          <p:nvPr/>
        </p:nvSpPr>
        <p:spPr>
          <a:xfrm>
            <a:off x="3733800" y="2717800"/>
            <a:ext cx="203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карточек</a:t>
            </a:r>
            <a:endParaRPr sz="12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80" name="TextBox 15"/>
          <p:cNvSpPr txBox="1"/>
          <p:nvPr/>
        </p:nvSpPr>
        <p:spPr>
          <a:xfrm>
            <a:off x="3733800" y="3073400"/>
            <a:ext cx="2032000" cy="4419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F172A"/>
                </a:solidFill>
                <a:latin typeface="Arial"/>
              </a:rPr>
              <a:t>Vite+</a:t>
            </a:r>
            <a:endParaRPr sz="23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81" name="TextBox 16"/>
          <p:cNvSpPr txBox="1"/>
          <p:nvPr/>
        </p:nvSpPr>
        <p:spPr>
          <a:xfrm>
            <a:off x="3733800" y="3606800"/>
            <a:ext cx="20320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vp: зависимости, dev,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check, lint, fmt,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test, CI</a:t>
            </a:r>
            <a:endParaRPr sz="12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882" name="Rectangle 17"/>
          <p:cNvSpPr/>
          <p:nvPr/>
        </p:nvSpPr>
        <p:spPr>
          <a:xfrm>
            <a:off x="6197600" y="1905000"/>
            <a:ext cx="2489200" cy="3810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83" name="Rectangle 18"/>
          <p:cNvSpPr/>
          <p:nvPr/>
        </p:nvSpPr>
        <p:spPr>
          <a:xfrm>
            <a:off x="6197600" y="1905000"/>
            <a:ext cx="2489200" cy="76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84" name="TextBox 19"/>
          <p:cNvSpPr txBox="1"/>
          <p:nvPr/>
        </p:nvSpPr>
        <p:spPr>
          <a:xfrm>
            <a:off x="6426200" y="2108200"/>
            <a:ext cx="2032000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3600" b="1">
                <a:solidFill>
                  <a:srgbClr val="F97316"/>
                </a:solidFill>
                <a:latin typeface="Arial"/>
              </a:rPr>
              <a:t>12</a:t>
            </a:r>
            <a:endParaRPr sz="3600" b="1">
              <a:solidFill>
                <a:srgbClr val="F97316"/>
              </a:solidFill>
              <a:latin typeface="Arial"/>
            </a:endParaRPr>
          </a:p>
        </p:txBody>
      </p:sp>
      <p:sp>
        <p:nvSpPr>
          <p:cNvPr id="885" name="TextBox 20"/>
          <p:cNvSpPr txBox="1"/>
          <p:nvPr/>
        </p:nvSpPr>
        <p:spPr>
          <a:xfrm>
            <a:off x="6426200" y="2717800"/>
            <a:ext cx="203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карточек</a:t>
            </a:r>
            <a:endParaRPr sz="12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86" name="TextBox 21"/>
          <p:cNvSpPr txBox="1"/>
          <p:nvPr/>
        </p:nvSpPr>
        <p:spPr>
          <a:xfrm>
            <a:off x="6426200" y="3073400"/>
            <a:ext cx="2032000" cy="4419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F172A"/>
                </a:solidFill>
                <a:latin typeface="Arial"/>
              </a:rPr>
              <a:t>Oxc</a:t>
            </a:r>
            <a:endParaRPr sz="23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87" name="TextBox 22"/>
          <p:cNvSpPr txBox="1"/>
          <p:nvPr/>
        </p:nvSpPr>
        <p:spPr>
          <a:xfrm>
            <a:off x="6426200" y="3606800"/>
            <a:ext cx="20320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Oxlint и Oxfmt: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быстрый линт и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формат на Rust</a:t>
            </a:r>
            <a:endParaRPr sz="12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888" name="Rectangle 23"/>
          <p:cNvSpPr/>
          <p:nvPr/>
        </p:nvSpPr>
        <p:spPr>
          <a:xfrm>
            <a:off x="8890000" y="1905000"/>
            <a:ext cx="2489200" cy="3810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89" name="Rectangle 24"/>
          <p:cNvSpPr/>
          <p:nvPr/>
        </p:nvSpPr>
        <p:spPr>
          <a:xfrm>
            <a:off x="8890000" y="1905000"/>
            <a:ext cx="2489200" cy="762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90" name="TextBox 25"/>
          <p:cNvSpPr txBox="1"/>
          <p:nvPr/>
        </p:nvSpPr>
        <p:spPr>
          <a:xfrm>
            <a:off x="9118600" y="2108200"/>
            <a:ext cx="2032000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3600" b="1">
                <a:solidFill>
                  <a:srgbClr val="009639"/>
                </a:solidFill>
                <a:latin typeface="Arial"/>
              </a:rPr>
              <a:t>13</a:t>
            </a:r>
            <a:endParaRPr sz="360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891" name="TextBox 26"/>
          <p:cNvSpPr txBox="1"/>
          <p:nvPr/>
        </p:nvSpPr>
        <p:spPr>
          <a:xfrm>
            <a:off x="9118600" y="2717800"/>
            <a:ext cx="203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тем</a:t>
            </a:r>
            <a:endParaRPr sz="12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92" name="TextBox 27"/>
          <p:cNvSpPr txBox="1"/>
          <p:nvPr/>
        </p:nvSpPr>
        <p:spPr>
          <a:xfrm>
            <a:off x="9118600" y="3073400"/>
            <a:ext cx="2032000" cy="4419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F172A"/>
                </a:solidFill>
                <a:latin typeface="Arial"/>
              </a:rPr>
              <a:t>Nginx</a:t>
            </a:r>
            <a:endParaRPr sz="23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93" name="TextBox 28"/>
          <p:cNvSpPr txBox="1"/>
          <p:nvPr/>
        </p:nvSpPr>
        <p:spPr>
          <a:xfrm>
            <a:off x="9118600" y="3606800"/>
            <a:ext cx="20320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Конфиг, SPA,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proxy, кэш,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HTTPS</a:t>
            </a:r>
            <a:endParaRPr sz="12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894" name="TextBox 29"/>
          <p:cNvSpPr txBox="1"/>
          <p:nvPr/>
        </p:nvSpPr>
        <p:spPr>
          <a:xfrm>
            <a:off x="812800" y="5969000"/>
            <a:ext cx="10566400" cy="3108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Все 143 карточки + блок Nginx: конфиг, SPA-fallback, proxy, кэш и HTTPS.</a:t>
            </a:r>
            <a:endParaRPr sz="12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95" name="TextBox 30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46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TextBox 1"/>
          <p:cNvSpPr txBox="1"/>
          <p:nvPr/>
        </p:nvSpPr>
        <p:spPr>
          <a:xfrm>
            <a:off x="812800" y="1168400"/>
            <a:ext cx="5080000" cy="192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0" b="1">
                <a:solidFill>
                  <a:srgbClr val="FFFFFF"/>
                </a:solidFill>
                <a:latin typeface="Arial"/>
              </a:rPr>
              <a:t>01</a:t>
            </a:r>
            <a:endParaRPr sz="120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Rectangle 2"/>
          <p:cNvSpPr/>
          <p:nvPr/>
        </p:nvSpPr>
        <p:spPr>
          <a:xfrm>
            <a:off x="812800" y="3683000"/>
            <a:ext cx="1219200" cy="6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6" name="TextBox 3"/>
          <p:cNvSpPr txBox="1"/>
          <p:nvPr/>
        </p:nvSpPr>
        <p:spPr>
          <a:xfrm>
            <a:off x="812800" y="4038600"/>
            <a:ext cx="10566400" cy="883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Vite</a:t>
            </a:r>
            <a:endParaRPr sz="52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Box 4"/>
          <p:cNvSpPr txBox="1"/>
          <p:nvPr/>
        </p:nvSpPr>
        <p:spPr>
          <a:xfrm>
            <a:off x="812800" y="5054600"/>
            <a:ext cx="105664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Arial"/>
              </a:rPr>
              <a:t>Сборка и dev-сервер · 85 карточек · 10 тем</a:t>
            </a:r>
            <a:endParaRPr sz="16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Box 5"/>
          <p:cNvSpPr txBox="1"/>
          <p:nvPr/>
        </p:nvSpPr>
        <p:spPr>
          <a:xfrm>
            <a:off x="812800" y="6451600"/>
            <a:ext cx="105664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Vite, Vite+, Oxc и Nginx · Лекция 1</a:t>
            </a:r>
          </a:p>
        </p:txBody>
      </p:sp>
      <p:sp>
        <p:nvSpPr>
          <p:cNvPr id="299" name="TextBox 6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3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СТАРТ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0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Создание проекта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0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СТАРТ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0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08" name="TextBox 8"/>
          <p:cNvSpPr txBox="1"/>
          <p:nvPr/>
        </p:nvSpPr>
        <p:spPr>
          <a:xfrm>
            <a:off x="812800" y="1422400"/>
            <a:ext cx="10566400" cy="3291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i="1">
                <a:solidFill>
                  <a:srgbClr val="64748B"/>
                </a:solidFill>
                <a:latin typeface="Arial"/>
              </a:rPr>
              <a:t>Два способа начать: новый проект или интеграция в готовый.</a:t>
            </a:r>
            <a:endParaRPr sz="1300" i="1">
              <a:solidFill>
                <a:srgbClr val="64748B"/>
              </a:solidFill>
              <a:latin typeface="Arial"/>
            </a:endParaRPr>
          </a:p>
        </p:txBody>
      </p:sp>
      <p:sp>
        <p:nvSpPr>
          <p:cNvPr id="309" name="TextBox 9"/>
          <p:cNvSpPr txBox="1"/>
          <p:nvPr/>
        </p:nvSpPr>
        <p:spPr>
          <a:xfrm>
            <a:off x="812800" y="19304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npm create vite@latest — создать новый проект из шаблона.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npm install -D vite — добавить Vite в существующий проект.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Стартовые шаблоны: react, react-ts, vue, svelte, solid, preact, lit, vanilla.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Vite — dev-сервер и сборщик: в dev отдаёт ESM по запросу, в build собирает бандл.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КОНФИГ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1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vite.config.ts: файл и форма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1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КОНФИГ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1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5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18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Файл конфига для TypeScript-проекта — vite.config.ts.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Минимальный конфиг: defineConfig({}) из пакета vite.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Если конфиг зависит от команды — экспортируется функция: defineConfig(({ command }) =&gt; ({ ... })).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command = serve при запуске vite (dev-режим).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command = build при запуске vite build.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process.env в Node.js — глобальный объект с переменными окружения процесса.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19" name="Rectangle 9"/>
          <p:cNvSpPr/>
          <p:nvPr/>
        </p:nvSpPr>
        <p:spPr>
          <a:xfrm>
            <a:off x="812800" y="4343400"/>
            <a:ext cx="10566400" cy="1422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0" name="TextBox 10"/>
          <p:cNvSpPr txBox="1"/>
          <p:nvPr/>
        </p:nvSpPr>
        <p:spPr>
          <a:xfrm>
            <a:off x="1066800" y="4521200"/>
            <a:ext cx="10134600" cy="864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import { defineConfig } from 'vite';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export default defineConfig({});</a:t>
            </a:r>
            <a:endParaRPr sz="13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КОНФИГ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2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Конфиг и .env: loadEnv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2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КОНФИГ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2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6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29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.env недоступны в vite.config.ts через process.env: Vite откладывает их загрузку.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Набор .env-файлов зависит от самого конфига — поэтому загрузка происходит позже.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process.env внутри конфига — только переменные окружения операционной системы.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loadEnv вручную загружает .env: const env = loadEnv(mode, process.cwd(), '').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process.cwd() — текущий рабочий каталог процесса Node.js.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30" name="Rectangle 9"/>
          <p:cNvSpPr/>
          <p:nvPr/>
        </p:nvSpPr>
        <p:spPr>
          <a:xfrm>
            <a:off x="812800" y="4191000"/>
            <a:ext cx="10566400" cy="1905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1" name="TextBox 10"/>
          <p:cNvSpPr txBox="1"/>
          <p:nvPr/>
        </p:nvSpPr>
        <p:spPr>
          <a:xfrm>
            <a:off x="1066800" y="4368800"/>
            <a:ext cx="10134600" cy="15773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defineConfig(({ command, mode }) =&gt;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const env = loadEnv(mode, process.cwd(), '');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return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  define: { __API__: JSON.stringify(env.VITE_API_URL)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};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3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Опции root и base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3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3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7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40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root — папка, в которой находится файл index.html.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root = process.cwd() — каталог запуска команды.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base — запуск приложения при деплое в подпапку, а не в корень домена.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base = '/'.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сборке base подставляет префикс во все пути и задаёт import.meta.env.BASE_URL.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dev-сервере приложение поднимается по этому пути: localhost:5173/app/.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4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Опция define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4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4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8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49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define заменяет идентификаторы в коде на этапе сборки — аналог #define в C.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dev-режиме define добавляет свойство в globalThis.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сборке define меняет код на уровне AST, подставляя значение вместо идентификатора.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Подводный камень: строки нужно оборачивать в JSON.stringify — значения подставляются как есть.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Глобалы из define типизируют в vite-env.d.ts.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50" name="Rectangle 9"/>
          <p:cNvSpPr/>
          <p:nvPr/>
        </p:nvSpPr>
        <p:spPr>
          <a:xfrm>
            <a:off x="812800" y="4699000"/>
            <a:ext cx="10566400" cy="1041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1" name="TextBox 10"/>
          <p:cNvSpPr txBox="1"/>
          <p:nvPr/>
        </p:nvSpPr>
        <p:spPr>
          <a:xfrm>
            <a:off x="1066800" y="4876800"/>
            <a:ext cx="10134600" cy="3589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define: { __APP_VERSION__: JSON.stringify('1.0.0') }</a:t>
            </a:r>
            <a:endParaRPr sz="13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5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Опция plugins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5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5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9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60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plugins — массив плагинов Vite.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false / null / undefined в массиве игнорируются — удобно для isDev &amp;&amp; plugin().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Вложенные массивы распаковываются.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Promise дожидается разрешения перед запуском.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61" name="Rectangle 9"/>
          <p:cNvSpPr/>
          <p:nvPr/>
        </p:nvSpPr>
        <p:spPr>
          <a:xfrm>
            <a:off x="812800" y="4013200"/>
            <a:ext cx="10566400" cy="1524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2" name="TextBox 10"/>
          <p:cNvSpPr txBox="1"/>
          <p:nvPr/>
        </p:nvSpPr>
        <p:spPr>
          <a:xfrm>
            <a:off x="1066800" y="4191000"/>
            <a:ext cx="10134600" cy="8938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  plugins: [react(), isDev &amp;&amp; visualizer()],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});</a:t>
            </a:r>
            <a:endParaRPr sz="13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5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66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Опция publicDir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67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8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9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70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10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71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publicDir — папка статичных ассетов, которые отдаются как есть (favicon и т.п.).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publicDir = public.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dev-режиме файлы доступны по корню /.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сборке папка копируется в корень outDir (dist).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publicDir: false отключает обслуживание и копирование статической папки.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7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Опции resolve и clearScreen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7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7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11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80" name="TextBox 8"/>
          <p:cNvSpPr txBox="1"/>
          <p:nvPr/>
        </p:nvSpPr>
        <p:spPr>
          <a:xfrm>
            <a:off x="812800" y="1574800"/>
            <a:ext cx="4978400" cy="2400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resolve.extensions позволяет опускать расширения файлов в операторах import.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По умолчанию: ['.mjs', '.js', '.mts', '.ts', '.jsx', '.tsx', '.json'].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Если подходит несколько файлов — побеждает расширение, стоящее раньше в списке.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resolve.tsconfigPaths включает алиасы из compilerOptions.paths в tsconfig.json.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81" name="TextBox 9"/>
          <p:cNvSpPr txBox="1"/>
          <p:nvPr/>
        </p:nvSpPr>
        <p:spPr>
          <a:xfrm>
            <a:off x="6400800" y="1574800"/>
            <a:ext cx="4978400" cy="15410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По умолчанию resolve.tsconfigPaths = false.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clearScreen включает очистку терминала при логах и пересборках.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По умолчанию clearScreen = true; отключают, чтобы не терять историю логов при HMR.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8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Опции envDir и envPrefix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8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8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12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90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envDir — папка, из которой Vite грузит .env-файлы.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envDir = root (корень проекта).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envDir: false отключает загрузку 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envPrefix — префикс переменных, доступных в клиенте через import.meta.env.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envPrefix = 'VITE_'.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Меняют envPrefix, чтобы защитить серверные секреты от попадания в клиентский бандл.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DEV SERVER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9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Dev-сервер: порт и HTTPS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9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DEV SERVER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9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13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99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server.port по умолчанию 5173.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server.strictPort запрещает занимать другой порт: если указанный занят, сервер не запустится.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server.https включает TLS/HTTP2 для dev-сервера.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Принимает { key, cert } или плагин @vitejs/plugin-basic-ssl.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@vitejs/plugin-basic-ssl: добавь basicSsl() в plugins.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00" name="Rectangle 9"/>
          <p:cNvSpPr/>
          <p:nvPr/>
        </p:nvSpPr>
        <p:spPr>
          <a:xfrm>
            <a:off x="812800" y="4572000"/>
            <a:ext cx="10566400" cy="1168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1" name="TextBox 10"/>
          <p:cNvSpPr txBox="1"/>
          <p:nvPr/>
        </p:nvSpPr>
        <p:spPr>
          <a:xfrm>
            <a:off x="1066800" y="47498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basicSsl from '@vitejs/plugin-basic-ssl';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 plugins: [basicSsl()] 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DEV SERVER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0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Dev-сервер: браузер и CORS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0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DEV SERVER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0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10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server.open открывает приложение в браузере при старте dev-сервера.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Строковое значение server.open — путь (pathname), который нужно открыть.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server.cors настраивает CORS для dev-сервера.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Значения server.cors: true (любой origin) или объект настроек, как CORS-middleware.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DEV SERVER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1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Dev-сервер: proxy и консоль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1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DEV SERVER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1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15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19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server.proxy перенаправляет запросы dev-сервера на другой сервер (бэкенд), обходя CORS.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server.forwardConsole перенаправляет события консоли браузера в терминал Vite.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server.forwardConsole: true включает перенаправление.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Полезен при разработке с AI-агентами — им становятся видны ошибки клиента.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20" name="Rectangle 9"/>
          <p:cNvSpPr/>
          <p:nvPr/>
        </p:nvSpPr>
        <p:spPr>
          <a:xfrm>
            <a:off x="812800" y="4191000"/>
            <a:ext cx="10566400" cy="1752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1" name="TextBox 10"/>
          <p:cNvSpPr txBox="1"/>
          <p:nvPr/>
        </p:nvSpPr>
        <p:spPr>
          <a:xfrm>
            <a:off x="1066800" y="4368800"/>
            <a:ext cx="10134600" cy="13296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server: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proxy: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  '/api': { target: 'http://localhost:8080', changeOrigin: true, ws: true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},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ПЛАГИНЫ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2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Плагины и кеш зависимостей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2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ПЛАГИНЫ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2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16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30" name="TextBox 8"/>
          <p:cNvSpPr txBox="1"/>
          <p:nvPr/>
        </p:nvSpPr>
        <p:spPr>
          <a:xfrm>
            <a:off x="812800" y="1574800"/>
            <a:ext cx="10566400" cy="1154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Плагин Vite для React — @vitejs/plugin-react.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@vitejs/plugin-basic-ssl подключается как basicSsl() в plugins.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Vite кеширует предварительно упакованные зависимости в node_modules/.vite.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31" name="Rectangle 9"/>
          <p:cNvSpPr/>
          <p:nvPr/>
        </p:nvSpPr>
        <p:spPr>
          <a:xfrm>
            <a:off x="812800" y="3810000"/>
            <a:ext cx="10566400" cy="1879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2" name="TextBox 10"/>
          <p:cNvSpPr txBox="1"/>
          <p:nvPr/>
        </p:nvSpPr>
        <p:spPr>
          <a:xfrm>
            <a:off x="1066800" y="3987800"/>
            <a:ext cx="10134600" cy="15773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react from '@vitejs/plugin-react';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basicSsl from '@vitejs/plugin-basic-ssl';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plugins: [react(), basicSsl()],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5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АССЕТЫ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36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Ассеты и препроцессоры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37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8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9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АССЕТЫ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40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17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41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 imgUrl from './img.png' при сборке превращается в URL-адрес файла.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imgUrl используется как обычный URL — например, в атрибуте src тега &lt;img&gt;.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Плагины для .scss / .sass / .less / .styl не нужны — поддержка встроена.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Нужен сам препроцессор как dev-зависимость: npm install -D sass.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@import для Sass/Less учитывает алиасы, настроенные в Vite.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42" name="Rectangle 9"/>
          <p:cNvSpPr/>
          <p:nvPr/>
        </p:nvSpPr>
        <p:spPr>
          <a:xfrm>
            <a:off x="812800" y="4572000"/>
            <a:ext cx="10566400" cy="1143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3" name="TextBox 10"/>
          <p:cNvSpPr txBox="1"/>
          <p:nvPr/>
        </p:nvSpPr>
        <p:spPr>
          <a:xfrm>
            <a:off x="1066800" y="47498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imgUrl from './img.png';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&lt;img src={imgUrl} alt="" /&gt;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6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ENV И РЕЖИМЫ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47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env: префикс и доступ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48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9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0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ENV И РЕЖИМЫ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51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18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52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Переменные в .env попадают в клиентский код, только если начинаются с VITE_.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import.meta.env переменные всегда string — даже если в .env записано число или булево.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Сравнение с булевым — явное: import.meta.env.VITE_F === 'true'.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клиенте переменные доступны через import.meta.env.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import.meta.env.DB_PASSWORD без префикса VITE_ вернёт undefined.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53" name="Rectangle 9"/>
          <p:cNvSpPr/>
          <p:nvPr/>
        </p:nvSpPr>
        <p:spPr>
          <a:xfrm>
            <a:off x="812800" y="4572000"/>
            <a:ext cx="10566400" cy="6858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4" name="Rectangle 10"/>
          <p:cNvSpPr/>
          <p:nvPr/>
        </p:nvSpPr>
        <p:spPr>
          <a:xfrm>
            <a:off x="812800" y="4572000"/>
            <a:ext cx="76200" cy="685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5" name="TextBox 11"/>
          <p:cNvSpPr txBox="1"/>
          <p:nvPr/>
        </p:nvSpPr>
        <p:spPr>
          <a:xfrm>
            <a:off x="1092200" y="4737100"/>
            <a:ext cx="10033000" cy="339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Секреты без префикса VITE_ не попадают в бандл. Это не замена серверной авторизации, но защищает от случайной утечки.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8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ENV И РЕЖИМЫ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59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env: порядок загрузки и встроенные поля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60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1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2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ENV И РЕЖИМЫ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63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19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64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Порядок приоритета: .env.[mode].local → .env.[mode] → .env.local → 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MODE — текущий режим: development или production.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BASE_URL — базовый URL приложения (из опции base).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PROD = true в продакшен-сборке.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DEV = true в режиме разработки.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SSR = true при серверном рендеринге.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65" name="Rectangle 9"/>
          <p:cNvSpPr/>
          <p:nvPr/>
        </p:nvSpPr>
        <p:spPr>
          <a:xfrm>
            <a:off x="812800" y="4191000"/>
            <a:ext cx="10566400" cy="1625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6" name="TextBox 10"/>
          <p:cNvSpPr txBox="1"/>
          <p:nvPr/>
        </p:nvSpPr>
        <p:spPr>
          <a:xfrm>
            <a:off x="1066800" y="4368800"/>
            <a:ext cx="10134600" cy="1082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import.meta.env.MODE      // 'development'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import.meta.env.BASE_URL  // '/'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import.meta.env.PROD      // false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import.meta.env.DEV       // true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9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ENV И РЕЖИМЫ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70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env: import.meta и типы значений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71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2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3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ENV И РЕЖИМЫ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74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20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75" name="TextBox 8"/>
          <p:cNvSpPr txBox="1"/>
          <p:nvPr/>
        </p:nvSpPr>
        <p:spPr>
          <a:xfrm>
            <a:off x="812800" y="1574800"/>
            <a:ext cx="10566400" cy="1154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Кастомные переменные — всегда string; встроенные PROD / DEV / SSR — boolean.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import.meta — объект с метаданными текущего ESM-модуля.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import.meta.env — объект с доступными переменными окружения, который создаёт Vite.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76" name="Rectangle 9"/>
          <p:cNvSpPr/>
          <p:nvPr/>
        </p:nvSpPr>
        <p:spPr>
          <a:xfrm>
            <a:off x="812800" y="3683000"/>
            <a:ext cx="10566400" cy="1422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7" name="TextBox 10"/>
          <p:cNvSpPr txBox="1"/>
          <p:nvPr/>
        </p:nvSpPr>
        <p:spPr>
          <a:xfrm>
            <a:off x="1066800" y="38608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import.meta.env.MODE      // string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import.meta.env.VITE_API  // string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import.meta.env.PROD      // boolean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478" name="Rectangle 11"/>
          <p:cNvSpPr/>
          <p:nvPr/>
        </p:nvSpPr>
        <p:spPr>
          <a:xfrm>
            <a:off x="812800" y="5334000"/>
            <a:ext cx="10566400" cy="6858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9" name="Rectangle 12"/>
          <p:cNvSpPr/>
          <p:nvPr/>
        </p:nvSpPr>
        <p:spPr>
          <a:xfrm>
            <a:off x="812800" y="5334000"/>
            <a:ext cx="76200" cy="685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0" name="TextBox 13"/>
          <p:cNvSpPr txBox="1"/>
          <p:nvPr/>
        </p:nvSpPr>
        <p:spPr>
          <a:xfrm>
            <a:off x="1092200" y="5499100"/>
            <a:ext cx="10033000" cy="339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Vite подставляет значения в код на этапе сборки — поэтому import.meta.env работает и в браузере.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ENV И РЕЖИМЫ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8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env: типизация в TypeScript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8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ENV И РЕЖИМЫ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8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21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89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ImportMetaEnv — интерфейс, описывающий структуру объекта import.meta.env.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TypeScript по умолчанию знает только встроенные поля: MODE, DEV, PROD, BASE_URL, SSR.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import.meta.env.VITE_APP_TITLE без типизации — ошибка типа.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Кастомные переменные типизируют в src/vite-env.d.ts.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Расширяют интерфейсы ImportMetaEnv и ImportMeta.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/// &lt;reference types="vite/client" /&gt; подключает типы встроенных import.meta.env и ассетов.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90" name="Rectangle 9"/>
          <p:cNvSpPr/>
          <p:nvPr/>
        </p:nvSpPr>
        <p:spPr>
          <a:xfrm>
            <a:off x="812800" y="4292600"/>
            <a:ext cx="10566400" cy="1803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1" name="TextBox 10"/>
          <p:cNvSpPr txBox="1"/>
          <p:nvPr/>
        </p:nvSpPr>
        <p:spPr>
          <a:xfrm>
            <a:off x="1066800" y="4470400"/>
            <a:ext cx="10134600" cy="15773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interface ImportMetaEnv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readonly VITE_APP_TITLE: string;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interface ImportMeta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readonly env: ImportMetaEnv;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TextBox 1"/>
          <p:cNvSpPr txBox="1"/>
          <p:nvPr/>
        </p:nvSpPr>
        <p:spPr>
          <a:xfrm>
            <a:off x="812800" y="1168400"/>
            <a:ext cx="5080000" cy="192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0" b="1">
                <a:solidFill>
                  <a:srgbClr val="FFFFFF"/>
                </a:solidFill>
                <a:latin typeface="Arial"/>
              </a:rPr>
              <a:t>02</a:t>
            </a:r>
            <a:endParaRPr sz="120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Rectangle 2"/>
          <p:cNvSpPr/>
          <p:nvPr/>
        </p:nvSpPr>
        <p:spPr>
          <a:xfrm>
            <a:off x="812800" y="3683000"/>
            <a:ext cx="1219200" cy="6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5" name="TextBox 3"/>
          <p:cNvSpPr txBox="1"/>
          <p:nvPr/>
        </p:nvSpPr>
        <p:spPr>
          <a:xfrm>
            <a:off x="812800" y="4038600"/>
            <a:ext cx="10566400" cy="883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Vite+</a:t>
            </a:r>
            <a:endParaRPr sz="52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TextBox 4"/>
          <p:cNvSpPr txBox="1"/>
          <p:nvPr/>
        </p:nvSpPr>
        <p:spPr>
          <a:xfrm>
            <a:off x="812800" y="5054600"/>
            <a:ext cx="105664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Arial"/>
              </a:rPr>
              <a:t>Единый CLI для установки, проверки и сборки · 46 карточек · 13 тем</a:t>
            </a:r>
            <a:endParaRPr sz="16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"/>
          <p:cNvSpPr txBox="1"/>
          <p:nvPr/>
        </p:nvSpPr>
        <p:spPr>
          <a:xfrm>
            <a:off x="812800" y="6451600"/>
            <a:ext cx="105664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Vite, Vite+, Oxc и Nginx · Лекция 1</a:t>
            </a:r>
          </a:p>
        </p:txBody>
      </p:sp>
      <p:sp>
        <p:nvSpPr>
          <p:cNvPr id="498" name="TextBox 6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22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1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ОСНОВЫ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02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Vite+: состав и установка зависимостей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03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4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5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ОСНОВЫ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06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23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07" name="TextBox 8"/>
          <p:cNvSpPr txBox="1"/>
          <p:nvPr/>
        </p:nvSpPr>
        <p:spPr>
          <a:xfrm>
            <a:off x="812800" y="1574800"/>
            <a:ext cx="10566400" cy="2657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Vite+ состоит из глобального CLI vp и локального пакета vite-plus в каждом проекте.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add &lt;pkg&gt; — добавить пакет.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add -D &lt;pkg&gt; — добавить dev-пакет.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remove &lt;pkg&gt; — удалить пакет.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update — обновить зависимости.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devEngines.packageManager в package.json задаёт менеджер пакетов для проекта.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packageManager в package.json указывает точную версию менеджера, например bun@1.1.20.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08" name="Rectangle 9"/>
          <p:cNvSpPr/>
          <p:nvPr/>
        </p:nvSpPr>
        <p:spPr>
          <a:xfrm>
            <a:off x="812800" y="4597400"/>
            <a:ext cx="10566400" cy="1117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9" name="TextBox 10"/>
          <p:cNvSpPr txBox="1"/>
          <p:nvPr/>
        </p:nvSpPr>
        <p:spPr>
          <a:xfrm>
            <a:off x="1066800" y="4775200"/>
            <a:ext cx="10134600" cy="5669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"devEngines": { "packageManager": "bun" },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"packageManager": "bun@1.1.20"</a:t>
            </a:r>
            <a:endParaRPr sz="12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ОСНОВЫ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1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dev и check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1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ОСНОВЫ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1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18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dev запускает dev-сервер.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Конфигурация Vite+ находится в стандартном файле vite.config.ts.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check объединяет форматирование, линтинг и проверку типов.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check --fix включает автоисправление.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19" name="Rectangle 9"/>
          <p:cNvSpPr/>
          <p:nvPr/>
        </p:nvSpPr>
        <p:spPr>
          <a:xfrm>
            <a:off x="812800" y="3810000"/>
            <a:ext cx="10566400" cy="81280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0" name="Rectangle 10"/>
          <p:cNvSpPr/>
          <p:nvPr/>
        </p:nvSpPr>
        <p:spPr>
          <a:xfrm>
            <a:off x="812800" y="3810000"/>
            <a:ext cx="76200" cy="812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1" name="TextBox 11"/>
          <p:cNvSpPr txBox="1"/>
          <p:nvPr/>
        </p:nvSpPr>
        <p:spPr>
          <a:xfrm>
            <a:off x="1092200" y="3975100"/>
            <a:ext cx="10033000" cy="5867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Один конфиг vite.config.ts для dev, lint, fmt, test и run — не нужно держать отдельные oxlint.config.ts, oxfmt.config.ts и vitest.config.ts.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КАЧЕСТВО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2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lint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2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КАЧЕСТВО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2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25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30" name="TextBox 8"/>
          <p:cNvSpPr txBox="1"/>
          <p:nvPr/>
        </p:nvSpPr>
        <p:spPr>
          <a:xfrm>
            <a:off x="812800" y="1574800"/>
            <a:ext cx="4978400" cy="159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lint запускает линтинг.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lint --fix включает автоисправление.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typeCheck запускает компилятор TypeScript во время линтинга.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typeAware ищет логические ошибки на основе типов.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31" name="TextBox 9"/>
          <p:cNvSpPr txBox="1"/>
          <p:nvPr/>
        </p:nvSpPr>
        <p:spPr>
          <a:xfrm>
            <a:off x="6400800" y="1574800"/>
            <a:ext cx="4978400" cy="159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lint основан на Oxlint.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Конфиг vp lint размещают в vite.config.ts, в блоке lint.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Не стоит размещать конфиг в oxlint.config.ts.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Базовая конфигурация: lint: { ignorePatterns: ['dist/**'] }.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32" name="Rectangle 10"/>
          <p:cNvSpPr/>
          <p:nvPr/>
        </p:nvSpPr>
        <p:spPr>
          <a:xfrm>
            <a:off x="812800" y="4851400"/>
            <a:ext cx="10566400" cy="1219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3" name="TextBox 11"/>
          <p:cNvSpPr txBox="1"/>
          <p:nvPr/>
        </p:nvSpPr>
        <p:spPr>
          <a:xfrm>
            <a:off x="1066800" y="5029200"/>
            <a:ext cx="10134600" cy="8046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  lint: { ignorePatterns: ['dist/**'] },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});</a:t>
            </a:r>
            <a:endParaRPr sz="12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6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КАЧЕСТВО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37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format и test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38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9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0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КАЧЕСТВО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41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26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42" name="TextBox 8"/>
          <p:cNvSpPr txBox="1"/>
          <p:nvPr/>
        </p:nvSpPr>
        <p:spPr>
          <a:xfrm>
            <a:off x="812800" y="1574800"/>
            <a:ext cx="4978400" cy="19122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fmt форматирует код.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fmt . --write записывает отформатированный код в файлы.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fmt основан на Oxfmt.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Конфиг vp fmt — в vite.config.ts, блок fmt.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Не в oxfmt.config.ts.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43" name="TextBox 9"/>
          <p:cNvSpPr txBox="1"/>
          <p:nvPr/>
        </p:nvSpPr>
        <p:spPr>
          <a:xfrm>
            <a:off x="6400800" y="1574800"/>
            <a:ext cx="4978400" cy="13222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test запускает тесты.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Тесты Vite+ основаны на Vitest.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Конфиг vp test — в vite.config.ts, блок test.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Не в vitest.config.ts.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6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ЗАПУСК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47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run: скрипты и задачи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48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9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0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ЗАПУСК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51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27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52" name="TextBox 8"/>
          <p:cNvSpPr txBox="1"/>
          <p:nvPr/>
        </p:nvSpPr>
        <p:spPr>
          <a:xfrm>
            <a:off x="812800" y="1574800"/>
            <a:ext cx="4978400" cy="21310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run &lt;script-name&gt; запускает скрипты из package.json.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dev — встроенная команда, а vp run dev запускает скрипт dev из package.json.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Задача в конфиге: блок run.tasks в vite.config.ts.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dependsOn указывает зависимость одной задачи от другой.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53" name="TextBox 9"/>
          <p:cNvSpPr txBox="1"/>
          <p:nvPr/>
        </p:nvSpPr>
        <p:spPr>
          <a:xfrm>
            <a:off x="6400800" y="1574800"/>
            <a:ext cx="4978400" cy="18106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run &lt;task-name&gt; запускает задачу из конфига.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Задача (task) — именованный скрипт, состояние которого Vite+ кеширует по входным и выходным файлам.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Пример: build: { command: 'vp build', dependsOn: ['lint'] }.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54" name="Rectangle 10"/>
          <p:cNvSpPr/>
          <p:nvPr/>
        </p:nvSpPr>
        <p:spPr>
          <a:xfrm>
            <a:off x="812800" y="4673600"/>
            <a:ext cx="10566400" cy="1524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5" name="TextBox 11"/>
          <p:cNvSpPr txBox="1"/>
          <p:nvPr/>
        </p:nvSpPr>
        <p:spPr>
          <a:xfrm>
            <a:off x="1066800" y="4851400"/>
            <a:ext cx="10134600" cy="1320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run: {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  tasks: {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    build: { command: 'vp build', dependsOn: ['lint'] },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  },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},</a:t>
            </a:r>
            <a:endParaRPr sz="12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8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ИНСТРУМЕНТЫ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59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vpx, build, upgrade и CI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60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1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2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ИНСТРУМЕНТЫ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63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28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64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vpx — аналог npx / bunx в Vite+.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build собирает проект.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upgrade обновляет глобальный vp.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Для CI используют voidzero-dev/setup-vp.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65" name="Rectangle 9"/>
          <p:cNvSpPr/>
          <p:nvPr/>
        </p:nvSpPr>
        <p:spPr>
          <a:xfrm>
            <a:off x="812800" y="3810000"/>
            <a:ext cx="10566400" cy="68580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6" name="Rectangle 10"/>
          <p:cNvSpPr/>
          <p:nvPr/>
        </p:nvSpPr>
        <p:spPr>
          <a:xfrm>
            <a:off x="812800" y="3810000"/>
            <a:ext cx="76200" cy="685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7" name="TextBox 11"/>
          <p:cNvSpPr txBox="1"/>
          <p:nvPr/>
        </p:nvSpPr>
        <p:spPr>
          <a:xfrm>
            <a:off x="1092200" y="3975100"/>
            <a:ext cx="10033000" cy="339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Vite+ закрывает весь цикл: install → dev → check → lint → fmt → test → run → build → CI.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0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GIT-ХУКИ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71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commit hooks и staged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72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3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4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GIT-ХУКИ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75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29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76" name="TextBox 8"/>
          <p:cNvSpPr txBox="1"/>
          <p:nvPr/>
        </p:nvSpPr>
        <p:spPr>
          <a:xfrm>
            <a:off x="812800" y="1574800"/>
            <a:ext cx="4978400" cy="159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hooks enable — включить Git-хуки.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hooks disable — выключить Git-хуки.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hooks status — проверить статус Git-хуков.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Скрипты Git-хуков лежат в папке .vite-hooks в корне проекта.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77" name="TextBox 9"/>
          <p:cNvSpPr txBox="1"/>
          <p:nvPr/>
        </p:nvSpPr>
        <p:spPr>
          <a:xfrm>
            <a:off x="6400800" y="1574800"/>
            <a:ext cx="4978400" cy="2400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Папку .vite-hooks нужно коммитить, чтобы хуки были одинаковыми у всех.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Хук pre-commit: создать .vite-hooks/pre-commit с командой vp staged.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staged проверяет только изменённые файлы перед коммитом.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Настройка staged в vite.config.ts: { '*.{js,ts,tsx}': 'vp check --fix' }.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78" name="Rectangle 10"/>
          <p:cNvSpPr/>
          <p:nvPr/>
        </p:nvSpPr>
        <p:spPr>
          <a:xfrm>
            <a:off x="812800" y="4927600"/>
            <a:ext cx="10566400" cy="914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9" name="TextBox 11"/>
          <p:cNvSpPr txBox="1"/>
          <p:nvPr/>
        </p:nvSpPr>
        <p:spPr>
          <a:xfrm>
            <a:off x="1066800" y="5105400"/>
            <a:ext cx="10134600" cy="3291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staged: { '*.{js,ts,tsx}': 'vp check --fix' }</a:t>
            </a:r>
            <a:endParaRPr sz="12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7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Box 1"/>
          <p:cNvSpPr txBox="1"/>
          <p:nvPr/>
        </p:nvSpPr>
        <p:spPr>
          <a:xfrm>
            <a:off x="812800" y="1168400"/>
            <a:ext cx="5080000" cy="192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0" b="1">
                <a:solidFill>
                  <a:srgbClr val="FFFFFF"/>
                </a:solidFill>
                <a:latin typeface="Arial"/>
              </a:rPr>
              <a:t>03</a:t>
            </a:r>
            <a:endParaRPr sz="120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ectangle 2"/>
          <p:cNvSpPr/>
          <p:nvPr/>
        </p:nvSpPr>
        <p:spPr>
          <a:xfrm>
            <a:off x="812800" y="3683000"/>
            <a:ext cx="1219200" cy="6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3" name="TextBox 3"/>
          <p:cNvSpPr txBox="1"/>
          <p:nvPr/>
        </p:nvSpPr>
        <p:spPr>
          <a:xfrm>
            <a:off x="812800" y="4038600"/>
            <a:ext cx="10566400" cy="883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Oxc</a:t>
            </a:r>
            <a:endParaRPr sz="52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Box 4"/>
          <p:cNvSpPr txBox="1"/>
          <p:nvPr/>
        </p:nvSpPr>
        <p:spPr>
          <a:xfrm>
            <a:off x="812800" y="5054600"/>
            <a:ext cx="105664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Arial"/>
              </a:rPr>
              <a:t>Oxlint и Oxfmt: быстрый линт и форматирование на Rust · 12 карточек · 5 тем</a:t>
            </a:r>
            <a:endParaRPr sz="16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Box 5"/>
          <p:cNvSpPr txBox="1"/>
          <p:nvPr/>
        </p:nvSpPr>
        <p:spPr>
          <a:xfrm>
            <a:off x="812800" y="6451600"/>
            <a:ext cx="105664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Vite, Vite+, Oxc и Nginx · Лекция 1</a:t>
            </a:r>
          </a:p>
        </p:txBody>
      </p:sp>
      <p:sp>
        <p:nvSpPr>
          <p:cNvPr id="586" name="TextBox 6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30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9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F97316"/>
                </a:solidFill>
                <a:latin typeface="Arial"/>
              </a:rPr>
              <a:t>OXC · OXLINT</a:t>
            </a:r>
            <a:endParaRPr sz="1050" b="1">
              <a:solidFill>
                <a:srgbClr val="F97316"/>
              </a:solidFill>
              <a:latin typeface="Arial"/>
            </a:endParaRPr>
          </a:p>
        </p:txBody>
      </p:sp>
      <p:sp>
        <p:nvSpPr>
          <p:cNvPr id="590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Oxc и Oxlint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91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2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3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OXC · OXLINT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94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31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95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Oxc — набор высокопроизводительных инструментов для JavaScript и TypeScript на Rust.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Oxlint — высокопроизводительный линтер для JS/TS на стеке Oxc, совместимый с ESLint.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Oxlint использует tsgo — он же TypeScript 7.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Установка: npm install -D oxlint.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Скрипты: "lint": "oxlint" и "lint:fix": "oxlint --fix".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96" name="Rectangle 9"/>
          <p:cNvSpPr/>
          <p:nvPr/>
        </p:nvSpPr>
        <p:spPr>
          <a:xfrm>
            <a:off x="812800" y="4445000"/>
            <a:ext cx="10566400" cy="1422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7" name="TextBox 10"/>
          <p:cNvSpPr txBox="1"/>
          <p:nvPr/>
        </p:nvSpPr>
        <p:spPr>
          <a:xfrm>
            <a:off x="1066800" y="4597400"/>
            <a:ext cx="10134600" cy="12065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"scripts":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"lint": "oxlint",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"lint:fix": "oxlint --fix"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0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F97316"/>
                </a:solidFill>
                <a:latin typeface="Arial"/>
              </a:rPr>
              <a:t>OXC · OXLINT</a:t>
            </a:r>
            <a:endParaRPr sz="1050" b="1">
              <a:solidFill>
                <a:srgbClr val="F97316"/>
              </a:solidFill>
              <a:latin typeface="Arial"/>
            </a:endParaRPr>
          </a:p>
        </p:txBody>
      </p:sp>
      <p:sp>
        <p:nvSpPr>
          <p:cNvPr id="601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Oxlint: конфигурация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02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3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4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OXC · OXLINT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05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32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06" name="TextBox 8"/>
          <p:cNvSpPr txBox="1"/>
          <p:nvPr/>
        </p:nvSpPr>
        <p:spPr>
          <a:xfrm>
            <a:off x="812800" y="1574800"/>
            <a:ext cx="10566400" cy="1154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oxlint --init инициализирует конфиг.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Файл конфига: .oxlintrc.json или oxlint.config.ts.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Базовый конфиг: import { defineConfig } from 'oxlint'; export default defineConfig({});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607" name="Rectangle 9"/>
          <p:cNvSpPr/>
          <p:nvPr/>
        </p:nvSpPr>
        <p:spPr>
          <a:xfrm>
            <a:off x="812800" y="4191000"/>
            <a:ext cx="10566400" cy="1270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8" name="TextBox 10"/>
          <p:cNvSpPr txBox="1"/>
          <p:nvPr/>
        </p:nvSpPr>
        <p:spPr>
          <a:xfrm>
            <a:off x="1066800" y="43688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{ defineConfig } from 'oxlint';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1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F97316"/>
                </a:solidFill>
                <a:latin typeface="Arial"/>
              </a:rPr>
              <a:t>OXC · OXLINT</a:t>
            </a:r>
            <a:endParaRPr sz="1050" b="1">
              <a:solidFill>
                <a:srgbClr val="F97316"/>
              </a:solidFill>
              <a:latin typeface="Arial"/>
            </a:endParaRPr>
          </a:p>
        </p:txBody>
      </p:sp>
      <p:sp>
        <p:nvSpPr>
          <p:cNvPr id="612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Oxlint: встроенные плагины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13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4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5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OXC · OXLINT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16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33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17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Плагин — именованная группа правил; его включение делает правила доступными.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Встроенные плагины включают в поле plugins, например plugins: ['import'].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Запись plugins переопределяет плагины, включённые по умолчанию.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Плагин eslint включён по умолчанию — он подключает основные правила ESLint.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618" name="Rectangle 9"/>
          <p:cNvSpPr/>
          <p:nvPr/>
        </p:nvSpPr>
        <p:spPr>
          <a:xfrm>
            <a:off x="812800" y="4089400"/>
            <a:ext cx="10566400" cy="1168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9" name="TextBox 10"/>
          <p:cNvSpPr txBox="1"/>
          <p:nvPr/>
        </p:nvSpPr>
        <p:spPr>
          <a:xfrm>
            <a:off x="1066800" y="42672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plugins: ['import'],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F172A"/>
                </a:solidFill>
                <a:latin typeface="Arial"/>
              </a:rPr>
              <a:t>ИТОГ</a:t>
            </a:r>
            <a:endParaRPr sz="105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2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Шпаргалка: команды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2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ИТОГ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2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28" name="Rectangle 8"/>
          <p:cNvSpPr/>
          <p:nvPr/>
        </p:nvSpPr>
        <p:spPr>
          <a:xfrm>
            <a:off x="812800" y="1651000"/>
            <a:ext cx="3378200" cy="39370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9" name="Rectangle 9"/>
          <p:cNvSpPr/>
          <p:nvPr/>
        </p:nvSpPr>
        <p:spPr>
          <a:xfrm>
            <a:off x="812800" y="1651000"/>
            <a:ext cx="3378200" cy="4572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0" name="TextBox 10"/>
          <p:cNvSpPr txBox="1"/>
          <p:nvPr/>
        </p:nvSpPr>
        <p:spPr>
          <a:xfrm>
            <a:off x="1016000" y="1778000"/>
            <a:ext cx="29718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Vite</a:t>
            </a:r>
            <a:endParaRPr sz="14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11"/>
          <p:cNvSpPr txBox="1"/>
          <p:nvPr/>
        </p:nvSpPr>
        <p:spPr>
          <a:xfrm>
            <a:off x="1041400" y="2336800"/>
            <a:ext cx="2921000" cy="11079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npm create vite@latest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npm install -D vite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vite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vite build</a:t>
            </a:r>
            <a:endParaRPr sz="1150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632" name="Rectangle 12"/>
          <p:cNvSpPr/>
          <p:nvPr/>
        </p:nvSpPr>
        <p:spPr>
          <a:xfrm>
            <a:off x="4406900" y="1651000"/>
            <a:ext cx="3378200" cy="39370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3" name="Rectangle 13"/>
          <p:cNvSpPr/>
          <p:nvPr/>
        </p:nvSpPr>
        <p:spPr>
          <a:xfrm>
            <a:off x="4406900" y="1651000"/>
            <a:ext cx="3378200" cy="457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4" name="TextBox 14"/>
          <p:cNvSpPr txBox="1"/>
          <p:nvPr/>
        </p:nvSpPr>
        <p:spPr>
          <a:xfrm>
            <a:off x="4610100" y="1778000"/>
            <a:ext cx="29718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Vite+</a:t>
            </a:r>
            <a:endParaRPr sz="14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TextBox 15"/>
          <p:cNvSpPr txBox="1"/>
          <p:nvPr/>
        </p:nvSpPr>
        <p:spPr>
          <a:xfrm>
            <a:off x="4635500" y="2336800"/>
            <a:ext cx="2921000" cy="23785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add / add -D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remove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update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dev / build / test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check / lint / fmt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run &lt;script&gt;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vpx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hooks enable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staged</a:t>
            </a:r>
            <a:endParaRPr sz="1150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636" name="Rectangle 16"/>
          <p:cNvSpPr/>
          <p:nvPr/>
        </p:nvSpPr>
        <p:spPr>
          <a:xfrm>
            <a:off x="8001000" y="1651000"/>
            <a:ext cx="3378200" cy="39370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7" name="Rectangle 17"/>
          <p:cNvSpPr/>
          <p:nvPr/>
        </p:nvSpPr>
        <p:spPr>
          <a:xfrm>
            <a:off x="8001000" y="1651000"/>
            <a:ext cx="3378200" cy="457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8" name="TextBox 18"/>
          <p:cNvSpPr txBox="1"/>
          <p:nvPr/>
        </p:nvSpPr>
        <p:spPr>
          <a:xfrm>
            <a:off x="8204200" y="1778000"/>
            <a:ext cx="29718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Oxc</a:t>
            </a:r>
            <a:endParaRPr sz="14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Box 19"/>
          <p:cNvSpPr txBox="1"/>
          <p:nvPr/>
        </p:nvSpPr>
        <p:spPr>
          <a:xfrm>
            <a:off x="8229600" y="2336800"/>
            <a:ext cx="2921000" cy="11079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npm install -D oxlint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oxlint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oxlint --fix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oxlint --init</a:t>
            </a:r>
            <a:endParaRPr sz="1150">
              <a:solidFill>
                <a:srgbClr val="0F172A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96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TextBox 1"/>
          <p:cNvSpPr txBox="1"/>
          <p:nvPr/>
        </p:nvSpPr>
        <p:spPr>
          <a:xfrm>
            <a:off x="812800" y="1168400"/>
            <a:ext cx="5080000" cy="192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0" b="1">
                <a:solidFill>
                  <a:srgbClr val="FFFFFF"/>
                </a:solidFill>
                <a:latin typeface="Arial"/>
              </a:rPr>
              <a:t>04</a:t>
            </a:r>
            <a:endParaRPr sz="120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ectangle 2"/>
          <p:cNvSpPr/>
          <p:nvPr/>
        </p:nvSpPr>
        <p:spPr>
          <a:xfrm>
            <a:off x="812800" y="3683000"/>
            <a:ext cx="1219200" cy="6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02" name="TextBox 3"/>
          <p:cNvSpPr txBox="1"/>
          <p:nvPr/>
        </p:nvSpPr>
        <p:spPr>
          <a:xfrm>
            <a:off x="812800" y="4038600"/>
            <a:ext cx="10566400" cy="883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Nginx</a:t>
            </a:r>
            <a:endParaRPr sz="52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TextBox 4"/>
          <p:cNvSpPr txBox="1"/>
          <p:nvPr/>
        </p:nvSpPr>
        <p:spPr>
          <a:xfrm>
            <a:off x="812800" y="5054600"/>
            <a:ext cx="105664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Arial"/>
              </a:rPr>
              <a:t>Конфиг, раздача SPA, proxy и HTTPS · основные настройки</a:t>
            </a:r>
            <a:endParaRPr sz="16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Box 5"/>
          <p:cNvSpPr txBox="1"/>
          <p:nvPr/>
        </p:nvSpPr>
        <p:spPr>
          <a:xfrm>
            <a:off x="812800" y="6451600"/>
            <a:ext cx="105664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Vite, Vite+, Oxc и Nginx · Лекция 1</a:t>
            </a:r>
          </a:p>
        </p:txBody>
      </p:sp>
      <p:sp>
        <p:nvSpPr>
          <p:cNvPr id="705" name="TextBox 6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35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08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ЗАЧЕМ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709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Зачем Nginx фронтенду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710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1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2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ЗАЧЕМ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13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36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14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Отдаёт статику (HTML, JS, CSS, шрифты) быстрее и дешевле, чем Node-сервер.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Reverse proxy: прячет бэкенд, снимает CORS и терминирует TLS.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Сжимает ответы (gzip) и кэширует статику на клиенте.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Держит много соединений за счёт event-based модели: master + worker.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Балансирует нагрузку между несколькими инстансами приложения.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715" name="Rectangle 9"/>
          <p:cNvSpPr/>
          <p:nvPr/>
        </p:nvSpPr>
        <p:spPr>
          <a:xfrm>
            <a:off x="812800" y="5080000"/>
            <a:ext cx="10566400" cy="685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6" name="Rectangle 10"/>
          <p:cNvSpPr/>
          <p:nvPr/>
        </p:nvSpPr>
        <p:spPr>
          <a:xfrm>
            <a:off x="812800" y="5080000"/>
            <a:ext cx="76200" cy="685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7" name="TextBox 11"/>
          <p:cNvSpPr txBox="1"/>
          <p:nvPr/>
        </p:nvSpPr>
        <p:spPr>
          <a:xfrm>
            <a:off x="1092200" y="5245100"/>
            <a:ext cx="10033000" cy="339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В типичном деплое Vite-приложения Nginx — точка входа, а Node/API — за ним.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0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КОНФИГ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721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Структура конфига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722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3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4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КОНФИГ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25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37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26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Простые директивы заканчиваются ;, блочные — { ... }.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Контексты: main → events → http → server → location.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 слушает порт и домен, location выбирает правило по URI.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Комментарии — #.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Подключение файлов: include /etc/nginx/conf.d/*.conf;.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Основной файл: /etc/nginx/nginx.conf.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727" name="Rectangle 9"/>
          <p:cNvSpPr/>
          <p:nvPr/>
        </p:nvSpPr>
        <p:spPr>
          <a:xfrm>
            <a:off x="812800" y="3937000"/>
            <a:ext cx="10566400" cy="228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8" name="TextBox 10"/>
          <p:cNvSpPr txBox="1"/>
          <p:nvPr/>
        </p:nvSpPr>
        <p:spPr>
          <a:xfrm>
            <a:off x="1066800" y="4089400"/>
            <a:ext cx="10134600" cy="1981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events { worker_connections 1024; }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http {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include      mime.types;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default_type application/octet-stream;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server {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  listen 80;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  server_name example.com;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  location / { ... }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}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  <a:endParaRPr sz="10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31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КОНФИГ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732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Минимальный статический сервер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733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34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35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КОНФИГ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36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38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37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listen 80; — порт (и адрес).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server_name example.com; — домен; _ — любой.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root /usr/share/nginx/html; — корень файлов.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index index.html; — файл по умолчанию для /.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include mime.types; — правильные Content-Type.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sendfile on; — эффективная отдача файлов.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738" name="Rectangle 9"/>
          <p:cNvSpPr/>
          <p:nvPr/>
        </p:nvSpPr>
        <p:spPr>
          <a:xfrm>
            <a:off x="812800" y="3962400"/>
            <a:ext cx="10566400" cy="2260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39" name="TextBox 10"/>
          <p:cNvSpPr txBox="1"/>
          <p:nvPr/>
        </p:nvSpPr>
        <p:spPr>
          <a:xfrm>
            <a:off x="1066800" y="4114800"/>
            <a:ext cx="10134600" cy="1955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server {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listen 80;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server_name example.com;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root /usr/share/nginx/html;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index index.html;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location / {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  try_files $uri $uri/ =404;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}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  <a:endParaRPr sz="10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4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SPA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74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Раздача SPA: try_files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74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4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4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SPA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4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39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48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SPA — один index.html, маршруты обрабатывает клиент.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try_files $uri $uri/ /index.html; — ищет файл, затем папку, затем отдаёт index.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Без fallback прямой заход на /posts/1 даст 404.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try_files $uri $uri/ =404; — обычная статика.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error_page 404 /index.html; — альтернативный fallback.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749" name="Rectangle 9"/>
          <p:cNvSpPr/>
          <p:nvPr/>
        </p:nvSpPr>
        <p:spPr>
          <a:xfrm>
            <a:off x="812800" y="4191000"/>
            <a:ext cx="10566400" cy="1066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50" name="TextBox 10"/>
          <p:cNvSpPr txBox="1"/>
          <p:nvPr/>
        </p:nvSpPr>
        <p:spPr>
          <a:xfrm>
            <a:off x="1066800" y="4368800"/>
            <a:ext cx="10134600" cy="7452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location / {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try_files $uri $uri/ /index.html;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}</a:t>
            </a:r>
            <a:endParaRPr sz="11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751" name="Rectangle 11"/>
          <p:cNvSpPr/>
          <p:nvPr/>
        </p:nvSpPr>
        <p:spPr>
          <a:xfrm>
            <a:off x="812800" y="5486400"/>
            <a:ext cx="10566400" cy="558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52" name="Rectangle 12"/>
          <p:cNvSpPr/>
          <p:nvPr/>
        </p:nvSpPr>
        <p:spPr>
          <a:xfrm>
            <a:off x="812800" y="5486400"/>
            <a:ext cx="76200" cy="558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53" name="TextBox 13"/>
          <p:cNvSpPr txBox="1"/>
          <p:nvPr/>
        </p:nvSpPr>
        <p:spPr>
          <a:xfrm>
            <a:off x="1092200" y="5651500"/>
            <a:ext cx="10033000" cy="339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Порядок важен: сначала реальные файлы (JS/CSS), потом fallback на index.html.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56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LOCATION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757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location: приоритеты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758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59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0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LOCATION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61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40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62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location = /path — точное совпадение, самый высокий приоритет.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location ^~ /prefix/ — самый длинный prefix; регулярки не проверяются.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location ~ regex — регулярка с учётом регистра; ~* — без.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location /prefix/ — обычный prefix; побеждает самый длинный.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Порядок: = → самый длинный prefix → ^~ → regex по порядку → prefix.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763" name="Rectangle 9"/>
          <p:cNvSpPr/>
          <p:nvPr/>
        </p:nvSpPr>
        <p:spPr>
          <a:xfrm>
            <a:off x="812800" y="4064000"/>
            <a:ext cx="10566400" cy="1397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4" name="TextBox 10"/>
          <p:cNvSpPr txBox="1"/>
          <p:nvPr/>
        </p:nvSpPr>
        <p:spPr>
          <a:xfrm>
            <a:off x="1066800" y="4241800"/>
            <a:ext cx="10134600" cy="923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50">
                <a:solidFill>
                  <a:srgbClr val="E2E8F0"/>
                </a:solidFill>
                <a:latin typeface="Consolas"/>
              </a:rPr>
              <a:t>location = / { ... }            # точное</a:t>
            </a:r>
            <a:endParaRPr sz="10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050">
                <a:solidFill>
                  <a:srgbClr val="E2E8F0"/>
                </a:solidFill>
                <a:latin typeface="Consolas"/>
              </a:rPr>
              <a:t>location ^~ /assets/ { ... }    # prefix, без regex</a:t>
            </a:r>
            <a:endParaRPr sz="10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050">
                <a:solidFill>
                  <a:srgbClr val="E2E8F0"/>
                </a:solidFill>
                <a:latin typeface="Consolas"/>
              </a:rPr>
              <a:t>location ~* \.(js|css)$ { ... } # regex</a:t>
            </a:r>
            <a:endParaRPr sz="10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050">
                <a:solidFill>
                  <a:srgbClr val="E2E8F0"/>
                </a:solidFill>
                <a:latin typeface="Consolas"/>
              </a:rPr>
              <a:t>location / { ... }              # общий prefix</a:t>
            </a:r>
            <a:endParaRPr sz="105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765" name="Rectangle 11"/>
          <p:cNvSpPr/>
          <p:nvPr/>
        </p:nvSpPr>
        <p:spPr>
          <a:xfrm>
            <a:off x="812800" y="5664200"/>
            <a:ext cx="10566400" cy="5080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6" name="Rectangle 12"/>
          <p:cNvSpPr/>
          <p:nvPr/>
        </p:nvSpPr>
        <p:spPr>
          <a:xfrm>
            <a:off x="812800" y="5664200"/>
            <a:ext cx="76200" cy="50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7" name="TextBox 13"/>
          <p:cNvSpPr txBox="1"/>
          <p:nvPr/>
        </p:nvSpPr>
        <p:spPr>
          <a:xfrm>
            <a:off x="1092200" y="5829300"/>
            <a:ext cx="10033000" cy="339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Regex проверяются в порядке записи — первый матч выигрывает.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0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PROXY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771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Reverse proxy: proxy_pass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772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3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4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PROXY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75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41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76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proxy_pass http://backend:8080; — передать запрос на бэкенд.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Слэш на конце proxy_pass .../ срезает префикс location; без слэша — URI как есть.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proxy_set_header Host $host; — сохранить исходный Host.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X-Real-IP, X-Forwarded-For, X-Forwarded-Proto — реальный клиент и схема.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proxy_http_version 1.1; + Connection "" — keep-alive до бэкенда.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Таймауты: proxy_connect_timeout, proxy_read_timeout.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777" name="Rectangle 9"/>
          <p:cNvSpPr/>
          <p:nvPr/>
        </p:nvSpPr>
        <p:spPr>
          <a:xfrm>
            <a:off x="812800" y="4445000"/>
            <a:ext cx="10566400" cy="1778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8" name="TextBox 10"/>
          <p:cNvSpPr txBox="1"/>
          <p:nvPr/>
        </p:nvSpPr>
        <p:spPr>
          <a:xfrm>
            <a:off x="1066800" y="4622800"/>
            <a:ext cx="10134600" cy="1524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location /api/ {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proxy_pass http://backend:8080/;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proxy_http_version 1.1;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proxy_set_header Host $host;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proxy_set_header X-Real-IP $remote_addr;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proxy_set_header X-Forwarded-For $proxy_add_x_forwarded_for;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proxy_set_header X-Forwarded-Proto $scheme;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}</a:t>
            </a:r>
            <a:endParaRPr sz="9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1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UPSTREAM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782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upstream и балансировка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783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4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5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UPSTREAM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86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42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87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upstream backend { server ...; } — группа бэкендов.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— round-robin.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least_conn; — на менее загруженный.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ip_hash; — привязка клиента к серверу (сессии).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keepalive 32; — пул keep-alive соединений.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max_fails / fail_timeout — пассивные проверки.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788" name="Rectangle 9"/>
          <p:cNvSpPr/>
          <p:nvPr/>
        </p:nvSpPr>
        <p:spPr>
          <a:xfrm>
            <a:off x="812800" y="4191000"/>
            <a:ext cx="10566400" cy="1625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9" name="TextBox 10"/>
          <p:cNvSpPr txBox="1"/>
          <p:nvPr/>
        </p:nvSpPr>
        <p:spPr>
          <a:xfrm>
            <a:off x="1066800" y="4368800"/>
            <a:ext cx="10134600" cy="1399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upstream backend {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least_conn;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server 10.0.0.1:3000 max_fails=3 fail_timeout=30s;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server 10.0.0.2:3000;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keepalive 32;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}</a:t>
            </a:r>
            <a:endParaRPr sz="11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9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КЭШ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79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Кэширование и gzip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79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9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9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КЭШ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9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43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798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expires 1y; — Expires + Cache-Control: max-age.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add_header Cache-Control "public, immutable"; — для хэшированных ассетов.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expires -1; / Cache-Control: no-cache — для index.html.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gzip on; + gzip_types — сжатие JS/CSS/JSON/SVG.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gzip_min_length, gzip_comp_level, gzip_vary on;.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add_header ... always; — заголовок и на ошибках.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799" name="Rectangle 9"/>
          <p:cNvSpPr/>
          <p:nvPr/>
        </p:nvSpPr>
        <p:spPr>
          <a:xfrm>
            <a:off x="812800" y="4165600"/>
            <a:ext cx="10566400" cy="2057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00" name="TextBox 10"/>
          <p:cNvSpPr txBox="1"/>
          <p:nvPr/>
        </p:nvSpPr>
        <p:spPr>
          <a:xfrm>
            <a:off x="1066800" y="4318000"/>
            <a:ext cx="10134600" cy="1752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gzip on;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gzip_comp_level 5;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gzip_min_length 1024;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gzip_types text/css application/javascript application/json image/svg+xml;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gzip_vary on;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location ~* \.(js|css|woff2|png|svg)$ {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expires 1y;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add_header Cache-Control "public, immutable";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}</a:t>
            </a:r>
            <a:endParaRPr sz="9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0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HTTPS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80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HTTPS и редирект с HTTP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0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0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0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HTTPS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0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09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listen 443 ssl; — HTTPS-сервер.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ssl_certificate / ssl_certificate_key — цепочка и ключ.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ssl_protocols TLSv1.2 TLSv1.3; — только современные версии.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http2 on; — HTTP/2 (в новых версиях отдельной директивой).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Редирект с 80 на 443: return 301 https://$host$request_uri;.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ssl_session_cache shared:SSL:10m; — переиспользование сессий.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810" name="Rectangle 9"/>
          <p:cNvSpPr/>
          <p:nvPr/>
        </p:nvSpPr>
        <p:spPr>
          <a:xfrm>
            <a:off x="812800" y="4064000"/>
            <a:ext cx="4978400" cy="1600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11" name="TextBox 10"/>
          <p:cNvSpPr txBox="1"/>
          <p:nvPr/>
        </p:nvSpPr>
        <p:spPr>
          <a:xfrm>
            <a:off x="1066800" y="4241800"/>
            <a:ext cx="4546600" cy="996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server {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listen 80;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server_name example.com;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return 301 https://$host$request_uri;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}</a:t>
            </a:r>
            <a:endParaRPr sz="95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812" name="Rectangle 11"/>
          <p:cNvSpPr/>
          <p:nvPr/>
        </p:nvSpPr>
        <p:spPr>
          <a:xfrm>
            <a:off x="6400800" y="4064000"/>
            <a:ext cx="4978400" cy="1600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13" name="TextBox 12"/>
          <p:cNvSpPr txBox="1"/>
          <p:nvPr/>
        </p:nvSpPr>
        <p:spPr>
          <a:xfrm>
            <a:off x="6654800" y="4241800"/>
            <a:ext cx="4546600" cy="1291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900">
                <a:solidFill>
                  <a:srgbClr val="E2E8F0"/>
                </a:solidFill>
                <a:latin typeface="Consolas"/>
              </a:rPr>
              <a:t>server {</a:t>
            </a:r>
            <a:endParaRPr sz="9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900">
                <a:solidFill>
                  <a:srgbClr val="E2E8F0"/>
                </a:solidFill>
                <a:latin typeface="Consolas"/>
              </a:rPr>
              <a:t>  listen 443 ssl;</a:t>
            </a:r>
            <a:endParaRPr sz="9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900">
                <a:solidFill>
                  <a:srgbClr val="E2E8F0"/>
                </a:solidFill>
                <a:latin typeface="Consolas"/>
              </a:rPr>
              <a:t>  http2 on;</a:t>
            </a:r>
            <a:endParaRPr sz="9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900">
                <a:solidFill>
                  <a:srgbClr val="E2E8F0"/>
                </a:solidFill>
                <a:latin typeface="Consolas"/>
              </a:rPr>
              <a:t>  ssl_certificate     /etc/nginx/ssl/fullchain.pem;</a:t>
            </a:r>
            <a:endParaRPr sz="9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900">
                <a:solidFill>
                  <a:srgbClr val="E2E8F0"/>
                </a:solidFill>
                <a:latin typeface="Consolas"/>
              </a:rPr>
              <a:t>  ssl_certificate_key /etc/nginx/ssl/privkey.pem;</a:t>
            </a:r>
            <a:endParaRPr sz="9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900">
                <a:solidFill>
                  <a:srgbClr val="E2E8F0"/>
                </a:solidFill>
                <a:latin typeface="Consolas"/>
              </a:rPr>
              <a:t>  ssl_protocols       TLSv1.2 TLSv1.3;</a:t>
            </a:r>
            <a:endParaRPr sz="9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900">
                <a:solidFill>
                  <a:srgbClr val="E2E8F0"/>
                </a:solidFill>
                <a:latin typeface="Consolas"/>
              </a:rPr>
              <a:t>}</a:t>
            </a:r>
            <a:endParaRPr sz="9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16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БЕЗОПАСНОСТЬ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817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Безопасность и лимиты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18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19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20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БЕЗОПАСНОСТЬ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21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45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22" name="TextBox 8"/>
          <p:cNvSpPr txBox="1"/>
          <p:nvPr/>
        </p:nvSpPr>
        <p:spPr>
          <a:xfrm>
            <a:off x="812800" y="1574800"/>
            <a:ext cx="10566400" cy="2657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client_max_body_size 10m; — лимит тела запроса (413 при превышении).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server_tokens off; — не раскрывать версию Nginx.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add_header X-Content-Type-Options nosniff always;.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X-Frame-Options SAMEORIGIN / Referrer-Policy.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limit_req_zone + limit_req — rate limiting.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limit_conn — ограничение соединений.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always у add_header — заголовки и на 4xx/5xx.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823" name="Rectangle 9"/>
          <p:cNvSpPr/>
          <p:nvPr/>
        </p:nvSpPr>
        <p:spPr>
          <a:xfrm>
            <a:off x="812800" y="4597400"/>
            <a:ext cx="10566400" cy="1320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24" name="TextBox 10"/>
          <p:cNvSpPr txBox="1"/>
          <p:nvPr/>
        </p:nvSpPr>
        <p:spPr>
          <a:xfrm>
            <a:off x="1066800" y="4775200"/>
            <a:ext cx="10134600" cy="10439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limit_req_zone $binary_remote_addr zone=api:10m rate=10r/s;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location /api/ {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limit_req zone=api burst=20 nodelay;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  <a:endParaRPr sz="10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27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ЭКСПЛУАТАЦИЯ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828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Логи и перезагрузка конфига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29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30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31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ЭКСПЛУАТАЦИЯ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32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46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33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access_log /var/log/nginx/access.log;.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error_log /var/log/nginx/error.log warn;.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log_format — свой формат (время, upstream, статус).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nginx -t — проверить конфиг перед reload.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nginx -s reload — плавно применить; -s quit — graceful stop.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systemctl reload nginx — reload через systemd.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834" name="Rectangle 9"/>
          <p:cNvSpPr/>
          <p:nvPr/>
        </p:nvSpPr>
        <p:spPr>
          <a:xfrm>
            <a:off x="812800" y="4445000"/>
            <a:ext cx="10566400" cy="1219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35" name="TextBox 10"/>
          <p:cNvSpPr txBox="1"/>
          <p:nvPr/>
        </p:nvSpPr>
        <p:spPr>
          <a:xfrm>
            <a:off x="1066800" y="4622800"/>
            <a:ext cx="10134600" cy="6629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log_format main '$remote_addr - $status $request_time '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                '$request "$http_user_agent"';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access_log /var/log/nginx/access.log main;</a:t>
            </a:r>
            <a:endParaRPr sz="10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836" name="Rectangle 11"/>
          <p:cNvSpPr/>
          <p:nvPr/>
        </p:nvSpPr>
        <p:spPr>
          <a:xfrm>
            <a:off x="812800" y="5816600"/>
            <a:ext cx="10566400" cy="431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37" name="Rectangle 12"/>
          <p:cNvSpPr/>
          <p:nvPr/>
        </p:nvSpPr>
        <p:spPr>
          <a:xfrm>
            <a:off x="812800" y="5816600"/>
            <a:ext cx="76200" cy="431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38" name="TextBox 13"/>
          <p:cNvSpPr txBox="1"/>
          <p:nvPr/>
        </p:nvSpPr>
        <p:spPr>
          <a:xfrm>
            <a:off x="1092200" y="5969000"/>
            <a:ext cx="10033000" cy="329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>
                <a:solidFill>
                  <a:srgbClr val="1E293B"/>
                </a:solidFill>
                <a:latin typeface="Arial"/>
              </a:rPr>
              <a:t>Сначала nginx -t, потом nginx -s reload — иначе можно уронить прод.</a:t>
            </a:r>
            <a:endParaRPr sz="125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41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ПРИМЕР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842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Полный конфиг: Vite SPA + API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43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44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45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ПРИМЕР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46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47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47" name="TextBox 8"/>
          <p:cNvSpPr txBox="1"/>
          <p:nvPr/>
        </p:nvSpPr>
        <p:spPr>
          <a:xfrm>
            <a:off x="812800" y="1473200"/>
            <a:ext cx="10566400" cy="338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50">
                <a:solidFill>
                  <a:srgbClr val="64748B"/>
                </a:solidFill>
                <a:latin typeface="Arial"/>
              </a:rPr>
              <a:t>Один server: статика, SPA-fallback, кэш и proxy на API.</a:t>
            </a:r>
            <a:endParaRPr sz="13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64" name="Rectangle 9"/>
          <p:cNvSpPr/>
          <p:nvPr/>
        </p:nvSpPr>
        <p:spPr>
          <a:xfrm>
            <a:off x="812800" y="1803400"/>
            <a:ext cx="10566400" cy="4318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5" name="TextBox 10"/>
          <p:cNvSpPr txBox="1"/>
          <p:nvPr/>
        </p:nvSpPr>
        <p:spPr>
          <a:xfrm>
            <a:off x="1066800" y="1955800"/>
            <a:ext cx="10134600" cy="4087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server {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listen 80;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server_name example.com;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root /usr/share/nginx/html;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index index.html;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gzip on;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gzip_types text/css application/javascript application/json;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location / {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  try_files $uri $uri/ /index.html;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}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location ~* \.(js|css|woff2|png|svg)$ {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  expires 1y;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  add_header Cache-Control "public, immutable";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}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location /api/ {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  proxy_pass http://backend:8080/;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  proxy_http_version 1.1;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  proxy_set_header Host $host;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  proxy_set_header X-Real-IP $remote_addr;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  proxy_set_header X-Forwarded-For $proxy_add_x_forwarded_for;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  proxy_set_header X-Forwarded-Proto $scheme;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  }</a:t>
            </a:r>
            <a:endParaRPr sz="9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E2E8F0"/>
                </a:solidFill>
                <a:latin typeface="Consolas"/>
              </a:rPr>
              <a:t>}</a:t>
            </a:r>
            <a:endParaRPr sz="9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5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ЧЕК-ЛИСТ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85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Частые ошибки и проверка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5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5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5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ЧЕК-ЛИСТ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5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48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58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try_files без fallback → 404 на прямых ссылках SPA.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Забытый слэш в proxy_pass → неверный путь на бэкенде.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add_header без always → нет заголовков на ошибках.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root вместо alias (или наоборот) → неверные пути.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Кэширование index.html → пользователи видят старую версию.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0963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Нет nginx -t перед reload → риск уронить конфиг.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859" name="Rectangle 9"/>
          <p:cNvSpPr/>
          <p:nvPr/>
        </p:nvSpPr>
        <p:spPr>
          <a:xfrm>
            <a:off x="812800" y="4343400"/>
            <a:ext cx="10566400" cy="736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0" name="TextBox 10"/>
          <p:cNvSpPr txBox="1"/>
          <p:nvPr/>
        </p:nvSpPr>
        <p:spPr>
          <a:xfrm>
            <a:off x="1066800" y="4521200"/>
            <a:ext cx="10134600" cy="431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nginx -t            # проверить конфиг</a:t>
            </a:r>
            <a:endParaRPr sz="10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000">
                <a:solidFill>
                  <a:srgbClr val="E2E8F0"/>
                </a:solidFill>
                <a:latin typeface="Consolas"/>
              </a:rPr>
              <a:t>nginx -s reload     # применить без простоя</a:t>
            </a:r>
            <a:endParaRPr sz="10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861" name="Rectangle 11"/>
          <p:cNvSpPr/>
          <p:nvPr/>
        </p:nvSpPr>
        <p:spPr>
          <a:xfrm>
            <a:off x="812800" y="5384800"/>
            <a:ext cx="10566400" cy="558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2" name="Rectangle 12"/>
          <p:cNvSpPr/>
          <p:nvPr/>
        </p:nvSpPr>
        <p:spPr>
          <a:xfrm>
            <a:off x="812800" y="5384800"/>
            <a:ext cx="76200" cy="558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3" name="TextBox 13"/>
          <p:cNvSpPr txBox="1"/>
          <p:nvPr/>
        </p:nvSpPr>
        <p:spPr>
          <a:xfrm>
            <a:off x="1092200" y="5537200"/>
            <a:ext cx="10033000" cy="330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>
                <a:solidFill>
                  <a:srgbClr val="1E293B"/>
                </a:solidFill>
                <a:latin typeface="Arial"/>
              </a:rPr>
              <a:t>Симптом: 404 на /posts/1, старый index.html, пустой X-Forwarded-For — смотрите error.log.</a:t>
            </a:r>
            <a:endParaRPr sz="125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F172A"/>
                </a:solidFill>
                <a:latin typeface="Arial"/>
              </a:rPr>
              <a:t>ИТОГ</a:t>
            </a:r>
            <a:endParaRPr sz="105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4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Что дальше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4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ИТОГ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4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49</a:t>
            </a:r>
          </a:p>
        </p:txBody>
      </p:sp>
      <p:sp>
        <p:nvSpPr>
          <p:cNvPr id="648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Практика: собрать проект на Vite+ с Oxlint и раздать его через Nginx.</a:t>
            </a: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Развернуть SPA: Docker + Nginx, try_files, proxy на API.</a:t>
            </a: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Настроить CI: voidzero-dev/setup-vp + vp check.</a:t>
            </a: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Документация: vite.dev, viteplus.dev, oxc.rs, nginx.org.</a:t>
            </a: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Карточки: 143 вопроса + конфиг Nginx — для самопроверки.</a:t>
            </a:r>
          </a:p>
        </p:txBody>
      </p:sp>
      <p:sp>
        <p:nvSpPr>
          <p:cNvPr id="649" name="Rectangle 9"/>
          <p:cNvSpPr/>
          <p:nvPr/>
        </p:nvSpPr>
        <p:spPr>
          <a:xfrm>
            <a:off x="812800" y="4953000"/>
            <a:ext cx="10566400" cy="8890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0" name="Rectangle 10"/>
          <p:cNvSpPr/>
          <p:nvPr/>
        </p:nvSpPr>
        <p:spPr>
          <a:xfrm>
            <a:off x="812800" y="4953000"/>
            <a:ext cx="76200" cy="889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1" name="TextBox 11"/>
          <p:cNvSpPr txBox="1"/>
          <p:nvPr/>
        </p:nvSpPr>
        <p:spPr>
          <a:xfrm>
            <a:off x="1117600" y="5130800"/>
            <a:ext cx="10033000" cy="3474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Покрытие: Vite — 85 карточек, Vite+ — 46, Oxc — 12. Плюс блок Nginx: конфиг, proxy, кэш, HTTPS.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per">
  <a:themeElements>
    <a:clrScheme name="Paper">
      <a:dk1>
        <a:srgbClr val="262626"/>
      </a:dk1>
      <a:lt1>
        <a:srgbClr val="FFFFFF"/>
      </a:lt1>
      <a:dk2>
        <a:srgbClr val="404040"/>
      </a:dk2>
      <a:lt2>
        <a:srgbClr val="F2F2F2"/>
      </a:lt2>
      <a:accent1>
        <a:srgbClr val="595959"/>
      </a:accent1>
      <a:accent2>
        <a:srgbClr val="8C8C8C"/>
      </a:accent2>
      <a:accent3>
        <a:srgbClr val="C0504D"/>
      </a:accent3>
      <a:accent4>
        <a:srgbClr val="4F81BD"/>
      </a:accent4>
      <a:accent5>
        <a:srgbClr val="9BBB59"/>
      </a:accent5>
      <a:accent6>
        <a:srgbClr val="F79646"/>
      </a:accent6>
      <a:hlink>
        <a:srgbClr val="4F81BD"/>
      </a:hlink>
      <a:folHlink>
        <a:srgbClr val="8064A2"/>
      </a:folHlink>
    </a:clrScheme>
    <a:fontScheme name="Paper">
      <a:majorFont>
        <a:latin typeface="Playfair Display"/>
        <a:ea typeface=""/>
        <a:cs typeface=""/>
      </a:majorFont>
      <a:minorFont>
        <a:latin typeface="Lato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49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Vite, Vite+, Oxc и Nginx — Лекция 1</dc:title>
  <dc:subject>Сборка, линтинг, доставка фронтенда и Nginx</dc:subject>
  <dc:creator>Лекция 1</dc:creator>
  <cp:keywords>Vite, Vite+, Oxc, Oxlint, Oxfmt, Nginx</cp:keywords>
  <dc:description>143 карточки: Vite 85, Vite+ 46, Oxc 12 + блок Nginx</dc:description>
</cp:coreProperties>
</file>