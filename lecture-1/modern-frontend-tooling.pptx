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theme" Target="theme/theme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a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115000"/>
              </a:lnSpc>
            </a:pPr>
            <a:r>
              <a:rPr sz="3800" b="1">
                <a:solidFill>
                  <a:srgbClr val="1F2937"/>
                </a:solidFill>
              </a:rPr>
              <a:t>Современные технологии сборки,</a:t>
            </a:r>
            <a:endParaRPr sz="3800" b="1">
              <a:solidFill>
                <a:srgbClr val="1F2937"/>
              </a:solidFill>
            </a:endParaRPr>
          </a:p>
          <a:p>
            <a:pPr>
              <a:lnSpc>
                <a:spcPct val="115000"/>
              </a:lnSpc>
            </a:pPr>
            <a:r>
              <a:rPr sz="3800" b="1">
                <a:solidFill>
                  <a:srgbClr val="1F2937"/>
                </a:solidFill>
              </a:rPr>
              <a:t>линтинга и роутинга</a:t>
            </a:r>
            <a:endParaRPr sz="3800" b="1">
              <a:solidFill>
                <a:srgbClr val="1F2937"/>
              </a:solidFill>
            </a:endParaRPr>
          </a:p>
          <a:p>
            <a:pPr>
              <a:lnSpc>
                <a:spcPct val="115000"/>
              </a:lnSpc>
            </a:pPr>
            <a:r>
              <a:rPr sz="3800" b="1">
                <a:solidFill>
                  <a:srgbClr val="1F2937"/>
                </a:solidFill>
              </a:rPr>
              <a:t>во фронтенд-приложениях</a:t>
            </a:r>
            <a:endParaRPr sz="3800" b="1">
              <a:solidFill>
                <a:srgbClr val="1F2937"/>
              </a:solidFill>
            </a:endParaRPr>
          </a:p>
        </p:txBody>
      </p:sp>
      <p:sp>
        <p:nvSpPr>
          <p:cNvPr id="259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/>
          <a:lstStyle/>
          <a:p>
            <a:r>
              <a:rPr sz="2000">
                <a:solidFill>
                  <a:srgbClr val="A5A5A5"/>
                </a:solidFill>
              </a:rPr>
              <a:t>Vite · Oxidation Compiler · TanStack Router</a:t>
            </a:r>
            <a:endParaRPr sz="2000">
              <a:solidFill>
                <a:srgbClr val="A5A5A5"/>
              </a:solidFill>
            </a:endParaRPr>
          </a:p>
          <a:p>
            <a:r>
              <a:rPr sz="2000">
                <a:solidFill>
                  <a:srgbClr val="A5A5A5"/>
                </a:solidFill>
              </a:rPr>
              <a:t>Лекция 1</a:t>
            </a:r>
            <a:endParaRPr sz="2000">
              <a:solidFill>
                <a:srgbClr val="A5A5A5"/>
              </a:solidFill>
            </a:endParaRPr>
          </a:p>
        </p:txBody>
      </p:sp>
      <p:pic>
        <p:nvPicPr>
          <p:cNvPr id="261" name="Picture 3" descr="image1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350000" y="1778000"/>
            <a:ext cx="5842000" cy="3289300"/>
          </a:xfrm>
          <a:prstGeom prst="rect">
            <a:avLst/>
          </a:prstGeom>
        </p:spPr>
      </p:pic>
      <p:pic>
        <p:nvPicPr>
          <p:cNvPr id="263" name="Picture 4" descr="image3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128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Почему старый подход устарел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6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6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268" name="TextBox 4"/>
          <p:cNvSpPr txBox="1"/>
          <p:nvPr/>
        </p:nvSpPr>
        <p:spPr>
          <a:xfrm>
            <a:off x="812800" y="1676400"/>
            <a:ext cx="10566400" cy="159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Dev-сервер сначала собирает весь проект в один бандл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Время старта растёт вместе с кодовой базой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Правка файла запускает пересборку цепочки модулей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HMR теряет состояние или перезагружает страницу</a:t>
            </a:r>
            <a:endParaRPr sz="1900">
              <a:solidFill>
                <a:srgbClr val="44546A"/>
              </a:solidFill>
            </a:endParaRPr>
          </a:p>
        </p:txBody>
      </p:sp>
      <p:sp>
        <p:nvSpPr>
          <p:cNvPr id="269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0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1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Узкое место — не код, а обязательная сборка перед каждым запуском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272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Как работает Vite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7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277" name="TextBox 4"/>
          <p:cNvSpPr txBox="1"/>
          <p:nvPr/>
        </p:nvSpPr>
        <p:spPr>
          <a:xfrm>
            <a:off x="812800" y="1676400"/>
            <a:ext cx="10566400" cy="159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Браузер понимает ES-модули нативно — import/export без сборщика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Dev-сервер отдаёт файлы по запросу, а не собирает бандл заранее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node_modules предсобираются один раз (esbuild): CommonJS → ESM</a:t>
            </a:r>
            <a:endParaRPr sz="19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900">
                <a:solidFill>
                  <a:srgbClr val="44546A"/>
                </a:solidFill>
              </a:rPr>
              <a:t>Правка модуля инвалидирует только его цепочку, а не проект</a:t>
            </a:r>
            <a:endParaRPr sz="1900">
              <a:solidFill>
                <a:srgbClr val="44546A"/>
              </a:solidFill>
            </a:endParaRPr>
          </a:p>
        </p:txBody>
      </p:sp>
      <p:sp>
        <p:nvSpPr>
          <p:cNvPr id="278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9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Dev = ESM + on-demand transform.  Build = Rollup/Rolldown + minify + tree-shaking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281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Два режима работы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8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4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286" name="Table 4"/>
          <p:cNvGraphicFramePr>
            <a:graphicFrameLocks noGrp="1"/>
          </p:cNvGraphicFramePr>
          <p:nvPr/>
        </p:nvGraphicFramePr>
        <p:xfrm>
          <a:off x="812800" y="1778000"/>
          <a:ext cx="105664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29167">
                <a:tc>
                  <a:txBody>
                    <a:bodyPr/>
                    <a:lstStyle/>
                    <a:p>
                      <a:r>
                        <a:rPr/>
                        <a:t>Параметр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Dev — vp run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Build — vp run build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Цель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мгновенный цикл правок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готовый бандл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Модули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ESM по запросу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чанки и ассеты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Зависимости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esbuild prebundle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Rollup / Rolldown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старт почти мгновенный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секунды и минуты</a:t>
                      </a:r>
                    </a:p>
                  </a:txBody>
                  <a:tcPr/>
                </a:tc>
              </a:tr>
              <a:tr h="529167">
                <a:tc>
                  <a:txBody>
                    <a:bodyPr/>
                    <a:lstStyle/>
                    <a:p>
                      <a:r>
                        <a:rPr/>
                        <a:t>Оптимизация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нет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minify, tree-shaking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87" name="Picture 5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Старт проекта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29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5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292" name="Rectangle 4"/>
          <p:cNvSpPr/>
          <p:nvPr/>
        </p:nvSpPr>
        <p:spPr>
          <a:xfrm>
            <a:off x="812800" y="1676400"/>
            <a:ext cx="10566400" cy="1651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3" name="TextBox 5"/>
          <p:cNvSpPr txBox="1"/>
          <p:nvPr/>
        </p:nvSpPr>
        <p:spPr>
          <a:xfrm>
            <a:off x="1117600" y="1854200"/>
            <a:ext cx="10058400" cy="1200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npm create vite@latest my-app -- --template react-ts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cd my-app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npm install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npm run dev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294" name="Rectangle 6"/>
          <p:cNvSpPr/>
          <p:nvPr/>
        </p:nvSpPr>
        <p:spPr>
          <a:xfrm>
            <a:off x="812800" y="3556000"/>
            <a:ext cx="10566400" cy="13716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5" name="TextBox 7"/>
          <p:cNvSpPr txBox="1"/>
          <p:nvPr/>
        </p:nvSpPr>
        <p:spPr>
          <a:xfrm>
            <a:off x="1117600" y="3733800"/>
            <a:ext cx="100584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vp install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vp run dev      # dev-сервер на :3000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vp run build    # tsc -b &amp;&amp; сборка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296" name="TextBox 8"/>
          <p:cNvSpPr txBox="1"/>
          <p:nvPr/>
        </p:nvSpPr>
        <p:spPr>
          <a:xfrm>
            <a:off x="812800" y="50800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A5A5A5"/>
                </a:solidFill>
              </a:rPr>
              <a:t>predev и prebuild автоматически перегенерируют API-клиенты, роуты и события</a:t>
            </a:r>
            <a:endParaRPr sz="1400">
              <a:solidFill>
                <a:srgbClr val="A5A5A5"/>
              </a:solidFill>
            </a:endParaRPr>
          </a:p>
        </p:txBody>
      </p:sp>
      <p:pic>
        <p:nvPicPr>
          <p:cNvPr id="297" name="Picture 9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Анатомия проекта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0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02" name="Rectangle 4"/>
          <p:cNvSpPr/>
          <p:nvPr/>
        </p:nvSpPr>
        <p:spPr>
          <a:xfrm>
            <a:off x="812800" y="1676400"/>
            <a:ext cx="5334000" cy="355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3" name="TextBox 5"/>
          <p:cNvSpPr txBox="1"/>
          <p:nvPr/>
        </p:nvSpPr>
        <p:spPr>
          <a:xfrm>
            <a:off x="1117600" y="1854200"/>
            <a:ext cx="4826000" cy="27660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my-app/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index.html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vite.config.ts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package.json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├─ public/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│  └─ favicon.svg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└─ src/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   ├─ main.tsx</a:t>
            </a:r>
            <a:endParaRPr sz="15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500">
                <a:solidFill>
                  <a:srgbClr val="E5E7EB"/>
                </a:solidFill>
                <a:latin typeface="Consolas"/>
              </a:rPr>
              <a:t>   └─ App.tsx</a:t>
            </a:r>
            <a:endParaRPr sz="15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04" name="TextBox 6"/>
          <p:cNvSpPr txBox="1"/>
          <p:nvPr/>
        </p:nvSpPr>
        <p:spPr>
          <a:xfrm>
            <a:off x="6553200" y="1803400"/>
            <a:ext cx="4826000" cy="1676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index.html — точка входа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module-скрипт запускает граф модулей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vite.config.ts — один конфиг на всё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public/ — файлы без обработки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src/ — код приложения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305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vite.config.ts: наш конфиг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0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10" name="Rectangle 4"/>
          <p:cNvSpPr/>
          <p:nvPr/>
        </p:nvSpPr>
        <p:spPr>
          <a:xfrm>
            <a:off x="812800" y="1676400"/>
            <a:ext cx="10566400" cy="3683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1" name="TextBox 5"/>
          <p:cNvSpPr txBox="1"/>
          <p:nvPr/>
        </p:nvSpPr>
        <p:spPr>
          <a:xfrm>
            <a:off x="1117600" y="1854200"/>
            <a:ext cx="10058400" cy="3063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export default defineConfig({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plugins: lazyPlugins(() =&gt; [tanstackRouter({ target: "react" })]),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resolve: { alias: { "@": resolve(__dirname, "./src") }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css: { preprocessorOptions: { scss: { additionalData: `@use "@/styles/variables.scss" as *;` } }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server: 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port: 3000,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proxy: 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  "/api":  { target: "http://localhost:3001", changeOrigin: true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  "/mqtt": { target: "ws://localhost:8083", ws: true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 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},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});</a:t>
            </a:r>
            <a:endParaRPr sz="12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12" name="Rectangle 6"/>
          <p:cNvSpPr/>
          <p:nvPr/>
        </p:nvSpPr>
        <p:spPr>
          <a:xfrm>
            <a:off x="812800" y="5588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3" name="Rectangle 7"/>
          <p:cNvSpPr/>
          <p:nvPr/>
        </p:nvSpPr>
        <p:spPr>
          <a:xfrm>
            <a:off x="812800" y="5588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4" name="TextBox 8"/>
          <p:cNvSpPr txBox="1"/>
          <p:nvPr/>
        </p:nvSpPr>
        <p:spPr>
          <a:xfrm>
            <a:off x="1143000" y="5765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Один файл описывает плагины, алиасы, препроцессор и прокси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315" name="Picture 9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Ключевые опции конфига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1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1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8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20" name="TextBox 4"/>
          <p:cNvSpPr txBox="1"/>
          <p:nvPr/>
        </p:nvSpPr>
        <p:spPr>
          <a:xfrm>
            <a:off x="812800" y="1676400"/>
            <a:ext cx="10566400" cy="20528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root — папка с index.html (по умолч. process.cwd())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base — префикс путей и BASE_URL (по умолч. '/')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publicDir — статика, копируется в dist (по умолч. 'public')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define — замена идентификаторов на этапе сборки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envDir / envPrefix — откуда и с каким префиксом грузить .env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resolve.extensions — порядок расширений при import без расширения</a:t>
            </a:r>
            <a:endParaRPr sz="1650">
              <a:solidFill>
                <a:srgbClr val="44546A"/>
              </a:solidFill>
            </a:endParaRPr>
          </a:p>
        </p:txBody>
      </p:sp>
      <p:sp>
        <p:nvSpPr>
          <p:cNvPr id="321" name="Rectangle 5"/>
          <p:cNvSpPr/>
          <p:nvPr/>
        </p:nvSpPr>
        <p:spPr>
          <a:xfrm>
            <a:off x="812800" y="5207000"/>
            <a:ext cx="10566400" cy="88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2" name="TextBox 6"/>
          <p:cNvSpPr txBox="1"/>
          <p:nvPr/>
        </p:nvSpPr>
        <p:spPr>
          <a:xfrm>
            <a:off x="1117600" y="5384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define: { __APP_VERSION__: JSON.stringify('1.0.0') },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envPrefix: 'VITE_',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23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Конфиг как функция и loadEnv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2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9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28" name="Rectangle 4"/>
          <p:cNvSpPr/>
          <p:nvPr/>
        </p:nvSpPr>
        <p:spPr>
          <a:xfrm>
            <a:off x="812800" y="1676400"/>
            <a:ext cx="10566400" cy="1905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29" name="TextBox 5"/>
          <p:cNvSpPr txBox="1"/>
          <p:nvPr/>
        </p:nvSpPr>
        <p:spPr>
          <a:xfrm>
            <a:off x="1117600" y="1854200"/>
            <a:ext cx="10058400" cy="20330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export default defineConfig(({ command, mode }) =&gt;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const env = loadEnv(mode, process.cwd(), '');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return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plugins: command === 'build' ? [legacy()] : [],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define: { __API__: JSON.stringify(env.VITE_API_URL) },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};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});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30" name="TextBox 6"/>
          <p:cNvSpPr txBox="1"/>
          <p:nvPr/>
        </p:nvSpPr>
        <p:spPr>
          <a:xfrm>
            <a:off x="812800" y="3810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.env недоступны в vite.config.ts через process.env — Vite грузит их после конфига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loadEnv(mode, root, prefix) читает .env вручную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command = 'serve' (dev) или 'build'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mode задаётся флагом --mode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331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Опции dev-сервера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3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3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10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336" name="Table 4"/>
          <p:cNvGraphicFramePr>
            <a:graphicFrameLocks noGrp="1"/>
          </p:cNvGraphicFramePr>
          <p:nvPr/>
        </p:nvGraphicFramePr>
        <p:xfrm>
          <a:off x="812800" y="1676400"/>
          <a:ext cx="10566400" cy="292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417286">
                <a:tc>
                  <a:txBody>
                    <a:bodyPr/>
                    <a:lstStyle/>
                    <a:p>
                      <a:r>
                        <a:rPr/>
                        <a:t>Опция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Что делает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port (5173)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порт dev-сервера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strictPort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не занимать другой порт, если занят — ошибка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https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TLS/HTTP2; плагин @vitejs/plugin-basic-ssl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открыть браузер при старте (строка = pathname)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cors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true = любой origin, либо объект настроек</a:t>
                      </a:r>
                    </a:p>
                  </a:txBody>
                  <a:tcPr/>
                </a:tc>
              </a:tr>
              <a:tr h="417286">
                <a:tc>
                  <a:txBody>
                    <a:bodyPr/>
                    <a:lstStyle/>
                    <a:p>
                      <a:r>
                        <a:rPr/>
                        <a:t>forwardConsole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переносить console браузера в терминал (для AI-агентов)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37" name="TextBox 5"/>
          <p:cNvSpPr txBox="1"/>
          <p:nvPr/>
        </p:nvSpPr>
        <p:spPr>
          <a:xfrm>
            <a:off x="812800" y="4826000"/>
            <a:ext cx="10566400" cy="725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server.proxy перенаправляет запросы на бэкенд, обходя CORS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changeOrigin подменяет Host; ws: true для WebSocket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338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Ассеты: импорт и public/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4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11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43" name="Rectangle 4"/>
          <p:cNvSpPr/>
          <p:nvPr/>
        </p:nvSpPr>
        <p:spPr>
          <a:xfrm>
            <a:off x="812800" y="1676400"/>
            <a:ext cx="10566400" cy="1524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4" name="TextBox 5"/>
          <p:cNvSpPr txBox="1"/>
          <p:nvPr/>
        </p:nvSpPr>
        <p:spPr>
          <a:xfrm>
            <a:off x="1117600" y="1854200"/>
            <a:ext cx="10058400" cy="12009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import imgUrl from './img.png';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// imgUrl === '/assets/img-abc123.png' (URL)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&lt;img src={imgUrl} alt="..." /&gt;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45" name="TextBox 6"/>
          <p:cNvSpPr txBox="1"/>
          <p:nvPr/>
        </p:nvSpPr>
        <p:spPr>
          <a:xfrm>
            <a:off x="812800" y="3429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Импортированная картинка → URL с хешем, попадает в бандл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Мелкие файлы (≤ 4 КБ) инлайнятся как data URL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public/ — файлы отдадаются как есть, без хеша и обработки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В prod public/ копируется в корень dist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346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Env-переменные и режимы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4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51" name="TextBox 4"/>
          <p:cNvSpPr txBox="1"/>
          <p:nvPr/>
        </p:nvSpPr>
        <p:spPr>
          <a:xfrm>
            <a:off x="812800" y="1676400"/>
            <a:ext cx="5080000" cy="2944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import.meta.env — подстановка на этапе сборки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В клиент попадают только переменные с префиксом VITE_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Кастомные всегда string, встроенные DEV/PROD/SSR — boolean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Порядок: .env.[mode].local → .env.[mode] → .env.local → .env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Типизация — в src/vite-env.d.ts через ImportMetaEnv</a:t>
            </a:r>
            <a:endParaRPr sz="1600">
              <a:solidFill>
                <a:srgbClr val="44546A"/>
              </a:solidFill>
            </a:endParaRPr>
          </a:p>
        </p:txBody>
      </p:sp>
      <p:sp>
        <p:nvSpPr>
          <p:cNvPr id="352" name="Rectangle 5"/>
          <p:cNvSpPr/>
          <p:nvPr/>
        </p:nvSpPr>
        <p:spPr>
          <a:xfrm>
            <a:off x="812800" y="5969000"/>
            <a:ext cx="5410200" cy="3175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3" name="TextBox 6"/>
          <p:cNvSpPr txBox="1"/>
          <p:nvPr/>
        </p:nvSpPr>
        <p:spPr>
          <a:xfrm>
            <a:off x="1117600" y="6146800"/>
            <a:ext cx="4902200" cy="23202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// .env.development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VITE_API_URL=/api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VITE_MOCK_API=true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// vite-env.d.ts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interface ImportMetaEnv {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  readonly VITE_API_URL: string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}</a:t>
            </a:r>
            <a:endParaRPr sz="12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250">
                <a:solidFill>
                  <a:srgbClr val="E5E7EB"/>
                </a:solidFill>
                <a:latin typeface="Consolas"/>
              </a:rPr>
              <a:t>interface ImportMeta { readonly env: ImportMetaEnv }</a:t>
            </a:r>
            <a:endParaRPr sz="125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54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Pre-bundling зависимостей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5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59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Vite предсобирает node_modules один раз (esbuild)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Результат лежит в node_modules/.vite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Кеш инвалидируется по package.json и lock-файлу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--force сбросит кеш при проблемах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60" name="Rectangle 5"/>
          <p:cNvSpPr/>
          <p:nvPr/>
        </p:nvSpPr>
        <p:spPr>
          <a:xfrm>
            <a:off x="812800" y="4191000"/>
            <a:ext cx="10566400" cy="76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1" name="TextBox 6"/>
          <p:cNvSpPr txBox="1"/>
          <p:nvPr/>
        </p:nvSpPr>
        <p:spPr>
          <a:xfrm>
            <a:off x="1117600" y="4368800"/>
            <a:ext cx="10058400" cy="368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vite --force   # пересобрать кеш зависимостей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62" name="Rectangle 7"/>
          <p:cNvSpPr/>
          <p:nvPr/>
        </p:nvSpPr>
        <p:spPr>
          <a:xfrm>
            <a:off x="812800" y="5207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3" name="Rectangle 8"/>
          <p:cNvSpPr/>
          <p:nvPr/>
        </p:nvSpPr>
        <p:spPr>
          <a:xfrm>
            <a:off x="812800" y="5207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4" name="TextBox 9"/>
          <p:cNvSpPr txBox="1"/>
          <p:nvPr/>
        </p:nvSpPr>
        <p:spPr>
          <a:xfrm>
            <a:off x="1143000" y="5384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Без pre-bundle каждый import из node_modules превращался бы в сотни запросов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365" name="Picture 10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HMR: обновляем только то, что изменилось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6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14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70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Vite хранит граф модулей и их импортёров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Изменение уходит в браузер по WebSocket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Обновляется ближайшая HMR-граница, а не страница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React Fast Refresh сохраняет состояние useState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Нет границы — полная перезагрузка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71" name="Rectangle 5"/>
          <p:cNvSpPr/>
          <p:nvPr/>
        </p:nvSpPr>
        <p:spPr>
          <a:xfrm>
            <a:off x="812800" y="4953000"/>
            <a:ext cx="10566400" cy="10922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2" name="TextBox 6"/>
          <p:cNvSpPr txBox="1"/>
          <p:nvPr/>
        </p:nvSpPr>
        <p:spPr>
          <a:xfrm>
            <a:off x="1117600" y="5130800"/>
            <a:ext cx="10058400" cy="9235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if (import.meta.hot)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import.meta.hot.accept((mod) =&gt; render(mod));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73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Vite+: CLI vp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7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15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78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vp заменяет набор инструментов: dev, build, lint, fmt, test, run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Конфиг остаётся vite.config.ts — Vite+ его расширяет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vp add/remove/update, vpx (аналог npx)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vp run &lt;script&gt; запускает скрипт из package.json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79" name="Rectangle 5"/>
          <p:cNvSpPr/>
          <p:nvPr/>
        </p:nvSpPr>
        <p:spPr>
          <a:xfrm>
            <a:off x="812800" y="4445000"/>
            <a:ext cx="10566400" cy="10922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0" name="TextBox 6"/>
          <p:cNvSpPr txBox="1"/>
          <p:nvPr/>
        </p:nvSpPr>
        <p:spPr>
          <a:xfrm>
            <a:off x="1117600" y="4622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staged: { "*": "vp check --fix" },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run: { cache: { scripts: false, tasks: true } },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381" name="TextBox 7"/>
          <p:cNvSpPr txBox="1"/>
          <p:nvPr/>
        </p:nvSpPr>
        <p:spPr>
          <a:xfrm>
            <a:off x="812800" y="57912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A5A5A5"/>
                </a:solidFill>
              </a:rPr>
              <a:t>vp check = форматирование + линтинг + проверка типов за один проход</a:t>
            </a:r>
            <a:endParaRPr sz="1400">
              <a:solidFill>
                <a:srgbClr val="A5A5A5"/>
              </a:solidFill>
            </a:endParaRPr>
          </a:p>
        </p:txBody>
      </p:sp>
      <p:pic>
        <p:nvPicPr>
          <p:cNvPr id="382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Vite+: хуки, задачи, кеш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87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vp hooks enable/disable/status; скрипты в .vite-hooks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pre-commit: vp staged — проверка только изменённых файлов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run.tasks: именованные задачи с dependsOn и кешированием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vp upgrade обновляет глобальный vp; CI — voidzero-dev/setup-vp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388" name="Rectangle 5"/>
          <p:cNvSpPr/>
          <p:nvPr/>
        </p:nvSpPr>
        <p:spPr>
          <a:xfrm>
            <a:off x="812800" y="4445000"/>
            <a:ext cx="10566400" cy="1397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9" name="TextBox 6"/>
          <p:cNvSpPr txBox="1"/>
          <p:nvPr/>
        </p:nvSpPr>
        <p:spPr>
          <a:xfrm>
            <a:off x="1117600" y="4622800"/>
            <a:ext cx="10058400" cy="14287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run: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tasks: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  build: { command: 'vp build', dependsOn: ['lint'] },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},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390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Oxc: Oxidation Compiler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39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395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Набор высокопроизводительных инструментов для JS/TS на Rust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Часть видения VoidZero: единый toolchain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Включает: Oxlint, Oxfmt, Parser, Transformer, Minifier, Resolver, TS Runner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Oxc питает Rolldown — бандлер Vite 8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396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7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98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Oxidation — химический процесс, создающий ржавчину (rust)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399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Oxlint vs ESLint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0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18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404" name="Table 4"/>
          <p:cNvGraphicFramePr>
            <a:graphicFrameLocks noGrp="1"/>
          </p:cNvGraphicFramePr>
          <p:nvPr/>
        </p:nvGraphicFramePr>
        <p:xfrm>
          <a:off x="812800" y="1676400"/>
          <a:ext cx="105664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ESLint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очень высокая (Rust)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средняя (JS)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Совместимость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целится в ESLint-экосистему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эталон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Конфиг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oxlint.config.ts / .oxlintrc.json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.eslintrc.*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Типизация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tsgo = TypeScript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tsc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05" name="TextBox 5"/>
          <p:cNvSpPr txBox="1"/>
          <p:nvPr/>
        </p:nvSpPr>
        <p:spPr>
          <a:xfrm>
            <a:off x="812800" y="4445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oxlint --init генерирует конфиг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npm install -D oxlint; скрипты: "lint": "oxlint", "lint:fix": "oxlint --fix"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Плагин eslint включён по умолчанию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406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Oxfmt: форматтер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0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19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11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Совместим с Prettier, работает быстрее (Rust)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Сортировка импортов, embedded-форматирование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Игнор-файлы и inline-комментарии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Миграция: prettier → oxfmt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412" name="Rectangle 5"/>
          <p:cNvSpPr/>
          <p:nvPr/>
        </p:nvSpPr>
        <p:spPr>
          <a:xfrm>
            <a:off x="812800" y="4191000"/>
            <a:ext cx="10566400" cy="88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3" name="TextBox 6"/>
          <p:cNvSpPr txBox="1"/>
          <p:nvPr/>
        </p:nvSpPr>
        <p:spPr>
          <a:xfrm>
            <a:off x="1117600" y="4368800"/>
            <a:ext cx="100584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// vite.config.ts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fmt: { /* настройки oxfmt */ }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14" name="Rectangle 7"/>
          <p:cNvSpPr/>
          <p:nvPr/>
        </p:nvSpPr>
        <p:spPr>
          <a:xfrm>
            <a:off x="812800" y="5334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5" name="Rectangle 8"/>
          <p:cNvSpPr/>
          <p:nvPr/>
        </p:nvSpPr>
        <p:spPr>
          <a:xfrm>
            <a:off x="812800" y="5334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6" name="TextBox 9"/>
          <p:cNvSpPr txBox="1"/>
          <p:nvPr/>
        </p:nvSpPr>
        <p:spPr>
          <a:xfrm>
            <a:off x="1143000" y="5511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vp fmt запускает oxfmt; vp check включает fmt + lint + типы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417" name="Picture 10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Инструменты Oxc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2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20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22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Parser — самый быстрый JS/TS-парсер с AST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Transformer — TS, JSX, modern JS lowering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Minifier — minify для продакшена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Resolver — разрешение модулей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TypeScript Runner — запуск TS/JSX в Node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423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4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5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Все инструменты делят общие компоненты — меньше дублирования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426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Vite+ использует Oxc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2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21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31" name="Rectangle 4"/>
          <p:cNvSpPr/>
          <p:nvPr/>
        </p:nvSpPr>
        <p:spPr>
          <a:xfrm>
            <a:off x="812800" y="1676400"/>
            <a:ext cx="10566400" cy="228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vite.config.ts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lint: 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plugins: ["react", "typescript", "oxc"],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rules: { "react/rules-of-hooks": "error" 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options: { typeAware: true, typeCheck: true 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fmt: {},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staged: { "*": "vp check --fix" },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33" name="TextBox 6"/>
          <p:cNvSpPr txBox="1"/>
          <p:nvPr/>
        </p:nvSpPr>
        <p:spPr>
          <a:xfrm>
            <a:off x="812800" y="4191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vp lint = Oxlint; vp fmt = Oxfmt; vp check = всё вместе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Конфиг линтера/форматтера — в vite.config.ts, а не в oxlint.config.ts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JS-плагины и type-aware правила поддерживаются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434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TanStack Router: зачем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3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39" name="TextBox 4"/>
          <p:cNvSpPr txBox="1"/>
          <p:nvPr/>
        </p:nvSpPr>
        <p:spPr>
          <a:xfrm>
            <a:off x="812800" y="1676400"/>
            <a:ext cx="10566400" cy="1874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100% выведенный TypeScript: пути, params, search, контекст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Типобезопасная навигация: Link, useNavigate, useParams, useSearch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Встроенный SWR-кеш для loader'ов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JSON-first search params — состояние в URL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Файловая и кодовая маршрутизация одновременно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440" name="Rectangle 5"/>
          <p:cNvSpPr/>
          <p:nvPr/>
        </p:nvSpPr>
        <p:spPr>
          <a:xfrm>
            <a:off x="812800" y="5080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1" name="Rectangle 6"/>
          <p:cNvSpPr/>
          <p:nvPr/>
        </p:nvSpPr>
        <p:spPr>
          <a:xfrm>
            <a:off x="812800" y="5080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2" name="TextBox 7"/>
          <p:cNvSpPr txBox="1"/>
          <p:nvPr/>
        </p:nvSpPr>
        <p:spPr>
          <a:xfrm>
            <a:off x="1143000" y="5257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URL — это state manager, а не просто строка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443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Типобезопасность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4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48" name="Rectangle 4"/>
          <p:cNvSpPr/>
          <p:nvPr/>
        </p:nvSpPr>
        <p:spPr>
          <a:xfrm>
            <a:off x="812800" y="1676400"/>
            <a:ext cx="10566400" cy="1397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9" name="TextBox 5"/>
          <p:cNvSpPr txBox="1"/>
          <p:nvPr/>
        </p:nvSpPr>
        <p:spPr>
          <a:xfrm>
            <a:off x="1117600" y="1854200"/>
            <a:ext cx="10058400" cy="11612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const router = createRouter({ routeTree });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declare module '@tanstack/react-router'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interface Register { router: typeof router }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50" name="TextBox 6"/>
          <p:cNvSpPr txBox="1"/>
          <p:nvPr/>
        </p:nvSpPr>
        <p:spPr>
          <a:xfrm>
            <a:off x="812800" y="3302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Register связывает типы роутера с экспортированными хуками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Route.useParams() / Route.useSearch() — типизированы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useNavigate({ from: Route.fullPath }) — подсказка контекста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strict: false — для общих компонентов без привязки к роуту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451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Файловая vs кодовая маршрутизация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5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24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456" name="Table 4"/>
          <p:cNvGraphicFramePr>
            <a:graphicFrameLocks noGrp="1"/>
          </p:cNvGraphicFramePr>
          <p:nvPr/>
        </p:nvGraphicFramePr>
        <p:xfrm>
          <a:off x="812800" y="1676400"/>
          <a:ext cx="105664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133"/>
                <a:gridCol w="3522133"/>
                <a:gridCol w="3522133"/>
              </a:tblGrid>
              <a:tr h="5080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Файловая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Кодовая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Определение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 файловой структуре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createRoute + addChildren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Типобезопасность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максимальная (генерация)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зависит от дисциплины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/>
                        <a:t>Когда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рекомендуется по умолчанию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полный контроль, динамика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57" name="TextBox 5"/>
          <p:cNvSpPr txBox="1"/>
          <p:nvPr/>
        </p:nvSpPr>
        <p:spPr>
          <a:xfrm>
            <a:off x="812800" y="3937000"/>
            <a:ext cx="10566400" cy="765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Оба подхода можно смешивать в одном проекте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Файловая генерирует routeTree.gen.ts автоматически (Vite plugin)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458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Именование файлов маршрутов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6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25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463" name="Table 4"/>
          <p:cNvGraphicFramePr>
            <a:graphicFrameLocks noGrp="1"/>
          </p:cNvGraphicFramePr>
          <p:nvPr/>
        </p:nvGraphicFramePr>
        <p:xfrm>
          <a:off x="812800" y="1676400"/>
          <a:ext cx="10566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428625">
                <a:tc>
                  <a:txBody>
                    <a:bodyPr/>
                    <a:lstStyle/>
                    <a:p>
                      <a:r>
                        <a:rPr/>
                        <a:t>Паттерн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Что значит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index.tsx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индексный маршрут родителя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$param.tsx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динамический сегмент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$.tsx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splat / catch-all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{-$param}.tsx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опциональный сегмент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_layout.tsx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pathless layout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posts_.$id.edit.tsx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non-nested (свой путь)</a:t>
                      </a:r>
                    </a:p>
                  </a:txBody>
                  <a:tcPr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/>
                        <a:t>-file.tsx / -dir/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исключить из роутов (колокация)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64" name="TextBox 5"/>
          <p:cNvSpPr txBox="1"/>
          <p:nvPr/>
        </p:nvSpPr>
        <p:spPr>
          <a:xfrm>
            <a:off x="812800" y="5334000"/>
            <a:ext cx="105664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400">
                <a:solidFill>
                  <a:srgbClr val="A5A5A5"/>
                </a:solidFill>
              </a:rPr>
              <a:t>Группы: (app)/, (auth)/ — чисто организационные папки</a:t>
            </a:r>
            <a:endParaRPr sz="1400">
              <a:solidFill>
                <a:srgbClr val="A5A5A5"/>
              </a:solidFill>
            </a:endParaRPr>
          </a:p>
        </p:txBody>
      </p:sp>
      <p:pic>
        <p:nvPicPr>
          <p:cNvPr id="465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Кодовая маршрутизация: пример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6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70" name="Rectangle 4"/>
          <p:cNvSpPr/>
          <p:nvPr/>
        </p:nvSpPr>
        <p:spPr>
          <a:xfrm>
            <a:off x="812800" y="1676400"/>
            <a:ext cx="10566400" cy="2921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1" name="TextBox 5"/>
          <p:cNvSpPr txBox="1"/>
          <p:nvPr/>
        </p:nvSpPr>
        <p:spPr>
          <a:xfrm>
            <a:off x="1117600" y="1854200"/>
            <a:ext cx="10058400" cy="34396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rootRoute = createRootRoute();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postsRoute = createRoute({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getParentRoute: () =&gt; rootRoute,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path: 'posts',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postRoute = createRoute({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getParentRoute: () =&gt; postsRoute,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path: '$postId',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loader: ({ params }) =&gt; fetchPost(params.postId),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routeTree = rootRoute.addChildren([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postsRoute.addChildren([postRoute]),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]);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72" name="TextBox 6"/>
          <p:cNvSpPr txBox="1"/>
          <p:nvPr/>
        </p:nvSpPr>
        <p:spPr>
          <a:xfrm>
            <a:off x="812800" y="4826000"/>
            <a:ext cx="10566400" cy="10424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getParentRoute обязателен — ради типобезопасности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addChildren строит дерево вручную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В реальных проектах смешивают с файловой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473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Параметры пути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76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812800" y="1676400"/>
            <a:ext cx="10566400" cy="215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9" name="TextBox 5"/>
          <p:cNvSpPr txBox="1"/>
          <p:nvPr/>
        </p:nvSpPr>
        <p:spPr>
          <a:xfrm>
            <a:off x="1117600" y="1854200"/>
            <a:ext cx="10058400" cy="22311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// posts/$postId.tsx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export const Route = createFileRoute('/posts/$postId')({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loader: ({ params }) =&gt; fetchPost(params.postId),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component: PostComponent,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function PostComponent() {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const { postId } = Route.useParams();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}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80" name="TextBox 6"/>
          <p:cNvSpPr txBox="1"/>
          <p:nvPr/>
        </p:nvSpPr>
        <p:spPr>
          <a:xfrm>
            <a:off x="812800" y="4064000"/>
            <a:ext cx="10566400" cy="13990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$param — обязательный сегмент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{-$param} — опциональный (undefined, если нет)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$ — splat, значение в params._splat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params доступны в loader, beforeLoad, компоненте</a:t>
            </a:r>
            <a:endParaRPr sz="1650">
              <a:solidFill>
                <a:srgbClr val="44546A"/>
              </a:solidFill>
            </a:endParaRPr>
          </a:p>
        </p:txBody>
      </p:sp>
      <p:pic>
        <p:nvPicPr>
          <p:cNvPr id="481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Layout и pathless routes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84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5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28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86" name="Rectangle 4"/>
          <p:cNvSpPr/>
          <p:nvPr/>
        </p:nvSpPr>
        <p:spPr>
          <a:xfrm>
            <a:off x="812800" y="1676400"/>
            <a:ext cx="10566400" cy="2159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app.tsx — layout route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createFileRoute('/app')({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component: () =&gt; (&lt;div&gt;&lt;h1&gt;App&lt;/h1&gt;&lt;Outlet /&gt;&lt;/div&gt;),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_pathlessLayout.tsx — без пути в URL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createFileRoute('/_pathlessLayout')({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component: () =&gt; (&lt;div&gt;&lt;h1&gt;PL&lt;/h1&gt;&lt;Outlet /&gt;&lt;/div&gt;),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488" name="TextBox 6"/>
          <p:cNvSpPr txBox="1"/>
          <p:nvPr/>
        </p:nvSpPr>
        <p:spPr>
          <a:xfrm>
            <a:off x="812800" y="4064000"/>
            <a:ext cx="10566400" cy="1072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Layout оборачивает дочерние роуты через &lt;Outlet /&gt;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Pathless (_prefix) оборачивает без сегмента в URL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Non-nested: суффикс _ у родителя «отсоединяет» дочерний маршрут</a:t>
            </a:r>
            <a:endParaRPr sz="1650">
              <a:solidFill>
                <a:srgbClr val="44546A"/>
              </a:solidFill>
            </a:endParaRPr>
          </a:p>
        </p:txBody>
      </p:sp>
      <p:pic>
        <p:nvPicPr>
          <p:cNvPr id="489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Search params: состояние в URL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49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29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494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JSON-first: вложенные структуры сериализуются автоматически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Наследуются от родительских маршрутов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Доступны в loader'ах, компонентах, хуках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Обновление через Link search, useNavigate, &lt;Navigate&gt;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495" name="Rectangle 5"/>
          <p:cNvSpPr/>
          <p:nvPr/>
        </p:nvSpPr>
        <p:spPr>
          <a:xfrm>
            <a:off x="812800" y="4191000"/>
            <a:ext cx="105664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6" name="TextBox 6"/>
          <p:cNvSpPr txBox="1"/>
          <p:nvPr/>
        </p:nvSpPr>
        <p:spPr>
          <a:xfrm>
            <a:off x="1117600" y="4368800"/>
            <a:ext cx="10058400" cy="6263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const { page, filter, sort } = Route.useSearch();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&lt;Link from={Route.fullPath} search={(prev) =&gt; ({ page: prev.page + 1 })}&gt;Next&lt;/Link&gt;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497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Валидация search params: Zod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00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30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812800" y="1676400"/>
            <a:ext cx="10566400" cy="228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3" name="TextBox 5"/>
          <p:cNvSpPr txBox="1"/>
          <p:nvPr/>
        </p:nvSpPr>
        <p:spPr>
          <a:xfrm>
            <a:off x="1117600" y="1854200"/>
            <a:ext cx="10058400" cy="21518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const schema = z.object({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page: z.number().catch(1),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filter: z.string().catch(''),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sort: z.enum(['newest','oldest','price']).catch('newest'),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createFileRoute('/shop/products')({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validateSearch: zodValidator(schema),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04" name="TextBox 6"/>
          <p:cNvSpPr txBox="1"/>
          <p:nvPr/>
        </p:nvSpPr>
        <p:spPr>
          <a:xfrm>
            <a:off x="812800" y="4191000"/>
            <a:ext cx="10566400" cy="13594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zodValidator из @tanstack/zod-adapter для Zod v3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В Zod v4 схему можно передать напрямую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fallback() сохраняет типы при ошибке валидации</a:t>
            </a:r>
            <a:endParaRPr sz="16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00">
                <a:solidFill>
                  <a:srgbClr val="44546A"/>
                </a:solidFill>
              </a:rPr>
              <a:t>Поддерживаются Valibot, ArkType, Effect/Schema</a:t>
            </a:r>
            <a:endParaRPr sz="1600">
              <a:solidFill>
                <a:srgbClr val="44546A"/>
              </a:solidFill>
            </a:endParaRPr>
          </a:p>
        </p:txBody>
      </p:sp>
      <p:pic>
        <p:nvPicPr>
          <p:cNvPr id="505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Search middlewares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08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31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10" name="Rectangle 4"/>
          <p:cNvSpPr/>
          <p:nvPr/>
        </p:nvSpPr>
        <p:spPr>
          <a:xfrm>
            <a:off x="812800" y="1676400"/>
            <a:ext cx="10566400" cy="1524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1" name="TextBox 5"/>
          <p:cNvSpPr txBox="1"/>
          <p:nvPr/>
        </p:nvSpPr>
        <p:spPr>
          <a:xfrm>
            <a:off x="1117600" y="1854200"/>
            <a:ext cx="10058400" cy="17556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search: 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middlewares: [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retainSearchParams(['rootValue']),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  stripSearchParams({ page: 1 }),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],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12" name="TextBox 6"/>
          <p:cNvSpPr txBox="1"/>
          <p:nvPr/>
        </p:nvSpPr>
        <p:spPr>
          <a:xfrm>
            <a:off x="812800" y="3429000"/>
            <a:ext cx="10566400" cy="11018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retainSearchParams — сохранить param во всех ссылках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stripSearchParams — убрать param, если значение по умолчанию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Можно цепочкой комбинировать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513" name="Rectangle 7"/>
          <p:cNvSpPr/>
          <p:nvPr/>
        </p:nvSpPr>
        <p:spPr>
          <a:xfrm>
            <a:off x="812800" y="5461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4" name="Rectangle 8"/>
          <p:cNvSpPr/>
          <p:nvPr/>
        </p:nvSpPr>
        <p:spPr>
          <a:xfrm>
            <a:off x="812800" y="5461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5" name="TextBox 9"/>
          <p:cNvSpPr txBox="1"/>
          <p:nvPr/>
        </p:nvSpPr>
        <p:spPr>
          <a:xfrm>
            <a:off x="1143000" y="5638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По умолчанию search params обновляются независимо от pathname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516" name="Picture 10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Data loading: loader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1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32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21" name="Rectangle 4"/>
          <p:cNvSpPr/>
          <p:nvPr/>
        </p:nvSpPr>
        <p:spPr>
          <a:xfrm>
            <a:off x="812800" y="1676400"/>
            <a:ext cx="10566400" cy="1778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2" name="TextBox 5"/>
          <p:cNvSpPr txBox="1"/>
          <p:nvPr/>
        </p:nvSpPr>
        <p:spPr>
          <a:xfrm>
            <a:off x="1117600" y="1854200"/>
            <a:ext cx="10058400" cy="1478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export const Route = createFileRoute('/posts')({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  loader: ({ params, context }) =&gt; fetchPosts(),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});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// в компоненте:</a:t>
            </a:r>
            <a:endParaRPr sz="14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5E7EB"/>
                </a:solidFill>
                <a:latin typeface="Consolas"/>
              </a:rPr>
              <a:t>const posts = Route.useLoaderData();</a:t>
            </a:r>
            <a:endParaRPr sz="14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23" name="TextBox 6"/>
          <p:cNvSpPr txBox="1"/>
          <p:nvPr/>
        </p:nvSpPr>
        <p:spPr>
          <a:xfrm>
            <a:off x="812800" y="3683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loader вызывается при совпадении маршрута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useLoaderData — типизированный результат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beforeLoad — перед loader, для контекста и редиректов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loaderDeps — ключ кеша по search params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24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Кеширование loader'ов (SWR)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2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33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29" name="TextBox 4"/>
          <p:cNvSpPr txBox="1"/>
          <p:nvPr/>
        </p:nvSpPr>
        <p:spPr>
          <a:xfrm>
            <a:off x="812800" y="1676400"/>
            <a:ext cx="10566400" cy="1775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staleTime — свежесть данных (по умолч. 0 для nav, 30s для preload)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gcTime — время жизни в кеше (по умолч. 5 мин)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shouldReload — перезагружать ли при повторном входе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staleReloadMode: 'background' | 'blocking'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loaderDeps только из используемых params (не весь search!)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30" name="Picture 5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Контекст и beforeLoad (auth)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3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34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35" name="Rectangle 4"/>
          <p:cNvSpPr/>
          <p:nvPr/>
        </p:nvSpPr>
        <p:spPr>
          <a:xfrm>
            <a:off x="812800" y="1676400"/>
            <a:ext cx="10566400" cy="203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6" name="TextBox 5"/>
          <p:cNvSpPr txBox="1"/>
          <p:nvPr/>
        </p:nvSpPr>
        <p:spPr>
          <a:xfrm>
            <a:off x="1117600" y="1854200"/>
            <a:ext cx="10058400" cy="1894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export const Route = createFileRoute('/posts')({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beforeLoad: ({ context }) =&gt; {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  if (!context.auth.isAuthenticated) throw redirect({ to: '/login' });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  return { fetchPosts: () =&gt; ... };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},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  loader: ({ context: { fetchPosts } }) =&gt; fetchPosts(),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});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37" name="TextBox 6"/>
          <p:cNvSpPr txBox="1"/>
          <p:nvPr/>
        </p:nvSpPr>
        <p:spPr>
          <a:xfrm>
            <a:off x="812800" y="3937000"/>
            <a:ext cx="10566400" cy="10721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createRootRouteWithContext&lt;T&gt;() задаёт тип контекста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Контекст наследуется по дереву маршрутов</a:t>
            </a:r>
            <a:endParaRPr sz="165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650">
                <a:solidFill>
                  <a:srgbClr val="44546A"/>
                </a:solidFill>
              </a:rPr>
              <a:t>beforeLoad — идеальное место для проверки auth и редиректов</a:t>
            </a:r>
            <a:endParaRPr sz="1650">
              <a:solidFill>
                <a:srgbClr val="44546A"/>
              </a:solidFill>
            </a:endParaRPr>
          </a:p>
        </p:txBody>
      </p:sp>
      <p:pic>
        <p:nvPicPr>
          <p:cNvPr id="538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Pending и обработка ошибок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41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2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35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43" name="TextBox 4"/>
          <p:cNvSpPr txBox="1"/>
          <p:nvPr/>
        </p:nvSpPr>
        <p:spPr>
          <a:xfrm>
            <a:off x="812800" y="1676400"/>
            <a:ext cx="10566400" cy="17754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pendingComponent показывается после pendingMs (по умолч. 1с)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pendingMinMs (500мс) избегает мигания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errorComponent с error и reset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onError / onCatch для логирования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AbortController в loader для отмены запросов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44" name="Picture 5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Preloading и code splitting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47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8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36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49" name="TextBox 4"/>
          <p:cNvSpPr txBox="1"/>
          <p:nvPr/>
        </p:nvSpPr>
        <p:spPr>
          <a:xfrm>
            <a:off x="812800" y="16764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preload стратегии: intent, viewport, render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Компоненты роутов автоматически code-split'ятся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lazy routes для тяжёлых страниц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getRouteApi для доступа к Route без импорта конфига</a:t>
            </a:r>
            <a:endParaRPr sz="1700">
              <a:solidFill>
                <a:srgbClr val="44546A"/>
              </a:solidFill>
            </a:endParaRPr>
          </a:p>
        </p:txBody>
      </p:sp>
      <p:sp>
        <p:nvSpPr>
          <p:cNvPr id="550" name="Rectangle 5"/>
          <p:cNvSpPr/>
          <p:nvPr/>
        </p:nvSpPr>
        <p:spPr>
          <a:xfrm>
            <a:off x="812800" y="4191000"/>
            <a:ext cx="10566400" cy="76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1" name="TextBox 6"/>
          <p:cNvSpPr txBox="1"/>
          <p:nvPr/>
        </p:nvSpPr>
        <p:spPr>
          <a:xfrm>
            <a:off x="1117600" y="4368800"/>
            <a:ext cx="10058400" cy="606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vite.config.ts — включить code splitting</a:t>
            </a:r>
            <a:endParaRPr sz="130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00">
                <a:solidFill>
                  <a:srgbClr val="E5E7EB"/>
                </a:solidFill>
                <a:latin typeface="Consolas"/>
              </a:rPr>
              <a:t>// (по умолчанию в file-based routing)</a:t>
            </a:r>
            <a:endParaRPr sz="1300">
              <a:solidFill>
                <a:srgbClr val="E5E7EB"/>
              </a:solidFill>
              <a:latin typeface="Consolas"/>
            </a:endParaRPr>
          </a:p>
        </p:txBody>
      </p:sp>
      <p:pic>
        <p:nvPicPr>
          <p:cNvPr id="552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Интеграция с TanStack Query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55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6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37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57" name="Rectangle 4"/>
          <p:cNvSpPr/>
          <p:nvPr/>
        </p:nvSpPr>
        <p:spPr>
          <a:xfrm>
            <a:off x="812800" y="1676400"/>
            <a:ext cx="10566400" cy="101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8" name="TextBox 5"/>
          <p:cNvSpPr txBox="1"/>
          <p:nvPr/>
        </p:nvSpPr>
        <p:spPr>
          <a:xfrm>
            <a:off x="1117600" y="1854200"/>
            <a:ext cx="10058400" cy="6263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loader: ({ context: { queryClient }, params }) =&gt;</a:t>
            </a:r>
            <a:endParaRPr sz="1350">
              <a:solidFill>
                <a:srgbClr val="E5E7EB"/>
              </a:solidFill>
              <a:latin typeface="Consolas"/>
            </a:endParaRPr>
          </a:p>
          <a:p>
            <a:pPr>
              <a:lnSpc>
                <a:spcPct val="130000"/>
              </a:lnSpc>
            </a:pPr>
            <a:r>
              <a:rPr sz="1350">
                <a:solidFill>
                  <a:srgbClr val="E5E7EB"/>
                </a:solidFill>
                <a:latin typeface="Consolas"/>
              </a:rPr>
              <a:t>  queryClient.ensureQueryData(postQueryOptions(params.postId)),</a:t>
            </a:r>
            <a:endParaRPr sz="1350">
              <a:solidFill>
                <a:srgbClr val="E5E7EB"/>
              </a:solidFill>
              <a:latin typeface="Consolas"/>
            </a:endParaRPr>
          </a:p>
        </p:txBody>
      </p:sp>
      <p:sp>
        <p:nvSpPr>
          <p:cNvPr id="559" name="TextBox 6"/>
          <p:cNvSpPr txBox="1"/>
          <p:nvPr/>
        </p:nvSpPr>
        <p:spPr>
          <a:xfrm>
            <a:off x="812800" y="2921000"/>
            <a:ext cx="10566400" cy="1438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router cache vs TanStack Query — выбирайте по размеру приложения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defaultPreloadStaleTime: 0 чтобы внешний кеш решал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shouldReload для условной перезагрузки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QueryClient передаётся через контекст роутера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60" name="Picture 7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SSR и TanStack Start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63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4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38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65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TanStack Router — client-first, Start добавляет сервер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SSR, streaming, typed server functions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Middleware, deployable server output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Тот же route tree и типы — без переписывания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566" name="Rectangle 5"/>
          <p:cNvSpPr/>
          <p:nvPr/>
        </p:nvSpPr>
        <p:spPr>
          <a:xfrm>
            <a:off x="812800" y="4572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7" name="Rectangle 6"/>
          <p:cNvSpPr/>
          <p:nvPr/>
        </p:nvSpPr>
        <p:spPr>
          <a:xfrm>
            <a:off x="812800" y="4572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8" name="TextBox 7"/>
          <p:cNvSpPr txBox="1"/>
          <p:nvPr/>
        </p:nvSpPr>
        <p:spPr>
          <a:xfrm>
            <a:off x="1143000" y="4749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Start использует тот же route tree — миграция из client-only прозрачна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569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Стек целиком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72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3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39</a:t>
            </a:r>
            <a:endParaRPr sz="1100">
              <a:solidFill>
                <a:srgbClr val="A5A5A5"/>
              </a:solidFill>
            </a:endParaRPr>
          </a:p>
        </p:txBody>
      </p:sp>
      <p:graphicFrame>
        <p:nvGraphicFramePr>
          <p:cNvPr id="574" name="Table 4"/>
          <p:cNvGraphicFramePr>
            <a:graphicFrameLocks noGrp="1"/>
          </p:cNvGraphicFramePr>
          <p:nvPr/>
        </p:nvGraphicFramePr>
        <p:xfrm>
          <a:off x="812800" y="1676400"/>
          <a:ext cx="105664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3200"/>
                <a:gridCol w="5283200"/>
              </a:tblGrid>
              <a:tr h="635000">
                <a:tc>
                  <a:txBody>
                    <a:bodyPr/>
                    <a:lstStyle/>
                    <a:p>
                      <a:r>
                        <a:rPr/>
                        <a:t>Слой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Инструмент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Сборка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Vite (dev: ESM, build: Rollup/Rolldown)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Линтинг / форматирование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Oxc: Oxlint + Oxfmt (Rust)</a:t>
                      </a:r>
                    </a:p>
                  </a:txBody>
                  <a:tcPr/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/>
                        <a:t>Роутинг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/>
                        <a:t>TanStack Router (типобезопасный)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75" name="TextBox 5"/>
          <p:cNvSpPr txBox="1"/>
          <p:nvPr/>
        </p:nvSpPr>
        <p:spPr>
          <a:xfrm>
            <a:off x="812800" y="4445000"/>
            <a:ext cx="10566400" cy="11018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Vite+ объединяет всё: vp dev/build/lint/fmt/test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Один конфиг vite.config.ts на весь стек</a:t>
            </a:r>
            <a:endParaRPr sz="17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700">
                <a:solidFill>
                  <a:srgbClr val="44546A"/>
                </a:solidFill>
              </a:rPr>
              <a:t>TanStack Query — для серверного состояния поверх роутера</a:t>
            </a:r>
            <a:endParaRPr sz="1700">
              <a:solidFill>
                <a:srgbClr val="44546A"/>
              </a:solidFill>
            </a:endParaRPr>
          </a:p>
        </p:txBody>
      </p:sp>
      <p:pic>
        <p:nvPicPr>
          <p:cNvPr id="576" name="Picture 6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TextBox 1"/>
          <p:cNvSpPr txBox="1"/>
          <p:nvPr/>
        </p:nvSpPr>
        <p:spPr>
          <a:xfrm>
            <a:off x="812800" y="381000"/>
            <a:ext cx="8890000" cy="5486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937"/>
                </a:solidFill>
              </a:rPr>
              <a:t>Что дальше</a:t>
            </a:r>
            <a:endParaRPr sz="3000" b="1">
              <a:solidFill>
                <a:srgbClr val="1F2937"/>
              </a:solidFill>
            </a:endParaRPr>
          </a:p>
        </p:txBody>
      </p:sp>
      <p:sp>
        <p:nvSpPr>
          <p:cNvPr id="579" name="Rectangle 2"/>
          <p:cNvSpPr/>
          <p:nvPr/>
        </p:nvSpPr>
        <p:spPr>
          <a:xfrm>
            <a:off x="812800" y="1168400"/>
            <a:ext cx="812800" cy="762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0" name="TextBox 3"/>
          <p:cNvSpPr txBox="1"/>
          <p:nvPr/>
        </p:nvSpPr>
        <p:spPr>
          <a:xfrm>
            <a:off x="11176000" y="6350000"/>
            <a:ext cx="6096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A5A5A5"/>
                </a:solidFill>
              </a:rPr>
              <a:t>40</a:t>
            </a:r>
            <a:endParaRPr sz="1100">
              <a:solidFill>
                <a:srgbClr val="A5A5A5"/>
              </a:solidFill>
            </a:endParaRPr>
          </a:p>
        </p:txBody>
      </p:sp>
      <p:sp>
        <p:nvSpPr>
          <p:cNvPr id="581" name="TextBox 4"/>
          <p:cNvSpPr txBox="1"/>
          <p:nvPr/>
        </p:nvSpPr>
        <p:spPr>
          <a:xfrm>
            <a:off x="812800" y="1676400"/>
            <a:ext cx="10566400" cy="15179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Практика: свой проект на Vite+ с TanStack Router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Изучить deferred data loading и route masking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Настроить CI: voidzero-dev/setup-vp + vp check</a:t>
            </a:r>
            <a:endParaRPr sz="1800">
              <a:solidFill>
                <a:srgbClr val="44546A"/>
              </a:solidFill>
            </a:endParaRPr>
          </a:p>
          <a:p>
            <a:pPr marL="228600" indent="-228600">
              <a:lnSpc>
                <a:spcPct val="130000"/>
              </a:lnSpc>
              <a:buClr>
                <a:srgbClr val="5B9BD5"/>
              </a:buClr>
              <a:buSzPct val="100000"/>
              <a:buFont typeface="Arial"/>
              <a:buChar char="•"/>
            </a:pPr>
            <a:r>
              <a:rPr sz="1800">
                <a:solidFill>
                  <a:srgbClr val="44546A"/>
                </a:solidFill>
              </a:rPr>
              <a:t>Документация: vite.dev, oxc.rs, tanstack.com/router</a:t>
            </a:r>
            <a:endParaRPr sz="1800">
              <a:solidFill>
                <a:srgbClr val="44546A"/>
              </a:solidFill>
            </a:endParaRPr>
          </a:p>
        </p:txBody>
      </p:sp>
      <p:sp>
        <p:nvSpPr>
          <p:cNvPr id="582" name="Rectangle 5"/>
          <p:cNvSpPr/>
          <p:nvPr/>
        </p:nvSpPr>
        <p:spPr>
          <a:xfrm>
            <a:off x="812800" y="4572000"/>
            <a:ext cx="10566400" cy="660400"/>
          </a:xfrm>
          <a:prstGeom prst="roundRect">
            <a:avLst/>
          </a:prstGeom>
          <a:solidFill>
            <a:srgbClr val="DCE6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3" name="Rectangle 6"/>
          <p:cNvSpPr/>
          <p:nvPr/>
        </p:nvSpPr>
        <p:spPr>
          <a:xfrm>
            <a:off x="812800" y="4572000"/>
            <a:ext cx="76200" cy="6604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4" name="TextBox 7"/>
          <p:cNvSpPr txBox="1"/>
          <p:nvPr/>
        </p:nvSpPr>
        <p:spPr>
          <a:xfrm>
            <a:off x="1143000" y="4749800"/>
            <a:ext cx="9906000" cy="320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500">
                <a:solidFill>
                  <a:srgbClr val="1F3864"/>
                </a:solidFill>
              </a:rPr>
              <a:t>Ссылки на доки и сообщество: discord.gg/artcraft</a:t>
            </a:r>
            <a:endParaRPr sz="1500">
              <a:solidFill>
                <a:srgbClr val="1F3864"/>
              </a:solidFill>
            </a:endParaRPr>
          </a:p>
        </p:txBody>
      </p:sp>
      <p:pic>
        <p:nvPicPr>
          <p:cNvPr id="585" name="Picture 8" descr="image3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414000" y="279400"/>
            <a:ext cx="1397000" cy="5207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40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