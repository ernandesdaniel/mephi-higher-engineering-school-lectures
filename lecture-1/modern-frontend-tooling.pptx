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theme" Target="theme/theme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 txBox="1"/>
          <p:nvPr/>
        </p:nvSpPr>
        <p:spPr>
          <a:xfrm>
            <a:off x="812800" y="812800"/>
            <a:ext cx="889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ЛЕКЦИЯ 1 · 2026</a:t>
            </a:r>
            <a:endParaRPr sz="1100" b="1">
              <a:solidFill>
                <a:srgbClr val="94A3B8"/>
              </a:solidFill>
              <a:latin typeface="Arial"/>
            </a:endParaRPr>
          </a:p>
        </p:txBody>
      </p:sp>
      <p:sp>
        <p:nvSpPr>
          <p:cNvPr id="261" name="TextBox 2"/>
          <p:cNvSpPr txBox="1"/>
          <p:nvPr/>
        </p:nvSpPr>
        <p:spPr>
          <a:xfrm>
            <a:off x="812800" y="1320800"/>
            <a:ext cx="10566400" cy="944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Arial"/>
              </a:rPr>
              <a:t>Vite, Vite+ и Oxc</a:t>
            </a:r>
            <a:endParaRPr sz="56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812800" y="3048000"/>
            <a:ext cx="17780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3" name="Rectangle 4"/>
          <p:cNvSpPr/>
          <p:nvPr/>
        </p:nvSpPr>
        <p:spPr>
          <a:xfrm>
            <a:off x="2743200" y="3048000"/>
            <a:ext cx="17780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4" name="Rectangle 5"/>
          <p:cNvSpPr/>
          <p:nvPr/>
        </p:nvSpPr>
        <p:spPr>
          <a:xfrm>
            <a:off x="4673600" y="3048000"/>
            <a:ext cx="17780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5" name="TextBox 6"/>
          <p:cNvSpPr txBox="1"/>
          <p:nvPr/>
        </p:nvSpPr>
        <p:spPr>
          <a:xfrm>
            <a:off x="812800" y="3530600"/>
            <a:ext cx="9652000" cy="955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Современный инструментарий сборки,</a:t>
            </a:r>
            <a:endParaRPr sz="2100">
              <a:solidFill>
                <a:srgbClr val="CBD5E1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линтинга и форматирования фронтенда</a:t>
            </a:r>
            <a:endParaRPr sz="2100">
              <a:solidFill>
                <a:srgbClr val="CBD5E1"/>
              </a:solidFill>
              <a:latin typeface="Arial"/>
            </a:endParaRPr>
          </a:p>
        </p:txBody>
      </p:sp>
      <p:sp>
        <p:nvSpPr>
          <p:cNvPr id="266" name="TextBox 7"/>
          <p:cNvSpPr txBox="1"/>
          <p:nvPr/>
        </p:nvSpPr>
        <p:spPr>
          <a:xfrm>
            <a:off x="812800" y="5461000"/>
            <a:ext cx="96520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>
                <a:solidFill>
                  <a:srgbClr val="94A3B8"/>
                </a:solidFill>
                <a:latin typeface="Arial"/>
              </a:rPr>
              <a:t>143 карточки · 28 тем · 3 блока</a:t>
            </a:r>
            <a:endParaRPr sz="130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67" name="TextBox 8"/>
          <p:cNvSpPr txBox="1"/>
          <p:nvPr/>
        </p:nvSpPr>
        <p:spPr>
          <a:xfrm>
            <a:off x="812800" y="5969000"/>
            <a:ext cx="965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Vite · Vite+ · Oxidation Compiler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0" name="TextBox 2"/>
          <p:cNvSpPr txBox="1"/>
          <p:nvPr/>
        </p:nvSpPr>
        <p:spPr>
          <a:xfrm>
            <a:off x="812800" y="4318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748B"/>
                </a:solidFill>
                <a:latin typeface="Arial"/>
              </a:rPr>
              <a:t>СОДЕРЖАНИЕ</a:t>
            </a:r>
            <a:endParaRPr sz="1050" b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271" name="TextBox 3"/>
          <p:cNvSpPr txBox="1"/>
          <p:nvPr/>
        </p:nvSpPr>
        <p:spPr>
          <a:xfrm>
            <a:off x="812800" y="711200"/>
            <a:ext cx="10566400" cy="487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 лекции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272" name="Rectangle 4"/>
          <p:cNvSpPr/>
          <p:nvPr/>
        </p:nvSpPr>
        <p:spPr>
          <a:xfrm>
            <a:off x="812800" y="13970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3" name="Rectangle 5"/>
          <p:cNvSpPr/>
          <p:nvPr/>
        </p:nvSpPr>
        <p:spPr>
          <a:xfrm>
            <a:off x="812800" y="1905000"/>
            <a:ext cx="3225800" cy="3632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4" name="Rectangle 6"/>
          <p:cNvSpPr/>
          <p:nvPr/>
        </p:nvSpPr>
        <p:spPr>
          <a:xfrm>
            <a:off x="812800" y="1905000"/>
            <a:ext cx="32258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TextBox 7"/>
          <p:cNvSpPr txBox="1"/>
          <p:nvPr/>
        </p:nvSpPr>
        <p:spPr>
          <a:xfrm>
            <a:off x="1066800" y="2184400"/>
            <a:ext cx="279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646CFF"/>
                </a:solidFill>
                <a:latin typeface="Arial"/>
              </a:rPr>
              <a:t>85</a:t>
            </a:r>
            <a:endParaRPr sz="400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276" name="TextBox 8"/>
          <p:cNvSpPr txBox="1"/>
          <p:nvPr/>
        </p:nvSpPr>
        <p:spPr>
          <a:xfrm>
            <a:off x="1066800" y="2870200"/>
            <a:ext cx="2794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64748B"/>
                </a:solidFill>
                <a:latin typeface="Arial"/>
              </a:rPr>
              <a:t>карточек</a:t>
            </a:r>
            <a:endParaRPr sz="11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277" name="TextBox 9"/>
          <p:cNvSpPr txBox="1"/>
          <p:nvPr/>
        </p:nvSpPr>
        <p:spPr>
          <a:xfrm>
            <a:off x="1066800" y="3276600"/>
            <a:ext cx="2794000" cy="457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Vite</a:t>
            </a:r>
            <a:endParaRPr sz="24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278" name="TextBox 10"/>
          <p:cNvSpPr txBox="1"/>
          <p:nvPr/>
        </p:nvSpPr>
        <p:spPr>
          <a:xfrm>
            <a:off x="1066800" y="3835400"/>
            <a:ext cx="2743200" cy="8629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Создание проекта, конфиг,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shared options, dev-сервер,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env и режимы, ассеты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279" name="Rectangle 11"/>
          <p:cNvSpPr/>
          <p:nvPr/>
        </p:nvSpPr>
        <p:spPr>
          <a:xfrm>
            <a:off x="4343400" y="1905000"/>
            <a:ext cx="3225800" cy="3632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Rectangle 12"/>
          <p:cNvSpPr/>
          <p:nvPr/>
        </p:nvSpPr>
        <p:spPr>
          <a:xfrm>
            <a:off x="4343400" y="1905000"/>
            <a:ext cx="32258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1" name="TextBox 13"/>
          <p:cNvSpPr txBox="1"/>
          <p:nvPr/>
        </p:nvSpPr>
        <p:spPr>
          <a:xfrm>
            <a:off x="4597400" y="2184400"/>
            <a:ext cx="279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0EA5E9"/>
                </a:solidFill>
                <a:latin typeface="Arial"/>
              </a:rPr>
              <a:t>46</a:t>
            </a:r>
            <a:endParaRPr sz="400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282" name="TextBox 14"/>
          <p:cNvSpPr txBox="1"/>
          <p:nvPr/>
        </p:nvSpPr>
        <p:spPr>
          <a:xfrm>
            <a:off x="4597400" y="2870200"/>
            <a:ext cx="2794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64748B"/>
                </a:solidFill>
                <a:latin typeface="Arial"/>
              </a:rPr>
              <a:t>карточек</a:t>
            </a:r>
            <a:endParaRPr sz="11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283" name="TextBox 15"/>
          <p:cNvSpPr txBox="1"/>
          <p:nvPr/>
        </p:nvSpPr>
        <p:spPr>
          <a:xfrm>
            <a:off x="4597400" y="3276600"/>
            <a:ext cx="2794000" cy="457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Vite+</a:t>
            </a:r>
            <a:endParaRPr sz="24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284" name="TextBox 16"/>
          <p:cNvSpPr txBox="1"/>
          <p:nvPr/>
        </p:nvSpPr>
        <p:spPr>
          <a:xfrm>
            <a:off x="4597400" y="3835400"/>
            <a:ext cx="2743200" cy="8629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vp: зависимости, dev, check,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lint, fmt, test, run, хуки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и CI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285" name="Rectangle 17"/>
          <p:cNvSpPr/>
          <p:nvPr/>
        </p:nvSpPr>
        <p:spPr>
          <a:xfrm>
            <a:off x="7874000" y="1905000"/>
            <a:ext cx="3225800" cy="3632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6" name="Rectangle 18"/>
          <p:cNvSpPr/>
          <p:nvPr/>
        </p:nvSpPr>
        <p:spPr>
          <a:xfrm>
            <a:off x="7874000" y="1905000"/>
            <a:ext cx="32258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7" name="TextBox 19"/>
          <p:cNvSpPr txBox="1"/>
          <p:nvPr/>
        </p:nvSpPr>
        <p:spPr>
          <a:xfrm>
            <a:off x="8128000" y="2184400"/>
            <a:ext cx="2794000" cy="701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F97316"/>
                </a:solidFill>
                <a:latin typeface="Arial"/>
              </a:rPr>
              <a:t>12</a:t>
            </a:r>
            <a:endParaRPr sz="400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288" name="TextBox 20"/>
          <p:cNvSpPr txBox="1"/>
          <p:nvPr/>
        </p:nvSpPr>
        <p:spPr>
          <a:xfrm>
            <a:off x="8128000" y="2870200"/>
            <a:ext cx="2794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64748B"/>
                </a:solidFill>
                <a:latin typeface="Arial"/>
              </a:rPr>
              <a:t>карточек</a:t>
            </a:r>
            <a:endParaRPr sz="11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289" name="TextBox 21"/>
          <p:cNvSpPr txBox="1"/>
          <p:nvPr/>
        </p:nvSpPr>
        <p:spPr>
          <a:xfrm>
            <a:off x="8128000" y="3276600"/>
            <a:ext cx="2794000" cy="457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Oxc</a:t>
            </a:r>
            <a:endParaRPr sz="24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290" name="TextBox 22"/>
          <p:cNvSpPr txBox="1"/>
          <p:nvPr/>
        </p:nvSpPr>
        <p:spPr>
          <a:xfrm>
            <a:off x="8128000" y="3835400"/>
            <a:ext cx="2743200" cy="8629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Oxlint и Oxfmt: быстрый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линт и форматирование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на Rust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291" name="TextBox 23"/>
          <p:cNvSpPr txBox="1"/>
          <p:nvPr/>
        </p:nvSpPr>
        <p:spPr>
          <a:xfrm>
            <a:off x="812800" y="5918200"/>
            <a:ext cx="105664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50" i="1">
                <a:solidFill>
                  <a:srgbClr val="64748B"/>
                </a:solidFill>
                <a:latin typeface="Arial"/>
              </a:rPr>
              <a:t>Все 143 карточки из базы вошли в колоду. Каждая тема — отдельный слайд или разворот.</a:t>
            </a:r>
            <a:endParaRPr sz="125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292" name="TextBox 24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6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01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Сборка и dev-сервер · 85 карточек · 10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 и Oxc · Лекция 1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СТАРТ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0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Создание проекта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0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СТАРТ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8" name="TextBox 8"/>
          <p:cNvSpPr txBox="1"/>
          <p:nvPr/>
        </p:nvSpPr>
        <p:spPr>
          <a:xfrm>
            <a:off x="812800" y="1422400"/>
            <a:ext cx="105664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i="1">
                <a:solidFill>
                  <a:srgbClr val="64748B"/>
                </a:solidFill>
                <a:latin typeface="Arial"/>
              </a:rPr>
              <a:t>Два способа начать: новый проект или интеграция в готовый.</a:t>
            </a:r>
            <a:endParaRPr sz="130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9" name="TextBox 9"/>
          <p:cNvSpPr txBox="1"/>
          <p:nvPr/>
        </p:nvSpPr>
        <p:spPr>
          <a:xfrm>
            <a:off x="812800" y="19304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create vite@latest — создать новый проект из шаблона.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install -D vite — добавить Vite в существующий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Стартовые шаблоны: react, react-ts, vue, svelte, solid, preact, lit, vanilla.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— dev-сервер и сборщик: в dev отдаёт ESM по запросу, в build собирает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vite.config.ts: файл и форма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8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 для TypeScript-проекта —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Минимальный конфиг: defineConfig({}) из пакета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Если конфиг зависит от команды — экспортируется функция: defineConfig(({ command }) =&gt; ({ ... })).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serve при запуске vite (dev-режим).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build при запуске vite build.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process.env в Node.js — глобальный объект с переменными окружения процесса.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19" name="Rectangle 9"/>
          <p:cNvSpPr/>
          <p:nvPr/>
        </p:nvSpPr>
        <p:spPr>
          <a:xfrm>
            <a:off x="812800" y="43434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0" name="TextBox 10"/>
          <p:cNvSpPr txBox="1"/>
          <p:nvPr/>
        </p:nvSpPr>
        <p:spPr>
          <a:xfrm>
            <a:off x="1066800" y="4521200"/>
            <a:ext cx="10134600" cy="864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import { defineConfig } from 'vite';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2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Конфиг и .env: loadEnv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.env недоступны в vite.config.ts через process.env: Vite откладывает их загрузку.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Набор .env-файлов зависит от самого конфига — поэтому загрузка происходит позже.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process.env внутри конфига — только переменные окружения операционной системы.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loadEnv вручную загружает .env: const env = loadEnv(mode, process.cwd(), '').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process.cwd() — текущий рабочий каталог процесса Node.js.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812800" y="4191000"/>
            <a:ext cx="10566400" cy="1905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1" name="TextBox 10"/>
          <p:cNvSpPr txBox="1"/>
          <p:nvPr/>
        </p:nvSpPr>
        <p:spPr>
          <a:xfrm>
            <a:off x="1066800" y="4368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defineConfig(({ command, mode }) =&gt;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const env = loadEnv(mode, process.cwd(), '');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return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define: { __API__: JSON.stringify(env.VITE_API_URL)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3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root и base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3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3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root — папка, в которой находится файл index.html.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root = process.cwd() — каталог запуска команды.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 — запуск приложения при деплое в подпапку, а не в корень домена.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base = '/'.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base подставляет префикс во все пути и задаёт import.meta.env.BASE_URL.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dev-сервере приложение поднимается по этому пути: localhost:5173/app/.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4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define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define заменяет идентификаторы в коде на этапе сборки — аналог #define в 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define добавляет свойство в globalThis.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define меняет код на уровне AST, подставляя значение вместо идентификатора.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Подводный камень: строки нужно оборачивать в JSON.stringify — значения подставляются как есть.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Глобалы из define типизируют в vite-env.d.ts.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50" name="Rectangle 9"/>
          <p:cNvSpPr/>
          <p:nvPr/>
        </p:nvSpPr>
        <p:spPr>
          <a:xfrm>
            <a:off x="812800" y="4699000"/>
            <a:ext cx="10566400" cy="1041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0"/>
          <p:cNvSpPr txBox="1"/>
          <p:nvPr/>
        </p:nvSpPr>
        <p:spPr>
          <a:xfrm>
            <a:off x="1066800" y="4876800"/>
            <a:ext cx="10134600" cy="3589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define: { __APP_VERSION__: JSON.stringify('1.0.0') 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5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plugins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5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5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6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plugins — массив плагинов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false / null / undefined в массиве игнорируются — удобно для isDev &amp;&amp; plugin().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Вложенные массивы распаковываются.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Promise дожидается разрешения перед запуском.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61" name="Rectangle 9"/>
          <p:cNvSpPr/>
          <p:nvPr/>
        </p:nvSpPr>
        <p:spPr>
          <a:xfrm>
            <a:off x="812800" y="40132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2" name="TextBox 10"/>
          <p:cNvSpPr txBox="1"/>
          <p:nvPr/>
        </p:nvSpPr>
        <p:spPr>
          <a:xfrm>
            <a:off x="1066800" y="4191000"/>
            <a:ext cx="10134600" cy="893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plugins: [react(), isDev &amp;&amp; visualizer()],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});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6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publicDir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6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 — папка статичных ассетов, которые отдаются как есть (favicon и т.п.).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publicDir = public.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файлы доступны по корню /.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папка копируется в корень outDir (dist).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publicDir: false отключает обслуживание и копирование статической папки.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resolve и clearScreen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0" name="TextBox 8"/>
          <p:cNvSpPr txBox="1"/>
          <p:nvPr/>
        </p:nvSpPr>
        <p:spPr>
          <a:xfrm>
            <a:off x="812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resolve.extensions позволяет опускать расширения файлов в операторах import.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умолчанию: ['.mjs', '.js', '.mts', '.ts', '.jsx', '.tsx', '.json'].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Если подходит несколько файлов — побеждает расширение, стоящее раньше в списке.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resolve.tsconfigPaths включает алиасы из compilerOptions.paths в tsconfig.json.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81" name="TextBox 9"/>
          <p:cNvSpPr txBox="1"/>
          <p:nvPr/>
        </p:nvSpPr>
        <p:spPr>
          <a:xfrm>
            <a:off x="6400800" y="1574800"/>
            <a:ext cx="4978400" cy="1541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resolve.tsconfigPaths = false.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clearScreen включает очистку терминала при логах и пересборках.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clearScreen = true; отключают, чтобы не терять историю логов при HMR.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8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envDir и envPrefix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8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 — папка, из которой Vite грузит .env-файлы.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envDir = root (корень проекта).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envDir: false отключает загрузку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envPrefix — префикс переменных, доступных в клиенте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envPrefix = 'VITE_'.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Меняют envPrefix, чтобы защитить серверные секреты от попадания в клиентский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9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порт и HTTPS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9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server.port по умолчанию 5173.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server.strictPort запрещает занимать другой порт: если указанный занят, сервер не запустится.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server.https включает TLS/HTTP2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Принимает { key, cert } или плагин @vitejs/plugin-basic-ssl.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@vitejs/plugin-basic-ssl: добавь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00" name="Rectangle 9"/>
          <p:cNvSpPr/>
          <p:nvPr/>
        </p:nvSpPr>
        <p:spPr>
          <a:xfrm>
            <a:off x="812800" y="45720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1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 plugins: [basicSsl()] 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0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браузер и CORS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0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0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server.open открывает приложение в браузере при старте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Строковое значение server.open — путь (pathname), который нужно открыть.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server.cors настраивает CORS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Значения server.cors: true (любой origin) или объект настроек, как CORS-middleware.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1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proxy и консоль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1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9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server.proxy перенаправляет запросы dev-сервера на другой сервер (бэкенд), обходя CORS.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 перенаправляет события консоли браузера в терминал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server.forwardConsole: true включает перенаправление.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Полезен при разработке с AI-агентами — им становятся видны ошибки клиента.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20" name="Rectangle 9"/>
          <p:cNvSpPr/>
          <p:nvPr/>
        </p:nvSpPr>
        <p:spPr>
          <a:xfrm>
            <a:off x="812800" y="4191000"/>
            <a:ext cx="10566400" cy="1752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1" name="TextBox 10"/>
          <p:cNvSpPr txBox="1"/>
          <p:nvPr/>
        </p:nvSpPr>
        <p:spPr>
          <a:xfrm>
            <a:off x="1066800" y="4368800"/>
            <a:ext cx="10134600" cy="13296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server: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proxy: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'/api': { target: 'http://localhost:8080', changeOrigin: true, ws: true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},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ПЛАГИНЫ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Плагины и кеш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ПЛАГИНЫ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30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Vite для React — @vitejs/plugin-react.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 подключается как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кеширует предварительно упакованные зависимости в node_modules/.vite.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31" name="Rectangle 9"/>
          <p:cNvSpPr/>
          <p:nvPr/>
        </p:nvSpPr>
        <p:spPr>
          <a:xfrm>
            <a:off x="812800" y="3810000"/>
            <a:ext cx="10566400" cy="1879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10"/>
          <p:cNvSpPr txBox="1"/>
          <p:nvPr/>
        </p:nvSpPr>
        <p:spPr>
          <a:xfrm>
            <a:off x="1066800" y="3987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react from '@vitejs/plugin-react';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[react(), basicSsl()],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АССЕТЫ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3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Ассеты и препроцессоры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АССЕТЫ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 imgUrl from './img.png' при сборке превращается в URL-адрес файла.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imgUrl используется как обычный URL — например, в атрибуте src тега &lt;img&gt;.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Плагины для .scss / .sass / .less / .styl не нужны — поддержка встроена.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Нужен сам препроцессор как dev-зависимость: npm install -D sass.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@import для Sass/Less учитывает алиасы, настроенные в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42" name="Rectangle 9"/>
          <p:cNvSpPr/>
          <p:nvPr/>
        </p:nvSpPr>
        <p:spPr>
          <a:xfrm>
            <a:off x="812800" y="4572000"/>
            <a:ext cx="10566400" cy="114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imgUrl from './img.png';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&lt;img src={imgUrl} alt="" /&gt;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префикс и доступ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2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Переменные в .env попадают в клиентский код, только если начинаются с VITE_.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import.meta.env переменные всегда string — даже если в .env записано число или булево.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Сравнение с булевым — явное: import.meta.env.VITE_F === 'true'.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клиенте переменные доступны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import.meta.env.DB_PASSWORD без префикса VITE_ вернёт undefined.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53" name="Rectangle 9"/>
          <p:cNvSpPr/>
          <p:nvPr/>
        </p:nvSpPr>
        <p:spPr>
          <a:xfrm>
            <a:off x="812800" y="4572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4" name="Rectangle 10"/>
          <p:cNvSpPr/>
          <p:nvPr/>
        </p:nvSpPr>
        <p:spPr>
          <a:xfrm>
            <a:off x="812800" y="4572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5" name="TextBox 11"/>
          <p:cNvSpPr txBox="1"/>
          <p:nvPr/>
        </p:nvSpPr>
        <p:spPr>
          <a:xfrm>
            <a:off x="1092200" y="4737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Секреты без префикса VITE_ не попадают в бандл. Это не замена серверной авторизации, но защищает от случайной утечки.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порядок загрузки и встроенные поля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4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Порядок приоритета: .env.[mode].local → .env.[mode] → .env.local →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MODE — текущий режим: development или production.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BASE_URL — базовый URL приложения (из опции base).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PROD = true в продакшен-сборке.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 = true в режиме разработки.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SSR = true при серверном рендеринге.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65" name="Rectangle 9"/>
          <p:cNvSpPr/>
          <p:nvPr/>
        </p:nvSpPr>
        <p:spPr>
          <a:xfrm>
            <a:off x="812800" y="4191000"/>
            <a:ext cx="10566400" cy="1625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6" name="TextBox 10"/>
          <p:cNvSpPr txBox="1"/>
          <p:nvPr/>
        </p:nvSpPr>
        <p:spPr>
          <a:xfrm>
            <a:off x="1066800" y="4368800"/>
            <a:ext cx="10134600" cy="1082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'development'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import.meta.env.BASE_URL  // '/'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false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import.meta.env.DEV       // true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7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import.meta и типы значений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7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5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— всегда string; встроенные PROD / DEV / SSR — boolean.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 — объект с метаданными текущего ESM-модуля.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 — объект с доступными переменными окружения, который создаёт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76" name="Rectangle 9"/>
          <p:cNvSpPr/>
          <p:nvPr/>
        </p:nvSpPr>
        <p:spPr>
          <a:xfrm>
            <a:off x="812800" y="3683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TextBox 10"/>
          <p:cNvSpPr txBox="1"/>
          <p:nvPr/>
        </p:nvSpPr>
        <p:spPr>
          <a:xfrm>
            <a:off x="1066800" y="3860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import.meta.env.VITE_API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boolean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78" name="Rectangle 11"/>
          <p:cNvSpPr/>
          <p:nvPr/>
        </p:nvSpPr>
        <p:spPr>
          <a:xfrm>
            <a:off x="812800" y="5334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9" name="Rectangle 12"/>
          <p:cNvSpPr/>
          <p:nvPr/>
        </p:nvSpPr>
        <p:spPr>
          <a:xfrm>
            <a:off x="812800" y="5334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0" name="TextBox 13"/>
          <p:cNvSpPr txBox="1"/>
          <p:nvPr/>
        </p:nvSpPr>
        <p:spPr>
          <a:xfrm>
            <a:off x="1092200" y="5499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 подставляет значения в код на этапе сборки — поэтому import.meta.env работает и в браузере.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8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типизация в TypeScript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8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9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ImportMetaEnv — интерфейс, описывающий структуру объекта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TypeScript по умолчанию знает только встроенные поля: MODE, DEV, PROD, BASE_URL, SSR.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import.meta.env.VITE_APP_TITLE без типизации — ошибка типа.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типизируют в src/vite-env.d.ts.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Расширяют интерфейсы ImportMetaEnv и ImportMeta.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/// &lt;reference types="vite/client" /&gt; подключает типы встроенных import.meta.env и ассетов.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90" name="Rectangle 9"/>
          <p:cNvSpPr/>
          <p:nvPr/>
        </p:nvSpPr>
        <p:spPr>
          <a:xfrm>
            <a:off x="812800" y="4292600"/>
            <a:ext cx="10566400" cy="1803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1" name="TextBox 10"/>
          <p:cNvSpPr txBox="1"/>
          <p:nvPr/>
        </p:nvSpPr>
        <p:spPr>
          <a:xfrm>
            <a:off x="1066800" y="44704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ImportMetaEnv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VITE_APP_TITLE: string;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env: ImportMetaEnv;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02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Vite+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Единый CLI для установки, проверки и сборки · 46 карточек · 13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 и Oxc · Лекция 1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22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0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Vite+: состав и установка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0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7" name="TextBox 8"/>
          <p:cNvSpPr txBox="1"/>
          <p:nvPr/>
        </p:nvSpPr>
        <p:spPr>
          <a:xfrm>
            <a:off x="812800" y="1574800"/>
            <a:ext cx="10566400" cy="2657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Vite+ состоит из глобального CLI vp и локального пакета vite-plus в каждом проекте.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&lt;pkg&gt; — добавить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-D &lt;pkg&gt; — добавить dev-пакет.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remove &lt;pkg&gt; — удалить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update — обновить зависимости.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devEngines.packageManager в package.json задаёт менеджер пакетов для проекта.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packageManager в package.json указывает точную версию менеджера, например bun@1.1.20.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08" name="Rectangle 9"/>
          <p:cNvSpPr/>
          <p:nvPr/>
        </p:nvSpPr>
        <p:spPr>
          <a:xfrm>
            <a:off x="812800" y="4597400"/>
            <a:ext cx="10566400" cy="1117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10"/>
          <p:cNvSpPr txBox="1"/>
          <p:nvPr/>
        </p:nvSpPr>
        <p:spPr>
          <a:xfrm>
            <a:off x="1066800" y="4775200"/>
            <a:ext cx="10134600" cy="566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"devEngines": { "packageManager": "bun"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"packageManager": "bun@1.1.20"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dev и check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8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dev запускает dev-сервер.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Конфигурация Vite+ находится в стандартном файле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объединяет форматирование, линтинг и проверку типов.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--fix включает автоисправление.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19" name="Rectangle 9"/>
          <p:cNvSpPr/>
          <p:nvPr/>
        </p:nvSpPr>
        <p:spPr>
          <a:xfrm>
            <a:off x="812800" y="3810000"/>
            <a:ext cx="10566400" cy="812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Rectangle 10"/>
          <p:cNvSpPr/>
          <p:nvPr/>
        </p:nvSpPr>
        <p:spPr>
          <a:xfrm>
            <a:off x="812800" y="3810000"/>
            <a:ext cx="76200" cy="812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1" name="TextBox 11"/>
          <p:cNvSpPr txBox="1"/>
          <p:nvPr/>
        </p:nvSpPr>
        <p:spPr>
          <a:xfrm>
            <a:off x="1092200" y="3975100"/>
            <a:ext cx="10033000" cy="5867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Один конфиг vite.config.ts для dev, lint, fmt, test и run — не нужно держать отдельные oxlint.config.ts, oxfmt.config.ts и vitest.config.ts.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30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запускает линтинг.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--fix включает автоисправление.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typeCheck запускает компилятор TypeScript во время линтинга.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typeAware ищет логические ошибки на основе типов.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1" name="TextBox 9"/>
          <p:cNvSpPr txBox="1"/>
          <p:nvPr/>
        </p:nvSpPr>
        <p:spPr>
          <a:xfrm>
            <a:off x="6400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основан на Oxlint.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lint размещают в vite.config.ts, в блоке 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стоит размещать конфиг в oxlint.config.ts.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Базовая конфигурация: lint: { ignorePatterns: ['dist/**']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2" name="Rectangle 10"/>
          <p:cNvSpPr/>
          <p:nvPr/>
        </p:nvSpPr>
        <p:spPr>
          <a:xfrm>
            <a:off x="812800" y="4851400"/>
            <a:ext cx="10566400" cy="121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3" name="TextBox 11"/>
          <p:cNvSpPr txBox="1"/>
          <p:nvPr/>
        </p:nvSpPr>
        <p:spPr>
          <a:xfrm>
            <a:off x="1066800" y="5029200"/>
            <a:ext cx="10134600" cy="8046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});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3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format и test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3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2" name="TextBox 8"/>
          <p:cNvSpPr txBox="1"/>
          <p:nvPr/>
        </p:nvSpPr>
        <p:spPr>
          <a:xfrm>
            <a:off x="812800" y="1574800"/>
            <a:ext cx="4978400" cy="1912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форматирует код.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. --write записывает отформатированный код в файлы.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основан на Oxfmt.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fmt — в vite.config.ts, блок 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oxfmt.config.ts.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43" name="TextBox 9"/>
          <p:cNvSpPr txBox="1"/>
          <p:nvPr/>
        </p:nvSpPr>
        <p:spPr>
          <a:xfrm>
            <a:off x="6400800" y="1574800"/>
            <a:ext cx="4978400" cy="13222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test запускает тесты.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Тесты Vite+ основаны на Vitest.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test — в vite.config.ts, блок 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vitest.config.ts.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ЗАПУСК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run: скрипты и задачи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ЗАПУСК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2" name="TextBox 8"/>
          <p:cNvSpPr txBox="1"/>
          <p:nvPr/>
        </p:nvSpPr>
        <p:spPr>
          <a:xfrm>
            <a:off x="812800" y="1574800"/>
            <a:ext cx="4978400" cy="21310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&lt;script-name&gt; запускает скрипты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dev — встроенная команда, а vp run dev запускает скрипт dev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в конфиге: блок run.tasks в vite.config.ts.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dependsOn указывает зависимость одной задачи от другой.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3" name="TextBox 9"/>
          <p:cNvSpPr txBox="1"/>
          <p:nvPr/>
        </p:nvSpPr>
        <p:spPr>
          <a:xfrm>
            <a:off x="6400800" y="1574800"/>
            <a:ext cx="4978400" cy="1810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&lt;task-name&gt; запускает задачу из конфига.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(task) — именованный скрипт, состояние которого Vite+ кеширует по входным и выходным файлам.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Пример: build: { command: 'vp build', dependsOn: ['lint']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4" name="Rectangle 10"/>
          <p:cNvSpPr/>
          <p:nvPr/>
        </p:nvSpPr>
        <p:spPr>
          <a:xfrm>
            <a:off x="812800" y="46736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11"/>
          <p:cNvSpPr txBox="1"/>
          <p:nvPr/>
        </p:nvSpPr>
        <p:spPr>
          <a:xfrm>
            <a:off x="1066800" y="4851400"/>
            <a:ext cx="10134600" cy="1320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run: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tasks: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  build: { command: 'vp build', dependsOn: ['lint']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},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ИНСТРУМЕНТЫ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vpx, build, upgrade и CI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ИНСТРУМЕНТЫ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4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vpx — аналог npx / bunx в Vite+.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build собирает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upgrade обновляет глобальный vp.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Для CI используют voidzero-dev/setup-vp.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65" name="Rectangle 9"/>
          <p:cNvSpPr/>
          <p:nvPr/>
        </p:nvSpPr>
        <p:spPr>
          <a:xfrm>
            <a:off x="812800" y="3810000"/>
            <a:ext cx="10566400" cy="685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Rectangle 10"/>
          <p:cNvSpPr/>
          <p:nvPr/>
        </p:nvSpPr>
        <p:spPr>
          <a:xfrm>
            <a:off x="812800" y="3810000"/>
            <a:ext cx="7620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7" name="TextBox 11"/>
          <p:cNvSpPr txBox="1"/>
          <p:nvPr/>
        </p:nvSpPr>
        <p:spPr>
          <a:xfrm>
            <a:off x="1092200" y="3975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Vite+ закрывает весь цикл: install → dev → check → lint → fmt → test → run → build → CI.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GIT-ХУКИ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7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commit hooks и staged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7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GIT-ХУКИ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6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enable — включить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disable — выключить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status — проверить статус Git-хуков.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Скрипты Git-хуков лежат в папке .vite-hooks в корне проекта.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7" name="TextBox 9"/>
          <p:cNvSpPr txBox="1"/>
          <p:nvPr/>
        </p:nvSpPr>
        <p:spPr>
          <a:xfrm>
            <a:off x="6400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Папку .vite-hooks нужно коммитить, чтобы хуки были одинаковыми у всех.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Хук pre-commit: создать .vite-hooks/pre-commit с командой vp staged.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staged проверяет только изменённые файлы перед коммитом.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Настройка staged в vite.config.ts: { '*.{js,ts,tsx}': 'vp check --fix'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8" name="Rectangle 10"/>
          <p:cNvSpPr/>
          <p:nvPr/>
        </p:nvSpPr>
        <p:spPr>
          <a:xfrm>
            <a:off x="812800" y="4927600"/>
            <a:ext cx="10566400" cy="914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9" name="TextBox 11"/>
          <p:cNvSpPr txBox="1"/>
          <p:nvPr/>
        </p:nvSpPr>
        <p:spPr>
          <a:xfrm>
            <a:off x="1066800" y="5105400"/>
            <a:ext cx="101346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staged: { '*.{js,ts,tsx}': 'vp check --fix' }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7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03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Oxc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Oxlint и Oxfmt: быстрый линт и форматирование на Rust · 12 карточек · 5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 и Oxc · Лекция 1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30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59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Oxc и Oxlint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9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5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Oxc — набор высокопроизводительных инструментов для JavaScript и TypeScript на Rust.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— высокопроизводительный линтер для JS/TS на стеке Oxc, совместимый с ESLint.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использует tsgo — он же TypeScript 7.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Установка: npm install -D oxlint.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Скрипты: "lint": "oxlint" и "lint:fix": "oxlint --fix".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96" name="Rectangle 9"/>
          <p:cNvSpPr/>
          <p:nvPr/>
        </p:nvSpPr>
        <p:spPr>
          <a:xfrm>
            <a:off x="812800" y="4445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0"/>
          <p:cNvSpPr txBox="1"/>
          <p:nvPr/>
        </p:nvSpPr>
        <p:spPr>
          <a:xfrm>
            <a:off x="1066800" y="4597400"/>
            <a:ext cx="10134600" cy="1206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"scripts":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"lint": "oxlint",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"lint:fix": "oxlint --fix"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0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конфигурация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0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6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--init инициализирует конфиг.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конфига: .oxlintrc.json или oxlint.config.ts.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Базовый конфиг: import { defineConfig } from 'oxlint'; export default defineConfig({});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07" name="Rectangle 9"/>
          <p:cNvSpPr/>
          <p:nvPr/>
        </p:nvSpPr>
        <p:spPr>
          <a:xfrm>
            <a:off x="812800" y="4191000"/>
            <a:ext cx="10566400" cy="1270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8" name="TextBox 10"/>
          <p:cNvSpPr txBox="1"/>
          <p:nvPr/>
        </p:nvSpPr>
        <p:spPr>
          <a:xfrm>
            <a:off x="1066800" y="4368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{ defineConfig } from 'oxlint';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1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встроенные плагины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1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7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— именованная группа правил; его включение делает правила доступными.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Встроенные плагины включают в поле plugins, например plugins: ['import'].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Запись plugins переопределяет плагины, включённые по умолчанию.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eslint включён по умолчанию — он подключает основные правила ESLint.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18" name="Rectangle 9"/>
          <p:cNvSpPr/>
          <p:nvPr/>
        </p:nvSpPr>
        <p:spPr>
          <a:xfrm>
            <a:off x="812800" y="40894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9" name="TextBox 10"/>
          <p:cNvSpPr txBox="1"/>
          <p:nvPr/>
        </p:nvSpPr>
        <p:spPr>
          <a:xfrm>
            <a:off x="1066800" y="42672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['import'],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Шпаргалка: команды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8" name="Rectangle 8"/>
          <p:cNvSpPr/>
          <p:nvPr/>
        </p:nvSpPr>
        <p:spPr>
          <a:xfrm>
            <a:off x="8128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Rectangle 9"/>
          <p:cNvSpPr/>
          <p:nvPr/>
        </p:nvSpPr>
        <p:spPr>
          <a:xfrm>
            <a:off x="812800" y="1651000"/>
            <a:ext cx="3378200" cy="457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0" name="TextBox 10"/>
          <p:cNvSpPr txBox="1"/>
          <p:nvPr/>
        </p:nvSpPr>
        <p:spPr>
          <a:xfrm>
            <a:off x="10160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11"/>
          <p:cNvSpPr txBox="1"/>
          <p:nvPr/>
        </p:nvSpPr>
        <p:spPr>
          <a:xfrm>
            <a:off x="10414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create vite@latest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 build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2" name="Rectangle 12"/>
          <p:cNvSpPr/>
          <p:nvPr/>
        </p:nvSpPr>
        <p:spPr>
          <a:xfrm>
            <a:off x="44069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3" name="Rectangle 13"/>
          <p:cNvSpPr/>
          <p:nvPr/>
        </p:nvSpPr>
        <p:spPr>
          <a:xfrm>
            <a:off x="4406900" y="1651000"/>
            <a:ext cx="3378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14"/>
          <p:cNvSpPr txBox="1"/>
          <p:nvPr/>
        </p:nvSpPr>
        <p:spPr>
          <a:xfrm>
            <a:off x="46101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Vite+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Box 15"/>
          <p:cNvSpPr txBox="1"/>
          <p:nvPr/>
        </p:nvSpPr>
        <p:spPr>
          <a:xfrm>
            <a:off x="4635500" y="2336800"/>
            <a:ext cx="2921000" cy="23785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add / add -D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remove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update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dev / build / 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check / lint / fmt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run &lt;script&gt;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hooks enable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staged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6" name="Rectangle 16"/>
          <p:cNvSpPr/>
          <p:nvPr/>
        </p:nvSpPr>
        <p:spPr>
          <a:xfrm>
            <a:off x="80010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Rectangle 17"/>
          <p:cNvSpPr/>
          <p:nvPr/>
        </p:nvSpPr>
        <p:spPr>
          <a:xfrm>
            <a:off x="8001000" y="1651000"/>
            <a:ext cx="3378200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8" name="TextBox 18"/>
          <p:cNvSpPr txBox="1"/>
          <p:nvPr/>
        </p:nvSpPr>
        <p:spPr>
          <a:xfrm>
            <a:off x="82042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Oxc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19"/>
          <p:cNvSpPr txBox="1"/>
          <p:nvPr/>
        </p:nvSpPr>
        <p:spPr>
          <a:xfrm>
            <a:off x="82296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--fix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--init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Что дальше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4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48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Практика: собрать проект на Vite+ с Oxlint и TanStack Router.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Разобрать data loading и route masking в TanStack Router.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Настроить CI: voidzero-dev/setup-vp + vp check.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Документация: vite.dev, viteplus.dev, oxc.rs.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Карточки: 143 вопроса — для самопроверки и квиза.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49" name="Rectangle 9"/>
          <p:cNvSpPr/>
          <p:nvPr/>
        </p:nvSpPr>
        <p:spPr>
          <a:xfrm>
            <a:off x="812800" y="4953000"/>
            <a:ext cx="10566400" cy="889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0" name="Rectangle 10"/>
          <p:cNvSpPr/>
          <p:nvPr/>
        </p:nvSpPr>
        <p:spPr>
          <a:xfrm>
            <a:off x="812800" y="4953000"/>
            <a:ext cx="76200" cy="889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1" name="TextBox 11"/>
          <p:cNvSpPr txBox="1"/>
          <p:nvPr/>
        </p:nvSpPr>
        <p:spPr>
          <a:xfrm>
            <a:off x="1117600" y="5130800"/>
            <a:ext cx="10033000" cy="347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Покрытие: Vite — 85 карточек, Vite+ — 46, Oxc — 12. Всего 143 из 143.</a:t>
            </a:r>
            <a:endParaRPr sz="1400" b="1">
              <a:solidFill>
                <a:srgbClr val="0F172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">
  <a:themeElements>
    <a:clrScheme name="Paper">
      <a:dk1>
        <a:srgbClr val="262626"/>
      </a:dk1>
      <a:lt1>
        <a:srgbClr val="FFFFFF"/>
      </a:lt1>
      <a:dk2>
        <a:srgbClr val="404040"/>
      </a:dk2>
      <a:lt2>
        <a:srgbClr val="F2F2F2"/>
      </a:lt2>
      <a:accent1>
        <a:srgbClr val="595959"/>
      </a:accent1>
      <a:accent2>
        <a:srgbClr val="8C8C8C"/>
      </a:accent2>
      <a:accent3>
        <a:srgbClr val="C0504D"/>
      </a:accent3>
      <a:accent4>
        <a:srgbClr val="4F81BD"/>
      </a:accent4>
      <a:accent5>
        <a:srgbClr val="9BBB59"/>
      </a:accent5>
      <a:accent6>
        <a:srgbClr val="F79646"/>
      </a:accent6>
      <a:hlink>
        <a:srgbClr val="4F81BD"/>
      </a:hlink>
      <a:folHlink>
        <a:srgbClr val="8064A2"/>
      </a:folHlink>
    </a:clrScheme>
    <a:fontScheme name="Paper">
      <a:majorFont>
        <a:latin typeface="Playfair Display"/>
        <a:ea typeface=""/>
        <a:cs typeface=""/>
      </a:majorFont>
      <a:minorFont>
        <a:latin typeface="Lato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35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 и Oxc — Лекция 1</dc:title>
  <dc:subject>Сборка, линтинг и форматирование фронтенда</dc:subject>
  <dc:creator>Лекция 1</dc:creator>
  <cp:keywords>Vite, Vite+, Oxc, Oxlint, Oxfmt</cp:keywords>
  <dc:description>143 карточки: Vite 85, Vite+ 46, Oxc 12</dc:description>
</cp:coreProperties>
</file>