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slideMasters/slideMaster2.xml" ContentType="application/vnd.openxmlformats-officedocument.presentationml.slideMaster+xml"/>
  <Override PartName="/ppt/theme/theme3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50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</p:sldIdLst>
  <p:sldSz cx="12192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3C8753EA-CB70-4392-8250-16E8700934DB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</p14:sectionLst>
    </p:ext>
    <p:ext xmlns:p="http://schemas.openxmlformats.org/presentationml/2006/main"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</p:showPr>
</p:presentationPr>
</file>

<file path=ppt/tableStyles.xml><?xml version="1.0" encoding="utf-8"?>
<a:tblStyleLst xmlns:a="http://schemas.openxmlformats.org/drawingml/2006/main" def="{5C22544A-7EE6-4342-B048-85BDC9FD1C3A}">
  <a:tblStyle xmlns:a="http://schemas.openxmlformats.org/drawingml/2006/main"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xmlns:a="http://schemas.openxmlformats.org/drawingml/2006/main"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xmlns:a="http://schemas.openxmlformats.org/drawingml/2006/main"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theme" Target="theme/theme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98F326-38F9-40E9-844A-EC66DA56CEC0}" type="datetimeFigureOut">
              <a:rPr lang="ru-RU"/>
              <a:t>10.12.2025</a:t>
            </a:fld>
            <a:endParaRPr lang="ru-RU"/>
          </a:p>
        </p:txBody>
      </p:sp>
      <p:sp>
        <p:nvSpPr>
          <p:cNvPr id="4" name="Slide Image Placeholder 3"/>
          <p:cNvSpPr>
            <a:spLocks noGrp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44DB33E-DF1A-4DDD-8617-8BEBD58B3BBA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cust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719666" y="2827365"/>
            <a:ext cx="7615767" cy="1583916"/>
          </a:xfrm>
          <a:prstGeom prst="rect">
            <a:avLst/>
          </a:prstGeom>
        </p:spPr>
        <p:txBody>
          <a:bodyPr lIns="0" tIns="0" rIns="0" bIns="0"/>
          <a:lstStyle>
            <a:lvl1pPr>
              <a:defRPr sz="3597" b="1">
                <a:solidFill>
                  <a:srgbClr val="404040"/>
                </a:solidFill>
                <a:latin typeface="+mn-lt"/>
              </a:defRPr>
            </a:lvl1pPr>
          </a:lstStyle>
          <a:p>
            <a:pPr marL="0" marR="0" indent="0" defTabSz="1218072" eaLnBrk="1" latinLnBrk="0" hangingPunct="1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ru-RU" sz="3597" b="1" i="0" u="none" strike="noStrike" kern="0" cap="none" spc="0" baseline="0" noProof="0">
                <a:ln>
                  <a:noFill/>
                </a:ln>
                <a:solidFill>
                  <a:sysClr val="windowText" lastClr="000000">
                    <a:lumMod val="75000"/>
                    <a:lumOff val="25000"/>
                  </a:sysClr>
                </a:solidFill>
                <a:latin typeface="Arial"/>
              </a:rPr>
              <a:t>Тема презентации</a:t>
            </a:r>
            <a:endParaRPr lang="en-US" sz="3597" b="1" i="0" u="none" strike="noStrike" kern="0" cap="none" spc="0" baseline="0" noProof="0">
              <a:ln>
                <a:noFill/>
              </a:ln>
              <a:solidFill>
                <a:sysClr val="windowText" lastClr="000000">
                  <a:lumMod val="75000"/>
                  <a:lumOff val="25000"/>
                </a:sysClr>
              </a:solidFill>
              <a:latin typeface="Arial"/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719666" y="5059671"/>
            <a:ext cx="7615767" cy="379226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865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r>
              <a:rPr lang="ru-RU">
                <a:latin typeface="Arial"/>
                <a:cs typeface="Arial"/>
              </a:rPr>
              <a:t>Наименование мероприятия </a:t>
            </a:r>
            <a:r>
              <a:rPr lang="en-US">
                <a:latin typeface="Arial"/>
                <a:cs typeface="Arial"/>
              </a:rPr>
              <a:t>/</a:t>
            </a:r>
            <a:r>
              <a:rPr lang="ru-RU">
                <a:latin typeface="Arial"/>
                <a:cs typeface="Arial"/>
              </a:rPr>
              <a:t> название площадки</a:t>
            </a:r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11" hasCustomPrompt="1"/>
          </p:nvPr>
        </p:nvSpPr>
        <p:spPr>
          <a:xfrm>
            <a:off x="719666" y="5610804"/>
            <a:ext cx="7615767" cy="291045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1218072" rtl="0" eaLnBrk="1" latinLnBrk="0" hangingPunct="1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65" b="1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pPr marL="0" marR="0" indent="0" algn="l" defTabSz="1218072" rtl="0" eaLnBrk="1" latinLnBrk="0" hangingPunct="1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ru-RU" sz="1865" b="1">
                <a:solidFill>
                  <a:srgbClr val="333333"/>
                </a:solidFill>
                <a:latin typeface="Arial"/>
                <a:ea typeface="Rosatom Light"/>
                <a:cs typeface="Arial"/>
              </a:rPr>
              <a:t>ФИО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719666" y="5898539"/>
            <a:ext cx="7615767" cy="379226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1218072" rtl="0" eaLnBrk="1" latinLnBrk="0" hangingPunct="1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65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pPr marL="0" marR="0" indent="0" algn="l" defTabSz="1218072" rtl="0" eaLnBrk="1" latinLnBrk="0" hangingPunct="1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ru-RU" sz="1865">
                <a:solidFill>
                  <a:srgbClr val="333333"/>
                </a:solidFill>
                <a:latin typeface="Arial"/>
                <a:ea typeface="Rosatom Light"/>
                <a:cs typeface="Arial"/>
              </a:rPr>
              <a:t>Должность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D0F9E-EF7E-4C26-8662-25A73F2263DD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C18080-B33E-4073-8615-72D8F5AE8F78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CB9569-04AF-4288-8880-64CE52ABE7A3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533E07-937E-4FED-8300-891295843456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28B55B-FA15-48BA-860D-0231187503D9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E0EBC0-ADA9-4FA7-889C-9287646BC79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25AB8-FB3A-479C-8780-0B7E5F586C0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C29A-6C4F-4141-86E3-1A3E2D58E3A2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19C649-D3E0-46CB-87C1-67136E4226A6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EBE78A-EB3E-401E-81B5-D7F53201DAF3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07AEC-4DB1-4201-8352-72C66BEDFD2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cust">
  <p:cSld name="1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cust">
  <p:cSld name="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cust">
  <p:cSld name="1_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 hasCustomPrompt="1"/>
          </p:nvPr>
        </p:nvSpPr>
        <p:spPr>
          <a:xfrm>
            <a:off x="1953928" y="38400"/>
            <a:ext cx="8876299" cy="1087755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numCol="1" anchor="ctr" anchorCtr="0"/>
          <a:lstStyle>
            <a:lvl1pPr>
              <a:defRPr spc="0" baseline="0"/>
            </a:lvl1pPr>
          </a:lstStyle>
          <a:p>
            <a:r>
              <a:rPr lang="ru-RU"/>
              <a:t>ОБРАЗЕЦ ЗАГОЛОВКА</a:t>
            </a:r>
          </a:p>
        </p:txBody>
      </p:sp>
    </p:spTree>
  </p:cSld>
  <p:clrMapOvr>
    <a:masterClrMapping/>
  </p:clrMapOvr>
  <p:extLst>
    <p:ext xmlns:a="http://schemas.openxmlformats.org/drawingml/2006/main" xmlns:p="http://schemas.openxmlformats.org/presentationml/2006/main" uri="{DCECCB84-F9BA-43D5-87BE-67443E8EF086}">
      <p15:sldGuideLst xmlns:p15="http://schemas.microsoft.com/office/powerpoint/2012/main">
        <p15:guide id="1" pos="1232">
          <p15:clr>
            <a:srgbClr val="FBAE40"/>
          </p15:clr>
        </p15:guide>
        <p15:guide id="2" orient="horz" pos="459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Masters/_rels/slideMaster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slideLayout" Target="../slideLayouts/slideLayout3.xml"/><Relationship Id="rId3" Type="http://schemas.openxmlformats.org/officeDocument/2006/relationships/slideLayout" Target="../slideLayouts/slideLayout4.xml"/><Relationship Id="rId4" Type="http://schemas.openxmlformats.org/officeDocument/2006/relationships/slideLayout" Target="../slideLayouts/slideLayout5.xml"/><Relationship Id="rId5" Type="http://schemas.openxmlformats.org/officeDocument/2006/relationships/slideLayout" Target="../slideLayouts/slideLayout6.xml"/><Relationship Id="rId6" Type="http://schemas.openxmlformats.org/officeDocument/2006/relationships/slideLayout" Target="../slideLayouts/slideLayout7.xml"/><Relationship Id="rId7" Type="http://schemas.openxmlformats.org/officeDocument/2006/relationships/slideLayout" Target="../slideLayouts/slideLayout8.xml"/><Relationship Id="rId8" Type="http://schemas.openxmlformats.org/officeDocument/2006/relationships/slideLayout" Target="../slideLayouts/slideLayout9.xml"/><Relationship Id="rId9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11.xml"/><Relationship Id="rId11" Type="http://schemas.openxmlformats.org/officeDocument/2006/relationships/slideLayout" Target="../slideLayouts/slideLayout12.xml"/><Relationship Id="rId12" Type="http://schemas.openxmlformats.org/officeDocument/2006/relationships/slideLayout" Target="../slideLayouts/slideLayout13.xml"/><Relationship Id="rId13" Type="http://schemas.openxmlformats.org/officeDocument/2006/relationships/slideLayout" Target="../slideLayouts/slideLayout14.xml"/><Relationship Id="rId14" Type="http://schemas.openxmlformats.org/officeDocument/2006/relationships/slideLayout" Target="../slideLayouts/slideLayout15.xml"/><Relationship Id="rId15" Type="http://schemas.openxmlformats.org/officeDocument/2006/relationships/theme" Target="../theme/theme2.xml"/><Relationship Id="rId16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 name="Титульный слайд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"/>
            <a:ext cx="12192000" cy="6864096"/>
          </a:xfrm>
          <a:prstGeom prst="rect">
            <a:avLst/>
          </a:prstGeom>
        </p:spPr>
      </p:pic>
      <p:pic>
        <p:nvPicPr>
          <p:cNvPr id="4" name="Picture 1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208800" y="482153"/>
            <a:ext cx="3106425" cy="115161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3554" rtl="0" eaLnBrk="1" latinLnBrk="0" hangingPunct="1">
        <a:lnSpc>
          <a:spcPct val="90000"/>
        </a:lnSpc>
        <a:spcBef>
          <a:spcPct val="0"/>
        </a:spcBef>
        <a:buNone/>
        <a:defRPr sz="439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389" indent="-228389" algn="l" defTabSz="913554" rtl="0" eaLnBrk="1" latinLnBrk="0" hangingPunct="1">
        <a:lnSpc>
          <a:spcPct val="90000"/>
        </a:lnSpc>
        <a:spcBef>
          <a:spcPts val="999"/>
        </a:spcBef>
        <a:buFont typeface="Arial"/>
        <a:buChar char="•"/>
        <a:defRPr sz="2797" kern="1200">
          <a:solidFill>
            <a:schemeClr val="tx1"/>
          </a:solidFill>
          <a:latin typeface="+mn-lt"/>
          <a:ea typeface="+mn-ea"/>
          <a:cs typeface="+mn-cs"/>
        </a:defRPr>
      </a:lvl1pPr>
      <a:lvl2pPr marL="685166" indent="-228389" algn="l" defTabSz="913554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398" kern="1200">
          <a:solidFill>
            <a:schemeClr val="tx1"/>
          </a:solidFill>
          <a:latin typeface="+mn-lt"/>
          <a:ea typeface="+mn-ea"/>
          <a:cs typeface="+mn-cs"/>
        </a:defRPr>
      </a:lvl2pPr>
      <a:lvl3pPr marL="1141943" indent="-228389" algn="l" defTabSz="913554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998" kern="1200">
          <a:solidFill>
            <a:schemeClr val="tx1"/>
          </a:solidFill>
          <a:latin typeface="+mn-lt"/>
          <a:ea typeface="+mn-ea"/>
          <a:cs typeface="+mn-cs"/>
        </a:defRPr>
      </a:lvl3pPr>
      <a:lvl4pPr marL="1598720" indent="-228389" algn="l" defTabSz="913554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798" kern="1200">
          <a:solidFill>
            <a:schemeClr val="tx1"/>
          </a:solidFill>
          <a:latin typeface="+mn-lt"/>
          <a:ea typeface="+mn-ea"/>
          <a:cs typeface="+mn-cs"/>
        </a:defRPr>
      </a:lvl4pPr>
      <a:lvl5pPr marL="2055497" indent="-228389" algn="l" defTabSz="913554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798" kern="1200">
          <a:solidFill>
            <a:schemeClr val="tx1"/>
          </a:solidFill>
          <a:latin typeface="+mn-lt"/>
          <a:ea typeface="+mn-ea"/>
          <a:cs typeface="+mn-cs"/>
        </a:defRPr>
      </a:lvl5pPr>
      <a:lvl6pPr marL="2512274" indent="-228389" algn="l" defTabSz="913554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798" kern="1200">
          <a:solidFill>
            <a:schemeClr val="tx1"/>
          </a:solidFill>
          <a:latin typeface="+mn-lt"/>
          <a:ea typeface="+mn-ea"/>
          <a:cs typeface="+mn-cs"/>
        </a:defRPr>
      </a:lvl6pPr>
      <a:lvl7pPr marL="2969051" indent="-228389" algn="l" defTabSz="913554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798" kern="1200">
          <a:solidFill>
            <a:schemeClr val="tx1"/>
          </a:solidFill>
          <a:latin typeface="+mn-lt"/>
          <a:ea typeface="+mn-ea"/>
          <a:cs typeface="+mn-cs"/>
        </a:defRPr>
      </a:lvl7pPr>
      <a:lvl8pPr marL="3425828" indent="-228389" algn="l" defTabSz="913554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798" kern="1200">
          <a:solidFill>
            <a:schemeClr val="tx1"/>
          </a:solidFill>
          <a:latin typeface="+mn-lt"/>
          <a:ea typeface="+mn-ea"/>
          <a:cs typeface="+mn-cs"/>
        </a:defRPr>
      </a:lvl8pPr>
      <a:lvl9pPr marL="3882605" indent="-228389" algn="l" defTabSz="913554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79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defTabSz="913554" rtl="0" eaLnBrk="1" latinLnBrk="0" hangingPunct="1">
        <a:defRPr sz="1798" kern="1200">
          <a:solidFill>
            <a:schemeClr val="tx1"/>
          </a:solidFill>
          <a:latin typeface="+mn-lt"/>
          <a:ea typeface="+mn-ea"/>
          <a:cs typeface="+mn-cs"/>
        </a:defRPr>
      </a:lvl1pPr>
      <a:lvl2pPr marL="456777" algn="l" defTabSz="913554" rtl="0" eaLnBrk="1" latinLnBrk="0" hangingPunct="1">
        <a:defRPr sz="1798" kern="1200">
          <a:solidFill>
            <a:schemeClr val="tx1"/>
          </a:solidFill>
          <a:latin typeface="+mn-lt"/>
          <a:ea typeface="+mn-ea"/>
          <a:cs typeface="+mn-cs"/>
        </a:defRPr>
      </a:lvl2pPr>
      <a:lvl3pPr marL="913554" algn="l" defTabSz="913554" rtl="0" eaLnBrk="1" latinLnBrk="0" hangingPunct="1">
        <a:defRPr sz="1798" kern="1200">
          <a:solidFill>
            <a:schemeClr val="tx1"/>
          </a:solidFill>
          <a:latin typeface="+mn-lt"/>
          <a:ea typeface="+mn-ea"/>
          <a:cs typeface="+mn-cs"/>
        </a:defRPr>
      </a:lvl3pPr>
      <a:lvl4pPr marL="1370331" algn="l" defTabSz="913554" rtl="0" eaLnBrk="1" latinLnBrk="0" hangingPunct="1">
        <a:defRPr sz="1798" kern="1200">
          <a:solidFill>
            <a:schemeClr val="tx1"/>
          </a:solidFill>
          <a:latin typeface="+mn-lt"/>
          <a:ea typeface="+mn-ea"/>
          <a:cs typeface="+mn-cs"/>
        </a:defRPr>
      </a:lvl4pPr>
      <a:lvl5pPr marL="1827108" algn="l" defTabSz="913554" rtl="0" eaLnBrk="1" latinLnBrk="0" hangingPunct="1">
        <a:defRPr sz="1798" kern="1200">
          <a:solidFill>
            <a:schemeClr val="tx1"/>
          </a:solidFill>
          <a:latin typeface="+mn-lt"/>
          <a:ea typeface="+mn-ea"/>
          <a:cs typeface="+mn-cs"/>
        </a:defRPr>
      </a:lvl5pPr>
      <a:lvl6pPr marL="2283885" algn="l" defTabSz="913554" rtl="0" eaLnBrk="1" latinLnBrk="0" hangingPunct="1">
        <a:defRPr sz="1798" kern="1200">
          <a:solidFill>
            <a:schemeClr val="tx1"/>
          </a:solidFill>
          <a:latin typeface="+mn-lt"/>
          <a:ea typeface="+mn-ea"/>
          <a:cs typeface="+mn-cs"/>
        </a:defRPr>
      </a:lvl6pPr>
      <a:lvl7pPr marL="2740663" algn="l" defTabSz="913554" rtl="0" eaLnBrk="1" latinLnBrk="0" hangingPunct="1">
        <a:defRPr sz="1798" kern="1200">
          <a:solidFill>
            <a:schemeClr val="tx1"/>
          </a:solidFill>
          <a:latin typeface="+mn-lt"/>
          <a:ea typeface="+mn-ea"/>
          <a:cs typeface="+mn-cs"/>
        </a:defRPr>
      </a:lvl7pPr>
      <a:lvl8pPr marL="3197440" algn="l" defTabSz="913554" rtl="0" eaLnBrk="1" latinLnBrk="0" hangingPunct="1">
        <a:defRPr sz="1798" kern="1200">
          <a:solidFill>
            <a:schemeClr val="tx1"/>
          </a:solidFill>
          <a:latin typeface="+mn-lt"/>
          <a:ea typeface="+mn-ea"/>
          <a:cs typeface="+mn-cs"/>
        </a:defRPr>
      </a:lvl8pPr>
      <a:lvl9pPr marL="3654217" algn="l" defTabSz="913554" rtl="0" eaLnBrk="1" latinLnBrk="0" hangingPunct="1">
        <a:defRPr sz="179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Тема Offic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32FA55-4C96-42CE-81AC-E697BF02C4F9}" type="slidenum">
              <a:rPr lang="en-US"/>
              <a:t>‹#›</a:t>
            </a:fld>
            <a:endParaRPr lang="en-US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 rotWithShape="1">
          <a:blip r:embed="rId16"/>
          <a:stretch>
            <a:fillRect/>
          </a:stretch>
        </p:blipFill>
        <p:spPr>
          <a:xfrm>
            <a:off x="10470687" y="106965"/>
            <a:ext cx="1766225" cy="655293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  <p:sldLayoutId id="2147483663" r:id="rId13"/>
    <p:sldLayoutId id="2147483664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19666" y="2827365"/>
            <a:ext cx="7615767" cy="1583916"/>
          </a:xfrm>
          <a:prstGeom prst="rect">
            <a:avLst/>
          </a:prstGeom>
        </p:spPr>
        <p:txBody>
          <a:bodyPr/>
          <a:lstStyle/>
          <a:p>
            <a:r>
              <a:rPr lang="en-US" sz="3800">
                <a:latin typeface="Arial"/>
              </a:rPr>
              <a:t>Vite, Vite+, Oxc и Nginx</a:t>
            </a:r>
            <a:endParaRPr sz="3800">
              <a:latin typeface="Arial"/>
            </a:endParaRPr>
          </a:p>
        </p:txBody>
      </p:sp>
      <p:sp>
        <p:nvSpPr>
          <p:cNvPr id="4" name="Текст 3"/>
          <p:cNvSpPr>
            <a:spLocks noGrp="1"/>
          </p:cNvSpPr>
          <p:nvPr>
            <p:ph type="body" sz="quarter" idx="11"/>
          </p:nvPr>
        </p:nvSpPr>
        <p:spPr>
          <a:xfrm>
            <a:off x="719664" y="5096852"/>
            <a:ext cx="7615767" cy="291045"/>
          </a:xfrm>
          <a:prstGeom prst="rect">
            <a:avLst/>
          </a:prstGeom>
        </p:spPr>
        <p:txBody>
          <a:bodyPr/>
          <a:lstStyle/>
          <a:p>
            <a:r>
              <a:rPr lang="ru-RU"/>
              <a:t>Эрнандес Гарсия Даниэль Дельевич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12"/>
          </p:nvPr>
        </p:nvSpPr>
        <p:spPr>
          <a:xfrm>
            <a:off x="719664" y="5486289"/>
            <a:ext cx="7615767" cy="379226"/>
          </a:xfrm>
          <a:prstGeom prst="rect">
            <a:avLst/>
          </a:prstGeom>
        </p:spPr>
        <p:txBody>
          <a:bodyPr/>
          <a:lstStyle/>
          <a:p>
            <a:r>
              <a:rPr lang="ru-RU"/>
              <a:t>Веб-разработчик</a:t>
            </a:r>
            <a:endParaRPr lang="ru-RU"/>
          </a:p>
        </p:txBody>
      </p:sp>
      <p:sp>
        <p:nvSpPr>
          <p:cNvPr id="41" name="TextBox 4"/>
          <p:cNvSpPr txBox="1"/>
          <p:nvPr/>
        </p:nvSpPr>
        <p:spPr>
          <a:xfrm>
            <a:off x="719709" y="2336800"/>
            <a:ext cx="5080000" cy="3048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1B75BB"/>
                </a:solidFill>
                <a:latin typeface="Arial"/>
              </a:rPr>
              <a:t>Лекция 1</a:t>
            </a:r>
            <a:endParaRPr sz="1400" b="1">
              <a:solidFill>
                <a:srgbClr val="1B75BB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О чём лекция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255" name="TextBox 2"/>
          <p:cNvSpPr txBox="1"/>
          <p:nvPr/>
        </p:nvSpPr>
        <p:spPr>
          <a:xfrm>
            <a:off x="302133" y="736600"/>
            <a:ext cx="10160000" cy="32997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Соберём инструментарий, с которым фронтенд-проект удобно запускать, проверять и доставлять до пользователя.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30000"/>
              </a:lnSpc>
              <a:spcAft>
                <a:spcPts val="500"/>
              </a:spcAft>
            </a:pP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Vite отвечает за разработку и сборку: мгновенный старт, HMR и оптимизированный production-бандл.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Vite+ добавляет единый CLI: зависимости, линтинг, форматирование, тесты и задачи.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Oxc даёт быстрые линтер и форматтер на Rust.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Nginx принимает трафик в проде: статика, SPA-fallback, proxy и HTTPS.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30000"/>
              </a:lnSpc>
              <a:spcAft>
                <a:spcPts val="500"/>
              </a:spcAft>
            </a:pP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Разберём, как всё устроено, какие настройки действительно важны и как выглядит рабочий конфиг.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TextBox 1"/>
          <p:cNvSpPr txBox="1"/>
          <p:nvPr/>
        </p:nvSpPr>
        <p:spPr>
          <a:xfrm>
            <a:off x="1016000" y="2032000"/>
            <a:ext cx="5080000" cy="15544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600" b="1">
                <a:solidFill>
                  <a:srgbClr val="1B75BB"/>
                </a:solidFill>
                <a:latin typeface="Arial"/>
              </a:rPr>
              <a:t>01</a:t>
            </a:r>
            <a:endParaRPr sz="9600" b="1">
              <a:solidFill>
                <a:srgbClr val="1B75BB"/>
              </a:solidFill>
              <a:latin typeface="Arial"/>
            </a:endParaRPr>
          </a:p>
        </p:txBody>
      </p:sp>
      <p:sp>
        <p:nvSpPr>
          <p:cNvPr id="522" name="TextBox 2"/>
          <p:cNvSpPr txBox="1"/>
          <p:nvPr/>
        </p:nvSpPr>
        <p:spPr>
          <a:xfrm>
            <a:off x="1016000" y="3556000"/>
            <a:ext cx="10414000" cy="7010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404040"/>
                </a:solidFill>
                <a:latin typeface="Arial"/>
              </a:rPr>
              <a:t>Vite</a:t>
            </a:r>
            <a:endParaRPr sz="4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523" name="Rectangle 3"/>
          <p:cNvSpPr/>
          <p:nvPr/>
        </p:nvSpPr>
        <p:spPr>
          <a:xfrm>
            <a:off x="1016000" y="4419600"/>
            <a:ext cx="2286000" cy="38100"/>
          </a:xfrm>
          <a:prstGeom prst="rect">
            <a:avLst/>
          </a:prstGeom>
          <a:solidFill>
            <a:srgbClr val="1B75B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24" name="TextBox 4"/>
          <p:cNvSpPr txBox="1"/>
          <p:nvPr/>
        </p:nvSpPr>
        <p:spPr>
          <a:xfrm>
            <a:off x="1016000" y="4673600"/>
            <a:ext cx="9652000" cy="4084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600">
                <a:solidFill>
                  <a:srgbClr val="666666"/>
                </a:solidFill>
                <a:latin typeface="Arial"/>
              </a:rPr>
              <a:t>Dev-сервер, сборка и конфиг</a:t>
            </a:r>
            <a:endParaRPr sz="1600">
              <a:solidFill>
                <a:srgbClr val="666666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Как Vite ускоряет разработку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260" name="TextBox 2"/>
          <p:cNvSpPr txBox="1"/>
          <p:nvPr/>
        </p:nvSpPr>
        <p:spPr>
          <a:xfrm>
            <a:off x="302133" y="736600"/>
            <a:ext cx="10160000" cy="19221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В dev-режиме Vite не собирает весь проект заранее. Он отдаёт исходники по запросу как ESM: браузер сам подгружает модули, а Vite пересобирает только изменённое. Поэтому старт почти мгновенный, а HMR обновляет страницу без полной перезагрузки.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В production Vite собирает оптимизированный бандл: минифицирует код, разбивает его на чанки и подготавливает ассеты.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  <p:graphicFrame>
        <p:nvGraphicFramePr>
          <p:cNvPr id="261" name="Table 3"/>
          <p:cNvGraphicFramePr>
            <a:graphicFrameLocks noGrp="1"/>
          </p:cNvGraphicFramePr>
          <p:nvPr/>
        </p:nvGraphicFramePr>
        <p:xfrm>
          <a:off x="302133" y="3175000"/>
          <a:ext cx="1016000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2000"/>
                <a:gridCol w="6858000"/>
              </a:tblGrid>
              <a:tr h="5080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Команда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1B75B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Что делает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1B75BB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npm create vite@latest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Новый проект из шаблона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npm install -D vite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Vite в существующий проект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2" name="TextBox 4"/>
          <p:cNvSpPr txBox="1"/>
          <p:nvPr/>
        </p:nvSpPr>
        <p:spPr>
          <a:xfrm>
            <a:off x="302133" y="4889500"/>
            <a:ext cx="10160000" cy="338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350">
                <a:solidFill>
                  <a:srgbClr val="404040"/>
                </a:solidFill>
                <a:latin typeface="Arial"/>
              </a:rPr>
              <a:t>Шаблоны: react, react-ts, vue, svelte, solid, preact, lit, vanilla.</a:t>
            </a:r>
            <a:endParaRPr sz="1350">
              <a:solidFill>
                <a:srgbClr val="40404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Конфиг: файл и форма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269" name="TextBox 2"/>
          <p:cNvSpPr txBox="1"/>
          <p:nvPr/>
        </p:nvSpPr>
        <p:spPr>
          <a:xfrm>
            <a:off x="302133" y="736600"/>
            <a:ext cx="10160000" cy="3796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Конфиг Vite живёт в vite.config.ts. Минимальный вариант выглядит так: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  <p:sp>
        <p:nvSpPr>
          <p:cNvPr id="270" name="Rectangle 3"/>
          <p:cNvSpPr/>
          <p:nvPr/>
        </p:nvSpPr>
        <p:spPr>
          <a:xfrm>
            <a:off x="302133" y="1524000"/>
            <a:ext cx="10160000" cy="1092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71" name="Rectangle 4"/>
          <p:cNvSpPr/>
          <p:nvPr/>
        </p:nvSpPr>
        <p:spPr>
          <a:xfrm>
            <a:off x="302133" y="1524000"/>
            <a:ext cx="50800" cy="1092200"/>
          </a:xfrm>
          <a:prstGeom prst="rect">
            <a:avLst/>
          </a:prstGeom>
          <a:solidFill>
            <a:srgbClr val="1B75B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72" name="TextBox 5"/>
          <p:cNvSpPr txBox="1"/>
          <p:nvPr/>
        </p:nvSpPr>
        <p:spPr>
          <a:xfrm>
            <a:off x="508000" y="1651000"/>
            <a:ext cx="9779000" cy="7498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import { defineConfig } from 'vite';</a:t>
            </a:r>
            <a:endParaRPr sz="1200">
              <a:solidFill>
                <a:srgbClr val="333333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endParaRPr sz="1200">
              <a:solidFill>
                <a:srgbClr val="333333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export default defineConfig({});</a:t>
            </a:r>
            <a:endParaRPr sz="1200">
              <a:solidFill>
                <a:srgbClr val="333333"/>
              </a:solidFill>
              <a:latin typeface="Consolas"/>
            </a:endParaRPr>
          </a:p>
        </p:txBody>
      </p:sp>
      <p:sp>
        <p:nvSpPr>
          <p:cNvPr id="273" name="TextBox 6"/>
          <p:cNvSpPr txBox="1"/>
          <p:nvPr/>
        </p:nvSpPr>
        <p:spPr>
          <a:xfrm>
            <a:off x="302133" y="2794000"/>
            <a:ext cx="10160000" cy="667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Если настройки зависят от режима, экспортируется функция. Vite передаёт в неё command: serve при запуске vite и build при vite build. По этому значению можно включать разные плагины и настройки.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  <p:sp>
        <p:nvSpPr>
          <p:cNvPr id="274" name="Rectangle 7"/>
          <p:cNvSpPr/>
          <p:nvPr/>
        </p:nvSpPr>
        <p:spPr>
          <a:xfrm>
            <a:off x="302133" y="4000500"/>
            <a:ext cx="10160000" cy="1397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75" name="Rectangle 8"/>
          <p:cNvSpPr/>
          <p:nvPr/>
        </p:nvSpPr>
        <p:spPr>
          <a:xfrm>
            <a:off x="302133" y="4000500"/>
            <a:ext cx="50800" cy="1397000"/>
          </a:xfrm>
          <a:prstGeom prst="rect">
            <a:avLst/>
          </a:prstGeom>
          <a:solidFill>
            <a:srgbClr val="1B75B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76" name="TextBox 9"/>
          <p:cNvSpPr txBox="1"/>
          <p:nvPr/>
        </p:nvSpPr>
        <p:spPr>
          <a:xfrm>
            <a:off x="508000" y="4127500"/>
            <a:ext cx="9779000" cy="7498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export default defineConfig(({ command }) =&gt; ({</a:t>
            </a:r>
            <a:endParaRPr sz="1200">
              <a:solidFill>
                <a:srgbClr val="333333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  base: command === 'build' ? '/app/' : '/',</a:t>
            </a:r>
            <a:endParaRPr sz="1200">
              <a:solidFill>
                <a:srgbClr val="333333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}));</a:t>
            </a:r>
            <a:endParaRPr sz="1200">
              <a:solidFill>
                <a:srgbClr val="333333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.env в конфиге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288" name="TextBox 2"/>
          <p:cNvSpPr txBox="1"/>
          <p:nvPr/>
        </p:nvSpPr>
        <p:spPr>
          <a:xfrm>
            <a:off x="302133" y="736600"/>
            <a:ext cx="10160000" cy="26001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Кажется логичным прочитать переменные через process.env прямо в vite.config.ts. Но Vite загружает .env позже: набор файлов зависит от самого конфига, поэтому на момент выполнения конфига их ещё нет. В process.env доступны только переменные окружения операционной системы.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process.env в Node.js — глобальный объект с переменными окружения процесса, а process.cwd() возвращает текущий рабочий каталог.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Если .env всё-таки нужен в конфиге, его загружают вручную функцией loadEnv: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  <p:sp>
        <p:nvSpPr>
          <p:cNvPr id="289" name="Rectangle 3"/>
          <p:cNvSpPr/>
          <p:nvPr/>
        </p:nvSpPr>
        <p:spPr>
          <a:xfrm>
            <a:off x="302133" y="3619500"/>
            <a:ext cx="10160000" cy="1905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90" name="Rectangle 4"/>
          <p:cNvSpPr/>
          <p:nvPr/>
        </p:nvSpPr>
        <p:spPr>
          <a:xfrm>
            <a:off x="302133" y="3619500"/>
            <a:ext cx="50800" cy="1905000"/>
          </a:xfrm>
          <a:prstGeom prst="rect">
            <a:avLst/>
          </a:prstGeom>
          <a:solidFill>
            <a:srgbClr val="1B75B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91" name="TextBox 5"/>
          <p:cNvSpPr txBox="1"/>
          <p:nvPr/>
        </p:nvSpPr>
        <p:spPr>
          <a:xfrm>
            <a:off x="508000" y="3746500"/>
            <a:ext cx="9779000" cy="18470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import { defineConfig, loadEnv } from 'vite';</a:t>
            </a:r>
            <a:endParaRPr sz="1200">
              <a:solidFill>
                <a:srgbClr val="333333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endParaRPr sz="1200">
              <a:solidFill>
                <a:srgbClr val="333333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export default defineConfig(({ mode }) =&gt; {</a:t>
            </a:r>
            <a:endParaRPr sz="1200">
              <a:solidFill>
                <a:srgbClr val="333333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  const env = loadEnv(mode, process.cwd(), '');</a:t>
            </a:r>
            <a:endParaRPr sz="1200">
              <a:solidFill>
                <a:srgbClr val="333333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  return {</a:t>
            </a:r>
            <a:endParaRPr sz="1200">
              <a:solidFill>
                <a:srgbClr val="333333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    define: { __API__: JSON.stringify(env.VITE_API_URL) },</a:t>
            </a:r>
            <a:endParaRPr sz="1200">
              <a:solidFill>
                <a:srgbClr val="333333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  };</a:t>
            </a:r>
            <a:endParaRPr sz="1200">
              <a:solidFill>
                <a:srgbClr val="333333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});</a:t>
            </a:r>
            <a:endParaRPr sz="1200">
              <a:solidFill>
                <a:srgbClr val="333333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root и base: где проект и куда деплоить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299" name="TextBox 2"/>
          <p:cNvSpPr txBox="1"/>
          <p:nvPr/>
        </p:nvSpPr>
        <p:spPr>
          <a:xfrm>
            <a:off x="302133" y="736600"/>
            <a:ext cx="10160000" cy="19221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root указывает папку, в которой лежит index.html. По умолчанию это process.cwd() — каталог, из которого вы запустили команду. Если index.html находится в подпапке, без явного root dev-сервер его не найдёт.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base нужен, когда приложение живёт не в корне домена, а в подпапке. В сборке он подставляет префикс во все пути и задаёт import.meta.env.BASE_URL; в dev-сервере приложение открывается по тому же пути, например localhost:5173/app/.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  <p:graphicFrame>
        <p:nvGraphicFramePr>
          <p:cNvPr id="300" name="Table 3"/>
          <p:cNvGraphicFramePr>
            <a:graphicFrameLocks noGrp="1"/>
          </p:cNvGraphicFramePr>
          <p:nvPr/>
        </p:nvGraphicFramePr>
        <p:xfrm>
          <a:off x="302133" y="3429000"/>
          <a:ext cx="10160000" cy="139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794000"/>
                <a:gridCol w="5080000"/>
              </a:tblGrid>
              <a:tr h="465667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Опция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1B75B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По умолчанию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1B75B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Когда менять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1B75BB"/>
                    </a:solidFill>
                  </a:tcPr>
                </a:tc>
              </a:tr>
              <a:tr h="465667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root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process.cwd()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index.html в подпапке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5667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base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'/'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Деплой в подпапку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define: подстановка значений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306" name="TextBox 2"/>
          <p:cNvSpPr txBox="1"/>
          <p:nvPr/>
        </p:nvSpPr>
        <p:spPr>
          <a:xfrm>
            <a:off x="302133" y="736600"/>
            <a:ext cx="10160000" cy="22103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define заменяет идентификаторы в коде на этапе сборки — примерно как #define в C. В dev-режиме значение просто добавляется в globalThis, а в сборке Vite меняет код на уровне AST и подставляет значение вместо идентификатора.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Главная ловушка — строки. Значение подставляется как есть, поэтому строку нужно оборачивать в JSON.stringify, иначе в коде окажется не строка, а идентификатор. Чтобы TypeScript знал о глобалах, их объявляют в vite-env.d.ts.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  <p:sp>
        <p:nvSpPr>
          <p:cNvPr id="307" name="Rectangle 3"/>
          <p:cNvSpPr/>
          <p:nvPr/>
        </p:nvSpPr>
        <p:spPr>
          <a:xfrm>
            <a:off x="302133" y="3556000"/>
            <a:ext cx="10160000" cy="1092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08" name="Rectangle 4"/>
          <p:cNvSpPr/>
          <p:nvPr/>
        </p:nvSpPr>
        <p:spPr>
          <a:xfrm>
            <a:off x="302133" y="3556000"/>
            <a:ext cx="50800" cy="1092200"/>
          </a:xfrm>
          <a:prstGeom prst="rect">
            <a:avLst/>
          </a:prstGeom>
          <a:solidFill>
            <a:srgbClr val="1B75B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09" name="TextBox 5"/>
          <p:cNvSpPr txBox="1"/>
          <p:nvPr/>
        </p:nvSpPr>
        <p:spPr>
          <a:xfrm>
            <a:off x="508000" y="3683000"/>
            <a:ext cx="9779000" cy="7498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define: {</a:t>
            </a:r>
            <a:endParaRPr sz="1200">
              <a:solidFill>
                <a:srgbClr val="333333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  __APP_VERSION__: JSON.stringify('1.0.0'),</a:t>
            </a:r>
            <a:endParaRPr sz="1200">
              <a:solidFill>
                <a:srgbClr val="333333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}</a:t>
            </a:r>
            <a:endParaRPr sz="1200">
              <a:solidFill>
                <a:srgbClr val="333333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plugins и publicDir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317" name="TextBox 2"/>
          <p:cNvSpPr txBox="1"/>
          <p:nvPr/>
        </p:nvSpPr>
        <p:spPr>
          <a:xfrm>
            <a:off x="302133" y="736600"/>
            <a:ext cx="10160000" cy="22103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plugins — массив плагинов Vite. false, null и undefined просто игнорируются, поэтому удобно писать isDev &amp;&amp; plugin(). Вложенные массивы Vite распаковывает, а если плагин возвращает Promise, дожидается его разрешения перед запуском.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publicDir — папка статичных файлов, которые отдаются как есть: favicon, robots.txt, картинки без обработки. По умолчанию это public. В dev-режиме файлы доступны по корню /, а в сборке копируются в корень outDir (dist). Если статика не нужна, publicDir: false отключает и обслуживание, и копирование.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  <p:graphicFrame>
        <p:nvGraphicFramePr>
          <p:cNvPr id="318" name="Table 3"/>
          <p:cNvGraphicFramePr>
            <a:graphicFrameLocks noGrp="1"/>
          </p:cNvGraphicFramePr>
          <p:nvPr/>
        </p:nvGraphicFramePr>
        <p:xfrm>
          <a:off x="302133" y="3810000"/>
          <a:ext cx="10160000" cy="177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6350000"/>
              </a:tblGrid>
              <a:tr h="4445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В plugins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1B75B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Поведение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1B75BB"/>
                    </a:solidFill>
                  </a:tcPr>
                </a:tc>
              </a:tr>
              <a:tr h="4445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false / null / undefined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игнорируется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45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вложенный массив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распаковывается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45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Promise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дожидается разрешения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resolve и служебные опции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324" name="TextBox 2"/>
          <p:cNvSpPr txBox="1"/>
          <p:nvPr/>
        </p:nvSpPr>
        <p:spPr>
          <a:xfrm>
            <a:off x="302133" y="736600"/>
            <a:ext cx="10160000" cy="32694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resolve.extensions позволяет опускать расширения в import. По умолчанию список такой: .mjs, .js, .mts, .ts, .jsx, .tsx, .json. Если подходит несколько файлов, побеждает расширение, которое стоит в списке раньше.</a:t>
            </a:r>
          </a:p>
          <a:p>
            <a:pPr>
              <a:lnSpc>
                <a:spcPct val="122000"/>
              </a:lnSpc>
              <a:spcAft>
                <a:spcPts val="400"/>
              </a:spcAft>
            </a:p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resolve.tsconfigPaths включает алиасы из compilerOptions.paths в tsconfig.json. По умолчанию опция выключена.</a:t>
            </a:r>
          </a:p>
          <a:p>
            <a:pPr>
              <a:lnSpc>
                <a:spcPct val="122000"/>
              </a:lnSpc>
              <a:spcAft>
                <a:spcPts val="400"/>
              </a:spcAft>
            </a:p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clearScreen очищает терминал (по умолчанию true). envDir — папка с .env (по умолчанию root; false отключает загрузку). envPrefix — префикс клиентских переменных (по умолчанию VITE_): его меняют, чтобы серверные секреты не попали в бандл.</a:t>
            </a:r>
          </a:p>
        </p:txBody>
      </p:sp>
      <p:graphicFrame>
        <p:nvGraphicFramePr>
          <p:cNvPr id="325" name="Table 3"/>
          <p:cNvGraphicFramePr>
            <a:graphicFrameLocks noGrp="1"/>
          </p:cNvGraphicFramePr>
          <p:nvPr/>
        </p:nvGraphicFramePr>
        <p:xfrm>
          <a:off x="302133" y="4254500"/>
          <a:ext cx="10160000" cy="203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7000"/>
                <a:gridCol w="3048000"/>
                <a:gridCol w="4445000"/>
              </a:tblGrid>
              <a:tr h="34925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Опция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1B75B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По умолчанию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1B75B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Зачем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1B75BB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resolve.extensions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список расширений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Опускать расширения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resolve.tsconfigPaths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false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Алиасы из tsconfig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clearScreen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true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Чистый терминал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envDir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root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Папка с .env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envPrefix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VITE_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Клиентские переменные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Dev-сервер: порт, HTTPS и proxy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331" name="TextBox 2"/>
          <p:cNvSpPr txBox="1"/>
          <p:nvPr/>
        </p:nvSpPr>
        <p:spPr>
          <a:xfrm>
            <a:off x="302133" y="736600"/>
            <a:ext cx="10160000" cy="32694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По умолчанию dev-сервер занимает порт 5173. Если порт занят, Vite попробует следующий; strictPort запрещает это и просто не запускается — удобно, когда порт важен для внешних интеграций.</a:t>
            </a:r>
          </a:p>
          <a:p>
            <a:pPr>
              <a:lnSpc>
                <a:spcPct val="122000"/>
              </a:lnSpc>
              <a:spcAft>
                <a:spcPts val="400"/>
              </a:spcAft>
            </a:p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https включает TLS/HTTP2 для dev-сервера. Можно передать { key, cert } или подключить плагин @vitejs/plugin-basic-ssl. open открывает браузер при старте, а строковое значение open задаёт путь, который нужно открыть.</a:t>
            </a:r>
          </a:p>
          <a:p>
            <a:pPr>
              <a:lnSpc>
                <a:spcPct val="122000"/>
              </a:lnSpc>
              <a:spcAft>
                <a:spcPts val="400"/>
              </a:spcAft>
            </a:p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cors настраивает CORS dev-сервера: true разрешает любой origin, объект — как CORS-middleware. proxy перенаправляет запросы на бэкенд и обходит CORS. forwardConsole: true отправляет консоль браузера в терминал Vite — полезно AI-агентам, которым нужно видеть ошибки клиента.</a:t>
            </a:r>
          </a:p>
        </p:txBody>
      </p:sp>
      <p:graphicFrame>
        <p:nvGraphicFramePr>
          <p:cNvPr id="332" name="Table 3"/>
          <p:cNvGraphicFramePr>
            <a:graphicFrameLocks noGrp="1"/>
          </p:cNvGraphicFramePr>
          <p:nvPr/>
        </p:nvGraphicFramePr>
        <p:xfrm>
          <a:off x="302133" y="4318000"/>
          <a:ext cx="10160000" cy="184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3000"/>
                <a:gridCol w="2540000"/>
                <a:gridCol w="5207000"/>
              </a:tblGrid>
              <a:tr h="301625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Опция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1B75B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По умолчанию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1B75B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Что делает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1B75BB"/>
                    </a:solidFill>
                  </a:tcPr>
                </a:tc>
              </a:tr>
              <a:tr h="301625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port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5173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Порт dev-сервера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625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strictPort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false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Запрещает другой порт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625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https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false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TLS/HTTP2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625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open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false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Открывает браузер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625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cors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false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CORS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625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proxy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—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Прокси на бэкенд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625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forwardConsole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false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Консоль в терминал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Плагины и кеш зависимостей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338" name="TextBox 2"/>
          <p:cNvSpPr txBox="1"/>
          <p:nvPr/>
        </p:nvSpPr>
        <p:spPr>
          <a:xfrm>
            <a:off x="302133" y="736600"/>
            <a:ext cx="10160000" cy="667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Для React достаточно @vitejs/plugin-react. Если нужен HTTPS в разработке, подключается @vitejs/plugin-basic-ssl: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  <p:sp>
        <p:nvSpPr>
          <p:cNvPr id="339" name="Rectangle 3"/>
          <p:cNvSpPr/>
          <p:nvPr/>
        </p:nvSpPr>
        <p:spPr>
          <a:xfrm>
            <a:off x="302133" y="1524000"/>
            <a:ext cx="10160000" cy="1270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40" name="Rectangle 4"/>
          <p:cNvSpPr/>
          <p:nvPr/>
        </p:nvSpPr>
        <p:spPr>
          <a:xfrm>
            <a:off x="302133" y="1524000"/>
            <a:ext cx="50800" cy="1270000"/>
          </a:xfrm>
          <a:prstGeom prst="rect">
            <a:avLst/>
          </a:prstGeom>
          <a:solidFill>
            <a:srgbClr val="1B75B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41" name="TextBox 5"/>
          <p:cNvSpPr txBox="1"/>
          <p:nvPr/>
        </p:nvSpPr>
        <p:spPr>
          <a:xfrm>
            <a:off x="508000" y="1651000"/>
            <a:ext cx="9779000" cy="11887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import basicSsl from '@vitejs/plugin-basic-ssl';</a:t>
            </a:r>
            <a:endParaRPr sz="1200">
              <a:solidFill>
                <a:srgbClr val="333333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endParaRPr sz="1200">
              <a:solidFill>
                <a:srgbClr val="333333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export default {</a:t>
            </a:r>
            <a:endParaRPr sz="1200">
              <a:solidFill>
                <a:srgbClr val="333333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  plugins: [basicSsl()],</a:t>
            </a:r>
            <a:endParaRPr sz="1200">
              <a:solidFill>
                <a:srgbClr val="333333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};</a:t>
            </a:r>
            <a:endParaRPr sz="1200">
              <a:solidFill>
                <a:srgbClr val="333333"/>
              </a:solidFill>
              <a:latin typeface="Consolas"/>
            </a:endParaRPr>
          </a:p>
        </p:txBody>
      </p:sp>
      <p:sp>
        <p:nvSpPr>
          <p:cNvPr id="342" name="TextBox 6"/>
          <p:cNvSpPr txBox="1"/>
          <p:nvPr/>
        </p:nvSpPr>
        <p:spPr>
          <a:xfrm>
            <a:off x="302133" y="3048000"/>
            <a:ext cx="10160000" cy="27940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@vitejs/plugin-react включает Fast Refresh: компоненты обновляются без потери состояния. basicSsl выпускает самоподписанный сертификат для локального HTTPS.</a:t>
            </a:r>
          </a:p>
          <a:p>
            <a:pPr>
              <a:lnSpc>
                <a:spcPct val="122000"/>
              </a:lnSpc>
              <a:spcAft>
                <a:spcPts val="400"/>
              </a:spcAft>
            </a:p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Предварительно упакованные зависимости Vite кеширует в node_modules/.vite — это ускоряет повторный старт.</a:t>
            </a:r>
          </a:p>
          <a:p/>
          <a:p>
            <a:r>
              <a:rPr sz="1550">
                <a:solidFill>
                  <a:srgbClr val="404040"/>
                </a:solidFill>
                <a:latin typeface="Arial"/>
              </a:rPr>
              <a:t>Кеш можно удалить, если зависимости обновились, а dev-сервер ведёт себя странно: при следующем запуске Vite соберёт его заново.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Ассеты и стили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351" name="TextBox 2"/>
          <p:cNvSpPr txBox="1"/>
          <p:nvPr/>
        </p:nvSpPr>
        <p:spPr>
          <a:xfrm>
            <a:off x="302133" y="736600"/>
            <a:ext cx="10160000" cy="16339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С ассетами всё просто: import imgUrl from './img.png' при сборке превращается в URL файла. Дальше imgUrl используется как обычная ссылка, например в src тега &lt;img&gt;.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Для .scss, .sass, .less и .styl отдельные плагины не нужны — поддержка встроена. Достаточно поставить сам препроцессор как dev-зависимость: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  <p:sp>
        <p:nvSpPr>
          <p:cNvPr id="352" name="Rectangle 3"/>
          <p:cNvSpPr/>
          <p:nvPr/>
        </p:nvSpPr>
        <p:spPr>
          <a:xfrm>
            <a:off x="302133" y="2476500"/>
            <a:ext cx="10160000" cy="7874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53" name="Rectangle 4"/>
          <p:cNvSpPr/>
          <p:nvPr/>
        </p:nvSpPr>
        <p:spPr>
          <a:xfrm>
            <a:off x="302133" y="2476500"/>
            <a:ext cx="50800" cy="787400"/>
          </a:xfrm>
          <a:prstGeom prst="rect">
            <a:avLst/>
          </a:prstGeom>
          <a:solidFill>
            <a:srgbClr val="1B75B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54" name="TextBox 5"/>
          <p:cNvSpPr txBox="1"/>
          <p:nvPr/>
        </p:nvSpPr>
        <p:spPr>
          <a:xfrm>
            <a:off x="508000" y="2603500"/>
            <a:ext cx="9779000" cy="3108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npm install -D sass</a:t>
            </a:r>
            <a:endParaRPr sz="1200">
              <a:solidFill>
                <a:srgbClr val="333333"/>
              </a:solidFill>
              <a:latin typeface="Consolas"/>
            </a:endParaRPr>
          </a:p>
        </p:txBody>
      </p:sp>
      <p:sp>
        <p:nvSpPr>
          <p:cNvPr id="355" name="TextBox 6"/>
          <p:cNvSpPr txBox="1"/>
          <p:nvPr/>
        </p:nvSpPr>
        <p:spPr>
          <a:xfrm>
            <a:off x="302133" y="3492500"/>
            <a:ext cx="10160000" cy="3796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Vite сам подхватит препроцессор и будет учитывать алиасы из своего конфига в @import для Sass/Less.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.env и режимы: что и когда загружается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364" name="TextBox 2"/>
          <p:cNvSpPr txBox="1"/>
          <p:nvPr/>
        </p:nvSpPr>
        <p:spPr>
          <a:xfrm>
            <a:off x="302133" y="736600"/>
            <a:ext cx="10160000" cy="16339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В клиентский код попадают только переменные с префиксом VITE_. Все значения в import.meta.env — строки, даже если в .env записано число или булево, поэтому сравнивать нужно явно: import.meta.env.VITE_F === 'true'. Без префикса переменная вернёт undefined.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Файлы загружаются по приоритету: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  <p:graphicFrame>
        <p:nvGraphicFramePr>
          <p:cNvPr id="365" name="Table 3"/>
          <p:cNvGraphicFramePr>
            <a:graphicFrameLocks noGrp="1"/>
          </p:cNvGraphicFramePr>
          <p:nvPr/>
        </p:nvGraphicFramePr>
        <p:xfrm>
          <a:off x="302133" y="2540000"/>
          <a:ext cx="1016000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9017000"/>
              </a:tblGrid>
              <a:tr h="3048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Приоритет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1B75B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Файл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1B75BB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1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.env.[mode].local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2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.env.[mode]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3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.env.local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4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.env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6" name="TextBox 4"/>
          <p:cNvSpPr txBox="1"/>
          <p:nvPr/>
        </p:nvSpPr>
        <p:spPr>
          <a:xfrm>
            <a:off x="302133" y="4318000"/>
            <a:ext cx="10160000" cy="9560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Встроенные поля: MODE — текущий режим (development или production), BASE_URL — базовый URL из base, PROD/DEV/SSR — булевы флаги продакшена, разработки и серверного рендеринга. Кастомные переменные всегда строки, встроенные — boolean.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Типы для import.meta.env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373" name="TextBox 2"/>
          <p:cNvSpPr txBox="1"/>
          <p:nvPr/>
        </p:nvSpPr>
        <p:spPr>
          <a:xfrm>
            <a:off x="302133" y="736600"/>
            <a:ext cx="10160000" cy="23119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import.meta — объект с метаданными текущего ESM-модуля. Vite добавляет в него env — объект с переменными окружения. В TypeScript его структуру описывает интерфейс ImportMetaEnv.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По умолчанию TypeScript знает только встроенные поля: MODE, DEV, PROD, BASE_URL, SSR. На кастомную переменную без типизации он ругается. Решение — расширить интерфейсы в src/vite-env.d.ts.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Директива /// &lt;reference types="vite/client" /&gt; подключает типы встроенных полей и ассетов.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  <p:sp>
        <p:nvSpPr>
          <p:cNvPr id="374" name="Rectangle 3"/>
          <p:cNvSpPr/>
          <p:nvPr/>
        </p:nvSpPr>
        <p:spPr>
          <a:xfrm>
            <a:off x="302133" y="3683000"/>
            <a:ext cx="10160000" cy="21336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75" name="Rectangle 4"/>
          <p:cNvSpPr/>
          <p:nvPr/>
        </p:nvSpPr>
        <p:spPr>
          <a:xfrm>
            <a:off x="302133" y="3683000"/>
            <a:ext cx="50800" cy="2133600"/>
          </a:xfrm>
          <a:prstGeom prst="rect">
            <a:avLst/>
          </a:prstGeom>
          <a:solidFill>
            <a:srgbClr val="1B75B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76" name="TextBox 5"/>
          <p:cNvSpPr txBox="1"/>
          <p:nvPr/>
        </p:nvSpPr>
        <p:spPr>
          <a:xfrm>
            <a:off x="508000" y="3810000"/>
            <a:ext cx="9779000" cy="20320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/// &lt;reference types="vite/client" /&gt;</a:t>
            </a:r>
            <a:endParaRPr sz="1200">
              <a:solidFill>
                <a:srgbClr val="333333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endParaRPr sz="1200">
              <a:solidFill>
                <a:srgbClr val="333333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interface ImportMetaEnv {</a:t>
            </a:r>
            <a:endParaRPr sz="1200">
              <a:solidFill>
                <a:srgbClr val="333333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  readonly VITE_APP_TITLE: string;</a:t>
            </a:r>
            <a:endParaRPr sz="1200">
              <a:solidFill>
                <a:srgbClr val="333333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}</a:t>
            </a:r>
            <a:endParaRPr sz="1200">
              <a:solidFill>
                <a:srgbClr val="333333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endParaRPr sz="1200">
              <a:solidFill>
                <a:srgbClr val="333333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interface ImportMeta {</a:t>
            </a:r>
            <a:endParaRPr sz="1200">
              <a:solidFill>
                <a:srgbClr val="333333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  readonly env: ImportMetaEnv;</a:t>
            </a:r>
            <a:endParaRPr sz="1200">
              <a:solidFill>
                <a:srgbClr val="333333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}</a:t>
            </a:r>
            <a:endParaRPr sz="1200">
              <a:solidFill>
                <a:srgbClr val="333333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TextBox 1"/>
          <p:cNvSpPr txBox="1"/>
          <p:nvPr/>
        </p:nvSpPr>
        <p:spPr>
          <a:xfrm>
            <a:off x="1016000" y="2032000"/>
            <a:ext cx="5080000" cy="15544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600" b="1">
                <a:solidFill>
                  <a:srgbClr val="1B75BB"/>
                </a:solidFill>
                <a:latin typeface="Arial"/>
              </a:rPr>
              <a:t>02</a:t>
            </a:r>
            <a:endParaRPr sz="9600" b="1">
              <a:solidFill>
                <a:srgbClr val="1B75BB"/>
              </a:solidFill>
              <a:latin typeface="Arial"/>
            </a:endParaRPr>
          </a:p>
        </p:txBody>
      </p:sp>
      <p:sp>
        <p:nvSpPr>
          <p:cNvPr id="515" name="TextBox 2"/>
          <p:cNvSpPr txBox="1"/>
          <p:nvPr/>
        </p:nvSpPr>
        <p:spPr>
          <a:xfrm>
            <a:off x="1016000" y="3556000"/>
            <a:ext cx="10414000" cy="7010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404040"/>
                </a:solidFill>
                <a:latin typeface="Arial"/>
              </a:rPr>
              <a:t>Vite+</a:t>
            </a:r>
            <a:endParaRPr sz="4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516" name="Rectangle 3"/>
          <p:cNvSpPr/>
          <p:nvPr/>
        </p:nvSpPr>
        <p:spPr>
          <a:xfrm>
            <a:off x="1016000" y="4419600"/>
            <a:ext cx="2286000" cy="38100"/>
          </a:xfrm>
          <a:prstGeom prst="rect">
            <a:avLst/>
          </a:prstGeom>
          <a:solidFill>
            <a:srgbClr val="1B75B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17" name="TextBox 4"/>
          <p:cNvSpPr txBox="1"/>
          <p:nvPr/>
        </p:nvSpPr>
        <p:spPr>
          <a:xfrm>
            <a:off x="1016000" y="4673600"/>
            <a:ext cx="9652000" cy="4084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600">
                <a:solidFill>
                  <a:srgbClr val="666666"/>
                </a:solidFill>
                <a:latin typeface="Arial"/>
              </a:rPr>
              <a:t>Единый CLI для зависимостей и проверок</a:t>
            </a:r>
            <a:endParaRPr sz="1600">
              <a:solidFill>
                <a:srgbClr val="666666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Vite+: один CLI вместо зоопарка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384" name="TextBox 2"/>
          <p:cNvSpPr txBox="1"/>
          <p:nvPr/>
        </p:nvSpPr>
        <p:spPr>
          <a:xfrm>
            <a:off x="302133" y="736600"/>
            <a:ext cx="10160000" cy="23119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Vite+ — это глобальный CLI vp и локальный пакет vite-plus в каждом проекте. Конфиг остаётся стандартным vite.config.ts, поэтому переход не ломает привычную настройку.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Основные команды: vp dev запускает dev-сервер, vp build собирает проект, vp upgrade обновляет глобальный CLI. Для CI используют voidzero-dev/setup-vp.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Зависимости ставятся через vp: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  <p:graphicFrame>
        <p:nvGraphicFramePr>
          <p:cNvPr id="385" name="Table 3"/>
          <p:cNvGraphicFramePr>
            <a:graphicFrameLocks noGrp="1"/>
          </p:cNvGraphicFramePr>
          <p:nvPr/>
        </p:nvGraphicFramePr>
        <p:xfrm>
          <a:off x="302133" y="3238500"/>
          <a:ext cx="1016000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0"/>
                <a:gridCol w="6604000"/>
              </a:tblGrid>
              <a:tr h="3048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Команда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1B75B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Действие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1B75BB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vp add &lt;pkg&gt;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добавить пакет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vp add -D &lt;pkg&gt;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добавить dev-пакет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vp remove &lt;pkg&gt;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удалить пакет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vp update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обновить зависимости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86" name="TextBox 4"/>
          <p:cNvSpPr txBox="1"/>
          <p:nvPr/>
        </p:nvSpPr>
        <p:spPr>
          <a:xfrm>
            <a:off x="302133" y="4953000"/>
            <a:ext cx="10160000" cy="667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Менеджер пакетов задаётся полем devEngines.packageManager в package.json, а точная версия — полем packageManager, например bun@1.1.20.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Проверки: check и lint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393" name="TextBox 2"/>
          <p:cNvSpPr txBox="1"/>
          <p:nvPr/>
        </p:nvSpPr>
        <p:spPr>
          <a:xfrm>
            <a:off x="302133" y="736600"/>
            <a:ext cx="10160000" cy="16339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vp check — одна команда для форматирования, линтинга и проверки типов; флаг --fix включает автоисправление. Под капотом vp lint работает на Oxlint. У него есть typeCheck (запускает компилятор TypeScript во время линтинга) и typeAware (ищет логические ошибки на основе типов).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Конфиг линтера живёт в vite.config.ts, в блоке lint, а не в oxlint.config.ts: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  <p:sp>
        <p:nvSpPr>
          <p:cNvPr id="394" name="Rectangle 3"/>
          <p:cNvSpPr/>
          <p:nvPr/>
        </p:nvSpPr>
        <p:spPr>
          <a:xfrm>
            <a:off x="302133" y="2857500"/>
            <a:ext cx="10160000" cy="9906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95" name="Rectangle 4"/>
          <p:cNvSpPr/>
          <p:nvPr/>
        </p:nvSpPr>
        <p:spPr>
          <a:xfrm>
            <a:off x="302133" y="2857500"/>
            <a:ext cx="50800" cy="990600"/>
          </a:xfrm>
          <a:prstGeom prst="rect">
            <a:avLst/>
          </a:prstGeom>
          <a:solidFill>
            <a:srgbClr val="1B75B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96" name="TextBox 5"/>
          <p:cNvSpPr txBox="1"/>
          <p:nvPr/>
        </p:nvSpPr>
        <p:spPr>
          <a:xfrm>
            <a:off x="508000" y="2984500"/>
            <a:ext cx="9779000" cy="7498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export default defineConfig({</a:t>
            </a:r>
            <a:endParaRPr sz="1200">
              <a:solidFill>
                <a:srgbClr val="333333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  lint: { ignorePatterns: ['dist/**'] },</a:t>
            </a:r>
            <a:endParaRPr sz="1200">
              <a:solidFill>
                <a:srgbClr val="333333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});</a:t>
            </a:r>
            <a:endParaRPr sz="1200">
              <a:solidFill>
                <a:srgbClr val="333333"/>
              </a:solidFill>
              <a:latin typeface="Consolas"/>
            </a:endParaRPr>
          </a:p>
        </p:txBody>
      </p:sp>
      <p:sp>
        <p:nvSpPr>
          <p:cNvPr id="397" name="TextBox 6"/>
          <p:cNvSpPr txBox="1"/>
          <p:nvPr/>
        </p:nvSpPr>
        <p:spPr>
          <a:xfrm>
            <a:off x="302133" y="4064000"/>
            <a:ext cx="10160000" cy="667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vp lint запускает линтинг, vp lint --fix — с автоисправлением. Флаг --fix у vp check включает автоисправление сразу для форматтера и линтера.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Форматирование и тесты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406" name="TextBox 2"/>
          <p:cNvSpPr txBox="1"/>
          <p:nvPr/>
        </p:nvSpPr>
        <p:spPr>
          <a:xfrm>
            <a:off x="302133" y="736600"/>
            <a:ext cx="10160000" cy="20237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vp fmt форматирует код. По умолчанию он ничего не пишет в файлы: чтобы сохранить результат, нужно vp fmt . --write. Под капотом — Oxfmt.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Тесты запускаются командой vp test и работают на Vitest.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Оба конфига живут в vite.config.ts — в блоках fmt и test, а не в отдельных oxfmt.config.ts и vitest.config.ts.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  <p:graphicFrame>
        <p:nvGraphicFramePr>
          <p:cNvPr id="407" name="Table 3"/>
          <p:cNvGraphicFramePr>
            <a:graphicFrameLocks noGrp="1"/>
          </p:cNvGraphicFramePr>
          <p:nvPr/>
        </p:nvGraphicFramePr>
        <p:xfrm>
          <a:off x="302133" y="2857500"/>
          <a:ext cx="10160000" cy="127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0"/>
                <a:gridCol w="6604000"/>
              </a:tblGrid>
              <a:tr h="3175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Команда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1B75B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Что делает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1B75BB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vp fmt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форматирование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vp fmt . --write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записать в файлы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vp test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тесты (Vitest)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08" name="Table 4"/>
          <p:cNvGraphicFramePr>
            <a:graphicFrameLocks noGrp="1"/>
          </p:cNvGraphicFramePr>
          <p:nvPr/>
        </p:nvGraphicFramePr>
        <p:xfrm>
          <a:off x="302133" y="4381500"/>
          <a:ext cx="10160000" cy="101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794000"/>
                <a:gridCol w="5080000"/>
              </a:tblGrid>
              <a:tr h="338667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Инструмент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1B75B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Блок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1B75B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Не в файле</a:t>
                      </a:r>
                      <a:endParaRPr sz="1150">
                        <a:latin typeface="Arial"/>
                      </a:endParaRPr>
                    </a:p>
                  </a:txBody>
                  <a:tcPr>
                    <a:lnL w="9525">
                      <a:solidFill>
                        <a:srgbClr val="D9D9D9"/>
                      </a:solidFill>
                    </a:lnL>
                    <a:solidFill>
                      <a:srgbClr val="1B75BB"/>
                    </a:solidFill>
                  </a:tcPr>
                </a:tc>
              </a:tr>
              <a:tr h="338667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fmt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fmt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oxfmt.config.ts</a:t>
                      </a:r>
                      <a:endParaRPr sz="1150">
                        <a:latin typeface="Arial"/>
                      </a:endParaRPr>
                    </a:p>
                  </a:txBody>
                  <a:tcPr>
                    <a:lnL w="9525">
                      <a:solidFill>
                        <a:srgbClr val="D9D9D9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338667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test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test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vitest.config.ts</a:t>
                      </a:r>
                      <a:endParaRPr sz="1150">
                        <a:latin typeface="Arial"/>
                      </a:endParaRPr>
                    </a:p>
                  </a:txBody>
                  <a:tcPr>
                    <a:lnL w="9525">
                      <a:solidFill>
                        <a:srgbClr val="D9D9D9"/>
                      </a:solidFill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Задачи и vpx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415" name="TextBox 2"/>
          <p:cNvSpPr txBox="1"/>
          <p:nvPr/>
        </p:nvSpPr>
        <p:spPr>
          <a:xfrm>
            <a:off x="302133" y="736600"/>
            <a:ext cx="10160000" cy="1968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vp run &lt;script-name&gt; запускает скрипт из package.json. Разница с vp dev: vp dev — встроенная команда, а vp run dev запускает именно скрипт dev из package.json.</a:t>
            </a:r>
          </a:p>
          <a:p>
            <a:pPr>
              <a:lnSpc>
                <a:spcPct val="122000"/>
              </a:lnSpc>
              <a:spcAft>
                <a:spcPts val="400"/>
              </a:spcAft>
            </a:p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Задача — именованный скрипт. Задачи описываются в vite.config.ts, в блоке run.tasks; у задачи есть command и dependsOn — зависимость от другой задачи. Vite+ кеширует состояние задачи по входным и выходным файлам, поэтому повторный запуск может быть почти мгновенным.</a:t>
            </a:r>
          </a:p>
        </p:txBody>
      </p:sp>
      <p:sp>
        <p:nvSpPr>
          <p:cNvPr id="416" name="Rectangle 3"/>
          <p:cNvSpPr/>
          <p:nvPr/>
        </p:nvSpPr>
        <p:spPr>
          <a:xfrm>
            <a:off x="302133" y="2921000"/>
            <a:ext cx="10160000" cy="1397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17" name="Rectangle 4"/>
          <p:cNvSpPr/>
          <p:nvPr/>
        </p:nvSpPr>
        <p:spPr>
          <a:xfrm>
            <a:off x="302133" y="2921000"/>
            <a:ext cx="50800" cy="1397000"/>
          </a:xfrm>
          <a:prstGeom prst="rect">
            <a:avLst/>
          </a:prstGeom>
          <a:solidFill>
            <a:srgbClr val="1B75B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18" name="TextBox 5"/>
          <p:cNvSpPr txBox="1"/>
          <p:nvPr/>
        </p:nvSpPr>
        <p:spPr>
          <a:xfrm>
            <a:off x="508000" y="3048000"/>
            <a:ext cx="9779000" cy="11887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run: {</a:t>
            </a:r>
            <a:endParaRPr sz="1200">
              <a:solidFill>
                <a:srgbClr val="333333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  tasks: {</a:t>
            </a:r>
            <a:endParaRPr sz="1200">
              <a:solidFill>
                <a:srgbClr val="333333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    build: { command: 'vp build', dependsOn: ['test'] },</a:t>
            </a:r>
            <a:endParaRPr sz="1200">
              <a:solidFill>
                <a:srgbClr val="333333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  },</a:t>
            </a:r>
            <a:endParaRPr sz="1200">
              <a:solidFill>
                <a:srgbClr val="333333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}</a:t>
            </a:r>
            <a:endParaRPr sz="1200">
              <a:solidFill>
                <a:srgbClr val="333333"/>
              </a:solidFill>
              <a:latin typeface="Consolas"/>
            </a:endParaRPr>
          </a:p>
        </p:txBody>
      </p:sp>
      <p:sp>
        <p:nvSpPr>
          <p:cNvPr id="419" name="TextBox 6"/>
          <p:cNvSpPr txBox="1"/>
          <p:nvPr/>
        </p:nvSpPr>
        <p:spPr>
          <a:xfrm>
            <a:off x="302133" y="4572000"/>
            <a:ext cx="10160000" cy="3796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Запуск задачи — vp run &lt;task-name&gt;. Для разовых бинарников есть vpx — аналог npx и bunx.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Git-хуки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428" name="TextBox 2"/>
          <p:cNvSpPr txBox="1"/>
          <p:nvPr/>
        </p:nvSpPr>
        <p:spPr>
          <a:xfrm>
            <a:off x="302133" y="736600"/>
            <a:ext cx="10160000" cy="19221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Хуки включаются командой vp hooks enable и выключаются через vp hooks disable; vp hooks status показывает текущее состояние.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Скрипты лежат в папке .vite-hooks в корне проекта. Её нужно коммитить, чтобы у всей команды были одинаковые хуки. Для pre-commit создаётся файл .vite-hooks/pre-commit с командой vp staged — она проверяет только изменённые файлы.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  <p:sp>
        <p:nvSpPr>
          <p:cNvPr id="429" name="Rectangle 3"/>
          <p:cNvSpPr/>
          <p:nvPr/>
        </p:nvSpPr>
        <p:spPr>
          <a:xfrm>
            <a:off x="302133" y="3111500"/>
            <a:ext cx="10160000" cy="9906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30" name="Rectangle 4"/>
          <p:cNvSpPr/>
          <p:nvPr/>
        </p:nvSpPr>
        <p:spPr>
          <a:xfrm>
            <a:off x="302133" y="3111500"/>
            <a:ext cx="50800" cy="990600"/>
          </a:xfrm>
          <a:prstGeom prst="rect">
            <a:avLst/>
          </a:prstGeom>
          <a:solidFill>
            <a:srgbClr val="1B75B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31" name="TextBox 5"/>
          <p:cNvSpPr txBox="1"/>
          <p:nvPr/>
        </p:nvSpPr>
        <p:spPr>
          <a:xfrm>
            <a:off x="508000" y="3238500"/>
            <a:ext cx="9779000" cy="5303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# .vite-hooks/pre-commit</a:t>
            </a:r>
            <a:endParaRPr sz="1200">
              <a:solidFill>
                <a:srgbClr val="333333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vp staged</a:t>
            </a:r>
            <a:endParaRPr sz="1200">
              <a:solidFill>
                <a:srgbClr val="333333"/>
              </a:solidFill>
              <a:latin typeface="Consolas"/>
            </a:endParaRPr>
          </a:p>
        </p:txBody>
      </p:sp>
      <p:sp>
        <p:nvSpPr>
          <p:cNvPr id="432" name="TextBox 6"/>
          <p:cNvSpPr txBox="1"/>
          <p:nvPr/>
        </p:nvSpPr>
        <p:spPr>
          <a:xfrm>
            <a:off x="302133" y="4318000"/>
            <a:ext cx="10160000" cy="3796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Через staged в vite.config можно задать свои команды: staged: { '*.{js,ts,tsx}': 'vp check --fix' }.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TextBox 1"/>
          <p:cNvSpPr txBox="1"/>
          <p:nvPr/>
        </p:nvSpPr>
        <p:spPr>
          <a:xfrm>
            <a:off x="1016000" y="2032000"/>
            <a:ext cx="5080000" cy="15544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600" b="1">
                <a:solidFill>
                  <a:srgbClr val="1B75BB"/>
                </a:solidFill>
                <a:latin typeface="Arial"/>
              </a:rPr>
              <a:t>03</a:t>
            </a:r>
            <a:endParaRPr sz="9600" b="1">
              <a:solidFill>
                <a:srgbClr val="1B75BB"/>
              </a:solidFill>
              <a:latin typeface="Arial"/>
            </a:endParaRPr>
          </a:p>
        </p:txBody>
      </p:sp>
      <p:sp>
        <p:nvSpPr>
          <p:cNvPr id="508" name="TextBox 2"/>
          <p:cNvSpPr txBox="1"/>
          <p:nvPr/>
        </p:nvSpPr>
        <p:spPr>
          <a:xfrm>
            <a:off x="1016000" y="3556000"/>
            <a:ext cx="10414000" cy="7010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404040"/>
                </a:solidFill>
                <a:latin typeface="Arial"/>
              </a:rPr>
              <a:t>Oxc</a:t>
            </a:r>
            <a:endParaRPr sz="4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509" name="Rectangle 3"/>
          <p:cNvSpPr/>
          <p:nvPr/>
        </p:nvSpPr>
        <p:spPr>
          <a:xfrm>
            <a:off x="1016000" y="4419600"/>
            <a:ext cx="2286000" cy="38100"/>
          </a:xfrm>
          <a:prstGeom prst="rect">
            <a:avLst/>
          </a:prstGeom>
          <a:solidFill>
            <a:srgbClr val="1B75B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10" name="TextBox 4"/>
          <p:cNvSpPr txBox="1"/>
          <p:nvPr/>
        </p:nvSpPr>
        <p:spPr>
          <a:xfrm>
            <a:off x="1016000" y="4673600"/>
            <a:ext cx="9652000" cy="4084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600">
                <a:solidFill>
                  <a:srgbClr val="666666"/>
                </a:solidFill>
                <a:latin typeface="Arial"/>
              </a:rPr>
              <a:t>Линтер и форматтер на Rust</a:t>
            </a:r>
            <a:endParaRPr sz="1600">
              <a:solidFill>
                <a:srgbClr val="666666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Oxc и Oxlint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441" name="TextBox 2"/>
          <p:cNvSpPr txBox="1"/>
          <p:nvPr/>
        </p:nvSpPr>
        <p:spPr>
          <a:xfrm>
            <a:off x="302133" y="736600"/>
            <a:ext cx="10160000" cy="13922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Oxc — набор высокопроизводительных инструментов для JavaScript и TypeScript, написанных на Rust. Oxlint — его линтер на стеке Oxc: быстрый, совместимый с ESLint и использующий tsgo (TypeScript 7).</a:t>
            </a:r>
          </a:p>
          <a:p>
            <a:pPr>
              <a:lnSpc>
                <a:spcPct val="122000"/>
              </a:lnSpc>
              <a:spcAft>
                <a:spcPts val="400"/>
              </a:spcAft>
            </a:p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Установка и скрипты:</a:t>
            </a:r>
          </a:p>
        </p:txBody>
      </p:sp>
      <p:sp>
        <p:nvSpPr>
          <p:cNvPr id="442" name="Rectangle 3"/>
          <p:cNvSpPr/>
          <p:nvPr/>
        </p:nvSpPr>
        <p:spPr>
          <a:xfrm>
            <a:off x="302133" y="2159000"/>
            <a:ext cx="10160000" cy="177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43" name="Rectangle 4"/>
          <p:cNvSpPr/>
          <p:nvPr/>
        </p:nvSpPr>
        <p:spPr>
          <a:xfrm>
            <a:off x="302133" y="2159000"/>
            <a:ext cx="50800" cy="1778000"/>
          </a:xfrm>
          <a:prstGeom prst="rect">
            <a:avLst/>
          </a:prstGeom>
          <a:solidFill>
            <a:srgbClr val="1B75B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44" name="TextBox 5"/>
          <p:cNvSpPr txBox="1"/>
          <p:nvPr/>
        </p:nvSpPr>
        <p:spPr>
          <a:xfrm>
            <a:off x="508000" y="2159000"/>
            <a:ext cx="9779000" cy="16510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npm install -D oxlint</a:t>
            </a:r>
          </a:p>
          <a:p>
            <a:pPr>
              <a:lnSpc>
                <a:spcPct val="120000"/>
              </a:lnSpc>
            </a:p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// package.json</a:t>
            </a: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"scripts": {</a:t>
            </a:r>
          </a:p>
          <a:p>
            <a:r>
              <a:rPr sz="1200">
                <a:solidFill>
                  <a:srgbClr val="333333"/>
                </a:solidFill>
                <a:latin typeface="Consolas"/>
              </a:rPr>
              <a:t>  "lint": "oxlint",</a:t>
            </a:r>
          </a:p>
          <a:p>
            <a:r>
              <a:rPr sz="1200">
                <a:solidFill>
                  <a:srgbClr val="333333"/>
                </a:solidFill>
                <a:latin typeface="Consolas"/>
              </a:rPr>
              <a:t>  "lint:fix": "oxlint --fix"</a:t>
            </a:r>
          </a:p>
          <a:p>
            <a:r>
              <a:rPr sz="1200">
                <a:solidFill>
                  <a:srgbClr val="333333"/>
                </a:solidFill>
                <a:latin typeface="Consolas"/>
              </a:rPr>
              <a:t>}</a:t>
            </a:r>
          </a:p>
        </p:txBody>
      </p:sp>
      <p:sp>
        <p:nvSpPr>
          <p:cNvPr id="445" name="TextBox 6"/>
          <p:cNvSpPr txBox="1"/>
          <p:nvPr/>
        </p:nvSpPr>
        <p:spPr>
          <a:xfrm>
            <a:off x="302133" y="4381500"/>
            <a:ext cx="10160000" cy="667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Oxlint проверяет код, а --fix автоматически исправляет то, что можно исправить. Запуск: npm run lint или npm run lint:fix.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Конфиг и плагины Oxlint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454" name="TextBox 2"/>
          <p:cNvSpPr txBox="1"/>
          <p:nvPr/>
        </p:nvSpPr>
        <p:spPr>
          <a:xfrm>
            <a:off x="302133" y="736600"/>
            <a:ext cx="10160000" cy="3796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Конфиг создаётся командой oxlint --init. Файл называется .oxlintrc.json или oxlint.config.ts. Базовый вариант: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  <p:sp>
        <p:nvSpPr>
          <p:cNvPr id="455" name="Rectangle 3"/>
          <p:cNvSpPr/>
          <p:nvPr/>
        </p:nvSpPr>
        <p:spPr>
          <a:xfrm>
            <a:off x="302133" y="1968500"/>
            <a:ext cx="10160000" cy="9906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56" name="Rectangle 4"/>
          <p:cNvSpPr/>
          <p:nvPr/>
        </p:nvSpPr>
        <p:spPr>
          <a:xfrm>
            <a:off x="302133" y="1968500"/>
            <a:ext cx="50800" cy="990600"/>
          </a:xfrm>
          <a:prstGeom prst="rect">
            <a:avLst/>
          </a:prstGeom>
          <a:solidFill>
            <a:srgbClr val="1B75B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57" name="TextBox 5"/>
          <p:cNvSpPr txBox="1"/>
          <p:nvPr/>
        </p:nvSpPr>
        <p:spPr>
          <a:xfrm>
            <a:off x="508000" y="2095500"/>
            <a:ext cx="9779000" cy="7498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import { defineConfig } from 'oxlint';</a:t>
            </a:r>
            <a:endParaRPr sz="1200">
              <a:solidFill>
                <a:srgbClr val="333333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endParaRPr sz="1200">
              <a:solidFill>
                <a:srgbClr val="333333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export default defineConfig({});</a:t>
            </a:r>
            <a:endParaRPr sz="1200">
              <a:solidFill>
                <a:srgbClr val="333333"/>
              </a:solidFill>
              <a:latin typeface="Consolas"/>
            </a:endParaRPr>
          </a:p>
        </p:txBody>
      </p:sp>
      <p:sp>
        <p:nvSpPr>
          <p:cNvPr id="458" name="TextBox 6"/>
          <p:cNvSpPr txBox="1"/>
          <p:nvPr/>
        </p:nvSpPr>
        <p:spPr>
          <a:xfrm>
            <a:off x="302133" y="3238500"/>
            <a:ext cx="10160000" cy="124419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Плагин — это именованная группа правил; его включение делает правила доступными. Встроенные плагины перечисляются в поле plugins, например plugins: ['import']. Эта запись переопределяет набор плагинов, включённых по умолчанию. Плагин eslint включён по умолчанию и подключает основные правила ESLint.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TextBox 1"/>
          <p:cNvSpPr txBox="1"/>
          <p:nvPr/>
        </p:nvSpPr>
        <p:spPr>
          <a:xfrm>
            <a:off x="1016000" y="2032000"/>
            <a:ext cx="5080000" cy="15544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600" b="1">
                <a:solidFill>
                  <a:srgbClr val="1B75BB"/>
                </a:solidFill>
                <a:latin typeface="Arial"/>
              </a:rPr>
              <a:t>04</a:t>
            </a:r>
            <a:endParaRPr sz="9600" b="1">
              <a:solidFill>
                <a:srgbClr val="1B75BB"/>
              </a:solidFill>
              <a:latin typeface="Arial"/>
            </a:endParaRPr>
          </a:p>
        </p:txBody>
      </p:sp>
      <p:sp>
        <p:nvSpPr>
          <p:cNvPr id="501" name="TextBox 2"/>
          <p:cNvSpPr txBox="1"/>
          <p:nvPr/>
        </p:nvSpPr>
        <p:spPr>
          <a:xfrm>
            <a:off x="1016000" y="3556000"/>
            <a:ext cx="10414000" cy="7010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404040"/>
                </a:solidFill>
                <a:latin typeface="Arial"/>
              </a:rPr>
              <a:t>Nginx</a:t>
            </a:r>
            <a:endParaRPr sz="4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502" name="Rectangle 3"/>
          <p:cNvSpPr/>
          <p:nvPr/>
        </p:nvSpPr>
        <p:spPr>
          <a:xfrm>
            <a:off x="1016000" y="4419600"/>
            <a:ext cx="2286000" cy="38100"/>
          </a:xfrm>
          <a:prstGeom prst="rect">
            <a:avLst/>
          </a:prstGeom>
          <a:solidFill>
            <a:srgbClr val="1B75B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03" name="TextBox 4"/>
          <p:cNvSpPr txBox="1"/>
          <p:nvPr/>
        </p:nvSpPr>
        <p:spPr>
          <a:xfrm>
            <a:off x="1016000" y="4673600"/>
            <a:ext cx="9652000" cy="4084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600">
                <a:solidFill>
                  <a:srgbClr val="666666"/>
                </a:solidFill>
                <a:latin typeface="Arial"/>
              </a:rPr>
              <a:t>Точка входа в production: статика, proxy и HTTPS</a:t>
            </a:r>
            <a:endParaRPr sz="1600">
              <a:solidFill>
                <a:srgbClr val="666666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Зачем Nginx фронтенду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467" name="TextBox 2"/>
          <p:cNvSpPr txBox="1"/>
          <p:nvPr/>
        </p:nvSpPr>
        <p:spPr>
          <a:xfrm>
            <a:off x="302133" y="736600"/>
            <a:ext cx="10160000" cy="27017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После сборки Vite получается папка dist с HTML, JS, CSS и шрифтами. Отдавать её через Node-сервер можно, но дороже и медленнее: Nginx делает это эффективнее и берёт на себя инфраструктурные задачи.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Статика — быстрая отдача файлов.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Reverse proxy — прячет API, снимает CORS и балансирует нагрузку между инстансами.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TLS и кэш — терминирует HTTPS, сжимает gzip и кэширует ассеты на клиенте.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В типичном деплое Nginx — точка входа, а Node/API — за ним.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  <p:graphicFrame>
        <p:nvGraphicFramePr>
          <p:cNvPr id="468" name="Table 3"/>
          <p:cNvGraphicFramePr>
            <a:graphicFrameLocks noGrp="1"/>
          </p:cNvGraphicFramePr>
          <p:nvPr/>
        </p:nvGraphicFramePr>
        <p:xfrm>
          <a:off x="302133" y="3873500"/>
          <a:ext cx="1016000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/>
                <a:gridCol w="7112000"/>
              </a:tblGrid>
              <a:tr h="3810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Роль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1B75B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Что делает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1B75BB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Статика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HTML, JS, CSS, шрифты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Reverse proxy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API, CORS, балансировка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TLS и кэш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HTTPS, gzip, кэш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Карта конфига и ключевые директивы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474" name="TextBox 2"/>
          <p:cNvSpPr txBox="1"/>
          <p:nvPr/>
        </p:nvSpPr>
        <p:spPr>
          <a:xfrm>
            <a:off x="302133" y="736600"/>
            <a:ext cx="10160000" cy="667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Конфиг Nginx вложен сверху вниз: настройки из http наследуются в server, а из server — в location. Простые директивы заканчиваются ;, блочные — { }. Подключение файлов — include /etc/nginx/conf.d/*.conf;.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  <p:graphicFrame>
        <p:nvGraphicFramePr>
          <p:cNvPr id="475" name="Table 3"/>
          <p:cNvGraphicFramePr>
            <a:graphicFrameLocks noGrp="1"/>
          </p:cNvGraphicFramePr>
          <p:nvPr/>
        </p:nvGraphicFramePr>
        <p:xfrm>
          <a:off x="302133" y="1905000"/>
          <a:ext cx="10160000" cy="215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00"/>
                <a:gridCol w="7620000"/>
              </a:tblGrid>
              <a:tr h="359833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Контекст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1B75B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Что настраивает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1B75BB"/>
                    </a:solidFill>
                  </a:tcPr>
                </a:tc>
              </a:tr>
              <a:tr h="359833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main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user, worker_processes, error_log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59833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events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worker_connections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59833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http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mime.types, gzip, upstream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59833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server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listen, server_name, root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59833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location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try_files, proxy_pass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76" name="TextBox 4"/>
          <p:cNvSpPr txBox="1"/>
          <p:nvPr/>
        </p:nvSpPr>
        <p:spPr>
          <a:xfrm>
            <a:off x="302133" y="4318000"/>
            <a:ext cx="10160000" cy="667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Для SPA важны try_files (fallback на index.html), для API — proxy_pass, для ассетов — expires и gzip, для HTTPS — ssl и return 301.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Минимальный конфиг SPA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483" name="TextBox 2"/>
          <p:cNvSpPr txBox="1"/>
          <p:nvPr/>
        </p:nvSpPr>
        <p:spPr>
          <a:xfrm>
            <a:off x="302133" y="736600"/>
            <a:ext cx="10160000" cy="3796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Вот минимальный server, которого хватает для SPA: статика, fallback на index.html и proxy на API.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  <p:sp>
        <p:nvSpPr>
          <p:cNvPr id="484" name="Rectangle 3"/>
          <p:cNvSpPr/>
          <p:nvPr/>
        </p:nvSpPr>
        <p:spPr>
          <a:xfrm>
            <a:off x="302133" y="1333500"/>
            <a:ext cx="10160000" cy="36195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85" name="Rectangle 4"/>
          <p:cNvSpPr/>
          <p:nvPr/>
        </p:nvSpPr>
        <p:spPr>
          <a:xfrm>
            <a:off x="302133" y="1333500"/>
            <a:ext cx="50800" cy="3619500"/>
          </a:xfrm>
          <a:prstGeom prst="rect">
            <a:avLst/>
          </a:prstGeom>
          <a:solidFill>
            <a:srgbClr val="1B75B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86" name="TextBox 5"/>
          <p:cNvSpPr txBox="1"/>
          <p:nvPr/>
        </p:nvSpPr>
        <p:spPr>
          <a:xfrm>
            <a:off x="508000" y="1333500"/>
            <a:ext cx="9779000" cy="34925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server {</a:t>
            </a: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  listen 80;</a:t>
            </a: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  server_name example.com;</a:t>
            </a: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  root /usr/share/nginx/html;</a:t>
            </a:r>
          </a:p>
          <a:p>
            <a:pPr>
              <a:lnSpc>
                <a:spcPct val="120000"/>
              </a:lnSpc>
            </a:p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  location / {</a:t>
            </a: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    try_files $uri $uri/ /index.html;</a:t>
            </a: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  }</a:t>
            </a: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  location /api/ { proxy_pass http://api:3000/; }</a:t>
            </a: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  location ~* \.(js|css|png|svg|woff2)$ {</a:t>
            </a: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    expires 30d;</a:t>
            </a: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    add_header Cache-Control "public, immutable";</a:t>
            </a: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  }</a:t>
            </a: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}</a:t>
            </a:r>
          </a:p>
        </p:txBody>
      </p:sp>
      <p:sp>
        <p:nvSpPr>
          <p:cNvPr id="487" name="TextBox 6"/>
          <p:cNvSpPr txBox="1"/>
          <p:nvPr/>
        </p:nvSpPr>
        <p:spPr>
          <a:xfrm>
            <a:off x="302133" y="5080000"/>
            <a:ext cx="10160000" cy="585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350">
                <a:solidFill>
                  <a:srgbClr val="404040"/>
                </a:solidFill>
                <a:latin typeface="Arial"/>
              </a:rPr>
              <a:t>Без try_files прямой заход на /posts/1 даст 404. gzip, кэш и HTTPS добавляются в этот же server. Проверка: nginx -t → nginx -s reload.</a:t>
            </a:r>
            <a:endParaRPr sz="1350">
              <a:solidFill>
                <a:srgbClr val="40404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Итог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496" name="TextBox 2"/>
          <p:cNvSpPr txBox="1"/>
          <p:nvPr/>
        </p:nvSpPr>
        <p:spPr>
          <a:xfrm>
            <a:off x="302133" y="736600"/>
            <a:ext cx="10160000" cy="25745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600">
                <a:solidFill>
                  <a:srgbClr val="404040"/>
                </a:solidFill>
                <a:latin typeface="Arial"/>
              </a:rPr>
              <a:t>Vite — быстрый dev-сервер и сборщик; его конфиг живёт в vite.config.ts.</a:t>
            </a:r>
            <a:endParaRPr sz="160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600">
                <a:solidFill>
                  <a:srgbClr val="404040"/>
                </a:solidFill>
                <a:latin typeface="Arial"/>
              </a:rPr>
              <a:t>Vite+ — единый CLI vp для зависимостей, проверок, тестов и задач.</a:t>
            </a:r>
            <a:endParaRPr sz="160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600">
                <a:solidFill>
                  <a:srgbClr val="404040"/>
                </a:solidFill>
                <a:latin typeface="Arial"/>
              </a:rPr>
              <a:t>Oxc — Oxlint и Oxfmt на Rust для быстрого линтинга и форматирования.</a:t>
            </a:r>
            <a:endParaRPr sz="160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600">
                <a:solidFill>
                  <a:srgbClr val="404040"/>
                </a:solidFill>
                <a:latin typeface="Arial"/>
              </a:rPr>
              <a:t>Nginx — точка входа в проде: статика, SPA-fallback, proxy и HTTPS.</a:t>
            </a:r>
            <a:endParaRPr sz="160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35000"/>
              </a:lnSpc>
              <a:spcAft>
                <a:spcPts val="800"/>
              </a:spcAft>
            </a:pPr>
            <a:endParaRPr sz="160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600">
                <a:solidFill>
                  <a:srgbClr val="404040"/>
                </a:solidFill>
                <a:latin typeface="Arial"/>
              </a:rPr>
              <a:t>Дальше: собрать проект на Vite+, настроить vp check и развернуть его за Nginx.</a:t>
            </a:r>
            <a:endParaRPr sz="1600">
              <a:solidFill>
                <a:srgbClr val="404040"/>
              </a:solidFill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Титульный слайд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Классическая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>
          <a:solidFill>
            <a:schemeClr val="phClr"/>
          </a:solidFill>
          <a:prstDash val="solid"/>
          <a:miter/>
        </a:ln>
        <a:ln w="12700" cap="flat" cmpd="sng">
          <a:solidFill>
            <a:schemeClr val="phClr"/>
          </a:solidFill>
          <a:prstDash val="solid"/>
          <a:miter/>
        </a:ln>
        <a:ln w="19050" cap="flat" cmpd="sng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 xmlns:a="http://schemas.openxmlformats.org/drawingml/2006/main"/>
  <a:extraClrSchemeLst xmlns:a="http://schemas.openxmlformats.org/drawingml/2006/main"/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АСЭ няшная">
      <a:dk1>
        <a:srgbClr val="726F6F"/>
      </a:dk1>
      <a:lt1>
        <a:srgbClr val="FFFFFF"/>
      </a:lt1>
      <a:dk2>
        <a:srgbClr val="033174"/>
      </a:dk2>
      <a:lt2>
        <a:srgbClr val="E7E6E6"/>
      </a:lt2>
      <a:accent1>
        <a:srgbClr val="F1D8D9"/>
      </a:accent1>
      <a:accent2>
        <a:srgbClr val="E09BB0"/>
      </a:accent2>
      <a:accent3>
        <a:srgbClr val="3B91C7"/>
      </a:accent3>
      <a:accent4>
        <a:srgbClr val="7EAB7C"/>
      </a:accent4>
      <a:accent5>
        <a:srgbClr val="ABD0E0"/>
      </a:accent5>
      <a:accent6>
        <a:srgbClr val="6495BC"/>
      </a:accent6>
      <a:hlink>
        <a:srgbClr val="AEBCD7"/>
      </a:hlink>
      <a:folHlink>
        <a:srgbClr val="954F72"/>
      </a:folHlink>
    </a:clrScheme>
    <a:fontScheme name="Тема 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>
          <a:solidFill>
            <a:schemeClr val="phClr"/>
          </a:solidFill>
          <a:prstDash val="solid"/>
          <a:miter/>
        </a:ln>
        <a:ln w="12700" cap="flat" cmpd="sng">
          <a:solidFill>
            <a:schemeClr val="phClr"/>
          </a:solidFill>
          <a:prstDash val="solid"/>
          <a:miter/>
        </a:ln>
        <a:ln w="19050" cap="flat" cmpd="sng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 xmlns:a="http://schemas.openxmlformats.org/drawingml/2006/main"/>
  <a:extraClrSchemeLst xmlns:a="http://schemas.openxmlformats.org/drawingml/2006/main"/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>
          <a:solidFill>
            <a:schemeClr val="phClr"/>
          </a:solidFill>
          <a:prstDash val="solid"/>
          <a:miter/>
        </a:ln>
        <a:ln w="12700" cap="flat" cmpd="sng">
          <a:solidFill>
            <a:schemeClr val="phClr"/>
          </a:solidFill>
          <a:prstDash val="solid"/>
          <a:miter/>
        </a:ln>
        <a:ln w="19050" cap="flat" cmpd="sng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 xmlns:a="http://schemas.openxmlformats.org/drawingml/2006/main"/>
  <a:extraClrSchemeLst xmlns:a="http://schemas.openxmlformats.org/drawingml/2006/main"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DeckCraft</Application>
  <Slides>29</Slides>
  <Notes>0</Notes>
  <HiddenSlides>0</Hidden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Vite, Vite+, Oxc и Nginx — Лекция 1</dc:title>
  <dc:subject>Инструменты сборки, линтинга и доставки фронтенда</dc:subject>
  <dc:creator>Пользователь</dc:creator>
  <cp:keywords>Vite, Vite+, Oxc, Oxlint, Oxfmt, Nginx</cp:keywords>
  <cp:lastModifiedBy>Даниэль Эрнандес Гарсия</cp:lastModifiedBy>
  <cp:revision>100</cp:revision>
  <dcterms:created xsi:type="dcterms:W3CDTF">2020-10-13T10:00:27Z</dcterms:created>
  <dcterms:modified xsi:type="dcterms:W3CDTF">2025-12-09T21:58:05Z</dcterms:modified>
</cp:coreProperties>
</file>