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12192000" cy="6858000"/>
  <p:notesSz cx="6858000" cy="9144000"/>
  <p:defaultTextStyle>
    <a:lvl1pPr marL="0" algn="l">
      <a:defRPr sz="1800" kern="1200">
        <a:solidFill>
          <a:schemeClr val="tx1"/>
        </a:solidFill>
        <a:latin typeface="+mn-lt"/>
      </a:defRPr>
    </a:lvl1pPr>
    <a:lvl2pPr marL="457200" algn="l">
      <a:defRPr sz="1800" kern="1200">
        <a:solidFill>
          <a:schemeClr val="tx1"/>
        </a:solidFill>
        <a:latin typeface="+mn-lt"/>
      </a:defRPr>
    </a:lvl2pPr>
    <a:lvl3pPr marL="914400" algn="l">
      <a:defRPr sz="1800" kern="1200">
        <a:solidFill>
          <a:schemeClr val="tx1"/>
        </a:solidFill>
        <a:latin typeface="+mn-lt"/>
      </a:defRPr>
    </a:lvl3pPr>
    <a:lvl4pPr marL="1371600" algn="l">
      <a:defRPr sz="1800" kern="1200">
        <a:solidFill>
          <a:schemeClr val="tx1"/>
        </a:solidFill>
        <a:latin typeface="+mn-lt"/>
      </a:defRPr>
    </a:lvl4pPr>
    <a:lvl5pPr marL="1828800" algn="l">
      <a:defRPr sz="1800" kern="1200">
        <a:solidFill>
          <a:schemeClr val="tx1"/>
        </a:solidFill>
        <a:latin typeface="+mn-lt"/>
      </a:defRPr>
    </a:lvl5pPr>
    <a:lvl6pPr marL="2286000" algn="l">
      <a:defRPr sz="1800" kern="1200">
        <a:solidFill>
          <a:schemeClr val="tx1"/>
        </a:solidFill>
        <a:latin typeface="+mn-lt"/>
      </a:defRPr>
    </a:lvl6pPr>
    <a:lvl7pPr marL="2743200" algn="l">
      <a:defRPr sz="1800" kern="1200">
        <a:solidFill>
          <a:schemeClr val="tx1"/>
        </a:solidFill>
        <a:latin typeface="+mn-lt"/>
      </a:defRPr>
    </a:lvl7pPr>
    <a:lvl8pPr marL="3200400" algn="l">
      <a:defRPr sz="1800" kern="1200">
        <a:solidFill>
          <a:schemeClr val="tx1"/>
        </a:solidFill>
        <a:latin typeface="+mn-lt"/>
      </a:defRPr>
    </a:lvl8pPr>
    <a:lvl9pPr marL="3657600" algn="l">
      <a:defRPr sz="1800" kern="1200">
        <a:solidFill>
          <a:schemeClr val="tx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theme" Target="theme/theme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1524000" y="1117600"/>
            <a:ext cx="9144000" cy="2387600"/>
          </a:xfrm>
          <a:prstGeom prst="rect">
            <a:avLst/>
          </a:prstGeom>
        </p:spPr>
        <p:txBody>
          <a:bodyPr anchor="b">
            <a:normAutofit fontScale="100000"/>
          </a:bodyPr>
          <a:lstStyle>
            <a:lvl1pPr algn="ctr">
              <a:defRPr sz="6000"/>
            </a:lvl1pPr>
          </a:lstStyle>
          <a:p/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1524000" y="3606800"/>
            <a:ext cx="9144000" cy="1651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 algn="ctr">
              <a:buNone/>
              <a:defRPr sz="2400"/>
            </a:lvl1pPr>
          </a:lstStyle>
          <a:p/>
        </p:txBody>
      </p:sp>
      <p:sp>
        <p:nvSpPr>
          <p:cNvPr id="9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0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1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C6D5D-A00E-4AA9-84F2-364CBECE0EEA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15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6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7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D0F9E-EF7E-4C26-8662-25A73F2263DD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825500" y="1714500"/>
            <a:ext cx="10541000" cy="2857500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/>
        </p:txBody>
      </p:sp>
      <p:sp>
        <p:nvSpPr>
          <p:cNvPr id="20" name="Text Placeholder 2"/>
          <p:cNvSpPr>
            <a:spLocks noGrp="1"/>
          </p:cNvSpPr>
          <p:nvPr>
            <p:ph type="body" idx="1"/>
          </p:nvPr>
        </p:nvSpPr>
        <p:spPr>
          <a:xfrm>
            <a:off x="825500" y="4597400"/>
            <a:ext cx="10541000" cy="14986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/>
        </p:txBody>
      </p:sp>
      <p:sp>
        <p:nvSpPr>
          <p:cNvPr id="21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2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3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C18080-B33E-4073-8615-72D8F5AE8F78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26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52324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27" name="Content Placeholder 3"/>
          <p:cNvSpPr>
            <a:spLocks noGrp="1"/>
          </p:cNvSpPr>
          <p:nvPr>
            <p:ph idx="2"/>
          </p:nvPr>
        </p:nvSpPr>
        <p:spPr>
          <a:xfrm>
            <a:off x="6197600" y="1828800"/>
            <a:ext cx="52324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28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9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0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CB9569-04AF-4288-8880-64CE52ABE7A3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3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/>
        </p:txBody>
      </p:sp>
      <p:sp>
        <p:nvSpPr>
          <p:cNvPr id="34" name="Content Placeholder 3"/>
          <p:cNvSpPr>
            <a:spLocks noGrp="1"/>
          </p:cNvSpPr>
          <p:nvPr>
            <p:ph idx="2"/>
          </p:nvPr>
        </p:nvSpPr>
        <p:spPr>
          <a:xfrm>
            <a:off x="762000" y="2514600"/>
            <a:ext cx="5232400" cy="36703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35" name="Text Placeholder 4"/>
          <p:cNvSpPr>
            <a:spLocks noGrp="1"/>
          </p:cNvSpPr>
          <p:nvPr>
            <p:ph type="body" idx="3"/>
          </p:nvPr>
        </p:nvSpPr>
        <p:spPr>
          <a:xfrm>
            <a:off x="61976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/>
        </p:txBody>
      </p:sp>
      <p:sp>
        <p:nvSpPr>
          <p:cNvPr id="36" name="Content Placeholder 5"/>
          <p:cNvSpPr>
            <a:spLocks noGrp="1"/>
          </p:cNvSpPr>
          <p:nvPr>
            <p:ph idx="4"/>
          </p:nvPr>
        </p:nvSpPr>
        <p:spPr>
          <a:xfrm>
            <a:off x="6197600" y="2514600"/>
            <a:ext cx="5232400" cy="36703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37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8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9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533E07-937E-4FED-8300-891295843456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4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28B55B-FA15-48BA-860D-0231187503D9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E0EBC0-ADA9-4FA7-889C-9287646BC794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/>
        </p:txBody>
      </p:sp>
      <p:sp>
        <p:nvSpPr>
          <p:cNvPr id="51" name="Content Placeholder 2"/>
          <p:cNvSpPr>
            <a:spLocks noGrp="1"/>
          </p:cNvSpPr>
          <p:nvPr>
            <p:ph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52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1600"/>
            </a:lvl1pPr>
          </a:lstStyle>
          <a:p/>
        </p:txBody>
      </p:sp>
      <p:sp>
        <p:nvSpPr>
          <p:cNvPr id="53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4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5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25AB8-FB3A-479C-8780-0B7E5F586C0F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/>
        </p:txBody>
      </p:sp>
      <p:sp>
        <p:nvSpPr>
          <p:cNvPr id="58" name="Picture Placeholder 2"/>
          <p:cNvSpPr>
            <a:spLocks noGrp="1"/>
          </p:cNvSpPr>
          <p:nvPr>
            <p:ph type="pic"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59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1600"/>
            </a:lvl1pPr>
          </a:lstStyle>
          <a:p/>
        </p:txBody>
      </p:sp>
      <p:sp>
        <p:nvSpPr>
          <p:cNvPr id="60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1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2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EFC29A-6C4F-4141-86E3-1A3E2D58E3A2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65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vert="eaVert" anchor="t">
            <a:normAutofit fontScale="100000"/>
          </a:bodyPr>
          <a:lstStyle/>
          <a:p/>
        </p:txBody>
      </p:sp>
      <p:sp>
        <p:nvSpPr>
          <p:cNvPr id="6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19C649-D3E0-46CB-87C1-67136E4226A6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8300"/>
            <a:ext cx="2705100" cy="5816600"/>
          </a:xfrm>
          <a:prstGeom prst="rect">
            <a:avLst/>
          </a:prstGeom>
        </p:spPr>
        <p:txBody>
          <a:bodyPr vert="eaVert"/>
          <a:lstStyle/>
          <a:p/>
        </p:txBody>
      </p:sp>
      <p:sp>
        <p:nvSpPr>
          <p:cNvPr id="71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68300"/>
            <a:ext cx="7772400" cy="5816600"/>
          </a:xfrm>
          <a:prstGeom prst="rect">
            <a:avLst/>
          </a:prstGeom>
        </p:spPr>
        <p:txBody>
          <a:bodyPr vert="eaVert" anchor="t">
            <a:normAutofit fontScale="100000"/>
          </a:bodyPr>
          <a:lstStyle/>
          <a:p/>
        </p:txBody>
      </p:sp>
      <p:sp>
        <p:nvSpPr>
          <p:cNvPr id="7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7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7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EBE78A-EB3E-401E-81B5-D7F53201DAF3}" type="slidenum">
              <a:rPr/>
              <a:t>‹#›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la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>
            <a:r>
              <a:rPr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>
            <a:r>
              <a:rPr/>
              <a:t>Click to edit Master text styles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</a:defRPr>
      </a:lvl1pPr>
      <a:lvl2pPr marL="685800" indent="-228600" algn="l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</a:defRPr>
      </a:lvl2pPr>
      <a:lvl3pPr marL="1143000" indent="-228600" algn="l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</a:defRPr>
      </a:lvl3pPr>
      <a:lvl4pPr marL="1600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4pPr>
      <a:lvl5pPr marL="20574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5pPr>
      <a:lvl6pPr marL="25146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lvl1pPr marL="0" algn="l">
        <a:defRPr sz="1800" kern="1200">
          <a:solidFill>
            <a:schemeClr val="tx1"/>
          </a:solidFill>
          <a:latin typeface="+mn-lt"/>
        </a:defRPr>
      </a:lvl1pPr>
      <a:lvl2pPr marL="457200" algn="l">
        <a:defRPr sz="1800" kern="1200">
          <a:solidFill>
            <a:schemeClr val="tx1"/>
          </a:solidFill>
          <a:latin typeface="+mn-lt"/>
        </a:defRPr>
      </a:lvl2pPr>
      <a:lvl3pPr marL="914400" algn="l">
        <a:defRPr sz="1800" kern="1200">
          <a:solidFill>
            <a:schemeClr val="tx1"/>
          </a:solidFill>
          <a:latin typeface="+mn-lt"/>
        </a:defRPr>
      </a:lvl3pPr>
      <a:lvl4pPr marL="1371600" algn="l">
        <a:defRPr sz="1800" kern="1200">
          <a:solidFill>
            <a:schemeClr val="tx1"/>
          </a:solidFill>
          <a:latin typeface="+mn-lt"/>
        </a:defRPr>
      </a:lvl4pPr>
      <a:lvl5pPr marL="1828800" algn="l">
        <a:defRPr sz="1800" kern="1200">
          <a:solidFill>
            <a:schemeClr val="tx1"/>
          </a:solidFill>
          <a:latin typeface="+mn-lt"/>
        </a:defRPr>
      </a:lvl5pPr>
      <a:lvl6pPr marL="2286000" algn="l">
        <a:defRPr sz="1800" kern="1200">
          <a:solidFill>
            <a:schemeClr val="tx1"/>
          </a:solidFill>
          <a:latin typeface="+mn-lt"/>
        </a:defRPr>
      </a:lvl6pPr>
      <a:lvl7pPr marL="2743200" algn="l">
        <a:defRPr sz="1800" kern="1200">
          <a:solidFill>
            <a:schemeClr val="tx1"/>
          </a:solidFill>
          <a:latin typeface="+mn-lt"/>
        </a:defRPr>
      </a:lvl7pPr>
      <a:lvl8pPr marL="3200400" algn="l">
        <a:defRPr sz="1800" kern="1200">
          <a:solidFill>
            <a:schemeClr val="tx1"/>
          </a:solidFill>
          <a:latin typeface="+mn-lt"/>
        </a:defRPr>
      </a:lvl8pPr>
      <a:lvl9pPr marL="3657600" algn="l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Title 1"/>
          <p:cNvSpPr>
            <a:spLocks noGrp="1"/>
          </p:cNvSpPr>
          <p:nvPr>
            <p:ph type="ctrTitle"/>
          </p:nvPr>
        </p:nvSpPr>
        <p:spPr>
          <a:xfrm>
            <a:off x="1524000" y="1117600"/>
            <a:ext cx="9144000" cy="2387600"/>
          </a:xfrm>
          <a:prstGeom prst="rect">
            <a:avLst/>
          </a:prstGeom>
        </p:spPr>
        <p:txBody>
          <a:bodyPr/>
          <a:lstStyle/>
          <a:p>
            <a:pPr>
              <a:lnSpc>
                <a:spcPct val="115000"/>
              </a:lnSpc>
            </a:pPr>
            <a:r>
              <a:rPr sz="3800" b="1">
                <a:solidFill>
                  <a:srgbClr val="1F2937"/>
                </a:solidFill>
              </a:rPr>
              <a:t>Современные технологии сборки,</a:t>
            </a:r>
            <a:endParaRPr sz="3800" b="1">
              <a:solidFill>
                <a:srgbClr val="1F2937"/>
              </a:solidFill>
            </a:endParaRPr>
          </a:p>
          <a:p>
            <a:pPr>
              <a:lnSpc>
                <a:spcPct val="115000"/>
              </a:lnSpc>
            </a:pPr>
            <a:r>
              <a:rPr sz="3800" b="1">
                <a:solidFill>
                  <a:srgbClr val="1F2937"/>
                </a:solidFill>
              </a:rPr>
              <a:t>линтинга и роутинга</a:t>
            </a:r>
            <a:endParaRPr sz="3800" b="1">
              <a:solidFill>
                <a:srgbClr val="1F2937"/>
              </a:solidFill>
            </a:endParaRPr>
          </a:p>
          <a:p>
            <a:pPr>
              <a:lnSpc>
                <a:spcPct val="115000"/>
              </a:lnSpc>
            </a:pPr>
            <a:r>
              <a:rPr sz="3800" b="1">
                <a:solidFill>
                  <a:srgbClr val="1F2937"/>
                </a:solidFill>
              </a:rPr>
              <a:t>во фронтенд-приложениях</a:t>
            </a:r>
            <a:endParaRPr sz="3800" b="1">
              <a:solidFill>
                <a:srgbClr val="1F2937"/>
              </a:solidFill>
            </a:endParaRPr>
          </a:p>
        </p:txBody>
      </p:sp>
      <p:sp>
        <p:nvSpPr>
          <p:cNvPr id="259" name="Subtitle 2"/>
          <p:cNvSpPr>
            <a:spLocks noGrp="1"/>
          </p:cNvSpPr>
          <p:nvPr>
            <p:ph type="subTitle" idx="1"/>
          </p:nvPr>
        </p:nvSpPr>
        <p:spPr>
          <a:xfrm>
            <a:off x="1524000" y="3606800"/>
            <a:ext cx="9144000" cy="1651000"/>
          </a:xfrm>
          <a:prstGeom prst="rect">
            <a:avLst/>
          </a:prstGeom>
        </p:spPr>
        <p:txBody>
          <a:bodyPr/>
          <a:lstStyle/>
          <a:p>
            <a:r>
              <a:rPr sz="2000">
                <a:solidFill>
                  <a:srgbClr val="A5A5A5"/>
                </a:solidFill>
              </a:rPr>
              <a:t>Vite · Oxidation Compiler · TanStack Router</a:t>
            </a:r>
            <a:endParaRPr sz="2000">
              <a:solidFill>
                <a:srgbClr val="A5A5A5"/>
              </a:solidFill>
            </a:endParaRPr>
          </a:p>
          <a:p>
            <a:r>
              <a:rPr sz="2000">
                <a:solidFill>
                  <a:srgbClr val="A5A5A5"/>
                </a:solidFill>
              </a:rPr>
              <a:t>Лекция 1</a:t>
            </a:r>
            <a:endParaRPr sz="2000">
              <a:solidFill>
                <a:srgbClr val="A5A5A5"/>
              </a:solidFill>
            </a:endParaRPr>
          </a:p>
        </p:txBody>
      </p:sp>
      <p:pic>
        <p:nvPicPr>
          <p:cNvPr id="261" name="Picture 3" descr="image1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350000" y="0"/>
            <a:ext cx="5842000" cy="6858000"/>
          </a:xfrm>
          <a:prstGeom prst="rect">
            <a:avLst/>
          </a:prstGeom>
        </p:spPr>
      </p:pic>
      <p:pic>
        <p:nvPicPr>
          <p:cNvPr id="263" name="Picture 4" descr="image3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8128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Почему старый подход устарел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266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67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2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268" name="TextBox 4"/>
          <p:cNvSpPr txBox="1"/>
          <p:nvPr/>
        </p:nvSpPr>
        <p:spPr>
          <a:xfrm>
            <a:off x="812800" y="1676400"/>
            <a:ext cx="10566400" cy="15971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900">
                <a:solidFill>
                  <a:srgbClr val="44546A"/>
                </a:solidFill>
              </a:rPr>
              <a:t>Dev-сервер сначала собирает весь проект в один бандл</a:t>
            </a:r>
            <a:endParaRPr sz="19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900">
                <a:solidFill>
                  <a:srgbClr val="44546A"/>
                </a:solidFill>
              </a:rPr>
              <a:t>Время старта растёт вместе с кодовой базой</a:t>
            </a:r>
            <a:endParaRPr sz="19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900">
                <a:solidFill>
                  <a:srgbClr val="44546A"/>
                </a:solidFill>
              </a:rPr>
              <a:t>Правка файла запускает пересборку цепочки модулей</a:t>
            </a:r>
            <a:endParaRPr sz="19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900">
                <a:solidFill>
                  <a:srgbClr val="44546A"/>
                </a:solidFill>
              </a:rPr>
              <a:t>HMR теряет состояние или перезагружает страницу</a:t>
            </a:r>
            <a:endParaRPr sz="1900">
              <a:solidFill>
                <a:srgbClr val="44546A"/>
              </a:solidFill>
            </a:endParaRPr>
          </a:p>
        </p:txBody>
      </p:sp>
      <p:sp>
        <p:nvSpPr>
          <p:cNvPr id="269" name="Rectangle 5"/>
          <p:cNvSpPr/>
          <p:nvPr/>
        </p:nvSpPr>
        <p:spPr>
          <a:xfrm>
            <a:off x="812800" y="5080000"/>
            <a:ext cx="10566400" cy="660400"/>
          </a:xfrm>
          <a:prstGeom prst="roundRect">
            <a:avLst/>
          </a:prstGeom>
          <a:solidFill>
            <a:srgbClr val="DCE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0" name="Rectangle 6"/>
          <p:cNvSpPr/>
          <p:nvPr/>
        </p:nvSpPr>
        <p:spPr>
          <a:xfrm>
            <a:off x="812800" y="5080000"/>
            <a:ext cx="76200" cy="6604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1" name="TextBox 7"/>
          <p:cNvSpPr txBox="1"/>
          <p:nvPr/>
        </p:nvSpPr>
        <p:spPr>
          <a:xfrm>
            <a:off x="1143000" y="5257800"/>
            <a:ext cx="9906000" cy="320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500">
                <a:solidFill>
                  <a:srgbClr val="1F3864"/>
                </a:solidFill>
              </a:rPr>
              <a:t>Узкое место — не код, а обязательная сборка перед каждым запуском</a:t>
            </a:r>
            <a:endParaRPr sz="1500">
              <a:solidFill>
                <a:srgbClr val="1F3864"/>
              </a:solidFill>
            </a:endParaRPr>
          </a:p>
        </p:txBody>
      </p:sp>
      <p:pic>
        <p:nvPicPr>
          <p:cNvPr id="272" name="Picture 8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Как работает Vite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275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6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3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277" name="TextBox 4"/>
          <p:cNvSpPr txBox="1"/>
          <p:nvPr/>
        </p:nvSpPr>
        <p:spPr>
          <a:xfrm>
            <a:off x="812800" y="1676400"/>
            <a:ext cx="10566400" cy="15971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900">
                <a:solidFill>
                  <a:srgbClr val="44546A"/>
                </a:solidFill>
              </a:rPr>
              <a:t>Браузер понимает ES-модули нативно — import/export без сборщика</a:t>
            </a:r>
            <a:endParaRPr sz="19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900">
                <a:solidFill>
                  <a:srgbClr val="44546A"/>
                </a:solidFill>
              </a:rPr>
              <a:t>Dev-сервер отдаёт файлы по запросу, а не собирает бандл заранее</a:t>
            </a:r>
            <a:endParaRPr sz="19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900">
                <a:solidFill>
                  <a:srgbClr val="44546A"/>
                </a:solidFill>
              </a:rPr>
              <a:t>node_modules предсобираются один раз (esbuild): CommonJS → ESM</a:t>
            </a:r>
            <a:endParaRPr sz="19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900">
                <a:solidFill>
                  <a:srgbClr val="44546A"/>
                </a:solidFill>
              </a:rPr>
              <a:t>Правка модуля инвалидирует только его цепочку, а не проект</a:t>
            </a:r>
            <a:endParaRPr sz="1900">
              <a:solidFill>
                <a:srgbClr val="44546A"/>
              </a:solidFill>
            </a:endParaRPr>
          </a:p>
        </p:txBody>
      </p:sp>
      <p:sp>
        <p:nvSpPr>
          <p:cNvPr id="278" name="Rectangle 5"/>
          <p:cNvSpPr/>
          <p:nvPr/>
        </p:nvSpPr>
        <p:spPr>
          <a:xfrm>
            <a:off x="812800" y="5080000"/>
            <a:ext cx="10566400" cy="660400"/>
          </a:xfrm>
          <a:prstGeom prst="roundRect">
            <a:avLst/>
          </a:prstGeom>
          <a:solidFill>
            <a:srgbClr val="DCE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9" name="Rectangle 6"/>
          <p:cNvSpPr/>
          <p:nvPr/>
        </p:nvSpPr>
        <p:spPr>
          <a:xfrm>
            <a:off x="812800" y="5080000"/>
            <a:ext cx="76200" cy="6604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80" name="TextBox 7"/>
          <p:cNvSpPr txBox="1"/>
          <p:nvPr/>
        </p:nvSpPr>
        <p:spPr>
          <a:xfrm>
            <a:off x="1143000" y="5257800"/>
            <a:ext cx="9906000" cy="320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500">
                <a:solidFill>
                  <a:srgbClr val="1F3864"/>
                </a:solidFill>
              </a:rPr>
              <a:t>Dev = ESM + on-demand transform.  Build = Rollup/Rolldown + minify + tree-shaking</a:t>
            </a:r>
            <a:endParaRPr sz="1500">
              <a:solidFill>
                <a:srgbClr val="1F3864"/>
              </a:solidFill>
            </a:endParaRPr>
          </a:p>
        </p:txBody>
      </p:sp>
      <p:pic>
        <p:nvPicPr>
          <p:cNvPr id="281" name="Picture 8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Два режима работы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284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85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4</a:t>
            </a:r>
            <a:endParaRPr sz="1100">
              <a:solidFill>
                <a:srgbClr val="A5A5A5"/>
              </a:solidFill>
            </a:endParaRPr>
          </a:p>
        </p:txBody>
      </p:sp>
      <p:graphicFrame>
        <p:nvGraphicFramePr>
          <p:cNvPr id="286" name="Table 4"/>
          <p:cNvGraphicFramePr>
            <a:graphicFrameLocks noGrp="1"/>
          </p:cNvGraphicFramePr>
          <p:nvPr/>
        </p:nvGraphicFramePr>
        <p:xfrm>
          <a:off x="812800" y="1778000"/>
          <a:ext cx="10566400" cy="317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133"/>
                <a:gridCol w="3522133"/>
                <a:gridCol w="3522133"/>
              </a:tblGrid>
              <a:tr h="529167">
                <a:tc>
                  <a:txBody>
                    <a:bodyPr/>
                    <a:lstStyle/>
                    <a:p>
                      <a:r>
                        <a:rPr/>
                        <a:t>Параметр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Dev — vp run dev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Build — vp run build</a:t>
                      </a:r>
                    </a:p>
                  </a:txBody>
                  <a:tcPr/>
                </a:tc>
              </a:tr>
              <a:tr h="529167">
                <a:tc>
                  <a:txBody>
                    <a:bodyPr/>
                    <a:lstStyle/>
                    <a:p>
                      <a:r>
                        <a:rPr/>
                        <a:t>Цель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мгновенный цикл правок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готовый бандл</a:t>
                      </a:r>
                    </a:p>
                  </a:txBody>
                  <a:tcPr/>
                </a:tc>
              </a:tr>
              <a:tr h="529167">
                <a:tc>
                  <a:txBody>
                    <a:bodyPr/>
                    <a:lstStyle/>
                    <a:p>
                      <a:r>
                        <a:rPr/>
                        <a:t>Модули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ESM по запросу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чанки и ассеты</a:t>
                      </a:r>
                    </a:p>
                  </a:txBody>
                  <a:tcPr/>
                </a:tc>
              </a:tr>
              <a:tr h="529167">
                <a:tc>
                  <a:txBody>
                    <a:bodyPr/>
                    <a:lstStyle/>
                    <a:p>
                      <a:r>
                        <a:rPr/>
                        <a:t>Зависимости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esbuild prebundle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Rollup / Rolldown</a:t>
                      </a:r>
                    </a:p>
                  </a:txBody>
                  <a:tcPr/>
                </a:tc>
              </a:tr>
              <a:tr h="529167">
                <a:tc>
                  <a:txBody>
                    <a:bodyPr/>
                    <a:lstStyle/>
                    <a:p>
                      <a:r>
                        <a:rPr/>
                        <a:t>Скорость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старт почти мгновенный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секунды и минуты</a:t>
                      </a:r>
                    </a:p>
                  </a:txBody>
                  <a:tcPr/>
                </a:tc>
              </a:tr>
              <a:tr h="529167">
                <a:tc>
                  <a:txBody>
                    <a:bodyPr/>
                    <a:lstStyle/>
                    <a:p>
                      <a:r>
                        <a:rPr/>
                        <a:t>Оптимизация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нет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minify, tree-shaking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287" name="Picture 5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Старт проекта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290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91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5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292" name="Rectangle 4"/>
          <p:cNvSpPr/>
          <p:nvPr/>
        </p:nvSpPr>
        <p:spPr>
          <a:xfrm>
            <a:off x="812800" y="1676400"/>
            <a:ext cx="10566400" cy="1651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93" name="TextBox 5"/>
          <p:cNvSpPr txBox="1"/>
          <p:nvPr/>
        </p:nvSpPr>
        <p:spPr>
          <a:xfrm>
            <a:off x="1117600" y="1854200"/>
            <a:ext cx="10058400" cy="12009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npm create vite@latest my-app -- --template react-ts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cd my-app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npm install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npm run dev</a:t>
            </a:r>
            <a:endParaRPr sz="1400">
              <a:solidFill>
                <a:srgbClr val="E5E7EB"/>
              </a:solidFill>
              <a:latin typeface="Consolas"/>
            </a:endParaRPr>
          </a:p>
        </p:txBody>
      </p:sp>
      <p:sp>
        <p:nvSpPr>
          <p:cNvPr id="294" name="Rectangle 6"/>
          <p:cNvSpPr/>
          <p:nvPr/>
        </p:nvSpPr>
        <p:spPr>
          <a:xfrm>
            <a:off x="812800" y="3556000"/>
            <a:ext cx="10566400" cy="13716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95" name="TextBox 7"/>
          <p:cNvSpPr txBox="1"/>
          <p:nvPr/>
        </p:nvSpPr>
        <p:spPr>
          <a:xfrm>
            <a:off x="1117600" y="3733800"/>
            <a:ext cx="10058400" cy="9235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vp install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vp run dev      # dev-сервер на :3000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vp run build    # tsc -b &amp;&amp; сборка</a:t>
            </a:r>
            <a:endParaRPr sz="1400">
              <a:solidFill>
                <a:srgbClr val="E5E7EB"/>
              </a:solidFill>
              <a:latin typeface="Consolas"/>
            </a:endParaRPr>
          </a:p>
        </p:txBody>
      </p:sp>
      <p:sp>
        <p:nvSpPr>
          <p:cNvPr id="296" name="TextBox 8"/>
          <p:cNvSpPr txBox="1"/>
          <p:nvPr/>
        </p:nvSpPr>
        <p:spPr>
          <a:xfrm>
            <a:off x="812800" y="5080000"/>
            <a:ext cx="10566400" cy="304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400">
                <a:solidFill>
                  <a:srgbClr val="A5A5A5"/>
                </a:solidFill>
              </a:rPr>
              <a:t>predev и prebuild автоматически перегенерируют API-клиенты, роуты и события</a:t>
            </a:r>
            <a:endParaRPr sz="1400">
              <a:solidFill>
                <a:srgbClr val="A5A5A5"/>
              </a:solidFill>
            </a:endParaRPr>
          </a:p>
        </p:txBody>
      </p:sp>
      <p:pic>
        <p:nvPicPr>
          <p:cNvPr id="297" name="Picture 9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Анатомия проекта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300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01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6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302" name="Rectangle 4"/>
          <p:cNvSpPr/>
          <p:nvPr/>
        </p:nvSpPr>
        <p:spPr>
          <a:xfrm>
            <a:off x="812800" y="1676400"/>
            <a:ext cx="5334000" cy="3556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03" name="TextBox 5"/>
          <p:cNvSpPr txBox="1"/>
          <p:nvPr/>
        </p:nvSpPr>
        <p:spPr>
          <a:xfrm>
            <a:off x="1117600" y="1854200"/>
            <a:ext cx="4826000" cy="27660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E5E7EB"/>
                </a:solidFill>
                <a:latin typeface="Consolas"/>
              </a:rPr>
              <a:t>my-app/</a:t>
            </a:r>
            <a:endParaRPr sz="15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E5E7EB"/>
                </a:solidFill>
                <a:latin typeface="Consolas"/>
              </a:rPr>
              <a:t>├─ index.html</a:t>
            </a:r>
            <a:endParaRPr sz="15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E5E7EB"/>
                </a:solidFill>
                <a:latin typeface="Consolas"/>
              </a:rPr>
              <a:t>├─ vite.config.ts</a:t>
            </a:r>
            <a:endParaRPr sz="15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E5E7EB"/>
                </a:solidFill>
                <a:latin typeface="Consolas"/>
              </a:rPr>
              <a:t>├─ package.json</a:t>
            </a:r>
            <a:endParaRPr sz="15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E5E7EB"/>
                </a:solidFill>
                <a:latin typeface="Consolas"/>
              </a:rPr>
              <a:t>├─ public/</a:t>
            </a:r>
            <a:endParaRPr sz="15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E5E7EB"/>
                </a:solidFill>
                <a:latin typeface="Consolas"/>
              </a:rPr>
              <a:t>│  └─ favicon.svg</a:t>
            </a:r>
            <a:endParaRPr sz="15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E5E7EB"/>
                </a:solidFill>
                <a:latin typeface="Consolas"/>
              </a:rPr>
              <a:t>└─ src/</a:t>
            </a:r>
            <a:endParaRPr sz="15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E5E7EB"/>
                </a:solidFill>
                <a:latin typeface="Consolas"/>
              </a:rPr>
              <a:t>   ├─ main.tsx</a:t>
            </a:r>
            <a:endParaRPr sz="15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E5E7EB"/>
                </a:solidFill>
                <a:latin typeface="Consolas"/>
              </a:rPr>
              <a:t>   └─ App.tsx</a:t>
            </a:r>
            <a:endParaRPr sz="1500">
              <a:solidFill>
                <a:srgbClr val="E5E7EB"/>
              </a:solidFill>
              <a:latin typeface="Consolas"/>
            </a:endParaRPr>
          </a:p>
        </p:txBody>
      </p:sp>
      <p:sp>
        <p:nvSpPr>
          <p:cNvPr id="304" name="TextBox 6"/>
          <p:cNvSpPr txBox="1"/>
          <p:nvPr/>
        </p:nvSpPr>
        <p:spPr>
          <a:xfrm>
            <a:off x="6553200" y="1803400"/>
            <a:ext cx="4826000" cy="16764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index.html — точка входа</a:t>
            </a:r>
            <a:endParaRPr sz="16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module-скрипт запускает граф модулей</a:t>
            </a:r>
            <a:endParaRPr sz="16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vite.config.ts — один конфиг на всё</a:t>
            </a:r>
            <a:endParaRPr sz="16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public/ — файлы без обработки</a:t>
            </a:r>
            <a:endParaRPr sz="16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src/ — код приложения</a:t>
            </a:r>
            <a:endParaRPr sz="1600">
              <a:solidFill>
                <a:srgbClr val="44546A"/>
              </a:solidFill>
            </a:endParaRPr>
          </a:p>
        </p:txBody>
      </p:sp>
      <p:pic>
        <p:nvPicPr>
          <p:cNvPr id="305" name="Picture 7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vite.config.ts: наш конфиг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308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09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7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310" name="Rectangle 4"/>
          <p:cNvSpPr/>
          <p:nvPr/>
        </p:nvSpPr>
        <p:spPr>
          <a:xfrm>
            <a:off x="812800" y="1676400"/>
            <a:ext cx="10566400" cy="3683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11" name="TextBox 5"/>
          <p:cNvSpPr txBox="1"/>
          <p:nvPr/>
        </p:nvSpPr>
        <p:spPr>
          <a:xfrm>
            <a:off x="1117600" y="1854200"/>
            <a:ext cx="10058400" cy="3063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E5E7EB"/>
                </a:solidFill>
                <a:latin typeface="Consolas"/>
              </a:rPr>
              <a:t>export default defineConfig({</a:t>
            </a:r>
            <a:endParaRPr sz="12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5E7EB"/>
                </a:solidFill>
                <a:latin typeface="Consolas"/>
              </a:rPr>
              <a:t>  plugins: lazyPlugins(() =&gt; [tanstackRouter({ target: "react" })]),</a:t>
            </a:r>
            <a:endParaRPr sz="12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5E7EB"/>
                </a:solidFill>
                <a:latin typeface="Consolas"/>
              </a:rPr>
              <a:t>  resolve: { alias: { "@": resolve(__dirname, "./src") } },</a:t>
            </a:r>
            <a:endParaRPr sz="12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5E7EB"/>
                </a:solidFill>
                <a:latin typeface="Consolas"/>
              </a:rPr>
              <a:t>  css: { preprocessorOptions: { scss: { additionalData: `@use "@/styles/variables.scss" as *;` } } },</a:t>
            </a:r>
            <a:endParaRPr sz="12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5E7EB"/>
                </a:solidFill>
                <a:latin typeface="Consolas"/>
              </a:rPr>
              <a:t>  server: {</a:t>
            </a:r>
            <a:endParaRPr sz="12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5E7EB"/>
                </a:solidFill>
                <a:latin typeface="Consolas"/>
              </a:rPr>
              <a:t>    port: 3000,</a:t>
            </a:r>
            <a:endParaRPr sz="12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5E7EB"/>
                </a:solidFill>
                <a:latin typeface="Consolas"/>
              </a:rPr>
              <a:t>    proxy: {</a:t>
            </a:r>
            <a:endParaRPr sz="12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5E7EB"/>
                </a:solidFill>
                <a:latin typeface="Consolas"/>
              </a:rPr>
              <a:t>      "/api":  { target: "http://localhost:3001", changeOrigin: true },</a:t>
            </a:r>
            <a:endParaRPr sz="12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5E7EB"/>
                </a:solidFill>
                <a:latin typeface="Consolas"/>
              </a:rPr>
              <a:t>      "/mqtt": { target: "ws://localhost:8083", ws: true },</a:t>
            </a:r>
            <a:endParaRPr sz="12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5E7EB"/>
                </a:solidFill>
                <a:latin typeface="Consolas"/>
              </a:rPr>
              <a:t>    },</a:t>
            </a:r>
            <a:endParaRPr sz="12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5E7EB"/>
                </a:solidFill>
                <a:latin typeface="Consolas"/>
              </a:rPr>
              <a:t>  },</a:t>
            </a:r>
            <a:endParaRPr sz="12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5E7EB"/>
                </a:solidFill>
                <a:latin typeface="Consolas"/>
              </a:rPr>
              <a:t>});</a:t>
            </a:r>
            <a:endParaRPr sz="1250">
              <a:solidFill>
                <a:srgbClr val="E5E7EB"/>
              </a:solidFill>
              <a:latin typeface="Consolas"/>
            </a:endParaRPr>
          </a:p>
        </p:txBody>
      </p:sp>
      <p:sp>
        <p:nvSpPr>
          <p:cNvPr id="312" name="Rectangle 6"/>
          <p:cNvSpPr/>
          <p:nvPr/>
        </p:nvSpPr>
        <p:spPr>
          <a:xfrm>
            <a:off x="812800" y="5588000"/>
            <a:ext cx="10566400" cy="660400"/>
          </a:xfrm>
          <a:prstGeom prst="roundRect">
            <a:avLst/>
          </a:prstGeom>
          <a:solidFill>
            <a:srgbClr val="DCE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13" name="Rectangle 7"/>
          <p:cNvSpPr/>
          <p:nvPr/>
        </p:nvSpPr>
        <p:spPr>
          <a:xfrm>
            <a:off x="812800" y="5588000"/>
            <a:ext cx="76200" cy="6604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14" name="TextBox 8"/>
          <p:cNvSpPr txBox="1"/>
          <p:nvPr/>
        </p:nvSpPr>
        <p:spPr>
          <a:xfrm>
            <a:off x="1143000" y="5765800"/>
            <a:ext cx="9906000" cy="320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500">
                <a:solidFill>
                  <a:srgbClr val="1F3864"/>
                </a:solidFill>
              </a:rPr>
              <a:t>Один файл описывает плагины, алиасы, препроцессор и прокси</a:t>
            </a:r>
            <a:endParaRPr sz="1500">
              <a:solidFill>
                <a:srgbClr val="1F3864"/>
              </a:solidFill>
            </a:endParaRPr>
          </a:p>
        </p:txBody>
      </p:sp>
      <p:pic>
        <p:nvPicPr>
          <p:cNvPr id="315" name="Picture 9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Ключевые опции конфига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318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19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8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320" name="TextBox 4"/>
          <p:cNvSpPr txBox="1"/>
          <p:nvPr/>
        </p:nvSpPr>
        <p:spPr>
          <a:xfrm>
            <a:off x="812800" y="1676400"/>
            <a:ext cx="10566400" cy="20528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44546A"/>
                </a:solidFill>
              </a:rPr>
              <a:t>root — папка с index.html (по умолч. process.cwd())</a:t>
            </a:r>
            <a:endParaRPr sz="165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44546A"/>
                </a:solidFill>
              </a:rPr>
              <a:t>base — префикс путей и BASE_URL (по умолч. '/')</a:t>
            </a:r>
            <a:endParaRPr sz="165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44546A"/>
                </a:solidFill>
              </a:rPr>
              <a:t>publicDir — статика, копируется в dist (по умолч. 'public')</a:t>
            </a:r>
            <a:endParaRPr sz="165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44546A"/>
                </a:solidFill>
              </a:rPr>
              <a:t>define — замена идентификаторов на этапе сборки</a:t>
            </a:r>
            <a:endParaRPr sz="165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44546A"/>
                </a:solidFill>
              </a:rPr>
              <a:t>envDir / envPrefix — откуда и с каким префиксом грузить .env</a:t>
            </a:r>
            <a:endParaRPr sz="165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44546A"/>
                </a:solidFill>
              </a:rPr>
              <a:t>resolve.extensions — порядок расширений при import без расширения</a:t>
            </a:r>
            <a:endParaRPr sz="1650">
              <a:solidFill>
                <a:srgbClr val="44546A"/>
              </a:solidFill>
            </a:endParaRPr>
          </a:p>
        </p:txBody>
      </p:sp>
      <p:sp>
        <p:nvSpPr>
          <p:cNvPr id="321" name="Rectangle 5"/>
          <p:cNvSpPr/>
          <p:nvPr/>
        </p:nvSpPr>
        <p:spPr>
          <a:xfrm>
            <a:off x="812800" y="5207000"/>
            <a:ext cx="10566400" cy="889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22" name="TextBox 6"/>
          <p:cNvSpPr txBox="1"/>
          <p:nvPr/>
        </p:nvSpPr>
        <p:spPr>
          <a:xfrm>
            <a:off x="1117600" y="5384800"/>
            <a:ext cx="10058400" cy="6461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define: { __APP_VERSION__: JSON.stringify('1.0.0') },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envPrefix: 'VITE_',</a:t>
            </a:r>
            <a:endParaRPr sz="1400">
              <a:solidFill>
                <a:srgbClr val="E5E7EB"/>
              </a:solidFill>
              <a:latin typeface="Consolas"/>
            </a:endParaRPr>
          </a:p>
        </p:txBody>
      </p:sp>
      <p:pic>
        <p:nvPicPr>
          <p:cNvPr id="323" name="Picture 7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Конфиг как функция и loadEnv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326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27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9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328" name="Rectangle 4"/>
          <p:cNvSpPr/>
          <p:nvPr/>
        </p:nvSpPr>
        <p:spPr>
          <a:xfrm>
            <a:off x="812800" y="1676400"/>
            <a:ext cx="10566400" cy="1905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29" name="TextBox 5"/>
          <p:cNvSpPr txBox="1"/>
          <p:nvPr/>
        </p:nvSpPr>
        <p:spPr>
          <a:xfrm>
            <a:off x="1117600" y="1854200"/>
            <a:ext cx="10058400" cy="20330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export default defineConfig(({ command, mode }) =&gt; {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  const env = loadEnv(mode, process.cwd(), '');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  return {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    plugins: command === 'build' ? [legacy()] : [],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    define: { __API__: JSON.stringify(env.VITE_API_URL) },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  };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});</a:t>
            </a:r>
            <a:endParaRPr sz="1400">
              <a:solidFill>
                <a:srgbClr val="E5E7EB"/>
              </a:solidFill>
              <a:latin typeface="Consolas"/>
            </a:endParaRPr>
          </a:p>
        </p:txBody>
      </p:sp>
      <p:sp>
        <p:nvSpPr>
          <p:cNvPr id="330" name="TextBox 6"/>
          <p:cNvSpPr txBox="1"/>
          <p:nvPr/>
        </p:nvSpPr>
        <p:spPr>
          <a:xfrm>
            <a:off x="812800" y="3810000"/>
            <a:ext cx="10566400" cy="1438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.env недоступны в vite.config.ts через process.env — Vite грузит их после конфига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loadEnv(mode, root, prefix) читает .env вручную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command = 'serve' (dev) или 'build'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mode задаётся флагом --mode</a:t>
            </a:r>
            <a:endParaRPr sz="1700">
              <a:solidFill>
                <a:srgbClr val="44546A"/>
              </a:solidFill>
            </a:endParaRPr>
          </a:p>
        </p:txBody>
      </p:sp>
      <p:pic>
        <p:nvPicPr>
          <p:cNvPr id="331" name="Picture 7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Опции dev-сервера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334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35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10</a:t>
            </a:r>
            <a:endParaRPr sz="1100">
              <a:solidFill>
                <a:srgbClr val="A5A5A5"/>
              </a:solidFill>
            </a:endParaRPr>
          </a:p>
        </p:txBody>
      </p:sp>
      <p:graphicFrame>
        <p:nvGraphicFramePr>
          <p:cNvPr id="336" name="Table 4"/>
          <p:cNvGraphicFramePr>
            <a:graphicFrameLocks noGrp="1"/>
          </p:cNvGraphicFramePr>
          <p:nvPr/>
        </p:nvGraphicFramePr>
        <p:xfrm>
          <a:off x="812800" y="1676400"/>
          <a:ext cx="10566400" cy="292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3200"/>
                <a:gridCol w="5283200"/>
              </a:tblGrid>
              <a:tr h="417286">
                <a:tc>
                  <a:txBody>
                    <a:bodyPr/>
                    <a:lstStyle/>
                    <a:p>
                      <a:r>
                        <a:rPr/>
                        <a:t>Опция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Что делает</a:t>
                      </a:r>
                    </a:p>
                  </a:txBody>
                  <a:tcPr/>
                </a:tc>
              </a:tr>
              <a:tr h="417286">
                <a:tc>
                  <a:txBody>
                    <a:bodyPr/>
                    <a:lstStyle/>
                    <a:p>
                      <a:r>
                        <a:rPr/>
                        <a:t>port (5173)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порт dev-сервера</a:t>
                      </a:r>
                    </a:p>
                  </a:txBody>
                  <a:tcPr/>
                </a:tc>
              </a:tr>
              <a:tr h="417286">
                <a:tc>
                  <a:txBody>
                    <a:bodyPr/>
                    <a:lstStyle/>
                    <a:p>
                      <a:r>
                        <a:rPr/>
                        <a:t>strictPort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не занимать другой порт, если занят — ошибка</a:t>
                      </a:r>
                    </a:p>
                  </a:txBody>
                  <a:tcPr/>
                </a:tc>
              </a:tr>
              <a:tr h="417286">
                <a:tc>
                  <a:txBody>
                    <a:bodyPr/>
                    <a:lstStyle/>
                    <a:p>
                      <a:r>
                        <a:rPr/>
                        <a:t>https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TLS/HTTP2; плагин @vitejs/plugin-basic-ssl</a:t>
                      </a:r>
                    </a:p>
                  </a:txBody>
                  <a:tcPr/>
                </a:tc>
              </a:tr>
              <a:tr h="417286">
                <a:tc>
                  <a:txBody>
                    <a:bodyPr/>
                    <a:lstStyle/>
                    <a:p>
                      <a:r>
                        <a:rPr/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открыть браузер при старте (строка = pathname)</a:t>
                      </a:r>
                    </a:p>
                  </a:txBody>
                  <a:tcPr/>
                </a:tc>
              </a:tr>
              <a:tr h="417286">
                <a:tc>
                  <a:txBody>
                    <a:bodyPr/>
                    <a:lstStyle/>
                    <a:p>
                      <a:r>
                        <a:rPr/>
                        <a:t>cors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true = любой origin, либо объект настроек</a:t>
                      </a:r>
                    </a:p>
                  </a:txBody>
                  <a:tcPr/>
                </a:tc>
              </a:tr>
              <a:tr h="417286">
                <a:tc>
                  <a:txBody>
                    <a:bodyPr/>
                    <a:lstStyle/>
                    <a:p>
                      <a:r>
                        <a:rPr/>
                        <a:t>forwardConsole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переносить console браузера в терминал (для AI-агентов)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37" name="TextBox 5"/>
          <p:cNvSpPr txBox="1"/>
          <p:nvPr/>
        </p:nvSpPr>
        <p:spPr>
          <a:xfrm>
            <a:off x="812800" y="4826000"/>
            <a:ext cx="10566400" cy="7254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server.proxy перенаправляет запросы на бэкенд, обходя CORS</a:t>
            </a:r>
            <a:endParaRPr sz="16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changeOrigin подменяет Host; ws: true для WebSocket</a:t>
            </a:r>
            <a:endParaRPr sz="1600">
              <a:solidFill>
                <a:srgbClr val="44546A"/>
              </a:solidFill>
            </a:endParaRPr>
          </a:p>
        </p:txBody>
      </p:sp>
      <p:pic>
        <p:nvPicPr>
          <p:cNvPr id="338" name="Picture 6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Ассеты: импорт и public/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341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42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11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343" name="Rectangle 4"/>
          <p:cNvSpPr/>
          <p:nvPr/>
        </p:nvSpPr>
        <p:spPr>
          <a:xfrm>
            <a:off x="812800" y="1676400"/>
            <a:ext cx="10566400" cy="1524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44" name="TextBox 5"/>
          <p:cNvSpPr txBox="1"/>
          <p:nvPr/>
        </p:nvSpPr>
        <p:spPr>
          <a:xfrm>
            <a:off x="1117600" y="1854200"/>
            <a:ext cx="10058400" cy="12009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import imgUrl from './img.png';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// imgUrl === '/assets/img-abc123.png' (URL)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&lt;img src={imgUrl} alt="..." /&gt;</a:t>
            </a:r>
            <a:endParaRPr sz="1400">
              <a:solidFill>
                <a:srgbClr val="E5E7EB"/>
              </a:solidFill>
              <a:latin typeface="Consolas"/>
            </a:endParaRPr>
          </a:p>
        </p:txBody>
      </p:sp>
      <p:sp>
        <p:nvSpPr>
          <p:cNvPr id="345" name="TextBox 6"/>
          <p:cNvSpPr txBox="1"/>
          <p:nvPr/>
        </p:nvSpPr>
        <p:spPr>
          <a:xfrm>
            <a:off x="812800" y="3429000"/>
            <a:ext cx="10566400" cy="1438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Импортированная картинка → URL с хешем, попадает в бандл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Мелкие файлы (≤ 4 КБ) инлайнятся как data URL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public/ — файлы отдадаются как есть, без хеша и обработки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В prod public/ копируется в корень dist</a:t>
            </a:r>
            <a:endParaRPr sz="1700">
              <a:solidFill>
                <a:srgbClr val="44546A"/>
              </a:solidFill>
            </a:endParaRPr>
          </a:p>
        </p:txBody>
      </p:sp>
      <p:pic>
        <p:nvPicPr>
          <p:cNvPr id="346" name="Picture 7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Env-переменные и режимы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349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50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12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351" name="TextBox 4"/>
          <p:cNvSpPr txBox="1"/>
          <p:nvPr/>
        </p:nvSpPr>
        <p:spPr>
          <a:xfrm>
            <a:off x="812800" y="1676400"/>
            <a:ext cx="5080000" cy="2944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import.meta.env — подстановка на этапе сборки</a:t>
            </a:r>
            <a:endParaRPr sz="16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В клиент попадают только переменные с префиксом VITE_</a:t>
            </a:r>
            <a:endParaRPr sz="16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Кастомные всегда string, встроенные DEV/PROD/SSR — boolean</a:t>
            </a:r>
            <a:endParaRPr sz="16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Порядок: .env.[mode].local → .env.[mode] → .env.local → .env</a:t>
            </a:r>
            <a:endParaRPr sz="16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Типизация — в src/vite-env.d.ts через ImportMetaEnv</a:t>
            </a:r>
            <a:endParaRPr sz="1600">
              <a:solidFill>
                <a:srgbClr val="44546A"/>
              </a:solidFill>
            </a:endParaRPr>
          </a:p>
        </p:txBody>
      </p:sp>
      <p:sp>
        <p:nvSpPr>
          <p:cNvPr id="352" name="Rectangle 5"/>
          <p:cNvSpPr/>
          <p:nvPr/>
        </p:nvSpPr>
        <p:spPr>
          <a:xfrm>
            <a:off x="812800" y="5969000"/>
            <a:ext cx="5410200" cy="3175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53" name="TextBox 6"/>
          <p:cNvSpPr txBox="1"/>
          <p:nvPr/>
        </p:nvSpPr>
        <p:spPr>
          <a:xfrm>
            <a:off x="1117600" y="6146800"/>
            <a:ext cx="4902200" cy="23202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E5E7EB"/>
                </a:solidFill>
                <a:latin typeface="Consolas"/>
              </a:rPr>
              <a:t>// .env.development</a:t>
            </a:r>
            <a:endParaRPr sz="12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5E7EB"/>
                </a:solidFill>
                <a:latin typeface="Consolas"/>
              </a:rPr>
              <a:t>VITE_API_URL=/api</a:t>
            </a:r>
            <a:endParaRPr sz="12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5E7EB"/>
                </a:solidFill>
                <a:latin typeface="Consolas"/>
              </a:rPr>
              <a:t>VITE_MOCK_API=true</a:t>
            </a:r>
            <a:endParaRPr sz="12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endParaRPr sz="12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5E7EB"/>
                </a:solidFill>
                <a:latin typeface="Consolas"/>
              </a:rPr>
              <a:t>// vite-env.d.ts</a:t>
            </a:r>
            <a:endParaRPr sz="12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5E7EB"/>
                </a:solidFill>
                <a:latin typeface="Consolas"/>
              </a:rPr>
              <a:t>interface ImportMetaEnv {</a:t>
            </a:r>
            <a:endParaRPr sz="12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5E7EB"/>
                </a:solidFill>
                <a:latin typeface="Consolas"/>
              </a:rPr>
              <a:t>  readonly VITE_API_URL: string</a:t>
            </a:r>
            <a:endParaRPr sz="12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5E7EB"/>
                </a:solidFill>
                <a:latin typeface="Consolas"/>
              </a:rPr>
              <a:t>}</a:t>
            </a:r>
            <a:endParaRPr sz="12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5E7EB"/>
                </a:solidFill>
                <a:latin typeface="Consolas"/>
              </a:rPr>
              <a:t>interface ImportMeta { readonly env: ImportMetaEnv }</a:t>
            </a:r>
            <a:endParaRPr sz="1250">
              <a:solidFill>
                <a:srgbClr val="E5E7EB"/>
              </a:solidFill>
              <a:latin typeface="Consolas"/>
            </a:endParaRPr>
          </a:p>
        </p:txBody>
      </p:sp>
      <p:pic>
        <p:nvPicPr>
          <p:cNvPr id="354" name="Picture 7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Pre-bundling зависимостей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357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58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13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359" name="TextBox 4"/>
          <p:cNvSpPr txBox="1"/>
          <p:nvPr/>
        </p:nvSpPr>
        <p:spPr>
          <a:xfrm>
            <a:off x="812800" y="1676400"/>
            <a:ext cx="10566400" cy="15179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Vite предсобирает node_modules один раз (esbuild)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Результат лежит в node_modules/.vite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Кеш инвалидируется по package.json и lock-файлу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--force сбросит кеш при проблемах</a:t>
            </a:r>
            <a:endParaRPr sz="1800">
              <a:solidFill>
                <a:srgbClr val="44546A"/>
              </a:solidFill>
            </a:endParaRPr>
          </a:p>
        </p:txBody>
      </p:sp>
      <p:sp>
        <p:nvSpPr>
          <p:cNvPr id="360" name="Rectangle 5"/>
          <p:cNvSpPr/>
          <p:nvPr/>
        </p:nvSpPr>
        <p:spPr>
          <a:xfrm>
            <a:off x="812800" y="4191000"/>
            <a:ext cx="10566400" cy="762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61" name="TextBox 6"/>
          <p:cNvSpPr txBox="1"/>
          <p:nvPr/>
        </p:nvSpPr>
        <p:spPr>
          <a:xfrm>
            <a:off x="1117600" y="4368800"/>
            <a:ext cx="10058400" cy="3688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vite --force   # пересобрать кеш зависимостей</a:t>
            </a:r>
            <a:endParaRPr sz="1400">
              <a:solidFill>
                <a:srgbClr val="E5E7EB"/>
              </a:solidFill>
              <a:latin typeface="Consolas"/>
            </a:endParaRPr>
          </a:p>
        </p:txBody>
      </p:sp>
      <p:sp>
        <p:nvSpPr>
          <p:cNvPr id="362" name="Rectangle 7"/>
          <p:cNvSpPr/>
          <p:nvPr/>
        </p:nvSpPr>
        <p:spPr>
          <a:xfrm>
            <a:off x="812800" y="5207000"/>
            <a:ext cx="10566400" cy="660400"/>
          </a:xfrm>
          <a:prstGeom prst="roundRect">
            <a:avLst/>
          </a:prstGeom>
          <a:solidFill>
            <a:srgbClr val="DCE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63" name="Rectangle 8"/>
          <p:cNvSpPr/>
          <p:nvPr/>
        </p:nvSpPr>
        <p:spPr>
          <a:xfrm>
            <a:off x="812800" y="5207000"/>
            <a:ext cx="76200" cy="6604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64" name="TextBox 9"/>
          <p:cNvSpPr txBox="1"/>
          <p:nvPr/>
        </p:nvSpPr>
        <p:spPr>
          <a:xfrm>
            <a:off x="1143000" y="5384800"/>
            <a:ext cx="9906000" cy="320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500">
                <a:solidFill>
                  <a:srgbClr val="1F3864"/>
                </a:solidFill>
              </a:rPr>
              <a:t>Без pre-bundle каждый import из node_modules превращался бы в сотни запросов</a:t>
            </a:r>
            <a:endParaRPr sz="1500">
              <a:solidFill>
                <a:srgbClr val="1F3864"/>
              </a:solidFill>
            </a:endParaRPr>
          </a:p>
        </p:txBody>
      </p:sp>
      <p:pic>
        <p:nvPicPr>
          <p:cNvPr id="365" name="Picture 10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HMR: обновляем только то, что изменилось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368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69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14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370" name="TextBox 4"/>
          <p:cNvSpPr txBox="1"/>
          <p:nvPr/>
        </p:nvSpPr>
        <p:spPr>
          <a:xfrm>
            <a:off x="812800" y="1676400"/>
            <a:ext cx="10566400" cy="18745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Vite хранит граф модулей и их импортёров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Изменение уходит в браузер по WebSocket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Обновляется ближайшая HMR-граница, а не страница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React Fast Refresh сохраняет состояние useState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Нет границы — полная перезагрузка</a:t>
            </a:r>
            <a:endParaRPr sz="1800">
              <a:solidFill>
                <a:srgbClr val="44546A"/>
              </a:solidFill>
            </a:endParaRPr>
          </a:p>
        </p:txBody>
      </p:sp>
      <p:sp>
        <p:nvSpPr>
          <p:cNvPr id="371" name="Rectangle 5"/>
          <p:cNvSpPr/>
          <p:nvPr/>
        </p:nvSpPr>
        <p:spPr>
          <a:xfrm>
            <a:off x="812800" y="4953000"/>
            <a:ext cx="10566400" cy="10922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72" name="TextBox 6"/>
          <p:cNvSpPr txBox="1"/>
          <p:nvPr/>
        </p:nvSpPr>
        <p:spPr>
          <a:xfrm>
            <a:off x="1117600" y="5130800"/>
            <a:ext cx="10058400" cy="9235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if (import.meta.hot) {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  import.meta.hot.accept((mod) =&gt; render(mod));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}</a:t>
            </a:r>
            <a:endParaRPr sz="1400">
              <a:solidFill>
                <a:srgbClr val="E5E7EB"/>
              </a:solidFill>
              <a:latin typeface="Consolas"/>
            </a:endParaRPr>
          </a:p>
        </p:txBody>
      </p:sp>
      <p:pic>
        <p:nvPicPr>
          <p:cNvPr id="373" name="Picture 7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Vite+: CLI vp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376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77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15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378" name="TextBox 4"/>
          <p:cNvSpPr txBox="1"/>
          <p:nvPr/>
        </p:nvSpPr>
        <p:spPr>
          <a:xfrm>
            <a:off x="812800" y="1676400"/>
            <a:ext cx="10566400" cy="15179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vp заменяет набор инструментов: dev, build, lint, fmt, test, run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Конфиг остаётся vite.config.ts — Vite+ его расширяет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vp add/remove/update, vpx (аналог npx)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vp run &lt;script&gt; запускает скрипт из package.json</a:t>
            </a:r>
            <a:endParaRPr sz="1800">
              <a:solidFill>
                <a:srgbClr val="44546A"/>
              </a:solidFill>
            </a:endParaRPr>
          </a:p>
        </p:txBody>
      </p:sp>
      <p:sp>
        <p:nvSpPr>
          <p:cNvPr id="379" name="Rectangle 5"/>
          <p:cNvSpPr/>
          <p:nvPr/>
        </p:nvSpPr>
        <p:spPr>
          <a:xfrm>
            <a:off x="812800" y="4445000"/>
            <a:ext cx="10566400" cy="10922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80" name="TextBox 6"/>
          <p:cNvSpPr txBox="1"/>
          <p:nvPr/>
        </p:nvSpPr>
        <p:spPr>
          <a:xfrm>
            <a:off x="1117600" y="4622800"/>
            <a:ext cx="10058400" cy="6461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staged: { "*": "vp check --fix" },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run: { cache: { scripts: false, tasks: true } },</a:t>
            </a:r>
            <a:endParaRPr sz="1400">
              <a:solidFill>
                <a:srgbClr val="E5E7EB"/>
              </a:solidFill>
              <a:latin typeface="Consolas"/>
            </a:endParaRPr>
          </a:p>
        </p:txBody>
      </p:sp>
      <p:sp>
        <p:nvSpPr>
          <p:cNvPr id="381" name="TextBox 7"/>
          <p:cNvSpPr txBox="1"/>
          <p:nvPr/>
        </p:nvSpPr>
        <p:spPr>
          <a:xfrm>
            <a:off x="812800" y="5791200"/>
            <a:ext cx="10566400" cy="304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400">
                <a:solidFill>
                  <a:srgbClr val="A5A5A5"/>
                </a:solidFill>
              </a:rPr>
              <a:t>vp check = форматирование + линтинг + проверка типов за один проход</a:t>
            </a:r>
            <a:endParaRPr sz="1400">
              <a:solidFill>
                <a:srgbClr val="A5A5A5"/>
              </a:solidFill>
            </a:endParaRPr>
          </a:p>
        </p:txBody>
      </p:sp>
      <p:pic>
        <p:nvPicPr>
          <p:cNvPr id="382" name="Picture 8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Vite+: хуки, задачи, кеш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385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86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16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387" name="TextBox 4"/>
          <p:cNvSpPr txBox="1"/>
          <p:nvPr/>
        </p:nvSpPr>
        <p:spPr>
          <a:xfrm>
            <a:off x="812800" y="1676400"/>
            <a:ext cx="10566400" cy="1438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vp hooks enable/disable/status; скрипты в .vite-hooks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pre-commit: vp staged — проверка только изменённых файлов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run.tasks: именованные задачи с dependsOn и кешированием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vp upgrade обновляет глобальный vp; CI — voidzero-dev/setup-vp</a:t>
            </a:r>
            <a:endParaRPr sz="1700">
              <a:solidFill>
                <a:srgbClr val="44546A"/>
              </a:solidFill>
            </a:endParaRPr>
          </a:p>
        </p:txBody>
      </p:sp>
      <p:sp>
        <p:nvSpPr>
          <p:cNvPr id="388" name="Rectangle 5"/>
          <p:cNvSpPr/>
          <p:nvPr/>
        </p:nvSpPr>
        <p:spPr>
          <a:xfrm>
            <a:off x="812800" y="4445000"/>
            <a:ext cx="10566400" cy="1397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89" name="TextBox 6"/>
          <p:cNvSpPr txBox="1"/>
          <p:nvPr/>
        </p:nvSpPr>
        <p:spPr>
          <a:xfrm>
            <a:off x="1117600" y="4622800"/>
            <a:ext cx="10058400" cy="14287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run: {</a:t>
            </a:r>
            <a:endParaRPr sz="13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  tasks: {</a:t>
            </a:r>
            <a:endParaRPr sz="13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    build: { command: 'vp build', dependsOn: ['lint'] },</a:t>
            </a:r>
            <a:endParaRPr sz="13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  },</a:t>
            </a:r>
            <a:endParaRPr sz="13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}</a:t>
            </a:r>
            <a:endParaRPr sz="1350">
              <a:solidFill>
                <a:srgbClr val="E5E7EB"/>
              </a:solidFill>
              <a:latin typeface="Consolas"/>
            </a:endParaRPr>
          </a:p>
        </p:txBody>
      </p:sp>
      <p:pic>
        <p:nvPicPr>
          <p:cNvPr id="390" name="Picture 7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Oxc: Oxidation Compiler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393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94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17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395" name="TextBox 4"/>
          <p:cNvSpPr txBox="1"/>
          <p:nvPr/>
        </p:nvSpPr>
        <p:spPr>
          <a:xfrm>
            <a:off x="812800" y="1676400"/>
            <a:ext cx="10566400" cy="15179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Набор высокопроизводительных инструментов для JS/TS на Rust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Часть видения VoidZero: единый toolchain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Включает: Oxlint, Oxfmt, Parser, Transformer, Minifier, Resolver, TS Runner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Oxc питает Rolldown — бандлер Vite 8</a:t>
            </a:r>
            <a:endParaRPr sz="1800">
              <a:solidFill>
                <a:srgbClr val="44546A"/>
              </a:solidFill>
            </a:endParaRPr>
          </a:p>
        </p:txBody>
      </p:sp>
      <p:sp>
        <p:nvSpPr>
          <p:cNvPr id="396" name="Rectangle 5"/>
          <p:cNvSpPr/>
          <p:nvPr/>
        </p:nvSpPr>
        <p:spPr>
          <a:xfrm>
            <a:off x="812800" y="5080000"/>
            <a:ext cx="10566400" cy="660400"/>
          </a:xfrm>
          <a:prstGeom prst="roundRect">
            <a:avLst/>
          </a:prstGeom>
          <a:solidFill>
            <a:srgbClr val="DCE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97" name="Rectangle 6"/>
          <p:cNvSpPr/>
          <p:nvPr/>
        </p:nvSpPr>
        <p:spPr>
          <a:xfrm>
            <a:off x="812800" y="5080000"/>
            <a:ext cx="76200" cy="6604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98" name="TextBox 7"/>
          <p:cNvSpPr txBox="1"/>
          <p:nvPr/>
        </p:nvSpPr>
        <p:spPr>
          <a:xfrm>
            <a:off x="1143000" y="5257800"/>
            <a:ext cx="9906000" cy="320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500">
                <a:solidFill>
                  <a:srgbClr val="1F3864"/>
                </a:solidFill>
              </a:rPr>
              <a:t>Oxidation — химический процесс, создающий ржавчину (rust)</a:t>
            </a:r>
            <a:endParaRPr sz="1500">
              <a:solidFill>
                <a:srgbClr val="1F3864"/>
              </a:solidFill>
            </a:endParaRPr>
          </a:p>
        </p:txBody>
      </p:sp>
      <p:pic>
        <p:nvPicPr>
          <p:cNvPr id="399" name="Picture 8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Oxlint vs ESLint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402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03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18</a:t>
            </a:r>
            <a:endParaRPr sz="1100">
              <a:solidFill>
                <a:srgbClr val="A5A5A5"/>
              </a:solidFill>
            </a:endParaRPr>
          </a:p>
        </p:txBody>
      </p:sp>
      <p:graphicFrame>
        <p:nvGraphicFramePr>
          <p:cNvPr id="404" name="Table 4"/>
          <p:cNvGraphicFramePr>
            <a:graphicFrameLocks noGrp="1"/>
          </p:cNvGraphicFramePr>
          <p:nvPr/>
        </p:nvGraphicFramePr>
        <p:xfrm>
          <a:off x="812800" y="1676400"/>
          <a:ext cx="10566400" cy="2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133"/>
                <a:gridCol w="3522133"/>
                <a:gridCol w="3522133"/>
              </a:tblGrid>
              <a:tr h="508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Oxlint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ESLint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/>
                        <a:t>Скорость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очень высокая (Rust)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средняя (JS)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/>
                        <a:t>Совместимость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целится в ESLint-экосистему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эталон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/>
                        <a:t>Конфиг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oxlint.config.ts / .oxlintrc.json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.eslintrc.*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/>
                        <a:t>Типизация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tsgo = TypeScript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tsc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05" name="TextBox 5"/>
          <p:cNvSpPr txBox="1"/>
          <p:nvPr/>
        </p:nvSpPr>
        <p:spPr>
          <a:xfrm>
            <a:off x="812800" y="4445000"/>
            <a:ext cx="10566400" cy="10424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oxlint --init генерирует конфиг</a:t>
            </a:r>
            <a:endParaRPr sz="16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npm install -D oxlint; скрипты: "lint": "oxlint", "lint:fix": "oxlint --fix"</a:t>
            </a:r>
            <a:endParaRPr sz="16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Плагин eslint включён по умолчанию</a:t>
            </a:r>
            <a:endParaRPr sz="1600">
              <a:solidFill>
                <a:srgbClr val="44546A"/>
              </a:solidFill>
            </a:endParaRPr>
          </a:p>
        </p:txBody>
      </p:sp>
      <p:pic>
        <p:nvPicPr>
          <p:cNvPr id="406" name="Picture 6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Oxfmt: форматтер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409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10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19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411" name="TextBox 4"/>
          <p:cNvSpPr txBox="1"/>
          <p:nvPr/>
        </p:nvSpPr>
        <p:spPr>
          <a:xfrm>
            <a:off x="812800" y="1676400"/>
            <a:ext cx="10566400" cy="15179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Совместим с Prettier, работает быстрее (Rust)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Сортировка импортов, embedded-форматирование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Игнор-файлы и inline-комментарии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Миграция: prettier → oxfmt</a:t>
            </a:r>
            <a:endParaRPr sz="1800">
              <a:solidFill>
                <a:srgbClr val="44546A"/>
              </a:solidFill>
            </a:endParaRPr>
          </a:p>
        </p:txBody>
      </p:sp>
      <p:sp>
        <p:nvSpPr>
          <p:cNvPr id="412" name="Rectangle 5"/>
          <p:cNvSpPr/>
          <p:nvPr/>
        </p:nvSpPr>
        <p:spPr>
          <a:xfrm>
            <a:off x="812800" y="4191000"/>
            <a:ext cx="10566400" cy="889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13" name="TextBox 6"/>
          <p:cNvSpPr txBox="1"/>
          <p:nvPr/>
        </p:nvSpPr>
        <p:spPr>
          <a:xfrm>
            <a:off x="1117600" y="4368800"/>
            <a:ext cx="10058400" cy="6461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// vite.config.ts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fmt: { /* настройки oxfmt */ }</a:t>
            </a:r>
            <a:endParaRPr sz="1400">
              <a:solidFill>
                <a:srgbClr val="E5E7EB"/>
              </a:solidFill>
              <a:latin typeface="Consolas"/>
            </a:endParaRPr>
          </a:p>
        </p:txBody>
      </p:sp>
      <p:sp>
        <p:nvSpPr>
          <p:cNvPr id="414" name="Rectangle 7"/>
          <p:cNvSpPr/>
          <p:nvPr/>
        </p:nvSpPr>
        <p:spPr>
          <a:xfrm>
            <a:off x="812800" y="5334000"/>
            <a:ext cx="10566400" cy="660400"/>
          </a:xfrm>
          <a:prstGeom prst="roundRect">
            <a:avLst/>
          </a:prstGeom>
          <a:solidFill>
            <a:srgbClr val="DCE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15" name="Rectangle 8"/>
          <p:cNvSpPr/>
          <p:nvPr/>
        </p:nvSpPr>
        <p:spPr>
          <a:xfrm>
            <a:off x="812800" y="5334000"/>
            <a:ext cx="76200" cy="6604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16" name="TextBox 9"/>
          <p:cNvSpPr txBox="1"/>
          <p:nvPr/>
        </p:nvSpPr>
        <p:spPr>
          <a:xfrm>
            <a:off x="1143000" y="5511800"/>
            <a:ext cx="9906000" cy="320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500">
                <a:solidFill>
                  <a:srgbClr val="1F3864"/>
                </a:solidFill>
              </a:rPr>
              <a:t>vp fmt запускает oxfmt; vp check включает fmt + lint + типы</a:t>
            </a:r>
            <a:endParaRPr sz="1500">
              <a:solidFill>
                <a:srgbClr val="1F3864"/>
              </a:solidFill>
            </a:endParaRPr>
          </a:p>
        </p:txBody>
      </p:sp>
      <p:pic>
        <p:nvPicPr>
          <p:cNvPr id="417" name="Picture 10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Инструменты Oxc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420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21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20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422" name="TextBox 4"/>
          <p:cNvSpPr txBox="1"/>
          <p:nvPr/>
        </p:nvSpPr>
        <p:spPr>
          <a:xfrm>
            <a:off x="812800" y="1676400"/>
            <a:ext cx="10566400" cy="18745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Parser — самый быстрый JS/TS-парсер с AST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Transformer — TS, JSX, modern JS lowering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Minifier — minify для продакшена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Resolver — разрешение модулей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TypeScript Runner — запуск TS/JSX в Node</a:t>
            </a:r>
            <a:endParaRPr sz="1800">
              <a:solidFill>
                <a:srgbClr val="44546A"/>
              </a:solidFill>
            </a:endParaRPr>
          </a:p>
        </p:txBody>
      </p:sp>
      <p:sp>
        <p:nvSpPr>
          <p:cNvPr id="423" name="Rectangle 5"/>
          <p:cNvSpPr/>
          <p:nvPr/>
        </p:nvSpPr>
        <p:spPr>
          <a:xfrm>
            <a:off x="812800" y="5080000"/>
            <a:ext cx="10566400" cy="660400"/>
          </a:xfrm>
          <a:prstGeom prst="roundRect">
            <a:avLst/>
          </a:prstGeom>
          <a:solidFill>
            <a:srgbClr val="DCE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24" name="Rectangle 6"/>
          <p:cNvSpPr/>
          <p:nvPr/>
        </p:nvSpPr>
        <p:spPr>
          <a:xfrm>
            <a:off x="812800" y="5080000"/>
            <a:ext cx="76200" cy="6604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25" name="TextBox 7"/>
          <p:cNvSpPr txBox="1"/>
          <p:nvPr/>
        </p:nvSpPr>
        <p:spPr>
          <a:xfrm>
            <a:off x="1143000" y="5257800"/>
            <a:ext cx="9906000" cy="320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500">
                <a:solidFill>
                  <a:srgbClr val="1F3864"/>
                </a:solidFill>
              </a:rPr>
              <a:t>Все инструменты делят общие компоненты — меньше дублирования</a:t>
            </a:r>
            <a:endParaRPr sz="1500">
              <a:solidFill>
                <a:srgbClr val="1F3864"/>
              </a:solidFill>
            </a:endParaRPr>
          </a:p>
        </p:txBody>
      </p:sp>
      <p:pic>
        <p:nvPicPr>
          <p:cNvPr id="426" name="Picture 8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Vite+ использует Oxc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429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30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21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431" name="Rectangle 4"/>
          <p:cNvSpPr/>
          <p:nvPr/>
        </p:nvSpPr>
        <p:spPr>
          <a:xfrm>
            <a:off x="812800" y="1676400"/>
            <a:ext cx="10566400" cy="2286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32" name="TextBox 5"/>
          <p:cNvSpPr txBox="1"/>
          <p:nvPr/>
        </p:nvSpPr>
        <p:spPr>
          <a:xfrm>
            <a:off x="1117600" y="1854200"/>
            <a:ext cx="10058400" cy="21518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// vite.config.ts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lint: {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  plugins: ["react", "typescript", "oxc"],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  rules: { "react/rules-of-hooks": "error" },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  options: { typeAware: true, typeCheck: true },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},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fmt: {},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staged: { "*": "vp check --fix" },</a:t>
            </a:r>
            <a:endParaRPr sz="1300">
              <a:solidFill>
                <a:srgbClr val="E5E7EB"/>
              </a:solidFill>
              <a:latin typeface="Consolas"/>
            </a:endParaRPr>
          </a:p>
        </p:txBody>
      </p:sp>
      <p:sp>
        <p:nvSpPr>
          <p:cNvPr id="433" name="TextBox 6"/>
          <p:cNvSpPr txBox="1"/>
          <p:nvPr/>
        </p:nvSpPr>
        <p:spPr>
          <a:xfrm>
            <a:off x="812800" y="4191000"/>
            <a:ext cx="10566400" cy="10424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vp lint = Oxlint; vp fmt = Oxfmt; vp check = всё вместе</a:t>
            </a:r>
            <a:endParaRPr sz="16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Конфиг линтера/форматтера — в vite.config.ts, а не в oxlint.config.ts</a:t>
            </a:r>
            <a:endParaRPr sz="16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JS-плагины и type-aware правила поддерживаются</a:t>
            </a:r>
            <a:endParaRPr sz="1600">
              <a:solidFill>
                <a:srgbClr val="44546A"/>
              </a:solidFill>
            </a:endParaRPr>
          </a:p>
        </p:txBody>
      </p:sp>
      <p:pic>
        <p:nvPicPr>
          <p:cNvPr id="434" name="Picture 7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TanStack Router: зачем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437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38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22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439" name="TextBox 4"/>
          <p:cNvSpPr txBox="1"/>
          <p:nvPr/>
        </p:nvSpPr>
        <p:spPr>
          <a:xfrm>
            <a:off x="812800" y="1676400"/>
            <a:ext cx="10566400" cy="18745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100% выведенный TypeScript: пути, params, search, контекст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Типобезопасная навигация: Link, useNavigate, useParams, useSearch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Встроенный SWR-кеш для loader'ов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JSON-first search params — состояние в URL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Файловая и кодовая маршрутизация одновременно</a:t>
            </a:r>
            <a:endParaRPr sz="1800">
              <a:solidFill>
                <a:srgbClr val="44546A"/>
              </a:solidFill>
            </a:endParaRPr>
          </a:p>
        </p:txBody>
      </p:sp>
      <p:sp>
        <p:nvSpPr>
          <p:cNvPr id="440" name="Rectangle 5"/>
          <p:cNvSpPr/>
          <p:nvPr/>
        </p:nvSpPr>
        <p:spPr>
          <a:xfrm>
            <a:off x="812800" y="5080000"/>
            <a:ext cx="10566400" cy="660400"/>
          </a:xfrm>
          <a:prstGeom prst="roundRect">
            <a:avLst/>
          </a:prstGeom>
          <a:solidFill>
            <a:srgbClr val="DCE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41" name="Rectangle 6"/>
          <p:cNvSpPr/>
          <p:nvPr/>
        </p:nvSpPr>
        <p:spPr>
          <a:xfrm>
            <a:off x="812800" y="5080000"/>
            <a:ext cx="76200" cy="6604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42" name="TextBox 7"/>
          <p:cNvSpPr txBox="1"/>
          <p:nvPr/>
        </p:nvSpPr>
        <p:spPr>
          <a:xfrm>
            <a:off x="1143000" y="5257800"/>
            <a:ext cx="9906000" cy="320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500">
                <a:solidFill>
                  <a:srgbClr val="1F3864"/>
                </a:solidFill>
              </a:rPr>
              <a:t>URL — это state manager, а не просто строка</a:t>
            </a:r>
            <a:endParaRPr sz="1500">
              <a:solidFill>
                <a:srgbClr val="1F3864"/>
              </a:solidFill>
            </a:endParaRPr>
          </a:p>
        </p:txBody>
      </p:sp>
      <p:pic>
        <p:nvPicPr>
          <p:cNvPr id="443" name="Picture 8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Типобезопасность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446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47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23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448" name="Rectangle 4"/>
          <p:cNvSpPr/>
          <p:nvPr/>
        </p:nvSpPr>
        <p:spPr>
          <a:xfrm>
            <a:off x="812800" y="1676400"/>
            <a:ext cx="10566400" cy="1397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49" name="TextBox 5"/>
          <p:cNvSpPr txBox="1"/>
          <p:nvPr/>
        </p:nvSpPr>
        <p:spPr>
          <a:xfrm>
            <a:off x="1117600" y="1854200"/>
            <a:ext cx="10058400" cy="11612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const router = createRouter({ routeTree });</a:t>
            </a:r>
            <a:endParaRPr sz="13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declare module '@tanstack/react-router' {</a:t>
            </a:r>
            <a:endParaRPr sz="13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  interface Register { router: typeof router }</a:t>
            </a:r>
            <a:endParaRPr sz="13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}</a:t>
            </a:r>
            <a:endParaRPr sz="1350">
              <a:solidFill>
                <a:srgbClr val="E5E7EB"/>
              </a:solidFill>
              <a:latin typeface="Consolas"/>
            </a:endParaRPr>
          </a:p>
        </p:txBody>
      </p:sp>
      <p:sp>
        <p:nvSpPr>
          <p:cNvPr id="450" name="TextBox 6"/>
          <p:cNvSpPr txBox="1"/>
          <p:nvPr/>
        </p:nvSpPr>
        <p:spPr>
          <a:xfrm>
            <a:off x="812800" y="3302000"/>
            <a:ext cx="10566400" cy="1438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Register связывает типы роутера с экспортированными хуками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Route.useParams() / Route.useSearch() — типизированы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useNavigate({ from: Route.fullPath }) — подсказка контекста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strict: false — для общих компонентов без привязки к роуту</a:t>
            </a:r>
            <a:endParaRPr sz="1700">
              <a:solidFill>
                <a:srgbClr val="44546A"/>
              </a:solidFill>
            </a:endParaRPr>
          </a:p>
        </p:txBody>
      </p:sp>
      <p:pic>
        <p:nvPicPr>
          <p:cNvPr id="451" name="Picture 7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Файловая vs кодовая маршрутизация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454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55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24</a:t>
            </a:r>
            <a:endParaRPr sz="1100">
              <a:solidFill>
                <a:srgbClr val="A5A5A5"/>
              </a:solidFill>
            </a:endParaRPr>
          </a:p>
        </p:txBody>
      </p:sp>
      <p:graphicFrame>
        <p:nvGraphicFramePr>
          <p:cNvPr id="456" name="Table 4"/>
          <p:cNvGraphicFramePr>
            <a:graphicFrameLocks noGrp="1"/>
          </p:cNvGraphicFramePr>
          <p:nvPr/>
        </p:nvGraphicFramePr>
        <p:xfrm>
          <a:off x="812800" y="1676400"/>
          <a:ext cx="10566400" cy="203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133"/>
                <a:gridCol w="3522133"/>
                <a:gridCol w="3522133"/>
              </a:tblGrid>
              <a:tr h="508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Файловая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Кодовая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/>
                        <a:t>Определение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по файловой структуре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createRoute + addChildren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/>
                        <a:t>Типобезопасность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максимальная (генерация)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зависит от дисциплины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/>
                        <a:t>Когда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рекомендуется по умолчанию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полный контроль, динамика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57" name="TextBox 5"/>
          <p:cNvSpPr txBox="1"/>
          <p:nvPr/>
        </p:nvSpPr>
        <p:spPr>
          <a:xfrm>
            <a:off x="812800" y="3937000"/>
            <a:ext cx="10566400" cy="7650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Оба подхода можно смешивать в одном проекте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Файловая генерирует routeTree.gen.ts автоматически (Vite plugin)</a:t>
            </a:r>
            <a:endParaRPr sz="1700">
              <a:solidFill>
                <a:srgbClr val="44546A"/>
              </a:solidFill>
            </a:endParaRPr>
          </a:p>
        </p:txBody>
      </p:sp>
      <p:pic>
        <p:nvPicPr>
          <p:cNvPr id="458" name="Picture 6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Именование файлов маршрутов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461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62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25</a:t>
            </a:r>
            <a:endParaRPr sz="1100">
              <a:solidFill>
                <a:srgbClr val="A5A5A5"/>
              </a:solidFill>
            </a:endParaRPr>
          </a:p>
        </p:txBody>
      </p:sp>
      <p:graphicFrame>
        <p:nvGraphicFramePr>
          <p:cNvPr id="463" name="Table 4"/>
          <p:cNvGraphicFramePr>
            <a:graphicFrameLocks noGrp="1"/>
          </p:cNvGraphicFramePr>
          <p:nvPr/>
        </p:nvGraphicFramePr>
        <p:xfrm>
          <a:off x="812800" y="1676400"/>
          <a:ext cx="105664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3200"/>
                <a:gridCol w="5283200"/>
              </a:tblGrid>
              <a:tr h="428625">
                <a:tc>
                  <a:txBody>
                    <a:bodyPr/>
                    <a:lstStyle/>
                    <a:p>
                      <a:r>
                        <a:rPr/>
                        <a:t>Паттерн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Что значит</a:t>
                      </a:r>
                    </a:p>
                  </a:txBody>
                  <a:tcPr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/>
                        <a:t>index.tsx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индексный маршрут родителя</a:t>
                      </a:r>
                    </a:p>
                  </a:txBody>
                  <a:tcPr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/>
                        <a:t>$param.tsx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динамический сегмент</a:t>
                      </a:r>
                    </a:p>
                  </a:txBody>
                  <a:tcPr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/>
                        <a:t>$.tsx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splat / catch-all</a:t>
                      </a:r>
                    </a:p>
                  </a:txBody>
                  <a:tcPr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/>
                        <a:t>{-$param}.tsx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опциональный сегмент</a:t>
                      </a:r>
                    </a:p>
                  </a:txBody>
                  <a:tcPr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/>
                        <a:t>_layout.tsx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pathless layout</a:t>
                      </a:r>
                    </a:p>
                  </a:txBody>
                  <a:tcPr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/>
                        <a:t>posts_.$id.edit.tsx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non-nested (свой путь)</a:t>
                      </a:r>
                    </a:p>
                  </a:txBody>
                  <a:tcPr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/>
                        <a:t>-file.tsx / -dir/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исключить из роутов (колокация)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64" name="TextBox 5"/>
          <p:cNvSpPr txBox="1"/>
          <p:nvPr/>
        </p:nvSpPr>
        <p:spPr>
          <a:xfrm>
            <a:off x="812800" y="5334000"/>
            <a:ext cx="10566400" cy="304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400">
                <a:solidFill>
                  <a:srgbClr val="A5A5A5"/>
                </a:solidFill>
              </a:rPr>
              <a:t>Группы: (app)/, (auth)/ — чисто организационные папки</a:t>
            </a:r>
            <a:endParaRPr sz="1400">
              <a:solidFill>
                <a:srgbClr val="A5A5A5"/>
              </a:solidFill>
            </a:endParaRPr>
          </a:p>
        </p:txBody>
      </p:sp>
      <p:pic>
        <p:nvPicPr>
          <p:cNvPr id="465" name="Picture 6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Кодовая маршрутизация: пример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468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69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26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470" name="Rectangle 4"/>
          <p:cNvSpPr/>
          <p:nvPr/>
        </p:nvSpPr>
        <p:spPr>
          <a:xfrm>
            <a:off x="812800" y="1676400"/>
            <a:ext cx="10566400" cy="2921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71" name="TextBox 5"/>
          <p:cNvSpPr txBox="1"/>
          <p:nvPr/>
        </p:nvSpPr>
        <p:spPr>
          <a:xfrm>
            <a:off x="1117600" y="1854200"/>
            <a:ext cx="10058400" cy="34396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const rootRoute = createRootRoute();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const postsRoute = createRoute({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  getParentRoute: () =&gt; rootRoute,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  path: 'posts',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});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const postRoute = createRoute({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  getParentRoute: () =&gt; postsRoute,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  path: '$postId',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  loader: ({ params }) =&gt; fetchPost(params.postId),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});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const routeTree = rootRoute.addChildren([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  postsRoute.addChildren([postRoute]),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]);</a:t>
            </a:r>
            <a:endParaRPr sz="1300">
              <a:solidFill>
                <a:srgbClr val="E5E7EB"/>
              </a:solidFill>
              <a:latin typeface="Consolas"/>
            </a:endParaRPr>
          </a:p>
        </p:txBody>
      </p:sp>
      <p:sp>
        <p:nvSpPr>
          <p:cNvPr id="472" name="TextBox 6"/>
          <p:cNvSpPr txBox="1"/>
          <p:nvPr/>
        </p:nvSpPr>
        <p:spPr>
          <a:xfrm>
            <a:off x="812800" y="4826000"/>
            <a:ext cx="10566400" cy="10424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getParentRoute обязателен — ради типобезопасности</a:t>
            </a:r>
            <a:endParaRPr sz="16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addChildren строит дерево вручную</a:t>
            </a:r>
            <a:endParaRPr sz="16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В реальных проектах смешивают с файловой</a:t>
            </a:r>
            <a:endParaRPr sz="1600">
              <a:solidFill>
                <a:srgbClr val="44546A"/>
              </a:solidFill>
            </a:endParaRPr>
          </a:p>
        </p:txBody>
      </p:sp>
      <p:pic>
        <p:nvPicPr>
          <p:cNvPr id="473" name="Picture 7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Параметры пути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476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77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27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478" name="Rectangle 4"/>
          <p:cNvSpPr/>
          <p:nvPr/>
        </p:nvSpPr>
        <p:spPr>
          <a:xfrm>
            <a:off x="812800" y="1676400"/>
            <a:ext cx="10566400" cy="2159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79" name="TextBox 5"/>
          <p:cNvSpPr txBox="1"/>
          <p:nvPr/>
        </p:nvSpPr>
        <p:spPr>
          <a:xfrm>
            <a:off x="1117600" y="1854200"/>
            <a:ext cx="10058400" cy="223113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// posts/$postId.tsx</a:t>
            </a:r>
            <a:endParaRPr sz="13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export const Route = createFileRoute('/posts/$postId')({</a:t>
            </a:r>
            <a:endParaRPr sz="13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  loader: ({ params }) =&gt; fetchPost(params.postId),</a:t>
            </a:r>
            <a:endParaRPr sz="13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  component: PostComponent,</a:t>
            </a:r>
            <a:endParaRPr sz="13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});</a:t>
            </a:r>
            <a:endParaRPr sz="13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function PostComponent() {</a:t>
            </a:r>
            <a:endParaRPr sz="13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  const { postId } = Route.useParams();</a:t>
            </a:r>
            <a:endParaRPr sz="13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}</a:t>
            </a:r>
            <a:endParaRPr sz="1350">
              <a:solidFill>
                <a:srgbClr val="E5E7EB"/>
              </a:solidFill>
              <a:latin typeface="Consolas"/>
            </a:endParaRPr>
          </a:p>
        </p:txBody>
      </p:sp>
      <p:sp>
        <p:nvSpPr>
          <p:cNvPr id="480" name="TextBox 6"/>
          <p:cNvSpPr txBox="1"/>
          <p:nvPr/>
        </p:nvSpPr>
        <p:spPr>
          <a:xfrm>
            <a:off x="812800" y="4064000"/>
            <a:ext cx="10566400" cy="13990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44546A"/>
                </a:solidFill>
              </a:rPr>
              <a:t>$param — обязательный сегмент</a:t>
            </a:r>
            <a:endParaRPr sz="165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44546A"/>
                </a:solidFill>
              </a:rPr>
              <a:t>{-$param} — опциональный (undefined, если нет)</a:t>
            </a:r>
            <a:endParaRPr sz="165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44546A"/>
                </a:solidFill>
              </a:rPr>
              <a:t>$ — splat, значение в params._splat</a:t>
            </a:r>
            <a:endParaRPr sz="165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44546A"/>
                </a:solidFill>
              </a:rPr>
              <a:t>params доступны в loader, beforeLoad, компоненте</a:t>
            </a:r>
            <a:endParaRPr sz="1650">
              <a:solidFill>
                <a:srgbClr val="44546A"/>
              </a:solidFill>
            </a:endParaRPr>
          </a:p>
        </p:txBody>
      </p:sp>
      <p:pic>
        <p:nvPicPr>
          <p:cNvPr id="481" name="Picture 7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Layout и pathless routes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484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85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28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486" name="Rectangle 4"/>
          <p:cNvSpPr/>
          <p:nvPr/>
        </p:nvSpPr>
        <p:spPr>
          <a:xfrm>
            <a:off x="812800" y="1676400"/>
            <a:ext cx="10566400" cy="2159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87" name="TextBox 5"/>
          <p:cNvSpPr txBox="1"/>
          <p:nvPr/>
        </p:nvSpPr>
        <p:spPr>
          <a:xfrm>
            <a:off x="1117600" y="1854200"/>
            <a:ext cx="10058400" cy="21518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// app.tsx — layout route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export const Route = createFileRoute('/app')({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  component: () =&gt; (&lt;div&gt;&lt;h1&gt;App&lt;/h1&gt;&lt;Outlet /&gt;&lt;/div&gt;),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});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// _pathlessLayout.tsx — без пути в URL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export const Route = createFileRoute('/_pathlessLayout')({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  component: () =&gt; (&lt;div&gt;&lt;h1&gt;PL&lt;/h1&gt;&lt;Outlet /&gt;&lt;/div&gt;),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});</a:t>
            </a:r>
            <a:endParaRPr sz="1300">
              <a:solidFill>
                <a:srgbClr val="E5E7EB"/>
              </a:solidFill>
              <a:latin typeface="Consolas"/>
            </a:endParaRPr>
          </a:p>
        </p:txBody>
      </p:sp>
      <p:sp>
        <p:nvSpPr>
          <p:cNvPr id="488" name="TextBox 6"/>
          <p:cNvSpPr txBox="1"/>
          <p:nvPr/>
        </p:nvSpPr>
        <p:spPr>
          <a:xfrm>
            <a:off x="812800" y="4064000"/>
            <a:ext cx="10566400" cy="10721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44546A"/>
                </a:solidFill>
              </a:rPr>
              <a:t>Layout оборачивает дочерние роуты через &lt;Outlet /&gt;</a:t>
            </a:r>
            <a:endParaRPr sz="165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44546A"/>
                </a:solidFill>
              </a:rPr>
              <a:t>Pathless (_prefix) оборачивает без сегмента в URL</a:t>
            </a:r>
            <a:endParaRPr sz="165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44546A"/>
                </a:solidFill>
              </a:rPr>
              <a:t>Non-nested: суффикс _ у родителя «отсоединяет» дочерний маршрут</a:t>
            </a:r>
            <a:endParaRPr sz="1650">
              <a:solidFill>
                <a:srgbClr val="44546A"/>
              </a:solidFill>
            </a:endParaRPr>
          </a:p>
        </p:txBody>
      </p:sp>
      <p:pic>
        <p:nvPicPr>
          <p:cNvPr id="489" name="Picture 7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Search params: состояние в URL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492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93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29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494" name="TextBox 4"/>
          <p:cNvSpPr txBox="1"/>
          <p:nvPr/>
        </p:nvSpPr>
        <p:spPr>
          <a:xfrm>
            <a:off x="812800" y="1676400"/>
            <a:ext cx="10566400" cy="1438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JSON-first: вложенные структуры сериализуются автоматически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Наследуются от родительских маршрутов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Доступны в loader'ах, компонентах, хуках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Обновление через Link search, useNavigate, &lt;Navigate&gt;</a:t>
            </a:r>
            <a:endParaRPr sz="1700">
              <a:solidFill>
                <a:srgbClr val="44546A"/>
              </a:solidFill>
            </a:endParaRPr>
          </a:p>
        </p:txBody>
      </p:sp>
      <p:sp>
        <p:nvSpPr>
          <p:cNvPr id="495" name="Rectangle 5"/>
          <p:cNvSpPr/>
          <p:nvPr/>
        </p:nvSpPr>
        <p:spPr>
          <a:xfrm>
            <a:off x="812800" y="4191000"/>
            <a:ext cx="10566400" cy="1143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96" name="TextBox 6"/>
          <p:cNvSpPr txBox="1"/>
          <p:nvPr/>
        </p:nvSpPr>
        <p:spPr>
          <a:xfrm>
            <a:off x="1117600" y="4368800"/>
            <a:ext cx="10058400" cy="6263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const { page, filter, sort } = Route.useSearch();</a:t>
            </a:r>
            <a:endParaRPr sz="13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&lt;Link from={Route.fullPath} search={(prev) =&gt; ({ page: prev.page + 1 })}&gt;Next&lt;/Link&gt;</a:t>
            </a:r>
            <a:endParaRPr sz="1350">
              <a:solidFill>
                <a:srgbClr val="E5E7EB"/>
              </a:solidFill>
              <a:latin typeface="Consolas"/>
            </a:endParaRPr>
          </a:p>
        </p:txBody>
      </p:sp>
      <p:pic>
        <p:nvPicPr>
          <p:cNvPr id="497" name="Picture 7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Валидация search params: Zod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500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01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30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502" name="Rectangle 4"/>
          <p:cNvSpPr/>
          <p:nvPr/>
        </p:nvSpPr>
        <p:spPr>
          <a:xfrm>
            <a:off x="812800" y="1676400"/>
            <a:ext cx="10566400" cy="2286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03" name="TextBox 5"/>
          <p:cNvSpPr txBox="1"/>
          <p:nvPr/>
        </p:nvSpPr>
        <p:spPr>
          <a:xfrm>
            <a:off x="1117600" y="1854200"/>
            <a:ext cx="10058400" cy="21518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const schema = z.object({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  page: z.number().catch(1),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  filter: z.string().catch(''),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  sort: z.enum(['newest','oldest','price']).catch('newest'),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});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export const Route = createFileRoute('/shop/products')({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  validateSearch: zodValidator(schema),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});</a:t>
            </a:r>
            <a:endParaRPr sz="1300">
              <a:solidFill>
                <a:srgbClr val="E5E7EB"/>
              </a:solidFill>
              <a:latin typeface="Consolas"/>
            </a:endParaRPr>
          </a:p>
        </p:txBody>
      </p:sp>
      <p:sp>
        <p:nvSpPr>
          <p:cNvPr id="504" name="TextBox 6"/>
          <p:cNvSpPr txBox="1"/>
          <p:nvPr/>
        </p:nvSpPr>
        <p:spPr>
          <a:xfrm>
            <a:off x="812800" y="4191000"/>
            <a:ext cx="10566400" cy="13594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zodValidator из @tanstack/zod-adapter для Zod v3</a:t>
            </a:r>
            <a:endParaRPr sz="16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В Zod v4 схему можно передать напрямую</a:t>
            </a:r>
            <a:endParaRPr sz="16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fallback() сохраняет типы при ошибке валидации</a:t>
            </a:r>
            <a:endParaRPr sz="16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Поддерживаются Valibot, ArkType, Effect/Schema</a:t>
            </a:r>
            <a:endParaRPr sz="1600">
              <a:solidFill>
                <a:srgbClr val="44546A"/>
              </a:solidFill>
            </a:endParaRPr>
          </a:p>
        </p:txBody>
      </p:sp>
      <p:pic>
        <p:nvPicPr>
          <p:cNvPr id="505" name="Picture 7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Search middlewares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508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09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31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510" name="Rectangle 4"/>
          <p:cNvSpPr/>
          <p:nvPr/>
        </p:nvSpPr>
        <p:spPr>
          <a:xfrm>
            <a:off x="812800" y="1676400"/>
            <a:ext cx="10566400" cy="1524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11" name="TextBox 5"/>
          <p:cNvSpPr txBox="1"/>
          <p:nvPr/>
        </p:nvSpPr>
        <p:spPr>
          <a:xfrm>
            <a:off x="1117600" y="1854200"/>
            <a:ext cx="10058400" cy="17556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search: {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  middlewares: [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    retainSearchParams(['rootValue']),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    stripSearchParams({ page: 1 }),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  ],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}</a:t>
            </a:r>
            <a:endParaRPr sz="1400">
              <a:solidFill>
                <a:srgbClr val="E5E7EB"/>
              </a:solidFill>
              <a:latin typeface="Consolas"/>
            </a:endParaRPr>
          </a:p>
        </p:txBody>
      </p:sp>
      <p:sp>
        <p:nvSpPr>
          <p:cNvPr id="512" name="TextBox 6"/>
          <p:cNvSpPr txBox="1"/>
          <p:nvPr/>
        </p:nvSpPr>
        <p:spPr>
          <a:xfrm>
            <a:off x="812800" y="3429000"/>
            <a:ext cx="10566400" cy="11018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retainSearchParams — сохранить param во всех ссылках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stripSearchParams — убрать param, если значение по умолчанию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Можно цепочкой комбинировать</a:t>
            </a:r>
            <a:endParaRPr sz="1700">
              <a:solidFill>
                <a:srgbClr val="44546A"/>
              </a:solidFill>
            </a:endParaRPr>
          </a:p>
        </p:txBody>
      </p:sp>
      <p:sp>
        <p:nvSpPr>
          <p:cNvPr id="513" name="Rectangle 7"/>
          <p:cNvSpPr/>
          <p:nvPr/>
        </p:nvSpPr>
        <p:spPr>
          <a:xfrm>
            <a:off x="812800" y="5461000"/>
            <a:ext cx="10566400" cy="660400"/>
          </a:xfrm>
          <a:prstGeom prst="roundRect">
            <a:avLst/>
          </a:prstGeom>
          <a:solidFill>
            <a:srgbClr val="DCE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14" name="Rectangle 8"/>
          <p:cNvSpPr/>
          <p:nvPr/>
        </p:nvSpPr>
        <p:spPr>
          <a:xfrm>
            <a:off x="812800" y="5461000"/>
            <a:ext cx="76200" cy="6604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15" name="TextBox 9"/>
          <p:cNvSpPr txBox="1"/>
          <p:nvPr/>
        </p:nvSpPr>
        <p:spPr>
          <a:xfrm>
            <a:off x="1143000" y="5638800"/>
            <a:ext cx="9906000" cy="320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500">
                <a:solidFill>
                  <a:srgbClr val="1F3864"/>
                </a:solidFill>
              </a:rPr>
              <a:t>По умолчанию search params обновляются независимо от pathname</a:t>
            </a:r>
            <a:endParaRPr sz="1500">
              <a:solidFill>
                <a:srgbClr val="1F3864"/>
              </a:solidFill>
            </a:endParaRPr>
          </a:p>
        </p:txBody>
      </p:sp>
      <p:pic>
        <p:nvPicPr>
          <p:cNvPr id="516" name="Picture 10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Data loading: loader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519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20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32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521" name="Rectangle 4"/>
          <p:cNvSpPr/>
          <p:nvPr/>
        </p:nvSpPr>
        <p:spPr>
          <a:xfrm>
            <a:off x="812800" y="1676400"/>
            <a:ext cx="10566400" cy="1778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22" name="TextBox 5"/>
          <p:cNvSpPr txBox="1"/>
          <p:nvPr/>
        </p:nvSpPr>
        <p:spPr>
          <a:xfrm>
            <a:off x="1117600" y="1854200"/>
            <a:ext cx="10058400" cy="14782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export const Route = createFileRoute('/posts')({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  loader: ({ params, context }) =&gt; fetchPosts(),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});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// в компоненте: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const posts = Route.useLoaderData();</a:t>
            </a:r>
            <a:endParaRPr sz="1400">
              <a:solidFill>
                <a:srgbClr val="E5E7EB"/>
              </a:solidFill>
              <a:latin typeface="Consolas"/>
            </a:endParaRPr>
          </a:p>
        </p:txBody>
      </p:sp>
      <p:sp>
        <p:nvSpPr>
          <p:cNvPr id="523" name="TextBox 6"/>
          <p:cNvSpPr txBox="1"/>
          <p:nvPr/>
        </p:nvSpPr>
        <p:spPr>
          <a:xfrm>
            <a:off x="812800" y="3683000"/>
            <a:ext cx="10566400" cy="1438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loader вызывается при совпадении маршрута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useLoaderData — типизированный результат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beforeLoad — перед loader, для контекста и редиректов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loaderDeps — ключ кеша по search params</a:t>
            </a:r>
            <a:endParaRPr sz="1700">
              <a:solidFill>
                <a:srgbClr val="44546A"/>
              </a:solidFill>
            </a:endParaRPr>
          </a:p>
        </p:txBody>
      </p:sp>
      <p:pic>
        <p:nvPicPr>
          <p:cNvPr id="524" name="Picture 7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Кеширование loader'ов (SWR)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527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28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33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529" name="TextBox 4"/>
          <p:cNvSpPr txBox="1"/>
          <p:nvPr/>
        </p:nvSpPr>
        <p:spPr>
          <a:xfrm>
            <a:off x="812800" y="1676400"/>
            <a:ext cx="10566400" cy="1775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staleTime — свежесть данных (по умолч. 0 для nav, 30s для preload)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gcTime — время жизни в кеше (по умолч. 5 мин)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shouldReload — перезагружать ли при повторном входе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staleReloadMode: 'background' | 'blocking'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loaderDeps только из используемых params (не весь search!)</a:t>
            </a:r>
            <a:endParaRPr sz="1700">
              <a:solidFill>
                <a:srgbClr val="44546A"/>
              </a:solidFill>
            </a:endParaRPr>
          </a:p>
        </p:txBody>
      </p:sp>
      <p:pic>
        <p:nvPicPr>
          <p:cNvPr id="530" name="Picture 5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Контекст и beforeLoad (auth)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533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34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34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535" name="Rectangle 4"/>
          <p:cNvSpPr/>
          <p:nvPr/>
        </p:nvSpPr>
        <p:spPr>
          <a:xfrm>
            <a:off x="812800" y="1676400"/>
            <a:ext cx="10566400" cy="2032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36" name="TextBox 5"/>
          <p:cNvSpPr txBox="1"/>
          <p:nvPr/>
        </p:nvSpPr>
        <p:spPr>
          <a:xfrm>
            <a:off x="1117600" y="1854200"/>
            <a:ext cx="10058400" cy="1894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export const Route = createFileRoute('/posts')({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  beforeLoad: ({ context }) =&gt; {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    if (!context.auth.isAuthenticated) throw redirect({ to: '/login' });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    return { fetchPosts: () =&gt; ... };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  },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  loader: ({ context: { fetchPosts } }) =&gt; fetchPosts(),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});</a:t>
            </a:r>
            <a:endParaRPr sz="1300">
              <a:solidFill>
                <a:srgbClr val="E5E7EB"/>
              </a:solidFill>
              <a:latin typeface="Consolas"/>
            </a:endParaRPr>
          </a:p>
        </p:txBody>
      </p:sp>
      <p:sp>
        <p:nvSpPr>
          <p:cNvPr id="537" name="TextBox 6"/>
          <p:cNvSpPr txBox="1"/>
          <p:nvPr/>
        </p:nvSpPr>
        <p:spPr>
          <a:xfrm>
            <a:off x="812800" y="3937000"/>
            <a:ext cx="10566400" cy="10721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44546A"/>
                </a:solidFill>
              </a:rPr>
              <a:t>createRootRouteWithContext&lt;T&gt;() задаёт тип контекста</a:t>
            </a:r>
            <a:endParaRPr sz="165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44546A"/>
                </a:solidFill>
              </a:rPr>
              <a:t>Контекст наследуется по дереву маршрутов</a:t>
            </a:r>
            <a:endParaRPr sz="165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44546A"/>
                </a:solidFill>
              </a:rPr>
              <a:t>beforeLoad — идеальное место для проверки auth и редиректов</a:t>
            </a:r>
            <a:endParaRPr sz="1650">
              <a:solidFill>
                <a:srgbClr val="44546A"/>
              </a:solidFill>
            </a:endParaRPr>
          </a:p>
        </p:txBody>
      </p:sp>
      <p:pic>
        <p:nvPicPr>
          <p:cNvPr id="538" name="Picture 7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Pending и обработка ошибок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541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42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35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543" name="TextBox 4"/>
          <p:cNvSpPr txBox="1"/>
          <p:nvPr/>
        </p:nvSpPr>
        <p:spPr>
          <a:xfrm>
            <a:off x="812800" y="1676400"/>
            <a:ext cx="10566400" cy="1775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pendingComponent показывается после pendingMs (по умолч. 1с)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pendingMinMs (500мс) избегает мигания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errorComponent с error и reset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onError / onCatch для логирования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AbortController в loader для отмены запросов</a:t>
            </a:r>
            <a:endParaRPr sz="1700">
              <a:solidFill>
                <a:srgbClr val="44546A"/>
              </a:solidFill>
            </a:endParaRPr>
          </a:p>
        </p:txBody>
      </p:sp>
      <p:pic>
        <p:nvPicPr>
          <p:cNvPr id="544" name="Picture 5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Preloading и code splitting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547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48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36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549" name="TextBox 4"/>
          <p:cNvSpPr txBox="1"/>
          <p:nvPr/>
        </p:nvSpPr>
        <p:spPr>
          <a:xfrm>
            <a:off x="812800" y="1676400"/>
            <a:ext cx="10566400" cy="1438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preload стратегии: intent, viewport, render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Компоненты роутов автоматически code-split'ятся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lazy routes для тяжёлых страниц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getRouteApi для доступа к Route без импорта конфига</a:t>
            </a:r>
            <a:endParaRPr sz="1700">
              <a:solidFill>
                <a:srgbClr val="44546A"/>
              </a:solidFill>
            </a:endParaRPr>
          </a:p>
        </p:txBody>
      </p:sp>
      <p:sp>
        <p:nvSpPr>
          <p:cNvPr id="550" name="Rectangle 5"/>
          <p:cNvSpPr/>
          <p:nvPr/>
        </p:nvSpPr>
        <p:spPr>
          <a:xfrm>
            <a:off x="812800" y="4191000"/>
            <a:ext cx="10566400" cy="762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51" name="TextBox 6"/>
          <p:cNvSpPr txBox="1"/>
          <p:nvPr/>
        </p:nvSpPr>
        <p:spPr>
          <a:xfrm>
            <a:off x="1117600" y="4368800"/>
            <a:ext cx="10058400" cy="6065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// vite.config.ts — включить code splitting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// (по умолчанию в file-based routing)</a:t>
            </a:r>
            <a:endParaRPr sz="1300">
              <a:solidFill>
                <a:srgbClr val="E5E7EB"/>
              </a:solidFill>
              <a:latin typeface="Consolas"/>
            </a:endParaRPr>
          </a:p>
        </p:txBody>
      </p:sp>
      <p:pic>
        <p:nvPicPr>
          <p:cNvPr id="552" name="Picture 7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Интеграция с TanStack Query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555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56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37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557" name="Rectangle 4"/>
          <p:cNvSpPr/>
          <p:nvPr/>
        </p:nvSpPr>
        <p:spPr>
          <a:xfrm>
            <a:off x="812800" y="1676400"/>
            <a:ext cx="10566400" cy="1016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58" name="TextBox 5"/>
          <p:cNvSpPr txBox="1"/>
          <p:nvPr/>
        </p:nvSpPr>
        <p:spPr>
          <a:xfrm>
            <a:off x="1117600" y="1854200"/>
            <a:ext cx="10058400" cy="6263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loader: ({ context: { queryClient }, params }) =&gt;</a:t>
            </a:r>
            <a:endParaRPr sz="13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  queryClient.ensureQueryData(postQueryOptions(params.postId)),</a:t>
            </a:r>
            <a:endParaRPr sz="1350">
              <a:solidFill>
                <a:srgbClr val="E5E7EB"/>
              </a:solidFill>
              <a:latin typeface="Consolas"/>
            </a:endParaRPr>
          </a:p>
        </p:txBody>
      </p:sp>
      <p:sp>
        <p:nvSpPr>
          <p:cNvPr id="559" name="TextBox 6"/>
          <p:cNvSpPr txBox="1"/>
          <p:nvPr/>
        </p:nvSpPr>
        <p:spPr>
          <a:xfrm>
            <a:off x="812800" y="2921000"/>
            <a:ext cx="10566400" cy="1438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router cache vs TanStack Query — выбирайте по размеру приложения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defaultPreloadStaleTime: 0 чтобы внешний кеш решал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shouldReload для условной перезагрузки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QueryClient передаётся через контекст роутера</a:t>
            </a:r>
            <a:endParaRPr sz="1700">
              <a:solidFill>
                <a:srgbClr val="44546A"/>
              </a:solidFill>
            </a:endParaRPr>
          </a:p>
        </p:txBody>
      </p:sp>
      <p:pic>
        <p:nvPicPr>
          <p:cNvPr id="560" name="Picture 7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SSR и TanStack Start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563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64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38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565" name="TextBox 4"/>
          <p:cNvSpPr txBox="1"/>
          <p:nvPr/>
        </p:nvSpPr>
        <p:spPr>
          <a:xfrm>
            <a:off x="812800" y="1676400"/>
            <a:ext cx="10566400" cy="15179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TanStack Router — client-first, Start добавляет сервер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SSR, streaming, typed server functions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Middleware, deployable server output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Тот же route tree и типы — без переписывания</a:t>
            </a:r>
            <a:endParaRPr sz="1800">
              <a:solidFill>
                <a:srgbClr val="44546A"/>
              </a:solidFill>
            </a:endParaRPr>
          </a:p>
        </p:txBody>
      </p:sp>
      <p:sp>
        <p:nvSpPr>
          <p:cNvPr id="566" name="Rectangle 5"/>
          <p:cNvSpPr/>
          <p:nvPr/>
        </p:nvSpPr>
        <p:spPr>
          <a:xfrm>
            <a:off x="812800" y="4572000"/>
            <a:ext cx="10566400" cy="660400"/>
          </a:xfrm>
          <a:prstGeom prst="roundRect">
            <a:avLst/>
          </a:prstGeom>
          <a:solidFill>
            <a:srgbClr val="DCE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67" name="Rectangle 6"/>
          <p:cNvSpPr/>
          <p:nvPr/>
        </p:nvSpPr>
        <p:spPr>
          <a:xfrm>
            <a:off x="812800" y="4572000"/>
            <a:ext cx="76200" cy="6604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68" name="TextBox 7"/>
          <p:cNvSpPr txBox="1"/>
          <p:nvPr/>
        </p:nvSpPr>
        <p:spPr>
          <a:xfrm>
            <a:off x="1143000" y="4749800"/>
            <a:ext cx="9906000" cy="320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500">
                <a:solidFill>
                  <a:srgbClr val="1F3864"/>
                </a:solidFill>
              </a:rPr>
              <a:t>Start использует тот же route tree — миграция из client-only прозрачна</a:t>
            </a:r>
            <a:endParaRPr sz="1500">
              <a:solidFill>
                <a:srgbClr val="1F3864"/>
              </a:solidFill>
            </a:endParaRPr>
          </a:p>
        </p:txBody>
      </p:sp>
      <p:pic>
        <p:nvPicPr>
          <p:cNvPr id="569" name="Picture 8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Стек целиком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572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73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39</a:t>
            </a:r>
            <a:endParaRPr sz="1100">
              <a:solidFill>
                <a:srgbClr val="A5A5A5"/>
              </a:solidFill>
            </a:endParaRPr>
          </a:p>
        </p:txBody>
      </p:sp>
      <p:graphicFrame>
        <p:nvGraphicFramePr>
          <p:cNvPr id="574" name="Table 4"/>
          <p:cNvGraphicFramePr>
            <a:graphicFrameLocks noGrp="1"/>
          </p:cNvGraphicFramePr>
          <p:nvPr/>
        </p:nvGraphicFramePr>
        <p:xfrm>
          <a:off x="812800" y="1676400"/>
          <a:ext cx="10566400" cy="2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3200"/>
                <a:gridCol w="5283200"/>
              </a:tblGrid>
              <a:tr h="635000">
                <a:tc>
                  <a:txBody>
                    <a:bodyPr/>
                    <a:lstStyle/>
                    <a:p>
                      <a:r>
                        <a:rPr/>
                        <a:t>Слой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Инструмент</a:t>
                      </a:r>
                    </a:p>
                  </a:txBody>
                  <a:tcPr/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/>
                        <a:t>Сборка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Vite (dev: ESM, build: Rollup/Rolldown)</a:t>
                      </a:r>
                    </a:p>
                  </a:txBody>
                  <a:tcPr/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/>
                        <a:t>Линтинг / форматирование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Oxc: Oxlint + Oxfmt (Rust)</a:t>
                      </a:r>
                    </a:p>
                  </a:txBody>
                  <a:tcPr/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/>
                        <a:t>Роутинг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TanStack Router (типобезопасный)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75" name="TextBox 5"/>
          <p:cNvSpPr txBox="1"/>
          <p:nvPr/>
        </p:nvSpPr>
        <p:spPr>
          <a:xfrm>
            <a:off x="812800" y="4445000"/>
            <a:ext cx="10566400" cy="11018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Vite+ объединяет всё: vp dev/build/lint/fmt/test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Один конфиг vite.config.ts на весь стек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TanStack Query — для серверного состояния поверх роутера</a:t>
            </a:r>
            <a:endParaRPr sz="1700">
              <a:solidFill>
                <a:srgbClr val="44546A"/>
              </a:solidFill>
            </a:endParaRPr>
          </a:p>
        </p:txBody>
      </p:sp>
      <p:pic>
        <p:nvPicPr>
          <p:cNvPr id="576" name="Picture 6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Что дальше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579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80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40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581" name="TextBox 4"/>
          <p:cNvSpPr txBox="1"/>
          <p:nvPr/>
        </p:nvSpPr>
        <p:spPr>
          <a:xfrm>
            <a:off x="812800" y="1676400"/>
            <a:ext cx="10566400" cy="15179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Практика: свой проект на Vite+ с TanStack Router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Изучить deferred data loading и route masking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Настроить CI: voidzero-dev/setup-vp + vp check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Документация: vite.dev, oxc.rs, tanstack.com/router</a:t>
            </a:r>
            <a:endParaRPr sz="1800">
              <a:solidFill>
                <a:srgbClr val="44546A"/>
              </a:solidFill>
            </a:endParaRPr>
          </a:p>
        </p:txBody>
      </p:sp>
      <p:sp>
        <p:nvSpPr>
          <p:cNvPr id="582" name="Rectangle 5"/>
          <p:cNvSpPr/>
          <p:nvPr/>
        </p:nvSpPr>
        <p:spPr>
          <a:xfrm>
            <a:off x="812800" y="4572000"/>
            <a:ext cx="10566400" cy="660400"/>
          </a:xfrm>
          <a:prstGeom prst="roundRect">
            <a:avLst/>
          </a:prstGeom>
          <a:solidFill>
            <a:srgbClr val="DCE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83" name="Rectangle 6"/>
          <p:cNvSpPr/>
          <p:nvPr/>
        </p:nvSpPr>
        <p:spPr>
          <a:xfrm>
            <a:off x="812800" y="4572000"/>
            <a:ext cx="76200" cy="6604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84" name="TextBox 7"/>
          <p:cNvSpPr txBox="1"/>
          <p:nvPr/>
        </p:nvSpPr>
        <p:spPr>
          <a:xfrm>
            <a:off x="1143000" y="4749800"/>
            <a:ext cx="9906000" cy="320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500">
                <a:solidFill>
                  <a:srgbClr val="1F3864"/>
                </a:solidFill>
              </a:rPr>
              <a:t>Ссылки на доки и сообщество: discord.gg/artcraft</a:t>
            </a:r>
            <a:endParaRPr sz="1500">
              <a:solidFill>
                <a:srgbClr val="1F3864"/>
              </a:solidFill>
            </a:endParaRPr>
          </a:p>
        </p:txBody>
      </p:sp>
      <p:pic>
        <p:nvPicPr>
          <p:cNvPr id="585" name="Picture 8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итульный слайд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Классическая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DeckCraft</Application>
  <Slides>40</Slides>
  <Notes>0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