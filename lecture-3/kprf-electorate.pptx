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  <p:extLst>
    <p:ext uri="{521415D9-36F7-43E2-AB2F-B90AF26B5E84}">
      <p14:sectionLst xmlns:p14="http://schemas.microsoft.com/office/powerpoint/2010/main">
        <p14:section name="Участок и метод" id="{E43E6556-07F2-43D6-8881-71BF740DFF79}">
          <p14:sldIdLst>
            <p14:sldId id="256"/>
            <p14:sldId id="257"/>
            <p14:sldId id="258"/>
            <p14:sldId id="259"/>
          </p14:sldIdLst>
        </p14:section>
        <p14:section name="Кампании 2024 и 2026" id="{B9E0D833-E345-4059-8B6F-2330CE6B7638}">
          <p14:sldIdLst>
            <p14:sldId id="260"/>
            <p14:sldId id="261"/>
            <p14:sldId id="262"/>
            <p14:sldId id="263"/>
            <p14:sldId id="264"/>
          </p14:sldIdLst>
        </p14:section>
        <p14:section name="Контраст и итоги" id="{A98C0E8A-9EDE-427A-8925-E8A124C03315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theme" Target="theme/theme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rPr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Меня зовут не важно — важно, что я пять лет работаю в комиссии 765-го участка в Ульянке и вижу избирателя КПРФ не в опросах, а в очереди.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2024 и 2026 — две кампании, которые я отработал от открытия до подсчёта. Данные участка дополняю городской и федеральной статистикой.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Ульянка — типичный спальный район: панель, дворы, школа. Здесь живёт тот самый «старый» электорат, о котором говорят социологи.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Портрет из опросов совпадает с тем, что видно на участке: старшие, мужчины, с бытовыми запросами.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2024-й: губернаторские выборы мы отработали при явке 37,8%. КПРФ в бюллетене не было — и левый протест ушёл к другим.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2026-й: три дня, другая явка. Голосов у КПРФ столько же, но доля упала вдвое — новые избиратели пришли не к ним.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По городу видно то же, что на участке: рост явки размывает долю КПРФ.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Бренд, повестка, организация и конкуренция — четыре причины, которые видно и в очереди, и в цифрах.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Агитация работает на ядро: газета и приёмная дают высокую конверсию, но почти не достают молодых.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Die Linke — единственный зарубежный пример в презентации: он нужен, чтобы показать механизм работы с окраинами и молодёжью.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Разница не в идеологии, а в четырёх практиках: районная ячейка, жилищная повестка, новые лица и цифровые каналы.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Демография — самый жёсткий ограничитель: ядро физически убывает, а замены нет.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Три потери складываются в замкнутый круг, который не разрывается одной кампанией.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Гипотеза: сокращение объясняется двумя потоками — естественным выбытием старшего ядра и отсутствием притока рабочей молодёжи. Третий механизм — эффект явки — усиливает падение доли.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Гипотеза проверяема: пять следствий и три опровергающих условия. Ограничение — нет открытых данных по профессиям, поэтому проверяем косвенно: через возраст, район и динамику явки.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Пять наблюдений с участка — это то, что я вижу каждую кампанию: люди те же, молодёжь приходит, но не к КПРФ.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Сценарии — аналитическая рамка, а не прогноз. Наиболее вероятна инерция.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 fontScale="100000"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Oval 1"/>
          <p:cNvSpPr/>
          <p:nvPr/>
        </p:nvSpPr>
        <p:spPr>
          <a:xfrm>
            <a:off x="7874000" y="-1397000"/>
            <a:ext cx="6604000" cy="6604000"/>
          </a:xfrm>
          <a:prstGeom prst="ellipse">
            <a:avLst/>
          </a:prstGeom>
          <a:noFill/>
          <a:ln w="15240">
            <a:solidFill>
              <a:srgbClr val="BE8B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3" name="Oval 2"/>
          <p:cNvSpPr/>
          <p:nvPr/>
        </p:nvSpPr>
        <p:spPr>
          <a:xfrm>
            <a:off x="8763000" y="-508000"/>
            <a:ext cx="4826000" cy="4826000"/>
          </a:xfrm>
          <a:prstGeom prst="ellipse">
            <a:avLst/>
          </a:prstGeom>
          <a:noFill/>
          <a:ln w="9525">
            <a:solidFill>
              <a:srgbClr val="5A4A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4" name="Rectangle 3"/>
          <p:cNvSpPr/>
          <p:nvPr/>
        </p:nvSpPr>
        <p:spPr>
          <a:xfrm>
            <a:off x="8890000" y="1905000"/>
            <a:ext cx="304800" cy="4064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5" name="Rectangle 4"/>
          <p:cNvSpPr/>
          <p:nvPr/>
        </p:nvSpPr>
        <p:spPr>
          <a:xfrm>
            <a:off x="9423400" y="1905000"/>
            <a:ext cx="76200" cy="4064000"/>
          </a:xfrm>
          <a:prstGeom prst="rect">
            <a:avLst/>
          </a:prstGeom>
          <a:solidFill>
            <a:srgbClr val="BE8B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6" name="Rectangle 5"/>
          <p:cNvSpPr/>
          <p:nvPr/>
        </p:nvSpPr>
        <p:spPr>
          <a:xfrm>
            <a:off x="7112000" y="0"/>
            <a:ext cx="9525" cy="6858000"/>
          </a:xfrm>
          <a:prstGeom prst="rect">
            <a:avLst/>
          </a:prstGeom>
          <a:solidFill>
            <a:srgbClr val="3A36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7" name="Rectangle 6"/>
          <p:cNvSpPr/>
          <p:nvPr/>
        </p:nvSpPr>
        <p:spPr>
          <a:xfrm>
            <a:off x="11684000" y="0"/>
            <a:ext cx="9525" cy="6858000"/>
          </a:xfrm>
          <a:prstGeom prst="rect">
            <a:avLst/>
          </a:prstGeom>
          <a:solidFill>
            <a:srgbClr val="3A36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8" name="Rectangle 7"/>
          <p:cNvSpPr/>
          <p:nvPr/>
        </p:nvSpPr>
        <p:spPr>
          <a:xfrm>
            <a:off x="508000" y="355600"/>
            <a:ext cx="330200" cy="19050"/>
          </a:xfrm>
          <a:prstGeom prst="rect">
            <a:avLst/>
          </a:prstGeom>
          <a:solidFill>
            <a:srgbClr val="BE8B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9" name="Rectangle 8"/>
          <p:cNvSpPr/>
          <p:nvPr/>
        </p:nvSpPr>
        <p:spPr>
          <a:xfrm>
            <a:off x="660400" y="203200"/>
            <a:ext cx="19050" cy="330200"/>
          </a:xfrm>
          <a:prstGeom prst="rect">
            <a:avLst/>
          </a:prstGeom>
          <a:solidFill>
            <a:srgbClr val="BE8B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0" name="TextBox 9"/>
          <p:cNvSpPr txBox="1"/>
          <p:nvPr/>
        </p:nvSpPr>
        <p:spPr>
          <a:xfrm>
            <a:off x="812800" y="1397000"/>
            <a:ext cx="9144000" cy="1365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800" b="0" i="0" cap="none">
                <a:solidFill>
                  <a:srgbClr val="F0E8D6"/>
                </a:solidFill>
                <a:latin typeface="Bahnschrift SemiBold Condensed"/>
              </a:rPr>
              <a:t>УЧАСТОК 765</a:t>
            </a:r>
            <a:endParaRPr sz="8800" b="0" i="0" cap="none">
              <a:solidFill>
                <a:srgbClr val="F0E8D6"/>
              </a:solidFill>
              <a:latin typeface="Bahnschrift SemiBold Condensed"/>
            </a:endParaRPr>
          </a:p>
        </p:txBody>
      </p:sp>
      <p:sp>
        <p:nvSpPr>
          <p:cNvPr id="281" name="Rectangle 10"/>
          <p:cNvSpPr/>
          <p:nvPr/>
        </p:nvSpPr>
        <p:spPr>
          <a:xfrm>
            <a:off x="838200" y="3175000"/>
            <a:ext cx="3048000" cy="889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2" name="TextBox 11"/>
          <p:cNvSpPr txBox="1"/>
          <p:nvPr/>
        </p:nvSpPr>
        <p:spPr>
          <a:xfrm>
            <a:off x="838200" y="3505200"/>
            <a:ext cx="7620000" cy="9235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 i="1" cap="none">
                <a:solidFill>
                  <a:srgbClr val="D8CDB4"/>
                </a:solidFill>
                <a:latin typeface="Georgia"/>
              </a:rPr>
              <a:t>Записки члена комиссии:</a:t>
            </a:r>
            <a:endParaRPr sz="2100" b="0" i="1" cap="none">
              <a:solidFill>
                <a:srgbClr val="D8CDB4"/>
              </a:solidFill>
              <a:latin typeface="Georgia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 i="1" cap="none">
                <a:solidFill>
                  <a:srgbClr val="D8CDB4"/>
                </a:solidFill>
                <a:latin typeface="Georgia"/>
              </a:rPr>
              <a:t>выборы 2024 и 2026</a:t>
            </a:r>
            <a:endParaRPr sz="2100" b="0" i="1" cap="none">
              <a:solidFill>
                <a:srgbClr val="D8CDB4"/>
              </a:solidFill>
              <a:latin typeface="Georgia"/>
            </a:endParaRPr>
          </a:p>
        </p:txBody>
      </p:sp>
      <p:sp>
        <p:nvSpPr>
          <p:cNvPr id="283" name="TextBox 12"/>
          <p:cNvSpPr txBox="1"/>
          <p:nvPr/>
        </p:nvSpPr>
        <p:spPr>
          <a:xfrm>
            <a:off x="838200" y="4775200"/>
            <a:ext cx="8890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B9AE96"/>
                </a:solidFill>
                <a:latin typeface="Georgia"/>
              </a:rPr>
              <a:t>КПРФ и её избиратель на юго-западе Петербурга</a:t>
            </a:r>
            <a:endParaRPr sz="125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284" name="Rectangle 13"/>
          <p:cNvSpPr/>
          <p:nvPr/>
        </p:nvSpPr>
        <p:spPr>
          <a:xfrm>
            <a:off x="838200" y="5232400"/>
            <a:ext cx="2997200" cy="711200"/>
          </a:xfrm>
          <a:prstGeom prst="rect">
            <a:avLst/>
          </a:prstGeom>
          <a:noFill/>
          <a:ln w="12700">
            <a:solidFill>
              <a:srgbClr val="BE8B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5" name="TextBox 14"/>
          <p:cNvSpPr txBox="1"/>
          <p:nvPr/>
        </p:nvSpPr>
        <p:spPr>
          <a:xfrm>
            <a:off x="990600" y="5334000"/>
            <a:ext cx="2794000" cy="502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 i="0" cap="none" spc="120">
                <a:solidFill>
                  <a:srgbClr val="BE8B2E"/>
                </a:solidFill>
                <a:latin typeface="Consolas"/>
              </a:rPr>
              <a:t>06–08.09.2024</a:t>
            </a:r>
            <a:endParaRPr sz="900" b="0" i="0" cap="none" spc="120">
              <a:solidFill>
                <a:srgbClr val="BE8B2E"/>
              </a:solidFill>
              <a:latin typeface="Consolas"/>
            </a:endParaRP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 i="0" cap="none" spc="120">
                <a:solidFill>
                  <a:srgbClr val="BE8B2E"/>
                </a:solidFill>
                <a:latin typeface="Consolas"/>
              </a:rPr>
              <a:t>18–20.09.2026</a:t>
            </a:r>
            <a:endParaRPr sz="900" b="0" i="0" cap="none" spc="12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286" name="TextBox 15"/>
          <p:cNvSpPr txBox="1"/>
          <p:nvPr/>
        </p:nvSpPr>
        <p:spPr>
          <a:xfrm>
            <a:off x="812800" y="6172200"/>
            <a:ext cx="99060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 spc="120">
                <a:solidFill>
                  <a:srgbClr val="9A8F76"/>
                </a:solidFill>
                <a:latin typeface="Consolas"/>
              </a:rPr>
              <a:t>КИРОВСКИЙ РАЙОН · МО УЛЬЯНКА · ЛИЦЕЙ №244 · ПР. ВЕТЕРАНОВ, 80</a:t>
            </a:r>
            <a:endParaRPr sz="860" b="0" i="0" cap="none" spc="120">
              <a:solidFill>
                <a:srgbClr val="9A8F76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8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01 / КОНТЕКСТ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289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290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Кто говорит и откуда данные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291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2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4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02 / 17</a:t>
            </a:r>
          </a:p>
        </p:txBody>
      </p:sp>
      <p:sp>
        <p:nvSpPr>
          <p:cNvPr id="295" name="Rectangle 9"/>
          <p:cNvSpPr/>
          <p:nvPr/>
        </p:nvSpPr>
        <p:spPr>
          <a:xfrm>
            <a:off x="812800" y="1854200"/>
            <a:ext cx="4191000" cy="37084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6" name="TextBox 10"/>
          <p:cNvSpPr txBox="1"/>
          <p:nvPr/>
        </p:nvSpPr>
        <p:spPr>
          <a:xfrm>
            <a:off x="1016000" y="2032000"/>
            <a:ext cx="38100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 spc="180">
                <a:solidFill>
                  <a:srgbClr val="BE8B2E"/>
                </a:solidFill>
                <a:latin typeface="Consolas"/>
              </a:rPr>
              <a:t>ЧЛЕН УИК С ПРАВОМ</a:t>
            </a:r>
            <a:endParaRPr sz="860" b="0" i="0" cap="none" spc="18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297" name="TextBox 11"/>
          <p:cNvSpPr txBox="1"/>
          <p:nvPr/>
        </p:nvSpPr>
        <p:spPr>
          <a:xfrm>
            <a:off x="1016000" y="2235200"/>
            <a:ext cx="38100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 spc="180">
                <a:solidFill>
                  <a:srgbClr val="BE8B2E"/>
                </a:solidFill>
                <a:latin typeface="Consolas"/>
              </a:rPr>
              <a:t>РЕШАЮЩЕГО ГОЛОСА</a:t>
            </a:r>
            <a:endParaRPr sz="860" b="0" i="0" cap="none" spc="18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298" name="TextBox 12"/>
          <p:cNvSpPr txBox="1"/>
          <p:nvPr/>
        </p:nvSpPr>
        <p:spPr>
          <a:xfrm>
            <a:off x="1016000" y="2540000"/>
            <a:ext cx="3810000" cy="792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0" i="0" cap="none">
                <a:solidFill>
                  <a:srgbClr val="F0E8D6"/>
                </a:solidFill>
                <a:latin typeface="Bahnschrift SemiBold Condensed"/>
              </a:rPr>
              <a:t>УИК №765</a:t>
            </a:r>
            <a:endParaRPr sz="4000" b="0" i="0" cap="none">
              <a:solidFill>
                <a:srgbClr val="F0E8D6"/>
              </a:solidFill>
              <a:latin typeface="Bahnschrift SemiBold Condensed"/>
            </a:endParaRPr>
          </a:p>
        </p:txBody>
      </p:sp>
      <p:sp>
        <p:nvSpPr>
          <p:cNvPr id="299" name="TextBox 13"/>
          <p:cNvSpPr txBox="1"/>
          <p:nvPr/>
        </p:nvSpPr>
        <p:spPr>
          <a:xfrm>
            <a:off x="1016000" y="3276600"/>
            <a:ext cx="3810000" cy="10302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Кировский район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МО Ульянка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лицей №244,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пр. Ветеранов, 80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300" name="TextBox 14"/>
          <p:cNvSpPr txBox="1"/>
          <p:nvPr/>
        </p:nvSpPr>
        <p:spPr>
          <a:xfrm>
            <a:off x="1016000" y="4851400"/>
            <a:ext cx="3810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1" cap="none">
                <a:solidFill>
                  <a:srgbClr val="BE8B2E"/>
                </a:solidFill>
                <a:latin typeface="Georgia"/>
              </a:rPr>
              <a:t>В комиссии — с 2024 года</a:t>
            </a:r>
            <a:endParaRPr sz="950" b="0" i="1" cap="none">
              <a:solidFill>
                <a:srgbClr val="BE8B2E"/>
              </a:solidFill>
              <a:latin typeface="Georgia"/>
            </a:endParaRPr>
          </a:p>
        </p:txBody>
      </p:sp>
      <p:sp>
        <p:nvSpPr>
          <p:cNvPr id="301" name="Rectangle 15"/>
          <p:cNvSpPr/>
          <p:nvPr/>
        </p:nvSpPr>
        <p:spPr>
          <a:xfrm>
            <a:off x="5461000" y="1854200"/>
            <a:ext cx="59182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2" name="TextBox 16"/>
          <p:cNvSpPr txBox="1"/>
          <p:nvPr/>
        </p:nvSpPr>
        <p:spPr>
          <a:xfrm>
            <a:off x="5461000" y="1981200"/>
            <a:ext cx="1524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2024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03" name="TextBox 17"/>
          <p:cNvSpPr txBox="1"/>
          <p:nvPr/>
        </p:nvSpPr>
        <p:spPr>
          <a:xfrm>
            <a:off x="5461000" y="2260600"/>
            <a:ext cx="59182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Март — президентские выборы.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Сентябрь — губернаторские и муниципальные.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04" name="Rectangle 18"/>
          <p:cNvSpPr/>
          <p:nvPr/>
        </p:nvSpPr>
        <p:spPr>
          <a:xfrm>
            <a:off x="5461000" y="3124200"/>
            <a:ext cx="59182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5" name="TextBox 19"/>
          <p:cNvSpPr txBox="1"/>
          <p:nvPr/>
        </p:nvSpPr>
        <p:spPr>
          <a:xfrm>
            <a:off x="5461000" y="3251200"/>
            <a:ext cx="1524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2026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06" name="TextBox 20"/>
          <p:cNvSpPr txBox="1"/>
          <p:nvPr/>
        </p:nvSpPr>
        <p:spPr>
          <a:xfrm>
            <a:off x="5461000" y="3530600"/>
            <a:ext cx="5918200" cy="3095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18–20 сентября — Госдума и ЗакС Санкт-Петербурга. Три дня голосования.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07" name="Rectangle 21"/>
          <p:cNvSpPr/>
          <p:nvPr/>
        </p:nvSpPr>
        <p:spPr>
          <a:xfrm>
            <a:off x="5461000" y="4394200"/>
            <a:ext cx="59182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8" name="TextBox 22"/>
          <p:cNvSpPr txBox="1"/>
          <p:nvPr/>
        </p:nvSpPr>
        <p:spPr>
          <a:xfrm>
            <a:off x="5461000" y="4521200"/>
            <a:ext cx="1524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ДАННЫЕ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09" name="TextBox 23"/>
          <p:cNvSpPr txBox="1"/>
          <p:nvPr/>
        </p:nvSpPr>
        <p:spPr>
          <a:xfrm>
            <a:off x="5461000" y="4800600"/>
            <a:ext cx="59182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Протоколы УИК, СПбИК и ЦИК; опросы Левады, ВЦИОМ и ФОМ. Цифры по городу и стране — из открытых источников.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10" name="TextBox 24"/>
          <p:cNvSpPr txBox="1"/>
          <p:nvPr/>
        </p:nvSpPr>
        <p:spPr>
          <a:xfrm>
            <a:off x="812800" y="5867400"/>
            <a:ext cx="109728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1" cap="none">
                <a:solidFill>
                  <a:srgbClr val="55503F"/>
                </a:solidFill>
                <a:latin typeface="Georgia"/>
              </a:rPr>
              <a:t>Личные наблюдения — не социология: там, где нет протокола, я говорю «на участке».</a:t>
            </a:r>
            <a:endParaRPr sz="110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4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02 / МЕСТО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75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376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Участок 765: спальный район на юго-западе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77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8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0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03 / 17</a:t>
            </a:r>
          </a:p>
        </p:txBody>
      </p:sp>
      <p:sp>
        <p:nvSpPr>
          <p:cNvPr id="381" name="TextBox 9"/>
          <p:cNvSpPr txBox="1"/>
          <p:nvPr/>
        </p:nvSpPr>
        <p:spPr>
          <a:xfrm>
            <a:off x="812800" y="1854200"/>
            <a:ext cx="10972800" cy="603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 cap="none">
                <a:solidFill>
                  <a:srgbClr val="1B1A18"/>
                </a:solidFill>
                <a:latin typeface="Georgia"/>
              </a:rPr>
              <a:t>Ульянка — панельная застройка 1970-х: дворы, школа, поликлиника, магазины у дома. Люди живут здесь десятилетиями, соседей знают в лицо — и комиссию тоже.</a:t>
            </a:r>
            <a:endParaRPr sz="120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82" name="Rectangle 10"/>
          <p:cNvSpPr/>
          <p:nvPr/>
        </p:nvSpPr>
        <p:spPr>
          <a:xfrm>
            <a:off x="4318000" y="2997200"/>
            <a:ext cx="12700" cy="28448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3" name="TextBox 11"/>
          <p:cNvSpPr txBox="1"/>
          <p:nvPr/>
        </p:nvSpPr>
        <p:spPr>
          <a:xfrm>
            <a:off x="812800" y="3048000"/>
            <a:ext cx="3175000" cy="5821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 cap="none">
                <a:solidFill>
                  <a:srgbClr val="A82C1E"/>
                </a:solidFill>
                <a:latin typeface="Bahnschrift SemiBold Condensed"/>
              </a:rPr>
              <a:t>2 563</a:t>
            </a:r>
            <a:endParaRPr sz="28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84" name="TextBox 12"/>
          <p:cNvSpPr txBox="1"/>
          <p:nvPr/>
        </p:nvSpPr>
        <p:spPr>
          <a:xfrm>
            <a:off x="812800" y="3429000"/>
            <a:ext cx="3302000" cy="265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Georgia"/>
              </a:rPr>
              <a:t>избирателя в списке (2021)</a:t>
            </a:r>
            <a:endParaRPr sz="9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85" name="TextBox 13"/>
          <p:cNvSpPr txBox="1"/>
          <p:nvPr/>
        </p:nvSpPr>
        <p:spPr>
          <a:xfrm>
            <a:off x="812800" y="3937000"/>
            <a:ext cx="3175000" cy="5821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 cap="none">
                <a:solidFill>
                  <a:srgbClr val="A82C1E"/>
                </a:solidFill>
                <a:latin typeface="Bahnschrift SemiBold Condensed"/>
              </a:rPr>
              <a:t>3 дня</a:t>
            </a:r>
            <a:endParaRPr sz="28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86" name="TextBox 14"/>
          <p:cNvSpPr txBox="1"/>
          <p:nvPr/>
        </p:nvSpPr>
        <p:spPr>
          <a:xfrm>
            <a:off x="812800" y="4318000"/>
            <a:ext cx="3302000" cy="265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Georgia"/>
              </a:rPr>
              <a:t>голосования в 2026 году</a:t>
            </a:r>
            <a:endParaRPr sz="9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87" name="TextBox 15"/>
          <p:cNvSpPr txBox="1"/>
          <p:nvPr/>
        </p:nvSpPr>
        <p:spPr>
          <a:xfrm>
            <a:off x="812800" y="4826000"/>
            <a:ext cx="3175000" cy="5821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 cap="none">
                <a:solidFill>
                  <a:srgbClr val="A82C1E"/>
                </a:solidFill>
                <a:latin typeface="Bahnschrift SemiBold Condensed"/>
              </a:rPr>
              <a:t>08:00</a:t>
            </a:r>
            <a:endParaRPr sz="28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88" name="TextBox 16"/>
          <p:cNvSpPr txBox="1"/>
          <p:nvPr/>
        </p:nvSpPr>
        <p:spPr>
          <a:xfrm>
            <a:off x="812800" y="5207000"/>
            <a:ext cx="3302000" cy="265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Georgia"/>
              </a:rPr>
              <a:t>открытие участка</a:t>
            </a:r>
            <a:endParaRPr sz="9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89" name="TextBox 17"/>
          <p:cNvSpPr txBox="1"/>
          <p:nvPr/>
        </p:nvSpPr>
        <p:spPr>
          <a:xfrm>
            <a:off x="4622800" y="3048000"/>
            <a:ext cx="381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ДЕНЬ ГОЛОСОВАНИЯ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90" name="TextBox 18"/>
          <p:cNvSpPr txBox="1"/>
          <p:nvPr/>
        </p:nvSpPr>
        <p:spPr>
          <a:xfrm>
            <a:off x="4622800" y="3352800"/>
            <a:ext cx="13208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40">
                <a:solidFill>
                  <a:srgbClr val="BE8B2E"/>
                </a:solidFill>
                <a:latin typeface="Consolas"/>
              </a:rPr>
              <a:t>08:00</a:t>
            </a:r>
            <a:endParaRPr sz="900" b="0" i="0" cap="none" spc="4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391" name="TextBox 19"/>
          <p:cNvSpPr txBox="1"/>
          <p:nvPr/>
        </p:nvSpPr>
        <p:spPr>
          <a:xfrm>
            <a:off x="6096000" y="3340100"/>
            <a:ext cx="5181600" cy="295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30" b="0" i="0" cap="none">
                <a:solidFill>
                  <a:srgbClr val="1B1A18"/>
                </a:solidFill>
                <a:latin typeface="Georgia"/>
              </a:rPr>
              <a:t>Очередь к открытию: старшие, с квитанциями и вопросами про пенсию.</a:t>
            </a:r>
            <a:endParaRPr sz="103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92" name="TextBox 20"/>
          <p:cNvSpPr txBox="1"/>
          <p:nvPr/>
        </p:nvSpPr>
        <p:spPr>
          <a:xfrm>
            <a:off x="4622800" y="3987800"/>
            <a:ext cx="13208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40">
                <a:solidFill>
                  <a:srgbClr val="BE8B2E"/>
                </a:solidFill>
                <a:latin typeface="Consolas"/>
              </a:rPr>
              <a:t>12:00</a:t>
            </a:r>
            <a:endParaRPr sz="900" b="0" i="0" cap="none" spc="4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393" name="TextBox 21"/>
          <p:cNvSpPr txBox="1"/>
          <p:nvPr/>
        </p:nvSpPr>
        <p:spPr>
          <a:xfrm>
            <a:off x="6096000" y="3975100"/>
            <a:ext cx="5181600" cy="295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30" b="0" i="0" cap="none">
                <a:solidFill>
                  <a:srgbClr val="1B1A18"/>
                </a:solidFill>
                <a:latin typeface="Georgia"/>
              </a:rPr>
              <a:t>Родители с детьми, бабушки с внуками — «по пути из поликлиники».</a:t>
            </a:r>
            <a:endParaRPr sz="103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94" name="TextBox 22"/>
          <p:cNvSpPr txBox="1"/>
          <p:nvPr/>
        </p:nvSpPr>
        <p:spPr>
          <a:xfrm>
            <a:off x="4622800" y="4622800"/>
            <a:ext cx="13208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40">
                <a:solidFill>
                  <a:srgbClr val="BE8B2E"/>
                </a:solidFill>
                <a:latin typeface="Consolas"/>
              </a:rPr>
              <a:t>17:00–20:00</a:t>
            </a:r>
            <a:endParaRPr sz="900" b="0" i="0" cap="none" spc="4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395" name="TextBox 23"/>
          <p:cNvSpPr txBox="1"/>
          <p:nvPr/>
        </p:nvSpPr>
        <p:spPr>
          <a:xfrm>
            <a:off x="6096000" y="4610100"/>
            <a:ext cx="5181600" cy="295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30" b="0" i="0" cap="none">
                <a:solidFill>
                  <a:srgbClr val="1B1A18"/>
                </a:solidFill>
                <a:latin typeface="Georgia"/>
              </a:rPr>
              <a:t>Работающие: приходят после смены, часто всей семьёй.</a:t>
            </a:r>
            <a:endParaRPr sz="103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96" name="TextBox 24"/>
          <p:cNvSpPr txBox="1"/>
          <p:nvPr/>
        </p:nvSpPr>
        <p:spPr>
          <a:xfrm>
            <a:off x="4622800" y="5257800"/>
            <a:ext cx="13208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40">
                <a:solidFill>
                  <a:srgbClr val="BE8B2E"/>
                </a:solidFill>
                <a:latin typeface="Consolas"/>
              </a:rPr>
              <a:t>весь день</a:t>
            </a:r>
            <a:endParaRPr sz="900" b="0" i="0" cap="none" spc="4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397" name="TextBox 25"/>
          <p:cNvSpPr txBox="1"/>
          <p:nvPr/>
        </p:nvSpPr>
        <p:spPr>
          <a:xfrm>
            <a:off x="6096000" y="5245100"/>
            <a:ext cx="5181600" cy="295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30" b="0" i="0" cap="none">
                <a:solidFill>
                  <a:srgbClr val="1B1A18"/>
                </a:solidFill>
                <a:latin typeface="Georgia"/>
              </a:rPr>
              <a:t>ДЭГ, надомное голосование, наблюдатели и камеры.</a:t>
            </a:r>
            <a:endParaRPr sz="103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98" name="TextBox 26"/>
          <p:cNvSpPr txBox="1"/>
          <p:nvPr/>
        </p:nvSpPr>
        <p:spPr>
          <a:xfrm>
            <a:off x="812800" y="5994400"/>
            <a:ext cx="109728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1" cap="none">
                <a:solidFill>
                  <a:srgbClr val="55503F"/>
                </a:solidFill>
                <a:latin typeface="Georgia"/>
              </a:rPr>
              <a:t>За три дня кампании 2026 года через участок прошли те же лица, что и в 2024-м. Новых — единицы.</a:t>
            </a:r>
            <a:endParaRPr sz="110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0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03 / ПОРТРЕТ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41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342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Кто приходит на участок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43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4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6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04 / 17</a:t>
            </a:r>
          </a:p>
        </p:txBody>
      </p:sp>
      <p:sp>
        <p:nvSpPr>
          <p:cNvPr id="347" name="Rectangle 9"/>
          <p:cNvSpPr/>
          <p:nvPr/>
        </p:nvSpPr>
        <p:spPr>
          <a:xfrm>
            <a:off x="8128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8" name="TextBox 10"/>
          <p:cNvSpPr txBox="1"/>
          <p:nvPr/>
        </p:nvSpPr>
        <p:spPr>
          <a:xfrm>
            <a:off x="812800" y="2082800"/>
            <a:ext cx="2489200" cy="7223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600" b="0" i="0" cap="none">
                <a:solidFill>
                  <a:srgbClr val="A82C1E"/>
                </a:solidFill>
                <a:latin typeface="Bahnschrift SemiBold Condensed"/>
              </a:rPr>
              <a:t>70%</a:t>
            </a:r>
            <a:endParaRPr sz="36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49" name="TextBox 11"/>
          <p:cNvSpPr txBox="1"/>
          <p:nvPr/>
        </p:nvSpPr>
        <p:spPr>
          <a:xfrm>
            <a:off x="812800" y="2717800"/>
            <a:ext cx="2489200" cy="267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старше 55 лет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50" name="Rectangle 12"/>
          <p:cNvSpPr/>
          <p:nvPr/>
        </p:nvSpPr>
        <p:spPr>
          <a:xfrm>
            <a:off x="35052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1" name="TextBox 13"/>
          <p:cNvSpPr txBox="1"/>
          <p:nvPr/>
        </p:nvSpPr>
        <p:spPr>
          <a:xfrm>
            <a:off x="3505200" y="2082800"/>
            <a:ext cx="2489200" cy="7223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600" b="0" i="0" cap="none">
                <a:solidFill>
                  <a:srgbClr val="A82C1E"/>
                </a:solidFill>
                <a:latin typeface="Bahnschrift SemiBold Condensed"/>
              </a:rPr>
              <a:t>64%</a:t>
            </a:r>
            <a:endParaRPr sz="36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52" name="TextBox 14"/>
          <p:cNvSpPr txBox="1"/>
          <p:nvPr/>
        </p:nvSpPr>
        <p:spPr>
          <a:xfrm>
            <a:off x="3505200" y="2717800"/>
            <a:ext cx="2489200" cy="267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мужчины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53" name="Rectangle 15"/>
          <p:cNvSpPr/>
          <p:nvPr/>
        </p:nvSpPr>
        <p:spPr>
          <a:xfrm>
            <a:off x="61976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4" name="TextBox 16"/>
          <p:cNvSpPr txBox="1"/>
          <p:nvPr/>
        </p:nvSpPr>
        <p:spPr>
          <a:xfrm>
            <a:off x="6197600" y="2082800"/>
            <a:ext cx="2489200" cy="7223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600" b="0" i="0" cap="none">
                <a:solidFill>
                  <a:srgbClr val="A82C1E"/>
                </a:solidFill>
                <a:latin typeface="Bahnschrift SemiBold Condensed"/>
              </a:rPr>
              <a:t>≈ 55–60</a:t>
            </a:r>
            <a:endParaRPr sz="36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55" name="TextBox 17"/>
          <p:cNvSpPr txBox="1"/>
          <p:nvPr/>
        </p:nvSpPr>
        <p:spPr>
          <a:xfrm>
            <a:off x="6197600" y="2717800"/>
            <a:ext cx="2489200" cy="267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средний возраст ядра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56" name="Rectangle 18"/>
          <p:cNvSpPr/>
          <p:nvPr/>
        </p:nvSpPr>
        <p:spPr>
          <a:xfrm>
            <a:off x="88900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7" name="TextBox 19"/>
          <p:cNvSpPr txBox="1"/>
          <p:nvPr/>
        </p:nvSpPr>
        <p:spPr>
          <a:xfrm>
            <a:off x="8890000" y="2082800"/>
            <a:ext cx="2489200" cy="7223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600" b="0" i="0" cap="none">
                <a:solidFill>
                  <a:srgbClr val="A82C1E"/>
                </a:solidFill>
                <a:latin typeface="Bahnschrift SemiBold Condensed"/>
              </a:rPr>
              <a:t>2 563</a:t>
            </a:r>
            <a:endParaRPr sz="36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58" name="TextBox 20"/>
          <p:cNvSpPr txBox="1"/>
          <p:nvPr/>
        </p:nvSpPr>
        <p:spPr>
          <a:xfrm>
            <a:off x="8890000" y="2717800"/>
            <a:ext cx="2489200" cy="267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избирателя в списке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59" name="TextBox 21"/>
          <p:cNvSpPr txBox="1"/>
          <p:nvPr/>
        </p:nvSpPr>
        <p:spPr>
          <a:xfrm>
            <a:off x="812800" y="3454400"/>
            <a:ext cx="635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ЧТО ВИДНО У СТОЛА КОМИССИИ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60" name="Rectangle 22"/>
          <p:cNvSpPr/>
          <p:nvPr/>
        </p:nvSpPr>
        <p:spPr>
          <a:xfrm>
            <a:off x="812800" y="3810000"/>
            <a:ext cx="52578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1" name="TextBox 23"/>
          <p:cNvSpPr txBox="1"/>
          <p:nvPr/>
        </p:nvSpPr>
        <p:spPr>
          <a:xfrm>
            <a:off x="812800" y="3911600"/>
            <a:ext cx="5257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Пенсионеры — к открытию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62" name="TextBox 24"/>
          <p:cNvSpPr txBox="1"/>
          <p:nvPr/>
        </p:nvSpPr>
        <p:spPr>
          <a:xfrm>
            <a:off x="812800" y="4191000"/>
            <a:ext cx="5130800" cy="289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Приходят первыми, знают свой участок, спрашивают про выплаты и тарифы.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63" name="Rectangle 25"/>
          <p:cNvSpPr/>
          <p:nvPr/>
        </p:nvSpPr>
        <p:spPr>
          <a:xfrm>
            <a:off x="6527800" y="3810000"/>
            <a:ext cx="52578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4" name="TextBox 26"/>
          <p:cNvSpPr txBox="1"/>
          <p:nvPr/>
        </p:nvSpPr>
        <p:spPr>
          <a:xfrm>
            <a:off x="6527800" y="3911600"/>
            <a:ext cx="5257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Работающие — после 18:00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65" name="TextBox 27"/>
          <p:cNvSpPr txBox="1"/>
          <p:nvPr/>
        </p:nvSpPr>
        <p:spPr>
          <a:xfrm>
            <a:off x="6527800" y="4191000"/>
            <a:ext cx="5130800" cy="289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Голосуют быстро, часто не разбираясь в партийных списках.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66" name="Rectangle 28"/>
          <p:cNvSpPr/>
          <p:nvPr/>
        </p:nvSpPr>
        <p:spPr>
          <a:xfrm>
            <a:off x="812800" y="4876800"/>
            <a:ext cx="52578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7" name="TextBox 29"/>
          <p:cNvSpPr txBox="1"/>
          <p:nvPr/>
        </p:nvSpPr>
        <p:spPr>
          <a:xfrm>
            <a:off x="812800" y="4978400"/>
            <a:ext cx="5257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Молодёжь — единицы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68" name="TextBox 30"/>
          <p:cNvSpPr txBox="1"/>
          <p:nvPr/>
        </p:nvSpPr>
        <p:spPr>
          <a:xfrm>
            <a:off x="812800" y="5257800"/>
            <a:ext cx="5130800" cy="289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Студенты и молодые семьи приходят редко; в 2026-м — чаще, но не к КПРФ.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69" name="Rectangle 31"/>
          <p:cNvSpPr/>
          <p:nvPr/>
        </p:nvSpPr>
        <p:spPr>
          <a:xfrm>
            <a:off x="6527800" y="4876800"/>
            <a:ext cx="52578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0" name="TextBox 32"/>
          <p:cNvSpPr txBox="1"/>
          <p:nvPr/>
        </p:nvSpPr>
        <p:spPr>
          <a:xfrm>
            <a:off x="6527800" y="4978400"/>
            <a:ext cx="5257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Семьи — в выходной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71" name="TextBox 33"/>
          <p:cNvSpPr txBox="1"/>
          <p:nvPr/>
        </p:nvSpPr>
        <p:spPr>
          <a:xfrm>
            <a:off x="6527800" y="5257800"/>
            <a:ext cx="5130800" cy="289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Приходят с детьми; для них важнее «нормальная жизнь», чем идеология.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72" name="TextBox 34"/>
          <p:cNvSpPr txBox="1"/>
          <p:nvPr/>
        </p:nvSpPr>
        <p:spPr>
          <a:xfrm>
            <a:off x="812800" y="6070600"/>
            <a:ext cx="10972800" cy="2526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20" b="0" i="1" cap="none">
                <a:solidFill>
                  <a:srgbClr val="55503F"/>
                </a:solidFill>
                <a:latin typeface="Georgia"/>
              </a:rPr>
              <a:t>Левада-Центр, август 2026: 70% сторонников КПРФ — старше 55 лет; 64% — мужчины.</a:t>
            </a:r>
            <a:endParaRPr sz="92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0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04 / 2024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01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02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2024: губернаторские и муниципальные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03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4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6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05 / 17</a:t>
            </a:r>
          </a:p>
        </p:txBody>
      </p:sp>
      <p:sp>
        <p:nvSpPr>
          <p:cNvPr id="407" name="Rectangle 9"/>
          <p:cNvSpPr/>
          <p:nvPr/>
        </p:nvSpPr>
        <p:spPr>
          <a:xfrm>
            <a:off x="8128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8" name="TextBox 10"/>
          <p:cNvSpPr txBox="1"/>
          <p:nvPr/>
        </p:nvSpPr>
        <p:spPr>
          <a:xfrm>
            <a:off x="812800" y="2082800"/>
            <a:ext cx="2489200" cy="687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 cap="none">
                <a:solidFill>
                  <a:srgbClr val="A82C1E"/>
                </a:solidFill>
                <a:latin typeface="Bahnschrift SemiBold Condensed"/>
              </a:rPr>
              <a:t>37,76%</a:t>
            </a:r>
            <a:endParaRPr sz="34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09" name="TextBox 11"/>
          <p:cNvSpPr txBox="1"/>
          <p:nvPr/>
        </p:nvSpPr>
        <p:spPr>
          <a:xfrm>
            <a:off x="8128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явка на выборах губернатора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10" name="Rectangle 12"/>
          <p:cNvSpPr/>
          <p:nvPr/>
        </p:nvSpPr>
        <p:spPr>
          <a:xfrm>
            <a:off x="35052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1" name="TextBox 13"/>
          <p:cNvSpPr txBox="1"/>
          <p:nvPr/>
        </p:nvSpPr>
        <p:spPr>
          <a:xfrm>
            <a:off x="3505200" y="2082800"/>
            <a:ext cx="2489200" cy="687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 cap="none">
                <a:solidFill>
                  <a:srgbClr val="A82C1E"/>
                </a:solidFill>
                <a:latin typeface="Bahnschrift SemiBold Condensed"/>
              </a:rPr>
              <a:t>59,80%</a:t>
            </a:r>
            <a:endParaRPr sz="34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12" name="TextBox 14"/>
          <p:cNvSpPr txBox="1"/>
          <p:nvPr/>
        </p:nvSpPr>
        <p:spPr>
          <a:xfrm>
            <a:off x="35052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Беглов, «Единая Россия»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13" name="Rectangle 15"/>
          <p:cNvSpPr/>
          <p:nvPr/>
        </p:nvSpPr>
        <p:spPr>
          <a:xfrm>
            <a:off x="61976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4" name="TextBox 16"/>
          <p:cNvSpPr txBox="1"/>
          <p:nvPr/>
        </p:nvSpPr>
        <p:spPr>
          <a:xfrm>
            <a:off x="6197600" y="2082800"/>
            <a:ext cx="2489200" cy="687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 cap="none">
                <a:solidFill>
                  <a:srgbClr val="A82C1E"/>
                </a:solidFill>
                <a:latin typeface="Bahnschrift SemiBold Condensed"/>
              </a:rPr>
              <a:t>8,06%</a:t>
            </a:r>
            <a:endParaRPr sz="34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15" name="TextBox 17"/>
          <p:cNvSpPr txBox="1"/>
          <p:nvPr/>
        </p:nvSpPr>
        <p:spPr>
          <a:xfrm>
            <a:off x="6197600" y="2717800"/>
            <a:ext cx="2489200" cy="4352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«Коммунисты России» — лучший результат левых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16" name="Rectangle 18"/>
          <p:cNvSpPr/>
          <p:nvPr/>
        </p:nvSpPr>
        <p:spPr>
          <a:xfrm>
            <a:off x="88900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7" name="TextBox 19"/>
          <p:cNvSpPr txBox="1"/>
          <p:nvPr/>
        </p:nvSpPr>
        <p:spPr>
          <a:xfrm>
            <a:off x="8890000" y="2082800"/>
            <a:ext cx="2489200" cy="687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 cap="none">
                <a:solidFill>
                  <a:srgbClr val="A82C1E"/>
                </a:solidFill>
                <a:latin typeface="Bahnschrift SemiBold Condensed"/>
              </a:rPr>
              <a:t>10</a:t>
            </a:r>
            <a:endParaRPr sz="34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18" name="TextBox 20"/>
          <p:cNvSpPr txBox="1"/>
          <p:nvPr/>
        </p:nvSpPr>
        <p:spPr>
          <a:xfrm>
            <a:off x="8890000" y="2717800"/>
            <a:ext cx="2489200" cy="4352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мандатов у КПРФ на муниципальных выборах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19" name="Rectangle 21"/>
          <p:cNvSpPr/>
          <p:nvPr/>
        </p:nvSpPr>
        <p:spPr>
          <a:xfrm>
            <a:off x="812800" y="3632200"/>
            <a:ext cx="10972800" cy="10922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0" name="TextBox 22"/>
          <p:cNvSpPr txBox="1"/>
          <p:nvPr/>
        </p:nvSpPr>
        <p:spPr>
          <a:xfrm>
            <a:off x="1016000" y="3784600"/>
            <a:ext cx="10541000" cy="3718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 cap="none">
                <a:solidFill>
                  <a:srgbClr val="F0E8D6"/>
                </a:solidFill>
                <a:latin typeface="Bahnschrift SemiBold"/>
              </a:rPr>
              <a:t>Кандидата от КПРФ в губернаторском бюллетене не было.</a:t>
            </a:r>
            <a:endParaRPr sz="1600" b="0" i="0" cap="none">
              <a:solidFill>
                <a:srgbClr val="F0E8D6"/>
              </a:solidFill>
              <a:latin typeface="Bahnschrift SemiBold"/>
            </a:endParaRPr>
          </a:p>
        </p:txBody>
      </p:sp>
      <p:sp>
        <p:nvSpPr>
          <p:cNvPr id="421" name="TextBox 23"/>
          <p:cNvSpPr txBox="1"/>
          <p:nvPr/>
        </p:nvSpPr>
        <p:spPr>
          <a:xfrm>
            <a:off x="1016000" y="4140200"/>
            <a:ext cx="10541000" cy="3093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Левый фланг представляли «Коммунисты России» (8,06%) и «Зелёные» (11,79%). Протест шёл мимо КПРФ.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422" name="TextBox 24"/>
          <p:cNvSpPr txBox="1"/>
          <p:nvPr/>
        </p:nvSpPr>
        <p:spPr>
          <a:xfrm>
            <a:off x="812800" y="4978400"/>
            <a:ext cx="508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МУНИЦИПАЛЬНЫЙ УРОВЕНЬ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23" name="TextBox 25"/>
          <p:cNvSpPr txBox="1"/>
          <p:nvPr/>
        </p:nvSpPr>
        <p:spPr>
          <a:xfrm>
            <a:off x="812800" y="5283200"/>
            <a:ext cx="10972800" cy="56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1B1A18"/>
                </a:solidFill>
                <a:latin typeface="Georgia"/>
              </a:rPr>
              <a:t>Явка — 31,73%. КПРФ получила 10 мандатов по всему городу: у ЛДПР — 68, у «Новых людей» — 36.</a:t>
            </a:r>
            <a:endParaRPr sz="1100" b="0" i="0" cap="none">
              <a:solidFill>
                <a:srgbClr val="1B1A18"/>
              </a:solidFill>
              <a:latin typeface="Georgia"/>
            </a:endParaRP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1B1A18"/>
                </a:solidFill>
                <a:latin typeface="Georgia"/>
              </a:rPr>
              <a:t>Это и есть цена слабой районной работы: там, где нужна ячейка, у партии — приёмная.</a:t>
            </a:r>
            <a:endParaRPr sz="110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24" name="TextBox 26"/>
          <p:cNvSpPr txBox="1"/>
          <p:nvPr/>
        </p:nvSpPr>
        <p:spPr>
          <a:xfrm>
            <a:off x="812800" y="6070600"/>
            <a:ext cx="10972800" cy="245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1" cap="none">
                <a:solidFill>
                  <a:srgbClr val="55503F"/>
                </a:solidFill>
                <a:latin typeface="Georgia"/>
              </a:rPr>
              <a:t>Источники: СПбИК; ЦИК РФ, итоги выборов 6–8 сентября 2024 года.</a:t>
            </a:r>
            <a:endParaRPr sz="88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6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05 / 2026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27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28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2026: три дня, другая явка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29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0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2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06 / 17</a:t>
            </a:r>
          </a:p>
        </p:txBody>
      </p:sp>
      <p:sp>
        <p:nvSpPr>
          <p:cNvPr id="433" name="Rectangle 9"/>
          <p:cNvSpPr/>
          <p:nvPr/>
        </p:nvSpPr>
        <p:spPr>
          <a:xfrm>
            <a:off x="8128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4" name="TextBox 10"/>
          <p:cNvSpPr txBox="1"/>
          <p:nvPr/>
        </p:nvSpPr>
        <p:spPr>
          <a:xfrm>
            <a:off x="812800" y="2082800"/>
            <a:ext cx="2489200" cy="65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 cap="none">
                <a:solidFill>
                  <a:srgbClr val="A82C1E"/>
                </a:solidFill>
                <a:latin typeface="Bahnschrift SemiBold Condensed"/>
              </a:rPr>
              <a:t>55,69%</a:t>
            </a:r>
            <a:endParaRPr sz="32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35" name="TextBox 11"/>
          <p:cNvSpPr txBox="1"/>
          <p:nvPr/>
        </p:nvSpPr>
        <p:spPr>
          <a:xfrm>
            <a:off x="8128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явка в Петербурге — рекорд для города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36" name="Rectangle 12"/>
          <p:cNvSpPr/>
          <p:nvPr/>
        </p:nvSpPr>
        <p:spPr>
          <a:xfrm>
            <a:off x="35052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7" name="TextBox 13"/>
          <p:cNvSpPr txBox="1"/>
          <p:nvPr/>
        </p:nvSpPr>
        <p:spPr>
          <a:xfrm>
            <a:off x="3505200" y="2082800"/>
            <a:ext cx="2489200" cy="65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 cap="none">
                <a:solidFill>
                  <a:srgbClr val="A82C1E"/>
                </a:solidFill>
                <a:latin typeface="Bahnschrift SemiBold Condensed"/>
              </a:rPr>
              <a:t>10,75%</a:t>
            </a:r>
            <a:endParaRPr sz="32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38" name="TextBox 14"/>
          <p:cNvSpPr txBox="1"/>
          <p:nvPr/>
        </p:nvSpPr>
        <p:spPr>
          <a:xfrm>
            <a:off x="35052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КПРФ по спискам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39" name="Rectangle 15"/>
          <p:cNvSpPr/>
          <p:nvPr/>
        </p:nvSpPr>
        <p:spPr>
          <a:xfrm>
            <a:off x="61976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0" name="TextBox 16"/>
          <p:cNvSpPr txBox="1"/>
          <p:nvPr/>
        </p:nvSpPr>
        <p:spPr>
          <a:xfrm>
            <a:off x="6197600" y="2082800"/>
            <a:ext cx="2489200" cy="65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 cap="none">
                <a:solidFill>
                  <a:srgbClr val="A82C1E"/>
                </a:solidFill>
                <a:latin typeface="Bahnschrift SemiBold Condensed"/>
              </a:rPr>
              <a:t>2</a:t>
            </a:r>
            <a:endParaRPr sz="32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41" name="TextBox 17"/>
          <p:cNvSpPr txBox="1"/>
          <p:nvPr/>
        </p:nvSpPr>
        <p:spPr>
          <a:xfrm>
            <a:off x="61976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мандата из 50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42" name="Rectangle 18"/>
          <p:cNvSpPr/>
          <p:nvPr/>
        </p:nvSpPr>
        <p:spPr>
          <a:xfrm>
            <a:off x="88900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3" name="TextBox 19"/>
          <p:cNvSpPr txBox="1"/>
          <p:nvPr/>
        </p:nvSpPr>
        <p:spPr>
          <a:xfrm>
            <a:off x="8890000" y="2082800"/>
            <a:ext cx="2489200" cy="65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 cap="none">
                <a:solidFill>
                  <a:srgbClr val="A82C1E"/>
                </a:solidFill>
                <a:latin typeface="Bahnschrift SemiBold Condensed"/>
              </a:rPr>
              <a:t>244 057</a:t>
            </a:r>
            <a:endParaRPr sz="32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44" name="TextBox 20"/>
          <p:cNvSpPr txBox="1"/>
          <p:nvPr/>
        </p:nvSpPr>
        <p:spPr>
          <a:xfrm>
            <a:off x="88900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голосов у КПРФ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45" name="Rectangle 21"/>
          <p:cNvSpPr/>
          <p:nvPr/>
        </p:nvSpPr>
        <p:spPr>
          <a:xfrm>
            <a:off x="812800" y="3632200"/>
            <a:ext cx="10972800" cy="10922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6" name="TextBox 22"/>
          <p:cNvSpPr txBox="1"/>
          <p:nvPr/>
        </p:nvSpPr>
        <p:spPr>
          <a:xfrm>
            <a:off x="1016000" y="3784600"/>
            <a:ext cx="10541000" cy="3718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 cap="none">
                <a:solidFill>
                  <a:srgbClr val="F0E8D6"/>
                </a:solidFill>
                <a:latin typeface="Bahnschrift SemiBold"/>
              </a:rPr>
              <a:t>Голосов столько же, сколько в 2021-м. Доля — вдвое меньше.</a:t>
            </a:r>
            <a:endParaRPr sz="1600" b="0" i="0" cap="none">
              <a:solidFill>
                <a:srgbClr val="F0E8D6"/>
              </a:solidFill>
              <a:latin typeface="Bahnschrift SemiBold"/>
            </a:endParaRPr>
          </a:p>
        </p:txBody>
      </p:sp>
      <p:sp>
        <p:nvSpPr>
          <p:cNvPr id="447" name="TextBox 23"/>
          <p:cNvSpPr txBox="1"/>
          <p:nvPr/>
        </p:nvSpPr>
        <p:spPr>
          <a:xfrm>
            <a:off x="1016000" y="4140200"/>
            <a:ext cx="105410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Явка выросла с 35% до 55,7%: почти 0,9 млн новых голосов ушли другим партиям.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448" name="TextBox 24"/>
          <p:cNvSpPr txBox="1"/>
          <p:nvPr/>
        </p:nvSpPr>
        <p:spPr>
          <a:xfrm>
            <a:off x="812800" y="4978400"/>
            <a:ext cx="508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ИЗ ЖУРНАЛА УЧАСТКА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49" name="TextBox 25"/>
          <p:cNvSpPr txBox="1"/>
          <p:nvPr/>
        </p:nvSpPr>
        <p:spPr>
          <a:xfrm>
            <a:off x="812800" y="5283200"/>
            <a:ext cx="10972800" cy="3368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Georgia"/>
              </a:rPr>
              <a:t>Людей больше, чем в 2024-м. Молодых — заметно больше. За КПРФ — те же лица, что и пять лет назад.</a:t>
            </a:r>
            <a:endParaRPr sz="11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50" name="TextBox 26"/>
          <p:cNvSpPr txBox="1"/>
          <p:nvPr/>
        </p:nvSpPr>
        <p:spPr>
          <a:xfrm>
            <a:off x="812800" y="5994400"/>
            <a:ext cx="10972800" cy="245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1" cap="none">
                <a:solidFill>
                  <a:srgbClr val="55503F"/>
                </a:solidFill>
                <a:latin typeface="Georgia"/>
              </a:rPr>
              <a:t>Источник: СПбИК, итоги выборов в ЗакС 18–20 сентября 2026 года.</a:t>
            </a:r>
            <a:endParaRPr sz="88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2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06 / АРИФМЕТИКА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53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54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Куда ушли новые голоса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55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6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8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07 / 17</a:t>
            </a:r>
          </a:p>
        </p:txBody>
      </p:sp>
      <p:sp>
        <p:nvSpPr>
          <p:cNvPr id="459" name="TextBox 9"/>
          <p:cNvSpPr txBox="1"/>
          <p:nvPr/>
        </p:nvSpPr>
        <p:spPr>
          <a:xfrm>
            <a:off x="812800" y="1854200"/>
            <a:ext cx="2794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ПАРТИЯ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60" name="TextBox 10"/>
          <p:cNvSpPr txBox="1"/>
          <p:nvPr/>
        </p:nvSpPr>
        <p:spPr>
          <a:xfrm>
            <a:off x="3810000" y="1854200"/>
            <a:ext cx="254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2021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61" name="TextBox 11"/>
          <p:cNvSpPr txBox="1"/>
          <p:nvPr/>
        </p:nvSpPr>
        <p:spPr>
          <a:xfrm>
            <a:off x="6350000" y="1854200"/>
            <a:ext cx="254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2026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62" name="TextBox 12"/>
          <p:cNvSpPr txBox="1"/>
          <p:nvPr/>
        </p:nvSpPr>
        <p:spPr>
          <a:xfrm>
            <a:off x="8890000" y="1854200"/>
            <a:ext cx="254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ИЗМЕНЕНИЕ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63" name="Rectangle 13"/>
          <p:cNvSpPr/>
          <p:nvPr/>
        </p:nvSpPr>
        <p:spPr>
          <a:xfrm>
            <a:off x="812800" y="21336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4" name="TextBox 14"/>
          <p:cNvSpPr txBox="1"/>
          <p:nvPr/>
        </p:nvSpPr>
        <p:spPr>
          <a:xfrm>
            <a:off x="812800" y="2362200"/>
            <a:ext cx="2921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«Единая Россия»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65" name="TextBox 15"/>
          <p:cNvSpPr txBox="1"/>
          <p:nvPr/>
        </p:nvSpPr>
        <p:spPr>
          <a:xfrm>
            <a:off x="3810000" y="23749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55503F"/>
                </a:solidFill>
                <a:latin typeface="Georgia"/>
              </a:rPr>
              <a:t>457 936 · 33,3%</a:t>
            </a:r>
            <a:endParaRPr sz="10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66" name="TextBox 16"/>
          <p:cNvSpPr txBox="1"/>
          <p:nvPr/>
        </p:nvSpPr>
        <p:spPr>
          <a:xfrm>
            <a:off x="6350000" y="23749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1B1A18"/>
                </a:solidFill>
                <a:latin typeface="Georgia"/>
              </a:rPr>
              <a:t>1 240 655 · 54,7%</a:t>
            </a:r>
            <a:endParaRPr sz="10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67" name="TextBox 17"/>
          <p:cNvSpPr txBox="1"/>
          <p:nvPr/>
        </p:nvSpPr>
        <p:spPr>
          <a:xfrm>
            <a:off x="8890000" y="2374900"/>
            <a:ext cx="279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Consolas"/>
              </a:rPr>
              <a:t>+782 719 · +21,4 п. п.</a:t>
            </a:r>
            <a:endParaRPr sz="9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68" name="TextBox 18"/>
          <p:cNvSpPr txBox="1"/>
          <p:nvPr/>
        </p:nvSpPr>
        <p:spPr>
          <a:xfrm>
            <a:off x="812800" y="3048000"/>
            <a:ext cx="2921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«Новые люди»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69" name="TextBox 19"/>
          <p:cNvSpPr txBox="1"/>
          <p:nvPr/>
        </p:nvSpPr>
        <p:spPr>
          <a:xfrm>
            <a:off x="3810000" y="30607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55503F"/>
                </a:solidFill>
                <a:latin typeface="Georgia"/>
              </a:rPr>
              <a:t>138 289 · 10,1%</a:t>
            </a:r>
            <a:endParaRPr sz="10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70" name="TextBox 20"/>
          <p:cNvSpPr txBox="1"/>
          <p:nvPr/>
        </p:nvSpPr>
        <p:spPr>
          <a:xfrm>
            <a:off x="6350000" y="30607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1B1A18"/>
                </a:solidFill>
                <a:latin typeface="Georgia"/>
              </a:rPr>
              <a:t>280 239 · 12,4%</a:t>
            </a:r>
            <a:endParaRPr sz="10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71" name="TextBox 21"/>
          <p:cNvSpPr txBox="1"/>
          <p:nvPr/>
        </p:nvSpPr>
        <p:spPr>
          <a:xfrm>
            <a:off x="8890000" y="3060700"/>
            <a:ext cx="279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Consolas"/>
              </a:rPr>
              <a:t>+141 950 · +2,3 п. п.</a:t>
            </a:r>
            <a:endParaRPr sz="9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72" name="TextBox 22"/>
          <p:cNvSpPr txBox="1"/>
          <p:nvPr/>
        </p:nvSpPr>
        <p:spPr>
          <a:xfrm>
            <a:off x="812800" y="3733800"/>
            <a:ext cx="2921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ЛДПР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73" name="TextBox 23"/>
          <p:cNvSpPr txBox="1"/>
          <p:nvPr/>
        </p:nvSpPr>
        <p:spPr>
          <a:xfrm>
            <a:off x="3810000" y="37465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55503F"/>
                </a:solidFill>
                <a:latin typeface="Georgia"/>
              </a:rPr>
              <a:t>108 703 · 7,9%</a:t>
            </a:r>
            <a:endParaRPr sz="10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74" name="TextBox 24"/>
          <p:cNvSpPr txBox="1"/>
          <p:nvPr/>
        </p:nvSpPr>
        <p:spPr>
          <a:xfrm>
            <a:off x="6350000" y="37465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1B1A18"/>
                </a:solidFill>
                <a:latin typeface="Georgia"/>
              </a:rPr>
              <a:t>275 814 · 12,2%</a:t>
            </a:r>
            <a:endParaRPr sz="10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75" name="TextBox 25"/>
          <p:cNvSpPr txBox="1"/>
          <p:nvPr/>
        </p:nvSpPr>
        <p:spPr>
          <a:xfrm>
            <a:off x="8890000" y="3746500"/>
            <a:ext cx="279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Consolas"/>
              </a:rPr>
              <a:t>+167 111 · +4,3 п. п.</a:t>
            </a:r>
            <a:endParaRPr sz="9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76" name="Rectangle 26"/>
          <p:cNvSpPr/>
          <p:nvPr/>
        </p:nvSpPr>
        <p:spPr>
          <a:xfrm>
            <a:off x="812800" y="4318000"/>
            <a:ext cx="10972800" cy="635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7" name="Rectangle 27"/>
          <p:cNvSpPr/>
          <p:nvPr/>
        </p:nvSpPr>
        <p:spPr>
          <a:xfrm>
            <a:off x="812800" y="4318000"/>
            <a:ext cx="63500" cy="635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8" name="TextBox 28"/>
          <p:cNvSpPr txBox="1"/>
          <p:nvPr/>
        </p:nvSpPr>
        <p:spPr>
          <a:xfrm>
            <a:off x="812800" y="4419600"/>
            <a:ext cx="2921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КПРФ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79" name="TextBox 29"/>
          <p:cNvSpPr txBox="1"/>
          <p:nvPr/>
        </p:nvSpPr>
        <p:spPr>
          <a:xfrm>
            <a:off x="3810000" y="44323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55503F"/>
                </a:solidFill>
                <a:latin typeface="Georgia"/>
              </a:rPr>
              <a:t>240 291 · 17,5%</a:t>
            </a:r>
            <a:endParaRPr sz="10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80" name="TextBox 30"/>
          <p:cNvSpPr txBox="1"/>
          <p:nvPr/>
        </p:nvSpPr>
        <p:spPr>
          <a:xfrm>
            <a:off x="6350000" y="44323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1B1A18"/>
                </a:solidFill>
                <a:latin typeface="Georgia"/>
              </a:rPr>
              <a:t>244 057 · 10,8%</a:t>
            </a:r>
            <a:endParaRPr sz="10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81" name="TextBox 31"/>
          <p:cNvSpPr txBox="1"/>
          <p:nvPr/>
        </p:nvSpPr>
        <p:spPr>
          <a:xfrm>
            <a:off x="8890000" y="4432300"/>
            <a:ext cx="279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+3 766 · −6,7 п. п.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82" name="TextBox 32"/>
          <p:cNvSpPr txBox="1"/>
          <p:nvPr/>
        </p:nvSpPr>
        <p:spPr>
          <a:xfrm>
            <a:off x="812800" y="5105400"/>
            <a:ext cx="2921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«Зелёные»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83" name="TextBox 33"/>
          <p:cNvSpPr txBox="1"/>
          <p:nvPr/>
        </p:nvSpPr>
        <p:spPr>
          <a:xfrm>
            <a:off x="3810000" y="51181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55503F"/>
                </a:solidFill>
                <a:latin typeface="Georgia"/>
              </a:rPr>
              <a:t>не участвовали</a:t>
            </a:r>
            <a:endParaRPr sz="10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84" name="TextBox 34"/>
          <p:cNvSpPr txBox="1"/>
          <p:nvPr/>
        </p:nvSpPr>
        <p:spPr>
          <a:xfrm>
            <a:off x="6350000" y="51181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1B1A18"/>
                </a:solidFill>
                <a:latin typeface="Georgia"/>
              </a:rPr>
              <a:t>138 445 · 6,1%</a:t>
            </a:r>
            <a:endParaRPr sz="10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85" name="TextBox 35"/>
          <p:cNvSpPr txBox="1"/>
          <p:nvPr/>
        </p:nvSpPr>
        <p:spPr>
          <a:xfrm>
            <a:off x="8890000" y="5118100"/>
            <a:ext cx="279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Consolas"/>
              </a:rPr>
              <a:t>впервые в ЗакСе</a:t>
            </a:r>
            <a:endParaRPr sz="9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86" name="Rectangle 36"/>
          <p:cNvSpPr/>
          <p:nvPr/>
        </p:nvSpPr>
        <p:spPr>
          <a:xfrm>
            <a:off x="812800" y="5867400"/>
            <a:ext cx="10972800" cy="9525"/>
          </a:xfrm>
          <a:prstGeom prst="rect">
            <a:avLst/>
          </a:prstGeom>
          <a:solidFill>
            <a:srgbClr val="5550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7" name="TextBox 37"/>
          <p:cNvSpPr txBox="1"/>
          <p:nvPr/>
        </p:nvSpPr>
        <p:spPr>
          <a:xfrm>
            <a:off x="812800" y="5969000"/>
            <a:ext cx="10972800" cy="2526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20" b="0" i="1" cap="none">
                <a:solidFill>
                  <a:srgbClr val="55503F"/>
                </a:solidFill>
                <a:latin typeface="Georgia"/>
              </a:rPr>
              <a:t>Сумма голосов по спискам; проценты — от числа действительных бюллетеней. «Зелёные» в 2021 году в выборах не участвовали.</a:t>
            </a:r>
            <a:endParaRPr sz="92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9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07 / ПРИЧИНЫ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90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91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Почему протест не становится левым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92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3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5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08 / 17</a:t>
            </a:r>
          </a:p>
        </p:txBody>
      </p:sp>
      <p:sp>
        <p:nvSpPr>
          <p:cNvPr id="496" name="Rectangle 9"/>
          <p:cNvSpPr/>
          <p:nvPr/>
        </p:nvSpPr>
        <p:spPr>
          <a:xfrm>
            <a:off x="812800" y="2108200"/>
            <a:ext cx="5257800" cy="1778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7" name="TextBox 10"/>
          <p:cNvSpPr txBox="1"/>
          <p:nvPr/>
        </p:nvSpPr>
        <p:spPr>
          <a:xfrm>
            <a:off x="812800" y="2235200"/>
            <a:ext cx="508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A82C1E"/>
                </a:solidFill>
                <a:latin typeface="Bahnschrift Light Condensed"/>
              </a:rPr>
              <a:t>01</a:t>
            </a:r>
            <a:endParaRPr sz="2400" b="0" i="0" cap="none">
              <a:solidFill>
                <a:srgbClr val="A82C1E"/>
              </a:solidFill>
              <a:latin typeface="Bahnschrift Light Condensed"/>
            </a:endParaRPr>
          </a:p>
        </p:txBody>
      </p:sp>
      <p:sp>
        <p:nvSpPr>
          <p:cNvPr id="498" name="TextBox 11"/>
          <p:cNvSpPr txBox="1"/>
          <p:nvPr/>
        </p:nvSpPr>
        <p:spPr>
          <a:xfrm>
            <a:off x="1473200" y="2286000"/>
            <a:ext cx="431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Бренд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99" name="TextBox 12"/>
          <p:cNvSpPr txBox="1"/>
          <p:nvPr/>
        </p:nvSpPr>
        <p:spPr>
          <a:xfrm>
            <a:off x="812800" y="2743200"/>
            <a:ext cx="51308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Узнаваемость высокая, привлекательность для 18–30-летних — низкая. «КПРФ» читается как партия прошлого, а не как проект будущего.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00" name="Rectangle 13"/>
          <p:cNvSpPr/>
          <p:nvPr/>
        </p:nvSpPr>
        <p:spPr>
          <a:xfrm>
            <a:off x="6527800" y="2108200"/>
            <a:ext cx="5257800" cy="1778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1" name="TextBox 14"/>
          <p:cNvSpPr txBox="1"/>
          <p:nvPr/>
        </p:nvSpPr>
        <p:spPr>
          <a:xfrm>
            <a:off x="6527800" y="2235200"/>
            <a:ext cx="508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A82C1E"/>
                </a:solidFill>
                <a:latin typeface="Bahnschrift Light Condensed"/>
              </a:rPr>
              <a:t>02</a:t>
            </a:r>
            <a:endParaRPr sz="2400" b="0" i="0" cap="none">
              <a:solidFill>
                <a:srgbClr val="A82C1E"/>
              </a:solidFill>
              <a:latin typeface="Bahnschrift Light Condensed"/>
            </a:endParaRPr>
          </a:p>
        </p:txBody>
      </p:sp>
      <p:sp>
        <p:nvSpPr>
          <p:cNvPr id="502" name="TextBox 15"/>
          <p:cNvSpPr txBox="1"/>
          <p:nvPr/>
        </p:nvSpPr>
        <p:spPr>
          <a:xfrm>
            <a:off x="7188200" y="2286000"/>
            <a:ext cx="431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Повестка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03" name="TextBox 16"/>
          <p:cNvSpPr txBox="1"/>
          <p:nvPr/>
        </p:nvSpPr>
        <p:spPr>
          <a:xfrm>
            <a:off x="6527800" y="2743200"/>
            <a:ext cx="51308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Пенсии и тарифы мобилизуют старших. Жильё, аренда, карьера — язык, на котором с молодёжью не говорят.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04" name="Rectangle 17"/>
          <p:cNvSpPr/>
          <p:nvPr/>
        </p:nvSpPr>
        <p:spPr>
          <a:xfrm>
            <a:off x="812800" y="4013200"/>
            <a:ext cx="5257800" cy="1778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5" name="TextBox 18"/>
          <p:cNvSpPr txBox="1"/>
          <p:nvPr/>
        </p:nvSpPr>
        <p:spPr>
          <a:xfrm>
            <a:off x="812800" y="4140200"/>
            <a:ext cx="508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A82C1E"/>
                </a:solidFill>
                <a:latin typeface="Bahnschrift Light Condensed"/>
              </a:rPr>
              <a:t>03</a:t>
            </a:r>
            <a:endParaRPr sz="2400" b="0" i="0" cap="none">
              <a:solidFill>
                <a:srgbClr val="A82C1E"/>
              </a:solidFill>
              <a:latin typeface="Bahnschrift Light Condensed"/>
            </a:endParaRPr>
          </a:p>
        </p:txBody>
      </p:sp>
      <p:sp>
        <p:nvSpPr>
          <p:cNvPr id="506" name="TextBox 19"/>
          <p:cNvSpPr txBox="1"/>
          <p:nvPr/>
        </p:nvSpPr>
        <p:spPr>
          <a:xfrm>
            <a:off x="1473200" y="4191000"/>
            <a:ext cx="431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Организация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07" name="TextBox 20"/>
          <p:cNvSpPr txBox="1"/>
          <p:nvPr/>
        </p:nvSpPr>
        <p:spPr>
          <a:xfrm>
            <a:off x="812800" y="4648200"/>
            <a:ext cx="51308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Приёмные и депутатские запросы работают точечно. Районных ячеек и работы с сообществами почти нет — отсюда 10 муниципальных мандатов.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08" name="Rectangle 21"/>
          <p:cNvSpPr/>
          <p:nvPr/>
        </p:nvSpPr>
        <p:spPr>
          <a:xfrm>
            <a:off x="6527800" y="4013200"/>
            <a:ext cx="5257800" cy="1778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9" name="TextBox 22"/>
          <p:cNvSpPr txBox="1"/>
          <p:nvPr/>
        </p:nvSpPr>
        <p:spPr>
          <a:xfrm>
            <a:off x="6527800" y="4140200"/>
            <a:ext cx="508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A82C1E"/>
                </a:solidFill>
                <a:latin typeface="Bahnschrift Light Condensed"/>
              </a:rPr>
              <a:t>04</a:t>
            </a:r>
            <a:endParaRPr sz="2400" b="0" i="0" cap="none">
              <a:solidFill>
                <a:srgbClr val="A82C1E"/>
              </a:solidFill>
              <a:latin typeface="Bahnschrift Light Condensed"/>
            </a:endParaRPr>
          </a:p>
        </p:txBody>
      </p:sp>
      <p:sp>
        <p:nvSpPr>
          <p:cNvPr id="510" name="TextBox 23"/>
          <p:cNvSpPr txBox="1"/>
          <p:nvPr/>
        </p:nvSpPr>
        <p:spPr>
          <a:xfrm>
            <a:off x="7188200" y="4191000"/>
            <a:ext cx="431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Конкуренция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11" name="TextBox 24"/>
          <p:cNvSpPr txBox="1"/>
          <p:nvPr/>
        </p:nvSpPr>
        <p:spPr>
          <a:xfrm>
            <a:off x="6527800" y="4648200"/>
            <a:ext cx="51308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За протест конкурируют ЛДПР, «Новые люди» и «Зелёные». Власть забирает запрос на стабильность, оставляя КПРФ нишу «ностальгии».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12" name="TextBox 25"/>
          <p:cNvSpPr txBox="1"/>
          <p:nvPr/>
        </p:nvSpPr>
        <p:spPr>
          <a:xfrm>
            <a:off x="812800" y="5969000"/>
            <a:ext cx="10972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1" cap="none">
                <a:solidFill>
                  <a:srgbClr val="1B1A18"/>
                </a:solidFill>
                <a:latin typeface="Georgia"/>
              </a:rPr>
              <a:t>КПРФ выигрывает у других оппозиционных партий, но не у власти — и не у поколения.</a:t>
            </a:r>
            <a:endParaRPr sz="1150" b="0" i="1" cap="none">
              <a:solidFill>
                <a:srgbClr val="1B1A18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4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08 / АГИТАЦИЯ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15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16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Агитация, которая доходит до участка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17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8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0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09 / 17</a:t>
            </a:r>
          </a:p>
        </p:txBody>
      </p:sp>
      <p:sp>
        <p:nvSpPr>
          <p:cNvPr id="521" name="TextBox 9"/>
          <p:cNvSpPr txBox="1"/>
          <p:nvPr/>
        </p:nvSpPr>
        <p:spPr>
          <a:xfrm>
            <a:off x="812800" y="1854200"/>
            <a:ext cx="3048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КАНАЛ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22" name="TextBox 10"/>
          <p:cNvSpPr txBox="1"/>
          <p:nvPr/>
        </p:nvSpPr>
        <p:spPr>
          <a:xfrm>
            <a:off x="4267200" y="1854200"/>
            <a:ext cx="4572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ЧТО ДЕЛАЮТ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23" name="TextBox 11"/>
          <p:cNvSpPr txBox="1"/>
          <p:nvPr/>
        </p:nvSpPr>
        <p:spPr>
          <a:xfrm>
            <a:off x="9093200" y="1854200"/>
            <a:ext cx="1143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ОХВАТ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24" name="TextBox 12"/>
          <p:cNvSpPr txBox="1"/>
          <p:nvPr/>
        </p:nvSpPr>
        <p:spPr>
          <a:xfrm>
            <a:off x="10312400" y="1854200"/>
            <a:ext cx="1397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КОНВЕРСИЯ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25" name="Rectangle 13"/>
          <p:cNvSpPr/>
          <p:nvPr/>
        </p:nvSpPr>
        <p:spPr>
          <a:xfrm>
            <a:off x="812800" y="21082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6" name="TextBox 14"/>
          <p:cNvSpPr txBox="1"/>
          <p:nvPr/>
        </p:nvSpPr>
        <p:spPr>
          <a:xfrm>
            <a:off x="812800" y="2260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Газета «Правда» и районные листки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27" name="TextBox 15"/>
          <p:cNvSpPr txBox="1"/>
          <p:nvPr/>
        </p:nvSpPr>
        <p:spPr>
          <a:xfrm>
            <a:off x="4267200" y="2286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Подписка, тираж, старшая аудитория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28" name="TextBox 16"/>
          <p:cNvSpPr txBox="1"/>
          <p:nvPr/>
        </p:nvSpPr>
        <p:spPr>
          <a:xfrm>
            <a:off x="9093200" y="2286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низкий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29" name="TextBox 17"/>
          <p:cNvSpPr txBox="1"/>
          <p:nvPr/>
        </p:nvSpPr>
        <p:spPr>
          <a:xfrm>
            <a:off x="10312400" y="2286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высокая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30" name="Rectangle 18"/>
          <p:cNvSpPr/>
          <p:nvPr/>
        </p:nvSpPr>
        <p:spPr>
          <a:xfrm>
            <a:off x="812800" y="2819400"/>
            <a:ext cx="10972800" cy="558800"/>
          </a:xfrm>
          <a:prstGeom prst="rect">
            <a:avLst/>
          </a:prstGeom>
          <a:solidFill>
            <a:srgbClr val="E3D9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1" name="TextBox 19"/>
          <p:cNvSpPr txBox="1"/>
          <p:nvPr/>
        </p:nvSpPr>
        <p:spPr>
          <a:xfrm>
            <a:off x="812800" y="2895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Приёмные депутатов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32" name="TextBox 20"/>
          <p:cNvSpPr txBox="1"/>
          <p:nvPr/>
        </p:nvSpPr>
        <p:spPr>
          <a:xfrm>
            <a:off x="4267200" y="2921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Жалобы, ЖКХ, льготы, помощь по конкретному адресу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33" name="TextBox 21"/>
          <p:cNvSpPr txBox="1"/>
          <p:nvPr/>
        </p:nvSpPr>
        <p:spPr>
          <a:xfrm>
            <a:off x="9093200" y="2921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низкий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34" name="TextBox 22"/>
          <p:cNvSpPr txBox="1"/>
          <p:nvPr/>
        </p:nvSpPr>
        <p:spPr>
          <a:xfrm>
            <a:off x="10312400" y="2921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высокая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35" name="TextBox 23"/>
          <p:cNvSpPr txBox="1"/>
          <p:nvPr/>
        </p:nvSpPr>
        <p:spPr>
          <a:xfrm>
            <a:off x="812800" y="3530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Уличная агитация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36" name="TextBox 24"/>
          <p:cNvSpPr txBox="1"/>
          <p:nvPr/>
        </p:nvSpPr>
        <p:spPr>
          <a:xfrm>
            <a:off x="4267200" y="3556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Пикеты, автопробеги, «красные» палатки у метро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37" name="TextBox 25"/>
          <p:cNvSpPr txBox="1"/>
          <p:nvPr/>
        </p:nvSpPr>
        <p:spPr>
          <a:xfrm>
            <a:off x="9093200" y="3556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средний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38" name="TextBox 26"/>
          <p:cNvSpPr txBox="1"/>
          <p:nvPr/>
        </p:nvSpPr>
        <p:spPr>
          <a:xfrm>
            <a:off x="10312400" y="3556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низкая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39" name="Rectangle 27"/>
          <p:cNvSpPr/>
          <p:nvPr/>
        </p:nvSpPr>
        <p:spPr>
          <a:xfrm>
            <a:off x="812800" y="4089400"/>
            <a:ext cx="10972800" cy="558800"/>
          </a:xfrm>
          <a:prstGeom prst="rect">
            <a:avLst/>
          </a:prstGeom>
          <a:solidFill>
            <a:srgbClr val="E3D9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0" name="TextBox 28"/>
          <p:cNvSpPr txBox="1"/>
          <p:nvPr/>
        </p:nvSpPr>
        <p:spPr>
          <a:xfrm>
            <a:off x="812800" y="4165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Telegram и YouTube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41" name="TextBox 29"/>
          <p:cNvSpPr txBox="1"/>
          <p:nvPr/>
        </p:nvSpPr>
        <p:spPr>
          <a:xfrm>
            <a:off x="4267200" y="4191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«Красное ТВ», региональные каналы, нарезки из Думы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42" name="TextBox 30"/>
          <p:cNvSpPr txBox="1"/>
          <p:nvPr/>
        </p:nvSpPr>
        <p:spPr>
          <a:xfrm>
            <a:off x="9093200" y="4191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средний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43" name="TextBox 31"/>
          <p:cNvSpPr txBox="1"/>
          <p:nvPr/>
        </p:nvSpPr>
        <p:spPr>
          <a:xfrm>
            <a:off x="10312400" y="4191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низкая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44" name="TextBox 32"/>
          <p:cNvSpPr txBox="1"/>
          <p:nvPr/>
        </p:nvSpPr>
        <p:spPr>
          <a:xfrm>
            <a:off x="812800" y="4800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Депутатские запросы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45" name="TextBox 33"/>
          <p:cNvSpPr txBox="1"/>
          <p:nvPr/>
        </p:nvSpPr>
        <p:spPr>
          <a:xfrm>
            <a:off x="4267200" y="4826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Публичные кампании по тарифам, стройкам, экологии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46" name="TextBox 34"/>
          <p:cNvSpPr txBox="1"/>
          <p:nvPr/>
        </p:nvSpPr>
        <p:spPr>
          <a:xfrm>
            <a:off x="9093200" y="4826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средний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47" name="TextBox 35"/>
          <p:cNvSpPr txBox="1"/>
          <p:nvPr/>
        </p:nvSpPr>
        <p:spPr>
          <a:xfrm>
            <a:off x="10312400" y="4826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точечная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48" name="Rectangle 36"/>
          <p:cNvSpPr/>
          <p:nvPr/>
        </p:nvSpPr>
        <p:spPr>
          <a:xfrm>
            <a:off x="812800" y="5359400"/>
            <a:ext cx="10972800" cy="558800"/>
          </a:xfrm>
          <a:prstGeom prst="rect">
            <a:avLst/>
          </a:prstGeom>
          <a:solidFill>
            <a:srgbClr val="E3D9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9" name="TextBox 37"/>
          <p:cNvSpPr txBox="1"/>
          <p:nvPr/>
        </p:nvSpPr>
        <p:spPr>
          <a:xfrm>
            <a:off x="812800" y="5435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Календарь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50" name="TextBox 38"/>
          <p:cNvSpPr txBox="1"/>
          <p:nvPr/>
        </p:nvSpPr>
        <p:spPr>
          <a:xfrm>
            <a:off x="4267200" y="5461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1 мая, 9 мая, 7 ноября: ритуал и мобилизация ядра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51" name="TextBox 39"/>
          <p:cNvSpPr txBox="1"/>
          <p:nvPr/>
        </p:nvSpPr>
        <p:spPr>
          <a:xfrm>
            <a:off x="9093200" y="5461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высокий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52" name="TextBox 40"/>
          <p:cNvSpPr txBox="1"/>
          <p:nvPr/>
        </p:nvSpPr>
        <p:spPr>
          <a:xfrm>
            <a:off x="10312400" y="5461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низкая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53" name="TextBox 41"/>
          <p:cNvSpPr txBox="1"/>
          <p:nvPr/>
        </p:nvSpPr>
        <p:spPr>
          <a:xfrm>
            <a:off x="812800" y="6096000"/>
            <a:ext cx="10972800" cy="277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60" b="0" i="1" cap="none">
                <a:solidFill>
                  <a:srgbClr val="1B1A18"/>
                </a:solidFill>
                <a:latin typeface="Georgia"/>
              </a:rPr>
              <a:t>В день голосования агитация запрещена: участок остаётся единственной точкой контакта — и партии там не видно.</a:t>
            </a:r>
            <a:endParaRPr sz="1060" b="0" i="1" cap="none">
              <a:solidFill>
                <a:srgbClr val="1B1A18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5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09 / ОПЫТ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56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57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Die Linke: почему у них получается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58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9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1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10 / 17</a:t>
            </a:r>
          </a:p>
        </p:txBody>
      </p:sp>
      <p:sp>
        <p:nvSpPr>
          <p:cNvPr id="562" name="Rectangle 9"/>
          <p:cNvSpPr/>
          <p:nvPr/>
        </p:nvSpPr>
        <p:spPr>
          <a:xfrm>
            <a:off x="812800" y="1854200"/>
            <a:ext cx="59690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3" name="TextBox 10"/>
          <p:cNvSpPr txBox="1"/>
          <p:nvPr/>
        </p:nvSpPr>
        <p:spPr>
          <a:xfrm>
            <a:off x="812800" y="1955800"/>
            <a:ext cx="5969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Районные отделения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64" name="TextBox 11"/>
          <p:cNvSpPr txBox="1"/>
          <p:nvPr/>
        </p:nvSpPr>
        <p:spPr>
          <a:xfrm>
            <a:off x="812800" y="2235200"/>
            <a:ext cx="5842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Постоянные ячейки в спальных районах, а не только приёмная депутата.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65" name="Rectangle 12"/>
          <p:cNvSpPr/>
          <p:nvPr/>
        </p:nvSpPr>
        <p:spPr>
          <a:xfrm>
            <a:off x="812800" y="2743200"/>
            <a:ext cx="59690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6" name="TextBox 13"/>
          <p:cNvSpPr txBox="1"/>
          <p:nvPr/>
        </p:nvSpPr>
        <p:spPr>
          <a:xfrm>
            <a:off x="812800" y="2844800"/>
            <a:ext cx="5969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Жилищная повестка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67" name="TextBox 14"/>
          <p:cNvSpPr txBox="1"/>
          <p:nvPr/>
        </p:nvSpPr>
        <p:spPr>
          <a:xfrm>
            <a:off x="812800" y="3124200"/>
            <a:ext cx="5842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Аренда, рост цен, выселения — то, что волнует молодых в городе.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68" name="Rectangle 15"/>
          <p:cNvSpPr/>
          <p:nvPr/>
        </p:nvSpPr>
        <p:spPr>
          <a:xfrm>
            <a:off x="812800" y="3632200"/>
            <a:ext cx="59690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9" name="TextBox 16"/>
          <p:cNvSpPr txBox="1"/>
          <p:nvPr/>
        </p:nvSpPr>
        <p:spPr>
          <a:xfrm>
            <a:off x="812800" y="3733800"/>
            <a:ext cx="5969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Молодые лица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70" name="TextBox 17"/>
          <p:cNvSpPr txBox="1"/>
          <p:nvPr/>
        </p:nvSpPr>
        <p:spPr>
          <a:xfrm>
            <a:off x="812800" y="4013200"/>
            <a:ext cx="5842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Кандидаты 25–35 лет и кампании в TikTok, а не только в газете.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71" name="Rectangle 18"/>
          <p:cNvSpPr/>
          <p:nvPr/>
        </p:nvSpPr>
        <p:spPr>
          <a:xfrm>
            <a:off x="812800" y="4521200"/>
            <a:ext cx="59690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2" name="TextBox 19"/>
          <p:cNvSpPr txBox="1"/>
          <p:nvPr/>
        </p:nvSpPr>
        <p:spPr>
          <a:xfrm>
            <a:off x="812800" y="4622800"/>
            <a:ext cx="5969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Антифашизм как рамка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73" name="TextBox 20"/>
          <p:cNvSpPr txBox="1"/>
          <p:nvPr/>
        </p:nvSpPr>
        <p:spPr>
          <a:xfrm>
            <a:off x="812800" y="4902200"/>
            <a:ext cx="5842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Понятный язык для городской молодёжи и рабочих окраин.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74" name="Rectangle 21"/>
          <p:cNvSpPr/>
          <p:nvPr/>
        </p:nvSpPr>
        <p:spPr>
          <a:xfrm>
            <a:off x="7239000" y="1854200"/>
            <a:ext cx="4140200" cy="36068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5" name="TextBox 22"/>
          <p:cNvSpPr txBox="1"/>
          <p:nvPr/>
        </p:nvSpPr>
        <p:spPr>
          <a:xfrm>
            <a:off x="7442200" y="2032000"/>
            <a:ext cx="36830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 spc="180">
                <a:solidFill>
                  <a:srgbClr val="BE8B2E"/>
                </a:solidFill>
                <a:latin typeface="Consolas"/>
              </a:rPr>
              <a:t>ГЕРМАНИЯ-2025</a:t>
            </a:r>
            <a:endParaRPr sz="860" b="0" i="0" cap="none" spc="18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576" name="TextBox 23"/>
          <p:cNvSpPr txBox="1"/>
          <p:nvPr/>
        </p:nvSpPr>
        <p:spPr>
          <a:xfrm>
            <a:off x="7442200" y="2362200"/>
            <a:ext cx="3683000" cy="617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 cap="none">
                <a:solidFill>
                  <a:srgbClr val="F0E8D6"/>
                </a:solidFill>
                <a:latin typeface="Bahnschrift SemiBold Condensed"/>
              </a:rPr>
              <a:t>8,8%</a:t>
            </a:r>
            <a:endParaRPr sz="3000" b="0" i="0" cap="none">
              <a:solidFill>
                <a:srgbClr val="F0E8D6"/>
              </a:solidFill>
              <a:latin typeface="Bahnschrift SemiBold Condensed"/>
            </a:endParaRPr>
          </a:p>
        </p:txBody>
      </p:sp>
      <p:sp>
        <p:nvSpPr>
          <p:cNvPr id="577" name="TextBox 24"/>
          <p:cNvSpPr txBox="1"/>
          <p:nvPr/>
        </p:nvSpPr>
        <p:spPr>
          <a:xfrm>
            <a:off x="7442200" y="2794000"/>
            <a:ext cx="3683000" cy="254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 i="0" cap="none">
                <a:solidFill>
                  <a:srgbClr val="B9AE96"/>
                </a:solidFill>
                <a:latin typeface="Georgia"/>
              </a:rPr>
              <a:t>всего голосов</a:t>
            </a:r>
            <a:endParaRPr sz="93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578" name="TextBox 25"/>
          <p:cNvSpPr txBox="1"/>
          <p:nvPr/>
        </p:nvSpPr>
        <p:spPr>
          <a:xfrm>
            <a:off x="7442200" y="3276600"/>
            <a:ext cx="3683000" cy="617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 cap="none">
                <a:solidFill>
                  <a:srgbClr val="F0E8D6"/>
                </a:solidFill>
                <a:latin typeface="Bahnschrift SemiBold Condensed"/>
              </a:rPr>
              <a:t>27,3%</a:t>
            </a:r>
            <a:endParaRPr sz="3000" b="0" i="0" cap="none">
              <a:solidFill>
                <a:srgbClr val="F0E8D6"/>
              </a:solidFill>
              <a:latin typeface="Bahnschrift SemiBold Condensed"/>
            </a:endParaRPr>
          </a:p>
        </p:txBody>
      </p:sp>
      <p:sp>
        <p:nvSpPr>
          <p:cNvPr id="579" name="TextBox 26"/>
          <p:cNvSpPr txBox="1"/>
          <p:nvPr/>
        </p:nvSpPr>
        <p:spPr>
          <a:xfrm>
            <a:off x="7442200" y="3708400"/>
            <a:ext cx="3683000" cy="254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 i="0" cap="none">
                <a:solidFill>
                  <a:srgbClr val="B9AE96"/>
                </a:solidFill>
                <a:latin typeface="Georgia"/>
              </a:rPr>
              <a:t>среди 18–24 лет</a:t>
            </a:r>
            <a:endParaRPr sz="93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580" name="TextBox 27"/>
          <p:cNvSpPr txBox="1"/>
          <p:nvPr/>
        </p:nvSpPr>
        <p:spPr>
          <a:xfrm>
            <a:off x="7442200" y="4191000"/>
            <a:ext cx="3683000" cy="617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 cap="none">
                <a:solidFill>
                  <a:srgbClr val="F0E8D6"/>
                </a:solidFill>
                <a:latin typeface="Bahnschrift SemiBold Condensed"/>
              </a:rPr>
              <a:t>19,9%</a:t>
            </a:r>
            <a:endParaRPr sz="3000" b="0" i="0" cap="none">
              <a:solidFill>
                <a:srgbClr val="F0E8D6"/>
              </a:solidFill>
              <a:latin typeface="Bahnschrift SemiBold Condensed"/>
            </a:endParaRPr>
          </a:p>
        </p:txBody>
      </p:sp>
      <p:sp>
        <p:nvSpPr>
          <p:cNvPr id="581" name="TextBox 28"/>
          <p:cNvSpPr txBox="1"/>
          <p:nvPr/>
        </p:nvSpPr>
        <p:spPr>
          <a:xfrm>
            <a:off x="7442200" y="4622800"/>
            <a:ext cx="3683000" cy="254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 i="0" cap="none">
                <a:solidFill>
                  <a:srgbClr val="B9AE96"/>
                </a:solidFill>
                <a:latin typeface="Georgia"/>
              </a:rPr>
              <a:t>Берлин — лучший регион</a:t>
            </a:r>
            <a:endParaRPr sz="93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582" name="TextBox 29"/>
          <p:cNvSpPr txBox="1"/>
          <p:nvPr/>
        </p:nvSpPr>
        <p:spPr>
          <a:xfrm>
            <a:off x="7442200" y="5029200"/>
            <a:ext cx="3733800" cy="431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20" b="0" i="0" cap="none">
                <a:solidFill>
                  <a:srgbClr val="BE8B2E"/>
                </a:solidFill>
                <a:latin typeface="Georgia"/>
              </a:rPr>
              <a:t>Марцан и Нойкёльн — рабочие районы, где партия растёт.</a:t>
            </a:r>
          </a:p>
        </p:txBody>
      </p:sp>
      <p:sp>
        <p:nvSpPr>
          <p:cNvPr id="583" name="TextBox 30"/>
          <p:cNvSpPr txBox="1"/>
          <p:nvPr/>
        </p:nvSpPr>
        <p:spPr>
          <a:xfrm>
            <a:off x="812800" y="5613400"/>
            <a:ext cx="10972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1" cap="none">
                <a:solidFill>
                  <a:srgbClr val="1B1A18"/>
                </a:solidFill>
                <a:latin typeface="Georgia"/>
              </a:rPr>
              <a:t>Die Linke не моложе КПРФ по истории — она моложе по избирателю.</a:t>
            </a:r>
            <a:endParaRPr sz="1150" b="0" i="1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584" name="TextBox 31"/>
          <p:cNvSpPr txBox="1"/>
          <p:nvPr/>
        </p:nvSpPr>
        <p:spPr>
          <a:xfrm>
            <a:off x="812800" y="5969000"/>
            <a:ext cx="10972800" cy="245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 cap="none">
                <a:solidFill>
                  <a:srgbClr val="55503F"/>
                </a:solidFill>
                <a:latin typeface="Georgia"/>
              </a:rPr>
              <a:t>Источники: Bundeswahlleiterin; FES, Analysis of the Bundestag Elections 2025.</a:t>
            </a:r>
            <a:endParaRPr sz="880" b="0" i="0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6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10 / КОНТРАСТ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87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88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Почему у КПРФ не так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89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0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2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11 / 17</a:t>
            </a:r>
          </a:p>
        </p:txBody>
      </p:sp>
      <p:sp>
        <p:nvSpPr>
          <p:cNvPr id="593" name="TextBox 9"/>
          <p:cNvSpPr txBox="1"/>
          <p:nvPr/>
        </p:nvSpPr>
        <p:spPr>
          <a:xfrm>
            <a:off x="812800" y="1854200"/>
            <a:ext cx="2794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МЕХАНИЗМ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94" name="TextBox 10"/>
          <p:cNvSpPr txBox="1"/>
          <p:nvPr/>
        </p:nvSpPr>
        <p:spPr>
          <a:xfrm>
            <a:off x="3810000" y="1854200"/>
            <a:ext cx="3429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A82C1E"/>
                </a:solidFill>
                <a:latin typeface="Consolas"/>
              </a:rPr>
              <a:t>DIE LINKE</a:t>
            </a:r>
            <a:endParaRPr sz="850" b="0" i="0" cap="none" spc="16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95" name="TextBox 11"/>
          <p:cNvSpPr txBox="1"/>
          <p:nvPr/>
        </p:nvSpPr>
        <p:spPr>
          <a:xfrm>
            <a:off x="7620000" y="1854200"/>
            <a:ext cx="3683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A82C1E"/>
                </a:solidFill>
                <a:latin typeface="Consolas"/>
              </a:rPr>
              <a:t>КПРФ</a:t>
            </a:r>
            <a:endParaRPr sz="850" b="0" i="0" cap="none" spc="16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96" name="Rectangle 12"/>
          <p:cNvSpPr/>
          <p:nvPr/>
        </p:nvSpPr>
        <p:spPr>
          <a:xfrm>
            <a:off x="812800" y="21336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7" name="TextBox 13"/>
          <p:cNvSpPr txBox="1"/>
          <p:nvPr/>
        </p:nvSpPr>
        <p:spPr>
          <a:xfrm>
            <a:off x="812800" y="2336800"/>
            <a:ext cx="27940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Районная работа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98" name="TextBox 14"/>
          <p:cNvSpPr txBox="1"/>
          <p:nvPr/>
        </p:nvSpPr>
        <p:spPr>
          <a:xfrm>
            <a:off x="3810000" y="2336800"/>
            <a:ext cx="3556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Постоянные отделения в спальных районах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99" name="TextBox 15"/>
          <p:cNvSpPr txBox="1"/>
          <p:nvPr/>
        </p:nvSpPr>
        <p:spPr>
          <a:xfrm>
            <a:off x="7620000" y="2336800"/>
            <a:ext cx="3810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1B1A18"/>
                </a:solidFill>
                <a:latin typeface="Georgia"/>
              </a:rPr>
              <a:t>Приёмная и депутатский запрос</a:t>
            </a:r>
            <a:endParaRPr sz="102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600" name="TextBox 16"/>
          <p:cNvSpPr txBox="1"/>
          <p:nvPr/>
        </p:nvSpPr>
        <p:spPr>
          <a:xfrm>
            <a:off x="812800" y="3073400"/>
            <a:ext cx="27940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Повестка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01" name="TextBox 17"/>
          <p:cNvSpPr txBox="1"/>
          <p:nvPr/>
        </p:nvSpPr>
        <p:spPr>
          <a:xfrm>
            <a:off x="3810000" y="3073400"/>
            <a:ext cx="3556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Аренда, жильё, выселения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02" name="TextBox 18"/>
          <p:cNvSpPr txBox="1"/>
          <p:nvPr/>
        </p:nvSpPr>
        <p:spPr>
          <a:xfrm>
            <a:off x="7620000" y="3073400"/>
            <a:ext cx="3810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1B1A18"/>
                </a:solidFill>
                <a:latin typeface="Georgia"/>
              </a:rPr>
              <a:t>Пенсии, тарифы, льготы</a:t>
            </a:r>
            <a:endParaRPr sz="102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603" name="TextBox 19"/>
          <p:cNvSpPr txBox="1"/>
          <p:nvPr/>
        </p:nvSpPr>
        <p:spPr>
          <a:xfrm>
            <a:off x="812800" y="3810000"/>
            <a:ext cx="27940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Лица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04" name="TextBox 20"/>
          <p:cNvSpPr txBox="1"/>
          <p:nvPr/>
        </p:nvSpPr>
        <p:spPr>
          <a:xfrm>
            <a:off x="3810000" y="3810000"/>
            <a:ext cx="3556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Кандидаты 25–35 лет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05" name="TextBox 21"/>
          <p:cNvSpPr txBox="1"/>
          <p:nvPr/>
        </p:nvSpPr>
        <p:spPr>
          <a:xfrm>
            <a:off x="7620000" y="3810000"/>
            <a:ext cx="3810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1B1A18"/>
                </a:solidFill>
                <a:latin typeface="Georgia"/>
              </a:rPr>
              <a:t>Узнаваемые старшие</a:t>
            </a:r>
            <a:endParaRPr sz="102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606" name="TextBox 22"/>
          <p:cNvSpPr txBox="1"/>
          <p:nvPr/>
        </p:nvSpPr>
        <p:spPr>
          <a:xfrm>
            <a:off x="812800" y="4546600"/>
            <a:ext cx="27940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Медиа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07" name="TextBox 23"/>
          <p:cNvSpPr txBox="1"/>
          <p:nvPr/>
        </p:nvSpPr>
        <p:spPr>
          <a:xfrm>
            <a:off x="3810000" y="4546600"/>
            <a:ext cx="3556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TikTok, районные чаты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08" name="TextBox 24"/>
          <p:cNvSpPr txBox="1"/>
          <p:nvPr/>
        </p:nvSpPr>
        <p:spPr>
          <a:xfrm>
            <a:off x="7620000" y="4546600"/>
            <a:ext cx="3810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1B1A18"/>
                </a:solidFill>
                <a:latin typeface="Georgia"/>
              </a:rPr>
              <a:t>Газета и Telegram</a:t>
            </a:r>
            <a:endParaRPr sz="102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609" name="Rectangle 25"/>
          <p:cNvSpPr/>
          <p:nvPr/>
        </p:nvSpPr>
        <p:spPr>
          <a:xfrm>
            <a:off x="812800" y="5435600"/>
            <a:ext cx="109728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0" name="TextBox 26"/>
          <p:cNvSpPr txBox="1"/>
          <p:nvPr/>
        </p:nvSpPr>
        <p:spPr>
          <a:xfrm>
            <a:off x="812800" y="5562600"/>
            <a:ext cx="10972800" cy="3177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1" cap="none">
                <a:solidFill>
                  <a:srgbClr val="1B1A18"/>
                </a:solidFill>
                <a:latin typeface="Georgia"/>
              </a:rPr>
              <a:t>Муниципальные выборы-2024: КПРФ — 10 мандатов, ЛДПР — 68, «Новые люди» — 36. Именно на этом уровне видно, есть ли у партии район.</a:t>
            </a:r>
            <a:endParaRPr sz="1100" b="0" i="1" cap="none">
              <a:solidFill>
                <a:srgbClr val="1B1A18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2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11 / ДЕМОГРАФИЯ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13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14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База тает быстрее, чем растёт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15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6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8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12 / 17</a:t>
            </a:r>
          </a:p>
        </p:txBody>
      </p:sp>
      <p:sp>
        <p:nvSpPr>
          <p:cNvPr id="619" name="TextBox 9"/>
          <p:cNvSpPr txBox="1"/>
          <p:nvPr/>
        </p:nvSpPr>
        <p:spPr>
          <a:xfrm>
            <a:off x="812800" y="1854200"/>
            <a:ext cx="63500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 spc="150">
                <a:solidFill>
                  <a:srgbClr val="A82C1E"/>
                </a:solidFill>
                <a:latin typeface="Consolas"/>
              </a:rPr>
              <a:t>РОЖДЕНИЯ В РОССИИ, МЛН ЧЕЛОВЕК</a:t>
            </a:r>
            <a:endParaRPr sz="860" b="0" i="0" cap="none" spc="15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20" name="Rectangle 10"/>
          <p:cNvSpPr/>
          <p:nvPr/>
        </p:nvSpPr>
        <p:spPr>
          <a:xfrm>
            <a:off x="812800" y="2489200"/>
            <a:ext cx="9525" cy="25908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1" name="Rectangle 11"/>
          <p:cNvSpPr/>
          <p:nvPr/>
        </p:nvSpPr>
        <p:spPr>
          <a:xfrm>
            <a:off x="812800" y="5080000"/>
            <a:ext cx="63500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2" name="Rectangle 12"/>
          <p:cNvSpPr/>
          <p:nvPr/>
        </p:nvSpPr>
        <p:spPr>
          <a:xfrm>
            <a:off x="812800" y="4413250"/>
            <a:ext cx="6350000" cy="508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3" name="TextBox 13"/>
          <p:cNvSpPr txBox="1"/>
          <p:nvPr/>
        </p:nvSpPr>
        <p:spPr>
          <a:xfrm>
            <a:off x="279400" y="4324350"/>
            <a:ext cx="457200" cy="222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50" b="0" i="0" cap="none">
                <a:solidFill>
                  <a:srgbClr val="55503F"/>
                </a:solidFill>
                <a:latin typeface="Consolas"/>
              </a:rPr>
              <a:t>0,5</a:t>
            </a:r>
            <a:endParaRPr sz="7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24" name="Rectangle 14"/>
          <p:cNvSpPr/>
          <p:nvPr/>
        </p:nvSpPr>
        <p:spPr>
          <a:xfrm>
            <a:off x="812800" y="3746500"/>
            <a:ext cx="6350000" cy="508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5" name="TextBox 15"/>
          <p:cNvSpPr txBox="1"/>
          <p:nvPr/>
        </p:nvSpPr>
        <p:spPr>
          <a:xfrm>
            <a:off x="279400" y="3657600"/>
            <a:ext cx="457200" cy="222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50" b="0" i="0" cap="none">
                <a:solidFill>
                  <a:srgbClr val="55503F"/>
                </a:solidFill>
                <a:latin typeface="Consolas"/>
              </a:rPr>
              <a:t>1</a:t>
            </a:r>
            <a:endParaRPr sz="7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26" name="Rectangle 16"/>
          <p:cNvSpPr/>
          <p:nvPr/>
        </p:nvSpPr>
        <p:spPr>
          <a:xfrm>
            <a:off x="812800" y="3079750"/>
            <a:ext cx="6350000" cy="508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7" name="TextBox 17"/>
          <p:cNvSpPr txBox="1"/>
          <p:nvPr/>
        </p:nvSpPr>
        <p:spPr>
          <a:xfrm>
            <a:off x="279400" y="2990850"/>
            <a:ext cx="457200" cy="222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50" b="0" i="0" cap="none">
                <a:solidFill>
                  <a:srgbClr val="55503F"/>
                </a:solidFill>
                <a:latin typeface="Consolas"/>
              </a:rPr>
              <a:t>1,5</a:t>
            </a:r>
            <a:endParaRPr sz="7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28" name="Rectangle 18"/>
          <p:cNvSpPr/>
          <p:nvPr/>
        </p:nvSpPr>
        <p:spPr>
          <a:xfrm>
            <a:off x="812800" y="2413000"/>
            <a:ext cx="6350000" cy="508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9" name="TextBox 19"/>
          <p:cNvSpPr txBox="1"/>
          <p:nvPr/>
        </p:nvSpPr>
        <p:spPr>
          <a:xfrm>
            <a:off x="279400" y="2324100"/>
            <a:ext cx="457200" cy="222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50" b="0" i="0" cap="none">
                <a:solidFill>
                  <a:srgbClr val="55503F"/>
                </a:solidFill>
                <a:latin typeface="Consolas"/>
              </a:rPr>
              <a:t>2</a:t>
            </a:r>
            <a:endParaRPr sz="7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30" name="Rectangle 20"/>
          <p:cNvSpPr/>
          <p:nvPr/>
        </p:nvSpPr>
        <p:spPr>
          <a:xfrm>
            <a:off x="1524000" y="2493010"/>
            <a:ext cx="1016000" cy="258699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1" name="TextBox 21"/>
          <p:cNvSpPr txBox="1"/>
          <p:nvPr/>
        </p:nvSpPr>
        <p:spPr>
          <a:xfrm>
            <a:off x="1397000" y="2277110"/>
            <a:ext cx="127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1B1A18"/>
                </a:solidFill>
                <a:latin typeface="Consolas"/>
              </a:rPr>
              <a:t>1,94</a:t>
            </a:r>
            <a:endParaRPr sz="900" b="0" i="0" cap="none">
              <a:solidFill>
                <a:srgbClr val="1B1A18"/>
              </a:solidFill>
              <a:latin typeface="Consolas"/>
            </a:endParaRPr>
          </a:p>
        </p:txBody>
      </p:sp>
      <p:sp>
        <p:nvSpPr>
          <p:cNvPr id="632" name="TextBox 22"/>
          <p:cNvSpPr txBox="1"/>
          <p:nvPr/>
        </p:nvSpPr>
        <p:spPr>
          <a:xfrm>
            <a:off x="1397000" y="5181600"/>
            <a:ext cx="127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0" cap="none">
                <a:solidFill>
                  <a:srgbClr val="55503F"/>
                </a:solidFill>
                <a:latin typeface="Consolas"/>
              </a:rPr>
              <a:t>2014</a:t>
            </a:r>
            <a:endParaRPr sz="8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33" name="Rectangle 23"/>
          <p:cNvSpPr/>
          <p:nvPr/>
        </p:nvSpPr>
        <p:spPr>
          <a:xfrm>
            <a:off x="3302000" y="3106420"/>
            <a:ext cx="1016000" cy="197358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4" name="TextBox 24"/>
          <p:cNvSpPr txBox="1"/>
          <p:nvPr/>
        </p:nvSpPr>
        <p:spPr>
          <a:xfrm>
            <a:off x="3175000" y="2890520"/>
            <a:ext cx="127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1B1A18"/>
                </a:solidFill>
                <a:latin typeface="Consolas"/>
              </a:rPr>
              <a:t>1,48</a:t>
            </a:r>
            <a:endParaRPr sz="900" b="0" i="0" cap="none">
              <a:solidFill>
                <a:srgbClr val="1B1A18"/>
              </a:solidFill>
              <a:latin typeface="Consolas"/>
            </a:endParaRPr>
          </a:p>
        </p:txBody>
      </p:sp>
      <p:sp>
        <p:nvSpPr>
          <p:cNvPr id="635" name="TextBox 25"/>
          <p:cNvSpPr txBox="1"/>
          <p:nvPr/>
        </p:nvSpPr>
        <p:spPr>
          <a:xfrm>
            <a:off x="3175000" y="5181600"/>
            <a:ext cx="127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0" cap="none">
                <a:solidFill>
                  <a:srgbClr val="55503F"/>
                </a:solidFill>
                <a:latin typeface="Consolas"/>
              </a:rPr>
              <a:t>2019</a:t>
            </a:r>
            <a:endParaRPr sz="8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36" name="Rectangle 26"/>
          <p:cNvSpPr/>
          <p:nvPr/>
        </p:nvSpPr>
        <p:spPr>
          <a:xfrm>
            <a:off x="5080000" y="3453130"/>
            <a:ext cx="1016000" cy="162687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7" name="TextBox 27"/>
          <p:cNvSpPr txBox="1"/>
          <p:nvPr/>
        </p:nvSpPr>
        <p:spPr>
          <a:xfrm>
            <a:off x="4953000" y="3237230"/>
            <a:ext cx="127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1B1A18"/>
                </a:solidFill>
                <a:latin typeface="Consolas"/>
              </a:rPr>
              <a:t>1,22</a:t>
            </a:r>
            <a:endParaRPr sz="900" b="0" i="0" cap="none">
              <a:solidFill>
                <a:srgbClr val="1B1A18"/>
              </a:solidFill>
              <a:latin typeface="Consolas"/>
            </a:endParaRPr>
          </a:p>
        </p:txBody>
      </p:sp>
      <p:sp>
        <p:nvSpPr>
          <p:cNvPr id="638" name="TextBox 28"/>
          <p:cNvSpPr txBox="1"/>
          <p:nvPr/>
        </p:nvSpPr>
        <p:spPr>
          <a:xfrm>
            <a:off x="4953000" y="5181600"/>
            <a:ext cx="127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0" cap="none">
                <a:solidFill>
                  <a:srgbClr val="55503F"/>
                </a:solidFill>
                <a:latin typeface="Consolas"/>
              </a:rPr>
              <a:t>2024</a:t>
            </a:r>
            <a:endParaRPr sz="8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39" name="Rectangle 29"/>
          <p:cNvSpPr/>
          <p:nvPr/>
        </p:nvSpPr>
        <p:spPr>
          <a:xfrm>
            <a:off x="7874000" y="1854200"/>
            <a:ext cx="9525" cy="38100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0" name="TextBox 30"/>
          <p:cNvSpPr txBox="1"/>
          <p:nvPr/>
        </p:nvSpPr>
        <p:spPr>
          <a:xfrm>
            <a:off x="8077200" y="1854200"/>
            <a:ext cx="3302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180">
                <a:solidFill>
                  <a:srgbClr val="A82C1E"/>
                </a:solidFill>
                <a:latin typeface="Consolas"/>
              </a:rPr>
              <a:t>ТРИ ЦИФРЫ</a:t>
            </a:r>
            <a:endParaRPr sz="900" b="0" i="0" cap="none" spc="18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41" name="TextBox 31"/>
          <p:cNvSpPr txBox="1"/>
          <p:nvPr/>
        </p:nvSpPr>
        <p:spPr>
          <a:xfrm>
            <a:off x="8077200" y="2159000"/>
            <a:ext cx="3302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1B1A18"/>
                </a:solidFill>
                <a:latin typeface="Bahnschrift SemiBold Condensed"/>
              </a:rPr>
              <a:t>≈ 1,4</a:t>
            </a:r>
            <a:endParaRPr sz="2400" b="0" i="0" cap="none">
              <a:solidFill>
                <a:srgbClr val="1B1A18"/>
              </a:solidFill>
              <a:latin typeface="Bahnschrift SemiBold Condensed"/>
            </a:endParaRPr>
          </a:p>
        </p:txBody>
      </p:sp>
      <p:sp>
        <p:nvSpPr>
          <p:cNvPr id="642" name="TextBox 32"/>
          <p:cNvSpPr txBox="1"/>
          <p:nvPr/>
        </p:nvSpPr>
        <p:spPr>
          <a:xfrm>
            <a:off x="8077200" y="2514600"/>
            <a:ext cx="3302000" cy="2615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30" b="0" i="0" cap="none">
                <a:solidFill>
                  <a:srgbClr val="55503F"/>
                </a:solidFill>
                <a:latin typeface="Georgia"/>
              </a:rPr>
              <a:t>суммарный коэффициент рождаемости</a:t>
            </a:r>
            <a:endParaRPr sz="93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43" name="TextBox 33"/>
          <p:cNvSpPr txBox="1"/>
          <p:nvPr/>
        </p:nvSpPr>
        <p:spPr>
          <a:xfrm>
            <a:off x="8077200" y="3048000"/>
            <a:ext cx="3302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1B1A18"/>
                </a:solidFill>
                <a:latin typeface="Bahnschrift SemiBold Condensed"/>
              </a:rPr>
              <a:t>≈ 600 тыс.</a:t>
            </a:r>
            <a:endParaRPr sz="2400" b="0" i="0" cap="none">
              <a:solidFill>
                <a:srgbClr val="1B1A18"/>
              </a:solidFill>
              <a:latin typeface="Bahnschrift SemiBold Condensed"/>
            </a:endParaRPr>
          </a:p>
        </p:txBody>
      </p:sp>
      <p:sp>
        <p:nvSpPr>
          <p:cNvPr id="644" name="TextBox 34"/>
          <p:cNvSpPr txBox="1"/>
          <p:nvPr/>
        </p:nvSpPr>
        <p:spPr>
          <a:xfrm>
            <a:off x="8077200" y="3403600"/>
            <a:ext cx="3302000" cy="2615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30" b="0" i="0" cap="none">
                <a:solidFill>
                  <a:srgbClr val="55503F"/>
                </a:solidFill>
                <a:latin typeface="Georgia"/>
              </a:rPr>
              <a:t>естественная убыль в год</a:t>
            </a:r>
            <a:endParaRPr sz="93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45" name="TextBox 35"/>
          <p:cNvSpPr txBox="1"/>
          <p:nvPr/>
        </p:nvSpPr>
        <p:spPr>
          <a:xfrm>
            <a:off x="8077200" y="3937000"/>
            <a:ext cx="3302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1B1A18"/>
                </a:solidFill>
                <a:latin typeface="Bahnschrift SemiBold Condensed"/>
              </a:rPr>
              <a:t>&lt; 8%</a:t>
            </a:r>
            <a:endParaRPr sz="2400" b="0" i="0" cap="none">
              <a:solidFill>
                <a:srgbClr val="1B1A18"/>
              </a:solidFill>
              <a:latin typeface="Bahnschrift SemiBold Condensed"/>
            </a:endParaRPr>
          </a:p>
        </p:txBody>
      </p:sp>
      <p:sp>
        <p:nvSpPr>
          <p:cNvPr id="646" name="TextBox 36"/>
          <p:cNvSpPr txBox="1"/>
          <p:nvPr/>
        </p:nvSpPr>
        <p:spPr>
          <a:xfrm>
            <a:off x="8077200" y="4292600"/>
            <a:ext cx="3302000" cy="2615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30" b="0" i="0" cap="none">
                <a:solidFill>
                  <a:srgbClr val="55503F"/>
                </a:solidFill>
                <a:latin typeface="Georgia"/>
              </a:rPr>
              <a:t>избирателей — 18–24 года</a:t>
            </a:r>
            <a:endParaRPr sz="93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47" name="TextBox 37"/>
          <p:cNvSpPr txBox="1"/>
          <p:nvPr/>
        </p:nvSpPr>
        <p:spPr>
          <a:xfrm>
            <a:off x="8077200" y="4826000"/>
            <a:ext cx="3302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1B1A18"/>
                </a:solidFill>
                <a:latin typeface="Bahnschrift SemiBold Condensed"/>
              </a:rPr>
              <a:t>сотни тысяч</a:t>
            </a:r>
            <a:endParaRPr sz="2400" b="0" i="0" cap="none">
              <a:solidFill>
                <a:srgbClr val="1B1A18"/>
              </a:solidFill>
              <a:latin typeface="Bahnschrift SemiBold Condensed"/>
            </a:endParaRPr>
          </a:p>
        </p:txBody>
      </p:sp>
      <p:sp>
        <p:nvSpPr>
          <p:cNvPr id="648" name="TextBox 38"/>
          <p:cNvSpPr txBox="1"/>
          <p:nvPr/>
        </p:nvSpPr>
        <p:spPr>
          <a:xfrm>
            <a:off x="8077200" y="5181600"/>
            <a:ext cx="3302000" cy="2615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30" b="0" i="0" cap="none">
                <a:solidFill>
                  <a:srgbClr val="55503F"/>
                </a:solidFill>
                <a:latin typeface="Georgia"/>
              </a:rPr>
              <a:t>уехали в 2022–2023, в основном молодые</a:t>
            </a:r>
            <a:endParaRPr sz="93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49" name="TextBox 39"/>
          <p:cNvSpPr txBox="1"/>
          <p:nvPr/>
        </p:nvSpPr>
        <p:spPr>
          <a:xfrm>
            <a:off x="812800" y="5715000"/>
            <a:ext cx="10972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1" cap="none">
                <a:solidFill>
                  <a:srgbClr val="1B1A18"/>
                </a:solidFill>
                <a:latin typeface="Georgia"/>
              </a:rPr>
              <a:t>Партия, чей электорат старше страны, стареет быстрее страны.</a:t>
            </a:r>
            <a:endParaRPr sz="1150" b="0" i="1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650" name="TextBox 40"/>
          <p:cNvSpPr txBox="1"/>
          <p:nvPr/>
        </p:nvSpPr>
        <p:spPr>
          <a:xfrm>
            <a:off x="812800" y="6019800"/>
            <a:ext cx="10972800" cy="245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 cap="none">
                <a:solidFill>
                  <a:srgbClr val="55503F"/>
                </a:solidFill>
                <a:latin typeface="Georgia"/>
              </a:rPr>
              <a:t>Источник: Росстат; оценки — демографический прогноз, а не точный счёт.</a:t>
            </a:r>
            <a:endParaRPr sz="880" b="0" i="0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2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12 / МЕХАНИЗМ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53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54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Три потери и один замкнутый круг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55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6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8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13 / 17</a:t>
            </a:r>
          </a:p>
        </p:txBody>
      </p:sp>
      <p:sp>
        <p:nvSpPr>
          <p:cNvPr id="659" name="Rectangle 9"/>
          <p:cNvSpPr/>
          <p:nvPr/>
        </p:nvSpPr>
        <p:spPr>
          <a:xfrm>
            <a:off x="812800" y="2159000"/>
            <a:ext cx="3454400" cy="1905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0" name="Rectangle 10"/>
          <p:cNvSpPr/>
          <p:nvPr/>
        </p:nvSpPr>
        <p:spPr>
          <a:xfrm>
            <a:off x="812800" y="21590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1" name="TextBox 11"/>
          <p:cNvSpPr txBox="1"/>
          <p:nvPr/>
        </p:nvSpPr>
        <p:spPr>
          <a:xfrm>
            <a:off x="1016000" y="23622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01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62" name="TextBox 12"/>
          <p:cNvSpPr txBox="1"/>
          <p:nvPr/>
        </p:nvSpPr>
        <p:spPr>
          <a:xfrm>
            <a:off x="1016000" y="2692400"/>
            <a:ext cx="304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Смертность ядра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63" name="TextBox 13"/>
          <p:cNvSpPr txBox="1"/>
          <p:nvPr/>
        </p:nvSpPr>
        <p:spPr>
          <a:xfrm>
            <a:off x="1016000" y="3048000"/>
            <a:ext cx="3048000" cy="6976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Каждые пять лет из электората выбывает поколение 1940–50-х. Это не протест и не разочарование — это биология.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64" name="Arrow 14"/>
          <p:cNvSpPr/>
          <p:nvPr/>
        </p:nvSpPr>
        <p:spPr>
          <a:xfrm>
            <a:off x="4305300" y="2946400"/>
            <a:ext cx="254000" cy="381000"/>
          </a:xfrm>
          <a:prstGeom prst="rightArrow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5" name="Rectangle 15"/>
          <p:cNvSpPr/>
          <p:nvPr/>
        </p:nvSpPr>
        <p:spPr>
          <a:xfrm>
            <a:off x="4622800" y="2159000"/>
            <a:ext cx="3454400" cy="1905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6" name="Rectangle 16"/>
          <p:cNvSpPr/>
          <p:nvPr/>
        </p:nvSpPr>
        <p:spPr>
          <a:xfrm>
            <a:off x="4622800" y="21590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7" name="TextBox 17"/>
          <p:cNvSpPr txBox="1"/>
          <p:nvPr/>
        </p:nvSpPr>
        <p:spPr>
          <a:xfrm>
            <a:off x="4826000" y="23622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02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68" name="TextBox 18"/>
          <p:cNvSpPr txBox="1"/>
          <p:nvPr/>
        </p:nvSpPr>
        <p:spPr>
          <a:xfrm>
            <a:off x="4826000" y="2692400"/>
            <a:ext cx="304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Нет замены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69" name="TextBox 19"/>
          <p:cNvSpPr txBox="1"/>
          <p:nvPr/>
        </p:nvSpPr>
        <p:spPr>
          <a:xfrm>
            <a:off x="4826000" y="3048000"/>
            <a:ext cx="3048000" cy="495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Молодёжь не приходит: мешают бренд, повестка и отсутствие районной работы.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70" name="Arrow 20"/>
          <p:cNvSpPr/>
          <p:nvPr/>
        </p:nvSpPr>
        <p:spPr>
          <a:xfrm>
            <a:off x="8115300" y="2946400"/>
            <a:ext cx="254000" cy="381000"/>
          </a:xfrm>
          <a:prstGeom prst="rightArrow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71" name="Rectangle 21"/>
          <p:cNvSpPr/>
          <p:nvPr/>
        </p:nvSpPr>
        <p:spPr>
          <a:xfrm>
            <a:off x="8432800" y="2159000"/>
            <a:ext cx="3454400" cy="1905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72" name="Rectangle 22"/>
          <p:cNvSpPr/>
          <p:nvPr/>
        </p:nvSpPr>
        <p:spPr>
          <a:xfrm>
            <a:off x="8432800" y="21590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73" name="TextBox 23"/>
          <p:cNvSpPr txBox="1"/>
          <p:nvPr/>
        </p:nvSpPr>
        <p:spPr>
          <a:xfrm>
            <a:off x="8636000" y="23622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03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74" name="TextBox 24"/>
          <p:cNvSpPr txBox="1"/>
          <p:nvPr/>
        </p:nvSpPr>
        <p:spPr>
          <a:xfrm>
            <a:off x="8636000" y="2692400"/>
            <a:ext cx="304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Рост явки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75" name="TextBox 25"/>
          <p:cNvSpPr txBox="1"/>
          <p:nvPr/>
        </p:nvSpPr>
        <p:spPr>
          <a:xfrm>
            <a:off x="8636000" y="3048000"/>
            <a:ext cx="3048000" cy="6976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Власть мобилизует новых избирателей — и доля КПРФ падает даже при стабильном числе голосов.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76" name="Rectangle 26"/>
          <p:cNvSpPr/>
          <p:nvPr/>
        </p:nvSpPr>
        <p:spPr>
          <a:xfrm>
            <a:off x="812800" y="4572000"/>
            <a:ext cx="10972800" cy="10922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77" name="TextBox 27"/>
          <p:cNvSpPr txBox="1"/>
          <p:nvPr/>
        </p:nvSpPr>
        <p:spPr>
          <a:xfrm>
            <a:off x="1016000" y="4724400"/>
            <a:ext cx="381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BE8B2E"/>
                </a:solidFill>
                <a:latin typeface="Consolas"/>
              </a:rPr>
              <a:t>Замкнутый круг</a:t>
            </a:r>
            <a:endParaRPr sz="900" b="0" i="0" cap="none" spc="20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678" name="TextBox 28"/>
          <p:cNvSpPr txBox="1"/>
          <p:nvPr/>
        </p:nvSpPr>
        <p:spPr>
          <a:xfrm>
            <a:off x="1016000" y="5003800"/>
            <a:ext cx="10541000" cy="3486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 cap="none">
                <a:solidFill>
                  <a:srgbClr val="F0E8D6"/>
                </a:solidFill>
                <a:latin typeface="Georgia"/>
              </a:rPr>
              <a:t>Чем старше электорат, тем меньше стимулов говорить с молодыми — и тем старше электорат.</a:t>
            </a:r>
            <a:endParaRPr sz="1250" b="0" i="0" cap="none">
              <a:solidFill>
                <a:srgbClr val="F0E8D6"/>
              </a:solidFill>
              <a:latin typeface="Georgia"/>
            </a:endParaRPr>
          </a:p>
        </p:txBody>
      </p:sp>
      <p:sp>
        <p:nvSpPr>
          <p:cNvPr id="679" name="TextBox 29"/>
          <p:cNvSpPr txBox="1"/>
          <p:nvPr/>
        </p:nvSpPr>
        <p:spPr>
          <a:xfrm>
            <a:off x="812800" y="5867400"/>
            <a:ext cx="109728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1" cap="none">
                <a:solidFill>
                  <a:srgbClr val="55503F"/>
                </a:solidFill>
                <a:latin typeface="Georgia"/>
              </a:rPr>
              <a:t>Разорвать круг можно только извне: новая повестка, новые лица и работа в городских сообществах.</a:t>
            </a:r>
            <a:endParaRPr sz="110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63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13 / ГИПОТЕЗА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64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765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Рабочая гипотеза: два потока, одна воронка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66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67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69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14 / 17</a:t>
            </a:r>
            <a:endParaRPr sz="90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770" name="Rectangle 9"/>
          <p:cNvSpPr/>
          <p:nvPr/>
        </p:nvSpPr>
        <p:spPr>
          <a:xfrm>
            <a:off x="812800" y="1854200"/>
            <a:ext cx="10972800" cy="13208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1" name="TextBox 10"/>
          <p:cNvSpPr txBox="1"/>
          <p:nvPr/>
        </p:nvSpPr>
        <p:spPr>
          <a:xfrm>
            <a:off x="1016000" y="2057400"/>
            <a:ext cx="10566400" cy="7909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 i="0" cap="none">
                <a:solidFill>
                  <a:srgbClr val="F0E8D6"/>
                </a:solidFill>
                <a:latin typeface="Georgia"/>
              </a:rPr>
              <a:t>Электорат КПРФ сокращается потому, что старшее ядро выбывает естественным путём, а рабочая молодёжь не приходит на его место.</a:t>
            </a:r>
            <a:endParaRPr sz="1700" b="0" i="0" cap="none">
              <a:solidFill>
                <a:srgbClr val="F0E8D6"/>
              </a:solidFill>
              <a:latin typeface="Georgia"/>
            </a:endParaRPr>
          </a:p>
        </p:txBody>
      </p:sp>
      <p:sp>
        <p:nvSpPr>
          <p:cNvPr id="772" name="Rectangle 11"/>
          <p:cNvSpPr/>
          <p:nvPr/>
        </p:nvSpPr>
        <p:spPr>
          <a:xfrm>
            <a:off x="812800" y="3454400"/>
            <a:ext cx="3454400" cy="18542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3" name="Rectangle 12"/>
          <p:cNvSpPr/>
          <p:nvPr/>
        </p:nvSpPr>
        <p:spPr>
          <a:xfrm>
            <a:off x="812800" y="34544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4" name="TextBox 13"/>
          <p:cNvSpPr txBox="1"/>
          <p:nvPr/>
        </p:nvSpPr>
        <p:spPr>
          <a:xfrm>
            <a:off x="1016000" y="3632200"/>
            <a:ext cx="762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A82C1E"/>
                </a:solidFill>
                <a:latin typeface="Consolas"/>
              </a:rPr>
              <a:t>H1</a:t>
            </a:r>
            <a:endParaRPr sz="950" b="0" i="0" cap="none" spc="14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75" name="TextBox 14"/>
          <p:cNvSpPr txBox="1"/>
          <p:nvPr/>
        </p:nvSpPr>
        <p:spPr>
          <a:xfrm>
            <a:off x="1016000" y="3911600"/>
            <a:ext cx="30480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 cap="none">
                <a:solidFill>
                  <a:srgbClr val="1B1A18"/>
                </a:solidFill>
                <a:latin typeface="Bahnschrift SemiBold"/>
              </a:rPr>
              <a:t>Выбытие ядра</a:t>
            </a:r>
            <a:endParaRPr sz="13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76" name="TextBox 15"/>
          <p:cNvSpPr txBox="1"/>
          <p:nvPr/>
        </p:nvSpPr>
        <p:spPr>
          <a:xfrm>
            <a:off x="1016000" y="4241800"/>
            <a:ext cx="3048000" cy="7070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Поколение 1940–50-х уходит. Доля 55+ остаётся 70%, но сама численность ядра падает.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77" name="Rectangle 16"/>
          <p:cNvSpPr/>
          <p:nvPr/>
        </p:nvSpPr>
        <p:spPr>
          <a:xfrm>
            <a:off x="4495800" y="3454400"/>
            <a:ext cx="3454400" cy="18542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8" name="Rectangle 17"/>
          <p:cNvSpPr/>
          <p:nvPr/>
        </p:nvSpPr>
        <p:spPr>
          <a:xfrm>
            <a:off x="4495800" y="34544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9" name="TextBox 18"/>
          <p:cNvSpPr txBox="1"/>
          <p:nvPr/>
        </p:nvSpPr>
        <p:spPr>
          <a:xfrm>
            <a:off x="4699000" y="3632200"/>
            <a:ext cx="762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A82C1E"/>
                </a:solidFill>
                <a:latin typeface="Consolas"/>
              </a:rPr>
              <a:t>H2</a:t>
            </a:r>
            <a:endParaRPr sz="950" b="0" i="0" cap="none" spc="14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80" name="TextBox 19"/>
          <p:cNvSpPr txBox="1"/>
          <p:nvPr/>
        </p:nvSpPr>
        <p:spPr>
          <a:xfrm>
            <a:off x="4699000" y="3911600"/>
            <a:ext cx="30480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 cap="none">
                <a:solidFill>
                  <a:srgbClr val="1B1A18"/>
                </a:solidFill>
                <a:latin typeface="Bahnschrift SemiBold"/>
              </a:rPr>
              <a:t>Нет притока</a:t>
            </a:r>
            <a:endParaRPr sz="13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81" name="TextBox 20"/>
          <p:cNvSpPr txBox="1"/>
          <p:nvPr/>
        </p:nvSpPr>
        <p:spPr>
          <a:xfrm>
            <a:off x="4699000" y="4241800"/>
            <a:ext cx="3048000" cy="7070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Рабочая молодёжь 18–34 не видит в партии канал защиты: аренда, зарплата, условия труда.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82" name="Rectangle 21"/>
          <p:cNvSpPr/>
          <p:nvPr/>
        </p:nvSpPr>
        <p:spPr>
          <a:xfrm>
            <a:off x="8178800" y="3454400"/>
            <a:ext cx="3454400" cy="18542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83" name="Rectangle 22"/>
          <p:cNvSpPr/>
          <p:nvPr/>
        </p:nvSpPr>
        <p:spPr>
          <a:xfrm>
            <a:off x="8178800" y="34544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84" name="TextBox 23"/>
          <p:cNvSpPr txBox="1"/>
          <p:nvPr/>
        </p:nvSpPr>
        <p:spPr>
          <a:xfrm>
            <a:off x="8382000" y="3632200"/>
            <a:ext cx="762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A82C1E"/>
                </a:solidFill>
                <a:latin typeface="Consolas"/>
              </a:rPr>
              <a:t>H3</a:t>
            </a:r>
            <a:endParaRPr sz="950" b="0" i="0" cap="none" spc="14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85" name="TextBox 24"/>
          <p:cNvSpPr txBox="1"/>
          <p:nvPr/>
        </p:nvSpPr>
        <p:spPr>
          <a:xfrm>
            <a:off x="8382000" y="3911600"/>
            <a:ext cx="30480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 cap="none">
                <a:solidFill>
                  <a:srgbClr val="1B1A18"/>
                </a:solidFill>
                <a:latin typeface="Bahnschrift SemiBold"/>
              </a:rPr>
              <a:t>Эффект явки</a:t>
            </a:r>
            <a:endParaRPr sz="13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86" name="TextBox 25"/>
          <p:cNvSpPr txBox="1"/>
          <p:nvPr/>
        </p:nvSpPr>
        <p:spPr>
          <a:xfrm>
            <a:off x="8382000" y="4241800"/>
            <a:ext cx="3048000" cy="7070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При росте явки доля падает даже при стабильных голосах: новые избиратели уходят другим.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87" name="TextBox 26"/>
          <p:cNvSpPr txBox="1"/>
          <p:nvPr/>
        </p:nvSpPr>
        <p:spPr>
          <a:xfrm>
            <a:off x="812800" y="5638800"/>
            <a:ext cx="10972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1" cap="none">
                <a:solidFill>
                  <a:srgbClr val="1B1A18"/>
                </a:solidFill>
                <a:latin typeface="Georgia"/>
              </a:rPr>
              <a:t>Следствие: партия сохраняет второе место и теряет представительство — как в Петербурге в 2026-м.</a:t>
            </a:r>
            <a:endParaRPr sz="1150" b="0" i="1" cap="none">
              <a:solidFill>
                <a:srgbClr val="1B1A18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89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14 / ПРОВЕРКА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90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791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Как проверить гипотезу и что её опровергнет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92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93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95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15 / 17</a:t>
            </a:r>
            <a:endParaRPr sz="90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796" name="TextBox 9"/>
          <p:cNvSpPr txBox="1"/>
          <p:nvPr/>
        </p:nvSpPr>
        <p:spPr>
          <a:xfrm>
            <a:off x="812800" y="1854200"/>
            <a:ext cx="508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ЕСЛИ ГИПОТЕЗА ВЕРНА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97" name="TextBox 10"/>
          <p:cNvSpPr txBox="1"/>
          <p:nvPr/>
        </p:nvSpPr>
        <p:spPr>
          <a:xfrm>
            <a:off x="812800" y="2260600"/>
            <a:ext cx="381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A82C1E"/>
                </a:solidFill>
                <a:latin typeface="Consolas"/>
              </a:rPr>
              <a:t>01</a:t>
            </a:r>
            <a:endParaRPr sz="9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98" name="TextBox 11"/>
          <p:cNvSpPr txBox="1"/>
          <p:nvPr/>
        </p:nvSpPr>
        <p:spPr>
          <a:xfrm>
            <a:off x="1270000" y="2235200"/>
            <a:ext cx="4572000" cy="3014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Медианный возраст сторонников растёт от кампании к кампании.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799" name="TextBox 12"/>
          <p:cNvSpPr txBox="1"/>
          <p:nvPr/>
        </p:nvSpPr>
        <p:spPr>
          <a:xfrm>
            <a:off x="812800" y="2971800"/>
            <a:ext cx="381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A82C1E"/>
                </a:solidFill>
                <a:latin typeface="Consolas"/>
              </a:rPr>
              <a:t>02</a:t>
            </a:r>
            <a:endParaRPr sz="9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00" name="TextBox 13"/>
          <p:cNvSpPr txBox="1"/>
          <p:nvPr/>
        </p:nvSpPr>
        <p:spPr>
          <a:xfrm>
            <a:off x="1270000" y="2946400"/>
            <a:ext cx="4572000" cy="3014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Абсолютные голоса стагнируют, а доля падает при росте явки.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01" name="TextBox 14"/>
          <p:cNvSpPr txBox="1"/>
          <p:nvPr/>
        </p:nvSpPr>
        <p:spPr>
          <a:xfrm>
            <a:off x="812800" y="3683000"/>
            <a:ext cx="381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A82C1E"/>
                </a:solidFill>
                <a:latin typeface="Consolas"/>
              </a:rPr>
              <a:t>03</a:t>
            </a:r>
            <a:endParaRPr sz="9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02" name="TextBox 15"/>
          <p:cNvSpPr txBox="1"/>
          <p:nvPr/>
        </p:nvSpPr>
        <p:spPr>
          <a:xfrm>
            <a:off x="1270000" y="3657600"/>
            <a:ext cx="4572000" cy="3014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Поддержка 18–34 ниже средней по партии в разы.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03" name="TextBox 16"/>
          <p:cNvSpPr txBox="1"/>
          <p:nvPr/>
        </p:nvSpPr>
        <p:spPr>
          <a:xfrm>
            <a:off x="812800" y="4394200"/>
            <a:ext cx="381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A82C1E"/>
                </a:solidFill>
                <a:latin typeface="Consolas"/>
              </a:rPr>
              <a:t>04</a:t>
            </a:r>
            <a:endParaRPr sz="9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04" name="TextBox 17"/>
          <p:cNvSpPr txBox="1"/>
          <p:nvPr/>
        </p:nvSpPr>
        <p:spPr>
          <a:xfrm>
            <a:off x="1270000" y="4368800"/>
            <a:ext cx="4572000" cy="5114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В новых районах с молодой структурой результат ниже, чем в старых спальных.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05" name="TextBox 18"/>
          <p:cNvSpPr txBox="1"/>
          <p:nvPr/>
        </p:nvSpPr>
        <p:spPr>
          <a:xfrm>
            <a:off x="812800" y="5105400"/>
            <a:ext cx="381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A82C1E"/>
                </a:solidFill>
                <a:latin typeface="Consolas"/>
              </a:rPr>
              <a:t>05</a:t>
            </a:r>
            <a:endParaRPr sz="9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06" name="TextBox 19"/>
          <p:cNvSpPr txBox="1"/>
          <p:nvPr/>
        </p:nvSpPr>
        <p:spPr>
          <a:xfrm>
            <a:off x="1270000" y="5080000"/>
            <a:ext cx="4572000" cy="3014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Приток в партию и ЛКСМ не компенсирует выбытие.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07" name="Rectangle 20"/>
          <p:cNvSpPr/>
          <p:nvPr/>
        </p:nvSpPr>
        <p:spPr>
          <a:xfrm>
            <a:off x="6350000" y="1854200"/>
            <a:ext cx="12700" cy="40640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08" name="TextBox 21"/>
          <p:cNvSpPr txBox="1"/>
          <p:nvPr/>
        </p:nvSpPr>
        <p:spPr>
          <a:xfrm>
            <a:off x="6654800" y="1854200"/>
            <a:ext cx="4318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ЧТО ОПРОВЕРГНЕТ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09" name="TextBox 22"/>
          <p:cNvSpPr txBox="1"/>
          <p:nvPr/>
        </p:nvSpPr>
        <p:spPr>
          <a:xfrm>
            <a:off x="6654800" y="2235200"/>
            <a:ext cx="2540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cap="none">
                <a:solidFill>
                  <a:srgbClr val="A82C1E"/>
                </a:solidFill>
                <a:latin typeface="Georgia"/>
              </a:rPr>
              <a:t>—</a:t>
            </a:r>
            <a:endParaRPr sz="1100" b="0" i="0" cap="none">
              <a:solidFill>
                <a:srgbClr val="A82C1E"/>
              </a:solidFill>
              <a:latin typeface="Georgia"/>
            </a:endParaRPr>
          </a:p>
        </p:txBody>
      </p:sp>
      <p:sp>
        <p:nvSpPr>
          <p:cNvPr id="810" name="TextBox 23"/>
          <p:cNvSpPr txBox="1"/>
          <p:nvPr/>
        </p:nvSpPr>
        <p:spPr>
          <a:xfrm>
            <a:off x="6959600" y="2235200"/>
            <a:ext cx="4267200" cy="297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40" b="0" i="0" cap="none">
                <a:solidFill>
                  <a:srgbClr val="1B1A18"/>
                </a:solidFill>
                <a:latin typeface="Georgia"/>
              </a:rPr>
              <a:t>Рост абсолютных голосов при росте явки.</a:t>
            </a:r>
            <a:endParaRPr sz="104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11" name="TextBox 24"/>
          <p:cNvSpPr txBox="1"/>
          <p:nvPr/>
        </p:nvSpPr>
        <p:spPr>
          <a:xfrm>
            <a:off x="6654800" y="2794000"/>
            <a:ext cx="2540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cap="none">
                <a:solidFill>
                  <a:srgbClr val="A82C1E"/>
                </a:solidFill>
                <a:latin typeface="Georgia"/>
              </a:rPr>
              <a:t>—</a:t>
            </a:r>
            <a:endParaRPr sz="1100" b="0" i="0" cap="none">
              <a:solidFill>
                <a:srgbClr val="A82C1E"/>
              </a:solidFill>
              <a:latin typeface="Georgia"/>
            </a:endParaRPr>
          </a:p>
        </p:txBody>
      </p:sp>
      <p:sp>
        <p:nvSpPr>
          <p:cNvPr id="812" name="TextBox 25"/>
          <p:cNvSpPr txBox="1"/>
          <p:nvPr/>
        </p:nvSpPr>
        <p:spPr>
          <a:xfrm>
            <a:off x="6959600" y="2794000"/>
            <a:ext cx="4267200" cy="297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40" b="0" i="0" cap="none">
                <a:solidFill>
                  <a:srgbClr val="1B1A18"/>
                </a:solidFill>
                <a:latin typeface="Georgia"/>
              </a:rPr>
              <a:t>Рост поддержки именно среди рабочей молодёжи.</a:t>
            </a:r>
            <a:endParaRPr sz="104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13" name="TextBox 26"/>
          <p:cNvSpPr txBox="1"/>
          <p:nvPr/>
        </p:nvSpPr>
        <p:spPr>
          <a:xfrm>
            <a:off x="6654800" y="3352800"/>
            <a:ext cx="2540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cap="none">
                <a:solidFill>
                  <a:srgbClr val="A82C1E"/>
                </a:solidFill>
                <a:latin typeface="Georgia"/>
              </a:rPr>
              <a:t>—</a:t>
            </a:r>
            <a:endParaRPr sz="1100" b="0" i="0" cap="none">
              <a:solidFill>
                <a:srgbClr val="A82C1E"/>
              </a:solidFill>
              <a:latin typeface="Georgia"/>
            </a:endParaRPr>
          </a:p>
        </p:txBody>
      </p:sp>
      <p:sp>
        <p:nvSpPr>
          <p:cNvPr id="814" name="TextBox 27"/>
          <p:cNvSpPr txBox="1"/>
          <p:nvPr/>
        </p:nvSpPr>
        <p:spPr>
          <a:xfrm>
            <a:off x="6959600" y="3352800"/>
            <a:ext cx="4267200" cy="297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40" b="0" i="0" cap="none">
                <a:solidFill>
                  <a:srgbClr val="1B1A18"/>
                </a:solidFill>
                <a:latin typeface="Georgia"/>
              </a:rPr>
              <a:t>Омоложение членства и списков кандидатов.</a:t>
            </a:r>
            <a:endParaRPr sz="104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15" name="TextBox 28"/>
          <p:cNvSpPr txBox="1"/>
          <p:nvPr/>
        </p:nvSpPr>
        <p:spPr>
          <a:xfrm>
            <a:off x="6654800" y="4064000"/>
            <a:ext cx="4318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ЧЕМ ПРОВЕРЯТЬ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16" name="TextBox 29"/>
          <p:cNvSpPr txBox="1"/>
          <p:nvPr/>
        </p:nvSpPr>
        <p:spPr>
          <a:xfrm>
            <a:off x="6654800" y="4368800"/>
            <a:ext cx="4318000" cy="9576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Протоколы УИК и явка по участкам;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exit poll и Левада по возрастам;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Росстат — возрастная структура районов;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членство КПРФ и ЛКСМ, состав кандидатов.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817" name="TextBox 30"/>
          <p:cNvSpPr txBox="1"/>
          <p:nvPr/>
        </p:nvSpPr>
        <p:spPr>
          <a:xfrm>
            <a:off x="812800" y="6070600"/>
            <a:ext cx="109728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20" b="0" i="1" cap="none">
                <a:solidFill>
                  <a:srgbClr val="55503F"/>
                </a:solidFill>
                <a:latin typeface="Georgia"/>
              </a:rPr>
              <a:t>Ограничение: «рабочая молодёжь» — не одна группа. Данных по профессиям в открытом доступе мало, поэтому гипотеза проверяется косвенно — через возраст и район.</a:t>
            </a:r>
            <a:endParaRPr sz="92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81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15 / ИТОГИ</a:t>
            </a:r>
          </a:p>
        </p:txBody>
      </p:sp>
      <p:sp>
        <p:nvSpPr>
          <p:cNvPr id="682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83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Что видно из комиссии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84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85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87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16 / 17</a:t>
            </a:r>
          </a:p>
        </p:txBody>
      </p:sp>
      <p:sp>
        <p:nvSpPr>
          <p:cNvPr id="688" name="Rectangle 9"/>
          <p:cNvSpPr/>
          <p:nvPr/>
        </p:nvSpPr>
        <p:spPr>
          <a:xfrm>
            <a:off x="812800" y="1879600"/>
            <a:ext cx="10972800" cy="9525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89" name="TextBox 10"/>
          <p:cNvSpPr txBox="1"/>
          <p:nvPr/>
        </p:nvSpPr>
        <p:spPr>
          <a:xfrm>
            <a:off x="812800" y="20320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01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90" name="TextBox 11"/>
          <p:cNvSpPr txBox="1"/>
          <p:nvPr/>
        </p:nvSpPr>
        <p:spPr>
          <a:xfrm>
            <a:off x="1422400" y="1981200"/>
            <a:ext cx="4572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Ядро приходит стабильно — и стареет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91" name="TextBox 12"/>
          <p:cNvSpPr txBox="1"/>
          <p:nvPr/>
        </p:nvSpPr>
        <p:spPr>
          <a:xfrm>
            <a:off x="6096000" y="1981200"/>
            <a:ext cx="5689600" cy="278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Одни и те же лица каждые выборы: 70% сторонников КПРФ — старше 55 лет.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92" name="Rectangle 13"/>
          <p:cNvSpPr/>
          <p:nvPr/>
        </p:nvSpPr>
        <p:spPr>
          <a:xfrm>
            <a:off x="812800" y="2667000"/>
            <a:ext cx="10972800" cy="9525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93" name="TextBox 14"/>
          <p:cNvSpPr txBox="1"/>
          <p:nvPr/>
        </p:nvSpPr>
        <p:spPr>
          <a:xfrm>
            <a:off x="812800" y="28194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02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94" name="TextBox 15"/>
          <p:cNvSpPr txBox="1"/>
          <p:nvPr/>
        </p:nvSpPr>
        <p:spPr>
          <a:xfrm>
            <a:off x="1422400" y="2768600"/>
            <a:ext cx="4572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Молодёжь приходит, но не к КПРФ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95" name="TextBox 16"/>
          <p:cNvSpPr txBox="1"/>
          <p:nvPr/>
        </p:nvSpPr>
        <p:spPr>
          <a:xfrm>
            <a:off x="6096000" y="2768600"/>
            <a:ext cx="5689600" cy="278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В 2026-м молодых на участке было больше. Их голоса ушли к другим.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96" name="Rectangle 17"/>
          <p:cNvSpPr/>
          <p:nvPr/>
        </p:nvSpPr>
        <p:spPr>
          <a:xfrm>
            <a:off x="812800" y="3454400"/>
            <a:ext cx="10972800" cy="9525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97" name="TextBox 18"/>
          <p:cNvSpPr txBox="1"/>
          <p:nvPr/>
        </p:nvSpPr>
        <p:spPr>
          <a:xfrm>
            <a:off x="812800" y="36068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03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98" name="TextBox 19"/>
          <p:cNvSpPr txBox="1"/>
          <p:nvPr/>
        </p:nvSpPr>
        <p:spPr>
          <a:xfrm>
            <a:off x="1422400" y="3556000"/>
            <a:ext cx="4572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Рост явки размывает долю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99" name="TextBox 20"/>
          <p:cNvSpPr txBox="1"/>
          <p:nvPr/>
        </p:nvSpPr>
        <p:spPr>
          <a:xfrm>
            <a:off x="6096000" y="3556000"/>
            <a:ext cx="5689600" cy="278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Голосов столько же, доля — вдвое меньше: новых избирателей мобилизовали не коммунисты.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00" name="Rectangle 21"/>
          <p:cNvSpPr/>
          <p:nvPr/>
        </p:nvSpPr>
        <p:spPr>
          <a:xfrm>
            <a:off x="812800" y="4241800"/>
            <a:ext cx="10972800" cy="9525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01" name="TextBox 22"/>
          <p:cNvSpPr txBox="1"/>
          <p:nvPr/>
        </p:nvSpPr>
        <p:spPr>
          <a:xfrm>
            <a:off x="812800" y="43942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04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02" name="TextBox 23"/>
          <p:cNvSpPr txBox="1"/>
          <p:nvPr/>
        </p:nvSpPr>
        <p:spPr>
          <a:xfrm>
            <a:off x="1422400" y="4343400"/>
            <a:ext cx="4572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Личный депутат сильнее бренда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03" name="TextBox 24"/>
          <p:cNvSpPr txBox="1"/>
          <p:nvPr/>
        </p:nvSpPr>
        <p:spPr>
          <a:xfrm>
            <a:off x="6096000" y="4343400"/>
            <a:ext cx="5689600" cy="278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Там, где есть узнаваемый человек, результат выше партийного среднего.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04" name="Rectangle 25"/>
          <p:cNvSpPr/>
          <p:nvPr/>
        </p:nvSpPr>
        <p:spPr>
          <a:xfrm>
            <a:off x="812800" y="5029200"/>
            <a:ext cx="10972800" cy="9525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05" name="TextBox 26"/>
          <p:cNvSpPr txBox="1"/>
          <p:nvPr/>
        </p:nvSpPr>
        <p:spPr>
          <a:xfrm>
            <a:off x="812800" y="51816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05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06" name="TextBox 27"/>
          <p:cNvSpPr txBox="1"/>
          <p:nvPr/>
        </p:nvSpPr>
        <p:spPr>
          <a:xfrm>
            <a:off x="1422400" y="5130800"/>
            <a:ext cx="4572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Агитация не доходит до окраинной молодёжи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07" name="TextBox 28"/>
          <p:cNvSpPr txBox="1"/>
          <p:nvPr/>
        </p:nvSpPr>
        <p:spPr>
          <a:xfrm>
            <a:off x="6096000" y="5130800"/>
            <a:ext cx="5689600" cy="278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Газета и приёмная работают на ядро; районных ячеек и цифры почти нет.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09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16 / СЦЕНАРИИ</a:t>
            </a:r>
          </a:p>
        </p:txBody>
      </p:sp>
      <p:sp>
        <p:nvSpPr>
          <p:cNvPr id="710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711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Что будет дальше: три траектории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12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13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15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17 / 17</a:t>
            </a:r>
          </a:p>
        </p:txBody>
      </p:sp>
      <p:sp>
        <p:nvSpPr>
          <p:cNvPr id="716" name="Rectangle 9"/>
          <p:cNvSpPr/>
          <p:nvPr/>
        </p:nvSpPr>
        <p:spPr>
          <a:xfrm>
            <a:off x="812800" y="2032000"/>
            <a:ext cx="3454400" cy="3175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17" name="TextBox 10"/>
          <p:cNvSpPr txBox="1"/>
          <p:nvPr/>
        </p:nvSpPr>
        <p:spPr>
          <a:xfrm>
            <a:off x="812800" y="2184400"/>
            <a:ext cx="3454400" cy="354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 cap="none" spc="120">
                <a:solidFill>
                  <a:srgbClr val="1B1A18"/>
                </a:solidFill>
                <a:latin typeface="Bahnschrift SemiBold"/>
              </a:rPr>
              <a:t>ИНЕРЦИЯ</a:t>
            </a:r>
            <a:endParaRPr sz="1500" b="0" i="0" cap="none" spc="120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18" name="TextBox 11"/>
          <p:cNvSpPr txBox="1"/>
          <p:nvPr/>
        </p:nvSpPr>
        <p:spPr>
          <a:xfrm>
            <a:off x="812800" y="2489200"/>
            <a:ext cx="3454400" cy="238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0" cap="none" spc="120">
                <a:solidFill>
                  <a:srgbClr val="A82C1E"/>
                </a:solidFill>
                <a:latin typeface="Consolas"/>
              </a:rPr>
              <a:t>наиболее вероятно</a:t>
            </a:r>
            <a:endParaRPr sz="840" b="0" i="0" cap="none" spc="1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19" name="TextBox 12"/>
          <p:cNvSpPr txBox="1"/>
          <p:nvPr/>
        </p:nvSpPr>
        <p:spPr>
          <a:xfrm>
            <a:off x="812800" y="2794000"/>
            <a:ext cx="3454400" cy="7699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8–12% на федеральных выборах, 1–2 мандата в Петербурге. Ядро стареет, явка растёт, доля снижается.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20" name="Rectangle 13"/>
          <p:cNvSpPr/>
          <p:nvPr/>
        </p:nvSpPr>
        <p:spPr>
          <a:xfrm>
            <a:off x="4495800" y="2032000"/>
            <a:ext cx="3454400" cy="3175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21" name="TextBox 14"/>
          <p:cNvSpPr txBox="1"/>
          <p:nvPr/>
        </p:nvSpPr>
        <p:spPr>
          <a:xfrm>
            <a:off x="4495800" y="2184400"/>
            <a:ext cx="3454400" cy="354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 cap="none" spc="120">
                <a:solidFill>
                  <a:srgbClr val="1B1A18"/>
                </a:solidFill>
                <a:latin typeface="Bahnschrift SemiBold"/>
              </a:rPr>
              <a:t>ОБНОВЛЕНИЕ</a:t>
            </a:r>
            <a:endParaRPr sz="1500" b="0" i="0" cap="none" spc="120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22" name="TextBox 15"/>
          <p:cNvSpPr txBox="1"/>
          <p:nvPr/>
        </p:nvSpPr>
        <p:spPr>
          <a:xfrm>
            <a:off x="4495800" y="2489200"/>
            <a:ext cx="3454400" cy="238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0" cap="none" spc="120">
                <a:solidFill>
                  <a:srgbClr val="A82C1E"/>
                </a:solidFill>
                <a:latin typeface="Consolas"/>
              </a:rPr>
              <a:t>возможно</a:t>
            </a:r>
            <a:endParaRPr sz="840" b="0" i="0" cap="none" spc="1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23" name="TextBox 16"/>
          <p:cNvSpPr txBox="1"/>
          <p:nvPr/>
        </p:nvSpPr>
        <p:spPr>
          <a:xfrm>
            <a:off x="4495800" y="2794000"/>
            <a:ext cx="3454400" cy="5437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Новые лица и городская повестка: аренда, тарифы, экология. Районные кампании и возврат к 15–18%.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24" name="Rectangle 17"/>
          <p:cNvSpPr/>
          <p:nvPr/>
        </p:nvSpPr>
        <p:spPr>
          <a:xfrm>
            <a:off x="8178800" y="2032000"/>
            <a:ext cx="3454400" cy="3175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25" name="TextBox 18"/>
          <p:cNvSpPr txBox="1"/>
          <p:nvPr/>
        </p:nvSpPr>
        <p:spPr>
          <a:xfrm>
            <a:off x="8178800" y="2184400"/>
            <a:ext cx="3454400" cy="354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 cap="none" spc="120">
                <a:solidFill>
                  <a:srgbClr val="1B1A18"/>
                </a:solidFill>
                <a:latin typeface="Bahnschrift SemiBold"/>
              </a:rPr>
              <a:t>ФРАГМЕНТАЦИЯ</a:t>
            </a:r>
            <a:endParaRPr sz="1500" b="0" i="0" cap="none" spc="120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26" name="TextBox 19"/>
          <p:cNvSpPr txBox="1"/>
          <p:nvPr/>
        </p:nvSpPr>
        <p:spPr>
          <a:xfrm>
            <a:off x="8178800" y="2489200"/>
            <a:ext cx="3454400" cy="238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0" cap="none" spc="120">
                <a:solidFill>
                  <a:srgbClr val="A82C1E"/>
                </a:solidFill>
                <a:latin typeface="Consolas"/>
              </a:rPr>
              <a:t>риск</a:t>
            </a:r>
            <a:endParaRPr sz="840" b="0" i="0" cap="none" spc="1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27" name="TextBox 20"/>
          <p:cNvSpPr txBox="1"/>
          <p:nvPr/>
        </p:nvSpPr>
        <p:spPr>
          <a:xfrm>
            <a:off x="8178800" y="2794000"/>
            <a:ext cx="3454400" cy="7699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Уход в нишу «партии памяти»: конкуренция с «Новыми людьми» и «Зелёными», потеря статуса главной оппозиции.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28" name="Rectangle 21"/>
          <p:cNvSpPr/>
          <p:nvPr/>
        </p:nvSpPr>
        <p:spPr>
          <a:xfrm>
            <a:off x="812800" y="4292600"/>
            <a:ext cx="10972800" cy="10160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29" name="TextBox 22"/>
          <p:cNvSpPr txBox="1"/>
          <p:nvPr/>
        </p:nvSpPr>
        <p:spPr>
          <a:xfrm>
            <a:off x="1016000" y="4597400"/>
            <a:ext cx="10541000" cy="3893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 cap="none">
                <a:solidFill>
                  <a:srgbClr val="F0E8D6"/>
                </a:solidFill>
                <a:latin typeface="Bahnschrift SemiBold"/>
              </a:rPr>
              <a:t>Вопрос не в возрасте партии. Вопрос в том, есть ли у неё поколение.</a:t>
            </a:r>
            <a:endParaRPr sz="1700" b="0" i="0" cap="none">
              <a:solidFill>
                <a:srgbClr val="F0E8D6"/>
              </a:solidFill>
              <a:latin typeface="Bahnschrift SemiBold"/>
            </a:endParaRPr>
          </a:p>
        </p:txBody>
      </p:sp>
      <p:sp>
        <p:nvSpPr>
          <p:cNvPr id="730" name="TextBox 23"/>
          <p:cNvSpPr txBox="1"/>
          <p:nvPr/>
        </p:nvSpPr>
        <p:spPr>
          <a:xfrm>
            <a:off x="812800" y="5537200"/>
            <a:ext cx="10972800" cy="2618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60" b="0" i="1" cap="none">
                <a:solidFill>
                  <a:srgbClr val="55503F"/>
                </a:solidFill>
                <a:latin typeface="Georgia"/>
              </a:rPr>
              <a:t>Источники: СПбИК; ЦИК РФ; Левада-Центр (август 2026); ВЦИОМ и ФОМ (сентябрь–октябрь 2026); Bundeswahlleiterin; FES; Росстат.</a:t>
            </a:r>
            <a:endParaRPr sz="860" b="0" i="1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31" name="TextBox 24"/>
          <p:cNvSpPr txBox="1"/>
          <p:nvPr/>
        </p:nvSpPr>
        <p:spPr>
          <a:xfrm>
            <a:off x="812800" y="6096000"/>
            <a:ext cx="109728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>
                <a:solidFill>
                  <a:srgbClr val="55503F"/>
                </a:solidFill>
                <a:latin typeface="Georgia"/>
              </a:rPr>
              <a:t>Оценки сценариев — авторская интерпретация данных, а не прогноз результатов выборов.</a:t>
            </a:r>
            <a:endParaRPr sz="860" b="0" i="0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17</Slides>
  <Notes>17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Участок 765: КПРФ и её избиратель, 2024–2026</dc:title>
  <dc:subject>Взгляд члена избирательной комиссии: выборы 2024 и 2026, УИК №765, Кировский район Санкт-Петербурга</dc:subject>
  <dc:creator>Член УИК №765</dc:creator>
  <cp:keywords>КПРФ, УИК 765, Ульянка, выборы 2024, выборы 2026, ЗакС, агитация, демография</cp:keywords>
  <dc:description>Учебная аналитическая презентация. Данные: СПбИК, ЦИК, Левада-Центр, ВЦИОМ, ФОМ, Bundeswahlleiterin, FES, Росстат.</dc:description>
  <cp:category>Лекция</cp:category>
</cp:coreProperties>
</file>