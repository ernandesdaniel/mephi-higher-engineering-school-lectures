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  <p:extLst>
    <p:ext uri="{521415D9-36F7-43E2-AB2F-B90AF26B5E84}">
      <p14:sectionLst xmlns:p14="http://schemas.microsoft.com/office/powerpoint/2010/main">
        <p14:section name="Участок и метод" id="{E43E6556-07F2-43D6-8881-71BF740DFF79}">
          <p14:sldIdLst>
            <p14:sldId id="256"/>
            <p14:sldId id="257"/>
            <p14:sldId id="258"/>
            <p14:sldId id="259"/>
          </p14:sldIdLst>
        </p14:section>
        <p14:section name="Кампании 2024 и 2026" id="{B9E0D833-E345-4059-8B6F-2330CE6B7638}">
          <p14:sldIdLst>
            <p14:sldId id="260"/>
            <p14:sldId id="261"/>
            <p14:sldId id="262"/>
            <p14:sldId id="263"/>
            <p14:sldId id="264"/>
          </p14:sldIdLst>
        </p14:section>
        <p14:section name="Контраст и итоги" id="{A98C0E8A-9EDE-427A-8925-E8A124C03315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heme" Target="theme/theme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Меня зовут не важно — важно, что я пять лет работаю в комиссии 765-го участка в Ульянке и вижу избирателя КПРФ не в опросах, а в очереди.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2024 и 2026 — две кампании, которые я отработал от открытия до подсчёта. Данные участка дополняю городской и федеральной статистикой.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Ульянка — типичный спальный район: панель, дворы, школа. Здесь живёт тот самый «старый» электорат, о котором говорят социологи.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Портрет из опросов совпадает с тем, что видно на участке: старшие, мужчины, с бытовыми запросами.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2024-й: губернаторские выборы прошли при явке 37,8%. На участке кампания была тихой — агитации почти не было, а очередь к открытию — та же, что и в 2026-м.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2026-й: три дня, другая явка. Голосов у КПРФ столько же, но доля упала вдвое — новые избиратели пришли не к ним.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По городу видно то же, что на участке: рост явки размывает долю КПРФ.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Бренд, повестка, организация и конкуренция — четыре причины, которые видно и в очереди, и в цифрах.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Агитация работает на ядро: газета и приёмная дают высокую конверсию, но почти не достают молодых.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Разница не в идеологии, а в четырёх практиках: районная ячейка, жилищная повестка, новые лица и цифровые каналы.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Демография — самый жёсткий ограничитель: ядро физически убывает, а замены нет.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Три потери складываются в замкнутый круг, который не разрывается одной кампанией.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Гипотеза: сокращение объясняется двумя потоками — естественным выбытием старшего ядра и отсутствием притока рабочей молодёжи. Третий механизм — эффект явки — усиливает падение доли.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Социологическая рамка: сокращение объясняется не сменой убеждений, а сменой поколений. Проверяется декомпозицией на возраст, период и когорту.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Гипотеза проверяема: пять следствий и три опровергающих условия. Ограничение — нет открытых данных по профессиям, поэтому проверяем косвенно: через возраст, район и динамику явки.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Пять наблюдений с участка — это то, что я вижу каждую кампанию: люди те же, молодёжь приходит, но не к КПРФ.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Сценарии — аналитическая рамка, а не прогноз. Наиболее вероятна инерция.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Oval 1"/>
          <p:cNvSpPr/>
          <p:nvPr/>
        </p:nvSpPr>
        <p:spPr>
          <a:xfrm>
            <a:off x="7874000" y="-1397000"/>
            <a:ext cx="6604000" cy="6604000"/>
          </a:xfrm>
          <a:prstGeom prst="ellipse">
            <a:avLst/>
          </a:prstGeom>
          <a:noFill/>
          <a:ln w="15240">
            <a:solidFill>
              <a:srgbClr val="BE8B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3" name="Oval 2"/>
          <p:cNvSpPr/>
          <p:nvPr/>
        </p:nvSpPr>
        <p:spPr>
          <a:xfrm>
            <a:off x="8763000" y="-508000"/>
            <a:ext cx="4826000" cy="4826000"/>
          </a:xfrm>
          <a:prstGeom prst="ellipse">
            <a:avLst/>
          </a:prstGeom>
          <a:noFill/>
          <a:ln w="9525">
            <a:solidFill>
              <a:srgbClr val="5A4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4" name="Rectangle 3"/>
          <p:cNvSpPr/>
          <p:nvPr/>
        </p:nvSpPr>
        <p:spPr>
          <a:xfrm>
            <a:off x="8890000" y="1905000"/>
            <a:ext cx="304800" cy="4064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5" name="Rectangle 4"/>
          <p:cNvSpPr/>
          <p:nvPr/>
        </p:nvSpPr>
        <p:spPr>
          <a:xfrm>
            <a:off x="9423400" y="1905000"/>
            <a:ext cx="76200" cy="4064000"/>
          </a:xfrm>
          <a:prstGeom prst="rect">
            <a:avLst/>
          </a:prstGeom>
          <a:solidFill>
            <a:srgbClr val="BE8B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6" name="Rectangle 5"/>
          <p:cNvSpPr/>
          <p:nvPr/>
        </p:nvSpPr>
        <p:spPr>
          <a:xfrm>
            <a:off x="7112000" y="0"/>
            <a:ext cx="9525" cy="6858000"/>
          </a:xfrm>
          <a:prstGeom prst="rect">
            <a:avLst/>
          </a:prstGeom>
          <a:solidFill>
            <a:srgbClr val="3A3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7" name="Rectangle 6"/>
          <p:cNvSpPr/>
          <p:nvPr/>
        </p:nvSpPr>
        <p:spPr>
          <a:xfrm>
            <a:off x="11684000" y="0"/>
            <a:ext cx="9525" cy="6858000"/>
          </a:xfrm>
          <a:prstGeom prst="rect">
            <a:avLst/>
          </a:prstGeom>
          <a:solidFill>
            <a:srgbClr val="3A3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8" name="Rectangle 7"/>
          <p:cNvSpPr/>
          <p:nvPr/>
        </p:nvSpPr>
        <p:spPr>
          <a:xfrm>
            <a:off x="508000" y="355600"/>
            <a:ext cx="330200" cy="19050"/>
          </a:xfrm>
          <a:prstGeom prst="rect">
            <a:avLst/>
          </a:prstGeom>
          <a:solidFill>
            <a:srgbClr val="BE8B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9" name="Rectangle 8"/>
          <p:cNvSpPr/>
          <p:nvPr/>
        </p:nvSpPr>
        <p:spPr>
          <a:xfrm>
            <a:off x="660400" y="203200"/>
            <a:ext cx="19050" cy="330200"/>
          </a:xfrm>
          <a:prstGeom prst="rect">
            <a:avLst/>
          </a:prstGeom>
          <a:solidFill>
            <a:srgbClr val="BE8B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0" name="TextBox 9"/>
          <p:cNvSpPr txBox="1"/>
          <p:nvPr/>
        </p:nvSpPr>
        <p:spPr>
          <a:xfrm>
            <a:off x="812800" y="1397000"/>
            <a:ext cx="9144000" cy="1365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800" b="0" i="0" cap="none">
                <a:solidFill>
                  <a:srgbClr val="F0E8D6"/>
                </a:solidFill>
                <a:latin typeface="Bahnschrift SemiBold Condensed"/>
              </a:rPr>
              <a:t>УЧАСТОК 765</a:t>
            </a:r>
            <a:endParaRPr sz="8800" b="0" i="0" cap="none">
              <a:solidFill>
                <a:srgbClr val="F0E8D6"/>
              </a:solidFill>
              <a:latin typeface="Bahnschrift SemiBold Condensed"/>
            </a:endParaRPr>
          </a:p>
        </p:txBody>
      </p:sp>
      <p:sp>
        <p:nvSpPr>
          <p:cNvPr id="281" name="Rectangle 10"/>
          <p:cNvSpPr/>
          <p:nvPr/>
        </p:nvSpPr>
        <p:spPr>
          <a:xfrm>
            <a:off x="838200" y="3175000"/>
            <a:ext cx="3048000" cy="889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2" name="TextBox 11"/>
          <p:cNvSpPr txBox="1"/>
          <p:nvPr/>
        </p:nvSpPr>
        <p:spPr>
          <a:xfrm>
            <a:off x="838200" y="3505200"/>
            <a:ext cx="7620000" cy="507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 i="1" cap="none">
                <a:solidFill>
                  <a:srgbClr val="D8CDB4"/>
                </a:solidFill>
                <a:latin typeface="Georgia"/>
              </a:rPr>
              <a:t>Выборы 2024 и 2026</a:t>
            </a:r>
          </a:p>
        </p:txBody>
      </p:sp>
      <p:sp>
        <p:nvSpPr>
          <p:cNvPr id="283" name="TextBox 12"/>
          <p:cNvSpPr txBox="1"/>
          <p:nvPr/>
        </p:nvSpPr>
        <p:spPr>
          <a:xfrm>
            <a:off x="838200" y="4191000"/>
            <a:ext cx="88900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B9AE96"/>
                </a:solidFill>
                <a:latin typeface="Georgia"/>
              </a:rPr>
              <a:t>КПРФ и её избиратель на юго-западе Петербурга</a:t>
            </a:r>
            <a:endParaRPr sz="1250" b="0" i="0" cap="none">
              <a:solidFill>
                <a:srgbClr val="B9AE96"/>
              </a:solidFill>
              <a:latin typeface="Georgia"/>
            </a:endParaRPr>
          </a:p>
        </p:txBody>
      </p:sp>
      <p:sp>
        <p:nvSpPr>
          <p:cNvPr id="284" name="Rectangle 13"/>
          <p:cNvSpPr/>
          <p:nvPr/>
        </p:nvSpPr>
        <p:spPr>
          <a:xfrm>
            <a:off x="838200" y="4724400"/>
            <a:ext cx="2997200" cy="711200"/>
          </a:xfrm>
          <a:prstGeom prst="rect">
            <a:avLst/>
          </a:prstGeom>
          <a:noFill/>
          <a:ln w="12700">
            <a:solidFill>
              <a:srgbClr val="BE8B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5" name="TextBox 14"/>
          <p:cNvSpPr txBox="1"/>
          <p:nvPr/>
        </p:nvSpPr>
        <p:spPr>
          <a:xfrm>
            <a:off x="990600" y="4826000"/>
            <a:ext cx="2794000" cy="50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 i="0" cap="none" spc="120">
                <a:solidFill>
                  <a:srgbClr val="BE8B2E"/>
                </a:solidFill>
                <a:latin typeface="Consolas"/>
              </a:rPr>
              <a:t>06–08.09.2024</a:t>
            </a:r>
            <a:endParaRPr sz="900" b="0" i="0" cap="none" spc="120">
              <a:solidFill>
                <a:srgbClr val="BE8B2E"/>
              </a:solidFill>
              <a:latin typeface="Consolas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 i="0" cap="none" spc="120">
                <a:solidFill>
                  <a:srgbClr val="BE8B2E"/>
                </a:solidFill>
                <a:latin typeface="Consolas"/>
              </a:rPr>
              <a:t>18–20.09.2026</a:t>
            </a:r>
            <a:endParaRPr sz="900" b="0" i="0" cap="none" spc="120">
              <a:solidFill>
                <a:srgbClr val="BE8B2E"/>
              </a:solidFill>
              <a:latin typeface="Consolas"/>
            </a:endParaRPr>
          </a:p>
        </p:txBody>
      </p:sp>
      <p:sp>
        <p:nvSpPr>
          <p:cNvPr id="286" name="TextBox 15"/>
          <p:cNvSpPr txBox="1"/>
          <p:nvPr/>
        </p:nvSpPr>
        <p:spPr>
          <a:xfrm>
            <a:off x="812800" y="6172200"/>
            <a:ext cx="9906000" cy="242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 cap="none" spc="120">
                <a:solidFill>
                  <a:srgbClr val="9A8F76"/>
                </a:solidFill>
                <a:latin typeface="Consolas"/>
              </a:rPr>
              <a:t>КИРОВСКИЙ РАЙОН · МО УЛЬЯНКА · ЛИЦЕЙ №244 · ПР. ВЕТЕРАНОВ, 80</a:t>
            </a:r>
            <a:endParaRPr sz="860" b="0" i="0" cap="none" spc="120">
              <a:solidFill>
                <a:srgbClr val="9A8F7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8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01 / КОНТЕКСТ</a:t>
            </a:r>
            <a:endParaRPr sz="950" b="0" i="0" cap="none" spc="2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289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290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Кто говорит и откуда данные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291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2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4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02 / 17</a:t>
            </a:r>
          </a:p>
        </p:txBody>
      </p:sp>
      <p:sp>
        <p:nvSpPr>
          <p:cNvPr id="295" name="Rectangle 9"/>
          <p:cNvSpPr/>
          <p:nvPr/>
        </p:nvSpPr>
        <p:spPr>
          <a:xfrm>
            <a:off x="812800" y="1854200"/>
            <a:ext cx="4191000" cy="37084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6" name="TextBox 10"/>
          <p:cNvSpPr txBox="1"/>
          <p:nvPr/>
        </p:nvSpPr>
        <p:spPr>
          <a:xfrm>
            <a:off x="1016000" y="2032000"/>
            <a:ext cx="3810000" cy="242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 cap="none" spc="180">
                <a:solidFill>
                  <a:srgbClr val="BE8B2E"/>
                </a:solidFill>
                <a:latin typeface="Consolas"/>
              </a:rPr>
              <a:t>ЧЛЕН УИК С ПРАВОМ</a:t>
            </a:r>
            <a:endParaRPr sz="860" b="0" i="0" cap="none" spc="180">
              <a:solidFill>
                <a:srgbClr val="BE8B2E"/>
              </a:solidFill>
              <a:latin typeface="Consolas"/>
            </a:endParaRPr>
          </a:p>
        </p:txBody>
      </p:sp>
      <p:sp>
        <p:nvSpPr>
          <p:cNvPr id="297" name="TextBox 11"/>
          <p:cNvSpPr txBox="1"/>
          <p:nvPr/>
        </p:nvSpPr>
        <p:spPr>
          <a:xfrm>
            <a:off x="1016000" y="2235200"/>
            <a:ext cx="3810000" cy="242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 cap="none" spc="180">
                <a:solidFill>
                  <a:srgbClr val="BE8B2E"/>
                </a:solidFill>
                <a:latin typeface="Consolas"/>
              </a:rPr>
              <a:t>РЕШАЮЩЕГО ГОЛОСА</a:t>
            </a:r>
            <a:endParaRPr sz="860" b="0" i="0" cap="none" spc="180">
              <a:solidFill>
                <a:srgbClr val="BE8B2E"/>
              </a:solidFill>
              <a:latin typeface="Consolas"/>
            </a:endParaRPr>
          </a:p>
        </p:txBody>
      </p:sp>
      <p:sp>
        <p:nvSpPr>
          <p:cNvPr id="298" name="TextBox 12"/>
          <p:cNvSpPr txBox="1"/>
          <p:nvPr/>
        </p:nvSpPr>
        <p:spPr>
          <a:xfrm>
            <a:off x="1016000" y="2540000"/>
            <a:ext cx="3810000" cy="79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0" i="0" cap="none">
                <a:solidFill>
                  <a:srgbClr val="F0E8D6"/>
                </a:solidFill>
                <a:latin typeface="Bahnschrift SemiBold Condensed"/>
              </a:rPr>
              <a:t>УИК №765</a:t>
            </a:r>
            <a:endParaRPr sz="4000" b="0" i="0" cap="none">
              <a:solidFill>
                <a:srgbClr val="F0E8D6"/>
              </a:solidFill>
              <a:latin typeface="Bahnschrift SemiBold Condensed"/>
            </a:endParaRPr>
          </a:p>
        </p:txBody>
      </p:sp>
      <p:sp>
        <p:nvSpPr>
          <p:cNvPr id="299" name="TextBox 13"/>
          <p:cNvSpPr txBox="1"/>
          <p:nvPr/>
        </p:nvSpPr>
        <p:spPr>
          <a:xfrm>
            <a:off x="1016000" y="3276600"/>
            <a:ext cx="3810000" cy="1030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cap="none">
                <a:solidFill>
                  <a:srgbClr val="B9AE96"/>
                </a:solidFill>
                <a:latin typeface="Georgia"/>
              </a:rPr>
              <a:t>Кировский район</a:t>
            </a:r>
            <a:endParaRPr sz="1100" b="0" i="0" cap="none">
              <a:solidFill>
                <a:srgbClr val="B9AE96"/>
              </a:solidFill>
              <a:latin typeface="Georgia"/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cap="none">
                <a:solidFill>
                  <a:srgbClr val="B9AE96"/>
                </a:solidFill>
                <a:latin typeface="Georgia"/>
              </a:rPr>
              <a:t>МО Ульянка</a:t>
            </a:r>
            <a:endParaRPr sz="1100" b="0" i="0" cap="none">
              <a:solidFill>
                <a:srgbClr val="B9AE96"/>
              </a:solidFill>
              <a:latin typeface="Georgia"/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cap="none">
                <a:solidFill>
                  <a:srgbClr val="B9AE96"/>
                </a:solidFill>
                <a:latin typeface="Georgia"/>
              </a:rPr>
              <a:t>лицей №244,</a:t>
            </a:r>
            <a:endParaRPr sz="1100" b="0" i="0" cap="none">
              <a:solidFill>
                <a:srgbClr val="B9AE96"/>
              </a:solidFill>
              <a:latin typeface="Georgia"/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cap="none">
                <a:solidFill>
                  <a:srgbClr val="B9AE96"/>
                </a:solidFill>
                <a:latin typeface="Georgia"/>
              </a:rPr>
              <a:t>пр. Ветеранов, 80</a:t>
            </a:r>
            <a:endParaRPr sz="1100" b="0" i="0" cap="none">
              <a:solidFill>
                <a:srgbClr val="B9AE96"/>
              </a:solidFill>
              <a:latin typeface="Georgia"/>
            </a:endParaRPr>
          </a:p>
        </p:txBody>
      </p:sp>
      <p:sp>
        <p:nvSpPr>
          <p:cNvPr id="300" name="TextBox 14"/>
          <p:cNvSpPr txBox="1"/>
          <p:nvPr/>
        </p:nvSpPr>
        <p:spPr>
          <a:xfrm>
            <a:off x="1016000" y="4851400"/>
            <a:ext cx="3810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 cap="none">
                <a:solidFill>
                  <a:srgbClr val="BE8B2E"/>
                </a:solidFill>
                <a:latin typeface="Georgia"/>
              </a:rPr>
              <a:t>В комиссии — с 2024 года</a:t>
            </a:r>
            <a:endParaRPr sz="950" b="0" i="1" cap="none">
              <a:solidFill>
                <a:srgbClr val="BE8B2E"/>
              </a:solidFill>
              <a:latin typeface="Georgia"/>
            </a:endParaRPr>
          </a:p>
        </p:txBody>
      </p:sp>
      <p:sp>
        <p:nvSpPr>
          <p:cNvPr id="301" name="Rectangle 15"/>
          <p:cNvSpPr/>
          <p:nvPr/>
        </p:nvSpPr>
        <p:spPr>
          <a:xfrm>
            <a:off x="5461000" y="1854200"/>
            <a:ext cx="59182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2" name="TextBox 16"/>
          <p:cNvSpPr txBox="1"/>
          <p:nvPr/>
        </p:nvSpPr>
        <p:spPr>
          <a:xfrm>
            <a:off x="5461000" y="1981200"/>
            <a:ext cx="1524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2024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303" name="TextBox 17"/>
          <p:cNvSpPr txBox="1"/>
          <p:nvPr/>
        </p:nvSpPr>
        <p:spPr>
          <a:xfrm>
            <a:off x="5461000" y="2260600"/>
            <a:ext cx="5918200" cy="527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Март — президентские выборы.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Сентябрь — губернаторские и муниципальные.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304" name="Rectangle 18"/>
          <p:cNvSpPr/>
          <p:nvPr/>
        </p:nvSpPr>
        <p:spPr>
          <a:xfrm>
            <a:off x="5461000" y="3124200"/>
            <a:ext cx="59182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5" name="TextBox 19"/>
          <p:cNvSpPr txBox="1"/>
          <p:nvPr/>
        </p:nvSpPr>
        <p:spPr>
          <a:xfrm>
            <a:off x="5461000" y="3251200"/>
            <a:ext cx="1524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2026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306" name="TextBox 20"/>
          <p:cNvSpPr txBox="1"/>
          <p:nvPr/>
        </p:nvSpPr>
        <p:spPr>
          <a:xfrm>
            <a:off x="5461000" y="3530600"/>
            <a:ext cx="5918200" cy="309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18–20 сентября — Госдума и ЗакС Санкт-Петербурга. Три дня голосования.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307" name="Rectangle 21"/>
          <p:cNvSpPr/>
          <p:nvPr/>
        </p:nvSpPr>
        <p:spPr>
          <a:xfrm>
            <a:off x="5461000" y="4394200"/>
            <a:ext cx="59182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08" name="TextBox 22"/>
          <p:cNvSpPr txBox="1"/>
          <p:nvPr/>
        </p:nvSpPr>
        <p:spPr>
          <a:xfrm>
            <a:off x="5461000" y="4521200"/>
            <a:ext cx="1524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ДАННЫЕ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309" name="TextBox 23"/>
          <p:cNvSpPr txBox="1"/>
          <p:nvPr/>
        </p:nvSpPr>
        <p:spPr>
          <a:xfrm>
            <a:off x="5461000" y="4800600"/>
            <a:ext cx="5918200" cy="527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Протоколы УИК, СПбИК и ЦИК; опросы Левады, ВЦИОМ и ФОМ. Цифры по городу и стране — из открытых источников.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310" name="TextBox 24"/>
          <p:cNvSpPr txBox="1"/>
          <p:nvPr/>
        </p:nvSpPr>
        <p:spPr>
          <a:xfrm>
            <a:off x="812800" y="5867400"/>
            <a:ext cx="10972800" cy="2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1" cap="none">
                <a:solidFill>
                  <a:srgbClr val="55503F"/>
                </a:solidFill>
                <a:latin typeface="Georgia"/>
              </a:rPr>
              <a:t>Личные наблюдения — не социология: там, где нет протокола, я говорю «на участке».</a:t>
            </a:r>
            <a:endParaRPr sz="1100" b="0" i="1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4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02 / МЕСТО</a:t>
            </a:r>
            <a:endParaRPr sz="950" b="0" i="0" cap="none" spc="2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375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376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Участок 765: спальный район на юго-западе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377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8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0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03 / 17</a:t>
            </a:r>
          </a:p>
        </p:txBody>
      </p:sp>
      <p:sp>
        <p:nvSpPr>
          <p:cNvPr id="381" name="TextBox 9"/>
          <p:cNvSpPr txBox="1"/>
          <p:nvPr/>
        </p:nvSpPr>
        <p:spPr>
          <a:xfrm>
            <a:off x="812800" y="1854200"/>
            <a:ext cx="10972800" cy="60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cap="none">
                <a:solidFill>
                  <a:srgbClr val="1B1A18"/>
                </a:solidFill>
                <a:latin typeface="Georgia"/>
              </a:rPr>
              <a:t>Ульянка — панельная застройка 1970-х: дворы, школа, поликлиника, магазины у дома. Люди живут здесь десятилетиями, соседей знают в лицо — и комиссию тоже.</a:t>
            </a:r>
            <a:endParaRPr sz="120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382" name="Rectangle 10"/>
          <p:cNvSpPr/>
          <p:nvPr/>
        </p:nvSpPr>
        <p:spPr>
          <a:xfrm>
            <a:off x="4318000" y="2997200"/>
            <a:ext cx="12700" cy="28448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83" name="TextBox 11"/>
          <p:cNvSpPr txBox="1"/>
          <p:nvPr/>
        </p:nvSpPr>
        <p:spPr>
          <a:xfrm>
            <a:off x="812800" y="3048000"/>
            <a:ext cx="3175000" cy="582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 cap="none">
                <a:solidFill>
                  <a:srgbClr val="A82C1E"/>
                </a:solidFill>
                <a:latin typeface="Bahnschrift SemiBold Condensed"/>
              </a:rPr>
              <a:t>2 563</a:t>
            </a:r>
            <a:endParaRPr sz="28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384" name="TextBox 12"/>
          <p:cNvSpPr txBox="1"/>
          <p:nvPr/>
        </p:nvSpPr>
        <p:spPr>
          <a:xfrm>
            <a:off x="812800" y="3429000"/>
            <a:ext cx="3302000" cy="265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cap="none">
                <a:solidFill>
                  <a:srgbClr val="55503F"/>
                </a:solidFill>
                <a:latin typeface="Georgia"/>
              </a:rPr>
              <a:t>избирателя в списке (2021)</a:t>
            </a:r>
            <a:endParaRPr sz="95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85" name="TextBox 13"/>
          <p:cNvSpPr txBox="1"/>
          <p:nvPr/>
        </p:nvSpPr>
        <p:spPr>
          <a:xfrm>
            <a:off x="812800" y="3937000"/>
            <a:ext cx="3175000" cy="582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 cap="none">
                <a:solidFill>
                  <a:srgbClr val="A82C1E"/>
                </a:solidFill>
                <a:latin typeface="Bahnschrift SemiBold Condensed"/>
              </a:rPr>
              <a:t>3 дня</a:t>
            </a:r>
            <a:endParaRPr sz="28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386" name="TextBox 14"/>
          <p:cNvSpPr txBox="1"/>
          <p:nvPr/>
        </p:nvSpPr>
        <p:spPr>
          <a:xfrm>
            <a:off x="812800" y="4318000"/>
            <a:ext cx="3302000" cy="265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cap="none">
                <a:solidFill>
                  <a:srgbClr val="55503F"/>
                </a:solidFill>
                <a:latin typeface="Georgia"/>
              </a:rPr>
              <a:t>голосования в 2026 году</a:t>
            </a:r>
            <a:endParaRPr sz="95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87" name="TextBox 15"/>
          <p:cNvSpPr txBox="1"/>
          <p:nvPr/>
        </p:nvSpPr>
        <p:spPr>
          <a:xfrm>
            <a:off x="812800" y="4826000"/>
            <a:ext cx="3175000" cy="582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 cap="none">
                <a:solidFill>
                  <a:srgbClr val="A82C1E"/>
                </a:solidFill>
                <a:latin typeface="Bahnschrift SemiBold Condensed"/>
              </a:rPr>
              <a:t>08:00</a:t>
            </a:r>
            <a:endParaRPr sz="28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388" name="TextBox 16"/>
          <p:cNvSpPr txBox="1"/>
          <p:nvPr/>
        </p:nvSpPr>
        <p:spPr>
          <a:xfrm>
            <a:off x="812800" y="5207000"/>
            <a:ext cx="3302000" cy="2651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cap="none">
                <a:solidFill>
                  <a:srgbClr val="55503F"/>
                </a:solidFill>
                <a:latin typeface="Georgia"/>
              </a:rPr>
              <a:t>открытие участка</a:t>
            </a:r>
            <a:endParaRPr sz="95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89" name="TextBox 17"/>
          <p:cNvSpPr txBox="1"/>
          <p:nvPr/>
        </p:nvSpPr>
        <p:spPr>
          <a:xfrm>
            <a:off x="4622800" y="3048000"/>
            <a:ext cx="381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ДЕНЬ ГОЛОСОВАНИЯ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390" name="TextBox 18"/>
          <p:cNvSpPr txBox="1"/>
          <p:nvPr/>
        </p:nvSpPr>
        <p:spPr>
          <a:xfrm>
            <a:off x="4622800" y="3352800"/>
            <a:ext cx="13208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40">
                <a:solidFill>
                  <a:srgbClr val="BE8B2E"/>
                </a:solidFill>
                <a:latin typeface="Consolas"/>
              </a:rPr>
              <a:t>08:00</a:t>
            </a:r>
            <a:endParaRPr sz="900" b="0" i="0" cap="none" spc="40">
              <a:solidFill>
                <a:srgbClr val="BE8B2E"/>
              </a:solidFill>
              <a:latin typeface="Consolas"/>
            </a:endParaRPr>
          </a:p>
        </p:txBody>
      </p:sp>
      <p:sp>
        <p:nvSpPr>
          <p:cNvPr id="391" name="TextBox 19"/>
          <p:cNvSpPr txBox="1"/>
          <p:nvPr/>
        </p:nvSpPr>
        <p:spPr>
          <a:xfrm>
            <a:off x="6096000" y="3340100"/>
            <a:ext cx="5181600" cy="295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 cap="none">
                <a:solidFill>
                  <a:srgbClr val="1B1A18"/>
                </a:solidFill>
                <a:latin typeface="Georgia"/>
              </a:rPr>
              <a:t>Очередь к открытию: старшие, с квитанциями и вопросами про пенсию.</a:t>
            </a:r>
            <a:endParaRPr sz="103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392" name="TextBox 20"/>
          <p:cNvSpPr txBox="1"/>
          <p:nvPr/>
        </p:nvSpPr>
        <p:spPr>
          <a:xfrm>
            <a:off x="4622800" y="3987800"/>
            <a:ext cx="13208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40">
                <a:solidFill>
                  <a:srgbClr val="BE8B2E"/>
                </a:solidFill>
                <a:latin typeface="Consolas"/>
              </a:rPr>
              <a:t>12:00</a:t>
            </a:r>
            <a:endParaRPr sz="900" b="0" i="0" cap="none" spc="40">
              <a:solidFill>
                <a:srgbClr val="BE8B2E"/>
              </a:solidFill>
              <a:latin typeface="Consolas"/>
            </a:endParaRPr>
          </a:p>
        </p:txBody>
      </p:sp>
      <p:sp>
        <p:nvSpPr>
          <p:cNvPr id="393" name="TextBox 21"/>
          <p:cNvSpPr txBox="1"/>
          <p:nvPr/>
        </p:nvSpPr>
        <p:spPr>
          <a:xfrm>
            <a:off x="6096000" y="3975100"/>
            <a:ext cx="5181600" cy="295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 cap="none">
                <a:solidFill>
                  <a:srgbClr val="1B1A18"/>
                </a:solidFill>
                <a:latin typeface="Georgia"/>
              </a:rPr>
              <a:t>Родители с детьми, бабушки с внуками — «по пути из поликлиники».</a:t>
            </a:r>
            <a:endParaRPr sz="103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394" name="TextBox 22"/>
          <p:cNvSpPr txBox="1"/>
          <p:nvPr/>
        </p:nvSpPr>
        <p:spPr>
          <a:xfrm>
            <a:off x="4622800" y="4622800"/>
            <a:ext cx="13208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40">
                <a:solidFill>
                  <a:srgbClr val="BE8B2E"/>
                </a:solidFill>
                <a:latin typeface="Consolas"/>
              </a:rPr>
              <a:t>17:00–20:00</a:t>
            </a:r>
            <a:endParaRPr sz="900" b="0" i="0" cap="none" spc="40">
              <a:solidFill>
                <a:srgbClr val="BE8B2E"/>
              </a:solidFill>
              <a:latin typeface="Consolas"/>
            </a:endParaRPr>
          </a:p>
        </p:txBody>
      </p:sp>
      <p:sp>
        <p:nvSpPr>
          <p:cNvPr id="395" name="TextBox 23"/>
          <p:cNvSpPr txBox="1"/>
          <p:nvPr/>
        </p:nvSpPr>
        <p:spPr>
          <a:xfrm>
            <a:off x="6096000" y="4610100"/>
            <a:ext cx="5181600" cy="295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 cap="none">
                <a:solidFill>
                  <a:srgbClr val="1B1A18"/>
                </a:solidFill>
                <a:latin typeface="Georgia"/>
              </a:rPr>
              <a:t>Работающие: приходят после смены, часто всей семьёй.</a:t>
            </a:r>
            <a:endParaRPr sz="103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396" name="TextBox 24"/>
          <p:cNvSpPr txBox="1"/>
          <p:nvPr/>
        </p:nvSpPr>
        <p:spPr>
          <a:xfrm>
            <a:off x="4622800" y="5257800"/>
            <a:ext cx="13208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40">
                <a:solidFill>
                  <a:srgbClr val="BE8B2E"/>
                </a:solidFill>
                <a:latin typeface="Consolas"/>
              </a:rPr>
              <a:t>весь день</a:t>
            </a:r>
            <a:endParaRPr sz="900" b="0" i="0" cap="none" spc="40">
              <a:solidFill>
                <a:srgbClr val="BE8B2E"/>
              </a:solidFill>
              <a:latin typeface="Consolas"/>
            </a:endParaRPr>
          </a:p>
        </p:txBody>
      </p:sp>
      <p:sp>
        <p:nvSpPr>
          <p:cNvPr id="397" name="TextBox 25"/>
          <p:cNvSpPr txBox="1"/>
          <p:nvPr/>
        </p:nvSpPr>
        <p:spPr>
          <a:xfrm>
            <a:off x="6096000" y="5245100"/>
            <a:ext cx="5181600" cy="295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 cap="none">
                <a:solidFill>
                  <a:srgbClr val="1B1A18"/>
                </a:solidFill>
                <a:latin typeface="Georgia"/>
              </a:rPr>
              <a:t>ДЭГ, надомное голосование, наблюдатели и камеры.</a:t>
            </a:r>
            <a:endParaRPr sz="103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398" name="TextBox 26"/>
          <p:cNvSpPr txBox="1"/>
          <p:nvPr/>
        </p:nvSpPr>
        <p:spPr>
          <a:xfrm>
            <a:off x="812800" y="5994400"/>
            <a:ext cx="10972800" cy="2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1" cap="none">
                <a:solidFill>
                  <a:srgbClr val="55503F"/>
                </a:solidFill>
                <a:latin typeface="Georgia"/>
              </a:rPr>
              <a:t>За три дня кампании 2026 года через участок прошли те же лица, что и в 2024-м. Новых — единицы.</a:t>
            </a:r>
            <a:endParaRPr sz="1100" b="0" i="1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0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03 / ПОРТРЕТ</a:t>
            </a:r>
            <a:endParaRPr sz="950" b="0" i="0" cap="none" spc="2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341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342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Кто приходит на участок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343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4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6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04 / 17</a:t>
            </a:r>
          </a:p>
        </p:txBody>
      </p:sp>
      <p:sp>
        <p:nvSpPr>
          <p:cNvPr id="347" name="Rectangle 9"/>
          <p:cNvSpPr/>
          <p:nvPr/>
        </p:nvSpPr>
        <p:spPr>
          <a:xfrm>
            <a:off x="8128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48" name="TextBox 10"/>
          <p:cNvSpPr txBox="1"/>
          <p:nvPr/>
        </p:nvSpPr>
        <p:spPr>
          <a:xfrm>
            <a:off x="812800" y="2082800"/>
            <a:ext cx="2489200" cy="722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 i="0" cap="none">
                <a:solidFill>
                  <a:srgbClr val="A82C1E"/>
                </a:solidFill>
                <a:latin typeface="Bahnschrift SemiBold Condensed"/>
              </a:rPr>
              <a:t>70%</a:t>
            </a:r>
            <a:endParaRPr sz="36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349" name="TextBox 11"/>
          <p:cNvSpPr txBox="1"/>
          <p:nvPr/>
        </p:nvSpPr>
        <p:spPr>
          <a:xfrm>
            <a:off x="812800" y="2717800"/>
            <a:ext cx="2489200" cy="267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 cap="none">
                <a:solidFill>
                  <a:srgbClr val="55503F"/>
                </a:solidFill>
                <a:latin typeface="Georgia"/>
              </a:rPr>
              <a:t>старше 55 лет</a:t>
            </a:r>
            <a:endParaRPr sz="9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50" name="Rectangle 12"/>
          <p:cNvSpPr/>
          <p:nvPr/>
        </p:nvSpPr>
        <p:spPr>
          <a:xfrm>
            <a:off x="35052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1" name="TextBox 13"/>
          <p:cNvSpPr txBox="1"/>
          <p:nvPr/>
        </p:nvSpPr>
        <p:spPr>
          <a:xfrm>
            <a:off x="3505200" y="2082800"/>
            <a:ext cx="2489200" cy="722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 i="0" cap="none">
                <a:solidFill>
                  <a:srgbClr val="A82C1E"/>
                </a:solidFill>
                <a:latin typeface="Bahnschrift SemiBold Condensed"/>
              </a:rPr>
              <a:t>64%</a:t>
            </a:r>
            <a:endParaRPr sz="36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352" name="TextBox 14"/>
          <p:cNvSpPr txBox="1"/>
          <p:nvPr/>
        </p:nvSpPr>
        <p:spPr>
          <a:xfrm>
            <a:off x="3505200" y="2717800"/>
            <a:ext cx="2489200" cy="267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 cap="none">
                <a:solidFill>
                  <a:srgbClr val="55503F"/>
                </a:solidFill>
                <a:latin typeface="Georgia"/>
              </a:rPr>
              <a:t>мужчины</a:t>
            </a:r>
            <a:endParaRPr sz="9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53" name="Rectangle 15"/>
          <p:cNvSpPr/>
          <p:nvPr/>
        </p:nvSpPr>
        <p:spPr>
          <a:xfrm>
            <a:off x="61976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4" name="TextBox 16"/>
          <p:cNvSpPr txBox="1"/>
          <p:nvPr/>
        </p:nvSpPr>
        <p:spPr>
          <a:xfrm>
            <a:off x="6197600" y="2082800"/>
            <a:ext cx="2489200" cy="722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 i="0" cap="none">
                <a:solidFill>
                  <a:srgbClr val="A82C1E"/>
                </a:solidFill>
                <a:latin typeface="Bahnschrift SemiBold Condensed"/>
              </a:rPr>
              <a:t>≈ 55–60</a:t>
            </a:r>
            <a:endParaRPr sz="36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355" name="TextBox 17"/>
          <p:cNvSpPr txBox="1"/>
          <p:nvPr/>
        </p:nvSpPr>
        <p:spPr>
          <a:xfrm>
            <a:off x="6197600" y="2717800"/>
            <a:ext cx="2489200" cy="267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 cap="none">
                <a:solidFill>
                  <a:srgbClr val="55503F"/>
                </a:solidFill>
                <a:latin typeface="Georgia"/>
              </a:rPr>
              <a:t>средний возраст ядра</a:t>
            </a:r>
            <a:endParaRPr sz="9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56" name="Rectangle 18"/>
          <p:cNvSpPr/>
          <p:nvPr/>
        </p:nvSpPr>
        <p:spPr>
          <a:xfrm>
            <a:off x="88900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57" name="TextBox 19"/>
          <p:cNvSpPr txBox="1"/>
          <p:nvPr/>
        </p:nvSpPr>
        <p:spPr>
          <a:xfrm>
            <a:off x="8890000" y="2082800"/>
            <a:ext cx="2489200" cy="722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 i="0" cap="none">
                <a:solidFill>
                  <a:srgbClr val="A82C1E"/>
                </a:solidFill>
                <a:latin typeface="Bahnschrift SemiBold Condensed"/>
              </a:rPr>
              <a:t>2 563</a:t>
            </a:r>
            <a:endParaRPr sz="36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358" name="TextBox 20"/>
          <p:cNvSpPr txBox="1"/>
          <p:nvPr/>
        </p:nvSpPr>
        <p:spPr>
          <a:xfrm>
            <a:off x="8890000" y="2717800"/>
            <a:ext cx="2489200" cy="267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0" i="0" cap="none">
                <a:solidFill>
                  <a:srgbClr val="55503F"/>
                </a:solidFill>
                <a:latin typeface="Georgia"/>
              </a:rPr>
              <a:t>избирателя в списке</a:t>
            </a:r>
            <a:endParaRPr sz="9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59" name="TextBox 21"/>
          <p:cNvSpPr txBox="1"/>
          <p:nvPr/>
        </p:nvSpPr>
        <p:spPr>
          <a:xfrm>
            <a:off x="812800" y="3454400"/>
            <a:ext cx="635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ЧТО ВИДНО У СТОЛА КОМИССИИ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360" name="Rectangle 22"/>
          <p:cNvSpPr/>
          <p:nvPr/>
        </p:nvSpPr>
        <p:spPr>
          <a:xfrm>
            <a:off x="812800" y="3810000"/>
            <a:ext cx="52578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1" name="TextBox 23"/>
          <p:cNvSpPr txBox="1"/>
          <p:nvPr/>
        </p:nvSpPr>
        <p:spPr>
          <a:xfrm>
            <a:off x="812800" y="3911600"/>
            <a:ext cx="52578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Пенсионеры — к открытию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362" name="TextBox 24"/>
          <p:cNvSpPr txBox="1"/>
          <p:nvPr/>
        </p:nvSpPr>
        <p:spPr>
          <a:xfrm>
            <a:off x="812800" y="4191000"/>
            <a:ext cx="51308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Приходят первыми, знают свой участок, спрашивают про выплаты и тарифы.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63" name="Rectangle 25"/>
          <p:cNvSpPr/>
          <p:nvPr/>
        </p:nvSpPr>
        <p:spPr>
          <a:xfrm>
            <a:off x="6527800" y="3810000"/>
            <a:ext cx="52578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4" name="TextBox 26"/>
          <p:cNvSpPr txBox="1"/>
          <p:nvPr/>
        </p:nvSpPr>
        <p:spPr>
          <a:xfrm>
            <a:off x="6527800" y="3911600"/>
            <a:ext cx="52578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Работающие — после 18:00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365" name="TextBox 27"/>
          <p:cNvSpPr txBox="1"/>
          <p:nvPr/>
        </p:nvSpPr>
        <p:spPr>
          <a:xfrm>
            <a:off x="6527800" y="4191000"/>
            <a:ext cx="51308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Голосуют быстро, часто не разбираясь в партийных списках.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66" name="Rectangle 28"/>
          <p:cNvSpPr/>
          <p:nvPr/>
        </p:nvSpPr>
        <p:spPr>
          <a:xfrm>
            <a:off x="812800" y="4876800"/>
            <a:ext cx="52578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67" name="TextBox 29"/>
          <p:cNvSpPr txBox="1"/>
          <p:nvPr/>
        </p:nvSpPr>
        <p:spPr>
          <a:xfrm>
            <a:off x="812800" y="4978400"/>
            <a:ext cx="52578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Молодёжь — единицы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368" name="TextBox 30"/>
          <p:cNvSpPr txBox="1"/>
          <p:nvPr/>
        </p:nvSpPr>
        <p:spPr>
          <a:xfrm>
            <a:off x="812800" y="5257800"/>
            <a:ext cx="51308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Студенты и молодые семьи приходят редко; в 2026-м — чаще, но не к КПРФ.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69" name="Rectangle 31"/>
          <p:cNvSpPr/>
          <p:nvPr/>
        </p:nvSpPr>
        <p:spPr>
          <a:xfrm>
            <a:off x="6527800" y="4876800"/>
            <a:ext cx="52578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70" name="TextBox 32"/>
          <p:cNvSpPr txBox="1"/>
          <p:nvPr/>
        </p:nvSpPr>
        <p:spPr>
          <a:xfrm>
            <a:off x="6527800" y="4978400"/>
            <a:ext cx="52578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Семьи — в выходной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371" name="TextBox 33"/>
          <p:cNvSpPr txBox="1"/>
          <p:nvPr/>
        </p:nvSpPr>
        <p:spPr>
          <a:xfrm>
            <a:off x="6527800" y="5257800"/>
            <a:ext cx="51308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Приходят с детьми; для них важнее «нормальная жизнь», чем идеология.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372" name="TextBox 34"/>
          <p:cNvSpPr txBox="1"/>
          <p:nvPr/>
        </p:nvSpPr>
        <p:spPr>
          <a:xfrm>
            <a:off x="812800" y="6070600"/>
            <a:ext cx="10972800" cy="252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20" b="0" i="1" cap="none">
                <a:solidFill>
                  <a:srgbClr val="55503F"/>
                </a:solidFill>
                <a:latin typeface="Georgia"/>
              </a:rPr>
              <a:t>Левада-Центр, август 2026: 70% сторонников КПРФ — старше 55 лет; 64% — мужчины.</a:t>
            </a:r>
            <a:endParaRPr sz="920" b="0" i="1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0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04 / 2024</a:t>
            </a:r>
            <a:endParaRPr sz="950" b="0" i="0" cap="none" spc="2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401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02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2024: губернаторские и муниципальные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03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4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6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05 / 17</a:t>
            </a:r>
          </a:p>
        </p:txBody>
      </p:sp>
      <p:sp>
        <p:nvSpPr>
          <p:cNvPr id="407" name="Rectangle 9"/>
          <p:cNvSpPr/>
          <p:nvPr/>
        </p:nvSpPr>
        <p:spPr>
          <a:xfrm>
            <a:off x="8128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08" name="TextBox 10"/>
          <p:cNvSpPr txBox="1"/>
          <p:nvPr/>
        </p:nvSpPr>
        <p:spPr>
          <a:xfrm>
            <a:off x="812800" y="2082800"/>
            <a:ext cx="2489200" cy="687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 cap="none">
                <a:solidFill>
                  <a:srgbClr val="A82C1E"/>
                </a:solidFill>
                <a:latin typeface="Bahnschrift SemiBold Condensed"/>
              </a:rPr>
              <a:t>37,76%</a:t>
            </a:r>
            <a:endParaRPr sz="34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409" name="TextBox 11"/>
          <p:cNvSpPr txBox="1"/>
          <p:nvPr/>
        </p:nvSpPr>
        <p:spPr>
          <a:xfrm>
            <a:off x="812800" y="2717800"/>
            <a:ext cx="2489200" cy="263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 cap="none">
                <a:solidFill>
                  <a:srgbClr val="55503F"/>
                </a:solidFill>
                <a:latin typeface="Georgia"/>
              </a:rPr>
              <a:t>явка на выборах губернатора</a:t>
            </a:r>
            <a:endParaRPr sz="94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10" name="Rectangle 12"/>
          <p:cNvSpPr/>
          <p:nvPr/>
        </p:nvSpPr>
        <p:spPr>
          <a:xfrm>
            <a:off x="35052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1" name="TextBox 13"/>
          <p:cNvSpPr txBox="1"/>
          <p:nvPr/>
        </p:nvSpPr>
        <p:spPr>
          <a:xfrm>
            <a:off x="3505200" y="2082800"/>
            <a:ext cx="2489200" cy="687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 cap="none">
                <a:solidFill>
                  <a:srgbClr val="A82C1E"/>
                </a:solidFill>
                <a:latin typeface="Bahnschrift SemiBold Condensed"/>
              </a:rPr>
              <a:t>59,80%</a:t>
            </a:r>
            <a:endParaRPr sz="34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412" name="TextBox 14"/>
          <p:cNvSpPr txBox="1"/>
          <p:nvPr/>
        </p:nvSpPr>
        <p:spPr>
          <a:xfrm>
            <a:off x="3505200" y="2717800"/>
            <a:ext cx="2489200" cy="263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 cap="none">
                <a:solidFill>
                  <a:srgbClr val="55503F"/>
                </a:solidFill>
                <a:latin typeface="Georgia"/>
              </a:rPr>
              <a:t>Беглов, «Единая Россия»</a:t>
            </a:r>
            <a:endParaRPr sz="94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13" name="Rectangle 15"/>
          <p:cNvSpPr/>
          <p:nvPr/>
        </p:nvSpPr>
        <p:spPr>
          <a:xfrm>
            <a:off x="61976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4" name="TextBox 16"/>
          <p:cNvSpPr txBox="1"/>
          <p:nvPr/>
        </p:nvSpPr>
        <p:spPr>
          <a:xfrm>
            <a:off x="6197600" y="2082800"/>
            <a:ext cx="2489200" cy="687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 cap="none">
                <a:solidFill>
                  <a:srgbClr val="A82C1E"/>
                </a:solidFill>
                <a:latin typeface="Bahnschrift SemiBold Condensed"/>
              </a:rPr>
              <a:t>8,06%</a:t>
            </a:r>
            <a:endParaRPr sz="34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415" name="TextBox 17"/>
          <p:cNvSpPr txBox="1"/>
          <p:nvPr/>
        </p:nvSpPr>
        <p:spPr>
          <a:xfrm>
            <a:off x="6197600" y="2717800"/>
            <a:ext cx="2489200" cy="435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 cap="none">
                <a:solidFill>
                  <a:srgbClr val="55503F"/>
                </a:solidFill>
                <a:latin typeface="Georgia"/>
              </a:rPr>
              <a:t>«Коммунисты России», губернаторские выборы</a:t>
            </a:r>
          </a:p>
        </p:txBody>
      </p:sp>
      <p:sp>
        <p:nvSpPr>
          <p:cNvPr id="416" name="Rectangle 18"/>
          <p:cNvSpPr/>
          <p:nvPr/>
        </p:nvSpPr>
        <p:spPr>
          <a:xfrm>
            <a:off x="88900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17" name="TextBox 19"/>
          <p:cNvSpPr txBox="1"/>
          <p:nvPr/>
        </p:nvSpPr>
        <p:spPr>
          <a:xfrm>
            <a:off x="8890000" y="2082800"/>
            <a:ext cx="2489200" cy="687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 cap="none">
                <a:solidFill>
                  <a:srgbClr val="A82C1E"/>
                </a:solidFill>
                <a:latin typeface="Bahnschrift SemiBold Condensed"/>
              </a:rPr>
              <a:t>10</a:t>
            </a:r>
            <a:endParaRPr sz="34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418" name="TextBox 20"/>
          <p:cNvSpPr txBox="1"/>
          <p:nvPr/>
        </p:nvSpPr>
        <p:spPr>
          <a:xfrm>
            <a:off x="8890000" y="2717800"/>
            <a:ext cx="2489200" cy="435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 cap="none">
                <a:solidFill>
                  <a:srgbClr val="55503F"/>
                </a:solidFill>
                <a:latin typeface="Georgia"/>
              </a:rPr>
              <a:t>мандатов у КПРФ на муниципальных выборах</a:t>
            </a:r>
            <a:endParaRPr sz="94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24" name="TextBox 26"/>
          <p:cNvSpPr txBox="1"/>
          <p:nvPr/>
        </p:nvSpPr>
        <p:spPr>
          <a:xfrm>
            <a:off x="812800" y="6070600"/>
            <a:ext cx="10972800" cy="245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1" cap="none">
                <a:solidFill>
                  <a:srgbClr val="55503F"/>
                </a:solidFill>
                <a:latin typeface="Georgia"/>
              </a:rPr>
              <a:t>Источники: СПбИК; ЦИК РФ, итоги выборов 6–8 сентября 2024 года.</a:t>
            </a:r>
            <a:endParaRPr sz="880" b="0" i="1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876" name="Rectangle 21"/>
          <p:cNvSpPr/>
          <p:nvPr/>
        </p:nvSpPr>
        <p:spPr>
          <a:xfrm>
            <a:off x="812800" y="3632200"/>
            <a:ext cx="10972800" cy="10922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77" name="TextBox 22"/>
          <p:cNvSpPr txBox="1"/>
          <p:nvPr/>
        </p:nvSpPr>
        <p:spPr>
          <a:xfrm>
            <a:off x="1016000" y="3784600"/>
            <a:ext cx="10541000" cy="363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F0E8D6"/>
                </a:solidFill>
                <a:latin typeface="Bahnschrift SemiBold"/>
              </a:rPr>
              <a:t>Муниципальные выборы: 10 мандатов у КПРФ — против 68 у ЛДПР и 36 у «Новых людей».</a:t>
            </a:r>
            <a:endParaRPr sz="1550" b="0" i="0">
              <a:solidFill>
                <a:srgbClr val="F0E8D6"/>
              </a:solidFill>
              <a:latin typeface="Bahnschrift SemiBold"/>
            </a:endParaRPr>
          </a:p>
        </p:txBody>
      </p:sp>
      <p:sp>
        <p:nvSpPr>
          <p:cNvPr id="878" name="TextBox 23"/>
          <p:cNvSpPr txBox="1"/>
          <p:nvPr/>
        </p:nvSpPr>
        <p:spPr>
          <a:xfrm>
            <a:off x="1016000" y="4165600"/>
            <a:ext cx="10541000" cy="2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B9AE96"/>
                </a:solidFill>
                <a:latin typeface="Georgia"/>
              </a:rPr>
              <a:t>Явка — 31,73%. Именно на этом уровне видно, есть ли у партии районная организация.</a:t>
            </a:r>
            <a:endParaRPr sz="1100" b="0" i="0">
              <a:solidFill>
                <a:srgbClr val="B9AE96"/>
              </a:solidFill>
              <a:latin typeface="Georgia"/>
            </a:endParaRPr>
          </a:p>
        </p:txBody>
      </p:sp>
      <p:sp>
        <p:nvSpPr>
          <p:cNvPr id="879" name="TextBox 24"/>
          <p:cNvSpPr txBox="1"/>
          <p:nvPr/>
        </p:nvSpPr>
        <p:spPr>
          <a:xfrm>
            <a:off x="812800" y="4978400"/>
            <a:ext cx="508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200">
                <a:solidFill>
                  <a:srgbClr val="A82C1E"/>
                </a:solidFill>
                <a:latin typeface="Consolas"/>
              </a:rPr>
              <a:t>ИЗ ЖУРНАЛА УЧАСТКА</a:t>
            </a:r>
            <a:endParaRPr sz="900" b="0" i="0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80" name="TextBox 25"/>
          <p:cNvSpPr txBox="1"/>
          <p:nvPr/>
        </p:nvSpPr>
        <p:spPr>
          <a:xfrm>
            <a:off x="812800" y="5257800"/>
            <a:ext cx="10972800" cy="32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20" b="0" i="0">
                <a:solidFill>
                  <a:srgbClr val="1B1A18"/>
                </a:solidFill>
                <a:latin typeface="Georgia"/>
              </a:rPr>
              <a:t>В 2024-м на участке было тихо: агитации почти не было, а очередь к открытию — та же, что и в 2026-м.</a:t>
            </a:r>
            <a:endParaRPr sz="1120" b="0" i="0">
              <a:solidFill>
                <a:srgbClr val="1B1A1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26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05 / 2026</a:t>
            </a:r>
            <a:endParaRPr sz="950" b="0" i="0" cap="none" spc="2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427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28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2026: три дня, другая явка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29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0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2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06 / 17</a:t>
            </a:r>
          </a:p>
        </p:txBody>
      </p:sp>
      <p:sp>
        <p:nvSpPr>
          <p:cNvPr id="433" name="Rectangle 9"/>
          <p:cNvSpPr/>
          <p:nvPr/>
        </p:nvSpPr>
        <p:spPr>
          <a:xfrm>
            <a:off x="8128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4" name="TextBox 10"/>
          <p:cNvSpPr txBox="1"/>
          <p:nvPr/>
        </p:nvSpPr>
        <p:spPr>
          <a:xfrm>
            <a:off x="812800" y="2082800"/>
            <a:ext cx="2489200" cy="652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 cap="none">
                <a:solidFill>
                  <a:srgbClr val="A82C1E"/>
                </a:solidFill>
                <a:latin typeface="Bahnschrift SemiBold Condensed"/>
              </a:rPr>
              <a:t>55,69%</a:t>
            </a:r>
            <a:endParaRPr sz="32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435" name="TextBox 11"/>
          <p:cNvSpPr txBox="1"/>
          <p:nvPr/>
        </p:nvSpPr>
        <p:spPr>
          <a:xfrm>
            <a:off x="812800" y="2717800"/>
            <a:ext cx="2489200" cy="263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 cap="none">
                <a:solidFill>
                  <a:srgbClr val="55503F"/>
                </a:solidFill>
                <a:latin typeface="Georgia"/>
              </a:rPr>
              <a:t>явка в Петербурге — рекорд для города</a:t>
            </a:r>
            <a:endParaRPr sz="94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36" name="Rectangle 12"/>
          <p:cNvSpPr/>
          <p:nvPr/>
        </p:nvSpPr>
        <p:spPr>
          <a:xfrm>
            <a:off x="35052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37" name="TextBox 13"/>
          <p:cNvSpPr txBox="1"/>
          <p:nvPr/>
        </p:nvSpPr>
        <p:spPr>
          <a:xfrm>
            <a:off x="3505200" y="2082800"/>
            <a:ext cx="2489200" cy="652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 cap="none">
                <a:solidFill>
                  <a:srgbClr val="A82C1E"/>
                </a:solidFill>
                <a:latin typeface="Bahnschrift SemiBold Condensed"/>
              </a:rPr>
              <a:t>10,75%</a:t>
            </a:r>
            <a:endParaRPr sz="32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438" name="TextBox 14"/>
          <p:cNvSpPr txBox="1"/>
          <p:nvPr/>
        </p:nvSpPr>
        <p:spPr>
          <a:xfrm>
            <a:off x="3505200" y="2717800"/>
            <a:ext cx="2489200" cy="263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 cap="none">
                <a:solidFill>
                  <a:srgbClr val="55503F"/>
                </a:solidFill>
                <a:latin typeface="Georgia"/>
              </a:rPr>
              <a:t>КПРФ по спискам</a:t>
            </a:r>
            <a:endParaRPr sz="94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39" name="Rectangle 15"/>
          <p:cNvSpPr/>
          <p:nvPr/>
        </p:nvSpPr>
        <p:spPr>
          <a:xfrm>
            <a:off x="61976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0" name="TextBox 16"/>
          <p:cNvSpPr txBox="1"/>
          <p:nvPr/>
        </p:nvSpPr>
        <p:spPr>
          <a:xfrm>
            <a:off x="6197600" y="2082800"/>
            <a:ext cx="2489200" cy="652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 cap="none">
                <a:solidFill>
                  <a:srgbClr val="A82C1E"/>
                </a:solidFill>
                <a:latin typeface="Bahnschrift SemiBold Condensed"/>
              </a:rPr>
              <a:t>2</a:t>
            </a:r>
            <a:endParaRPr sz="32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441" name="TextBox 17"/>
          <p:cNvSpPr txBox="1"/>
          <p:nvPr/>
        </p:nvSpPr>
        <p:spPr>
          <a:xfrm>
            <a:off x="6197600" y="2717800"/>
            <a:ext cx="2489200" cy="263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 cap="none">
                <a:solidFill>
                  <a:srgbClr val="55503F"/>
                </a:solidFill>
                <a:latin typeface="Georgia"/>
              </a:rPr>
              <a:t>мандата из 50</a:t>
            </a:r>
            <a:endParaRPr sz="94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42" name="Rectangle 18"/>
          <p:cNvSpPr/>
          <p:nvPr/>
        </p:nvSpPr>
        <p:spPr>
          <a:xfrm>
            <a:off x="8890000" y="1905000"/>
            <a:ext cx="2489200" cy="254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3" name="TextBox 19"/>
          <p:cNvSpPr txBox="1"/>
          <p:nvPr/>
        </p:nvSpPr>
        <p:spPr>
          <a:xfrm>
            <a:off x="8890000" y="2082800"/>
            <a:ext cx="2489200" cy="652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 cap="none">
                <a:solidFill>
                  <a:srgbClr val="A82C1E"/>
                </a:solidFill>
                <a:latin typeface="Bahnschrift SemiBold Condensed"/>
              </a:rPr>
              <a:t>244 057</a:t>
            </a:r>
            <a:endParaRPr sz="3200" b="0" i="0" cap="none">
              <a:solidFill>
                <a:srgbClr val="A82C1E"/>
              </a:solidFill>
              <a:latin typeface="Bahnschrift SemiBold Condensed"/>
            </a:endParaRPr>
          </a:p>
        </p:txBody>
      </p:sp>
      <p:sp>
        <p:nvSpPr>
          <p:cNvPr id="444" name="TextBox 20"/>
          <p:cNvSpPr txBox="1"/>
          <p:nvPr/>
        </p:nvSpPr>
        <p:spPr>
          <a:xfrm>
            <a:off x="8890000" y="2717800"/>
            <a:ext cx="2489200" cy="263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0" b="0" i="0" cap="none">
                <a:solidFill>
                  <a:srgbClr val="55503F"/>
                </a:solidFill>
                <a:latin typeface="Georgia"/>
              </a:rPr>
              <a:t>голосов у КПРФ</a:t>
            </a:r>
            <a:endParaRPr sz="94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45" name="Rectangle 21"/>
          <p:cNvSpPr/>
          <p:nvPr/>
        </p:nvSpPr>
        <p:spPr>
          <a:xfrm>
            <a:off x="812800" y="3632200"/>
            <a:ext cx="10972800" cy="10922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46" name="TextBox 22"/>
          <p:cNvSpPr txBox="1"/>
          <p:nvPr/>
        </p:nvSpPr>
        <p:spPr>
          <a:xfrm>
            <a:off x="1016000" y="3784600"/>
            <a:ext cx="10541000" cy="371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cap="none">
                <a:solidFill>
                  <a:srgbClr val="F0E8D6"/>
                </a:solidFill>
                <a:latin typeface="Bahnschrift SemiBold"/>
              </a:rPr>
              <a:t>Голосов столько же, сколько в 2021-м. Доля — вдвое меньше.</a:t>
            </a:r>
            <a:endParaRPr sz="1600" b="0" i="0" cap="none">
              <a:solidFill>
                <a:srgbClr val="F0E8D6"/>
              </a:solidFill>
              <a:latin typeface="Bahnschrift SemiBold"/>
            </a:endParaRPr>
          </a:p>
        </p:txBody>
      </p:sp>
      <p:sp>
        <p:nvSpPr>
          <p:cNvPr id="447" name="TextBox 23"/>
          <p:cNvSpPr txBox="1"/>
          <p:nvPr/>
        </p:nvSpPr>
        <p:spPr>
          <a:xfrm>
            <a:off x="1016000" y="4140200"/>
            <a:ext cx="10541000" cy="2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cap="none">
                <a:solidFill>
                  <a:srgbClr val="B9AE96"/>
                </a:solidFill>
                <a:latin typeface="Georgia"/>
              </a:rPr>
              <a:t>Явка выросла с 35% до 55,7%: почти 0,9 млн новых голосов ушли другим партиям.</a:t>
            </a:r>
            <a:endParaRPr sz="1100" b="0" i="0" cap="none">
              <a:solidFill>
                <a:srgbClr val="B9AE96"/>
              </a:solidFill>
              <a:latin typeface="Georgia"/>
            </a:endParaRPr>
          </a:p>
        </p:txBody>
      </p:sp>
      <p:sp>
        <p:nvSpPr>
          <p:cNvPr id="448" name="TextBox 24"/>
          <p:cNvSpPr txBox="1"/>
          <p:nvPr/>
        </p:nvSpPr>
        <p:spPr>
          <a:xfrm>
            <a:off x="812800" y="4978400"/>
            <a:ext cx="508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ИЗ ЖУРНАЛА УЧАСТКА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449" name="TextBox 25"/>
          <p:cNvSpPr txBox="1"/>
          <p:nvPr/>
        </p:nvSpPr>
        <p:spPr>
          <a:xfrm>
            <a:off x="812800" y="5283200"/>
            <a:ext cx="10972800" cy="336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Georgia"/>
              </a:rPr>
              <a:t>Людей больше, чем в 2024-м. Молодых — заметно больше. За КПРФ — те же лица, что и пять лет назад.</a:t>
            </a:r>
            <a:endParaRPr sz="115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450" name="TextBox 26"/>
          <p:cNvSpPr txBox="1"/>
          <p:nvPr/>
        </p:nvSpPr>
        <p:spPr>
          <a:xfrm>
            <a:off x="812800" y="5994400"/>
            <a:ext cx="10972800" cy="245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1" cap="none">
                <a:solidFill>
                  <a:srgbClr val="55503F"/>
                </a:solidFill>
                <a:latin typeface="Georgia"/>
              </a:rPr>
              <a:t>Источник: СПбИК, итоги выборов в ЗакС 18–20 сентября 2026 года.</a:t>
            </a:r>
            <a:endParaRPr sz="880" b="0" i="1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2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06 / АРИФМЕТИКА</a:t>
            </a:r>
            <a:endParaRPr sz="950" b="0" i="0" cap="none" spc="2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453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54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Куда ушли новые голоса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55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6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58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07 / 17</a:t>
            </a:r>
          </a:p>
        </p:txBody>
      </p:sp>
      <p:sp>
        <p:nvSpPr>
          <p:cNvPr id="459" name="TextBox 9"/>
          <p:cNvSpPr txBox="1"/>
          <p:nvPr/>
        </p:nvSpPr>
        <p:spPr>
          <a:xfrm>
            <a:off x="812800" y="1854200"/>
            <a:ext cx="2794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ПАРТИЯ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60" name="TextBox 10"/>
          <p:cNvSpPr txBox="1"/>
          <p:nvPr/>
        </p:nvSpPr>
        <p:spPr>
          <a:xfrm>
            <a:off x="3810000" y="1854200"/>
            <a:ext cx="2540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2021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61" name="TextBox 11"/>
          <p:cNvSpPr txBox="1"/>
          <p:nvPr/>
        </p:nvSpPr>
        <p:spPr>
          <a:xfrm>
            <a:off x="6350000" y="1854200"/>
            <a:ext cx="2540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2026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62" name="TextBox 12"/>
          <p:cNvSpPr txBox="1"/>
          <p:nvPr/>
        </p:nvSpPr>
        <p:spPr>
          <a:xfrm>
            <a:off x="8890000" y="1854200"/>
            <a:ext cx="2540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ИЗМЕНЕНИЕ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63" name="Rectangle 13"/>
          <p:cNvSpPr/>
          <p:nvPr/>
        </p:nvSpPr>
        <p:spPr>
          <a:xfrm>
            <a:off x="812800" y="21336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64" name="TextBox 14"/>
          <p:cNvSpPr txBox="1"/>
          <p:nvPr/>
        </p:nvSpPr>
        <p:spPr>
          <a:xfrm>
            <a:off x="812800" y="2362200"/>
            <a:ext cx="2921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«Единая Россия»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65" name="TextBox 15"/>
          <p:cNvSpPr txBox="1"/>
          <p:nvPr/>
        </p:nvSpPr>
        <p:spPr>
          <a:xfrm>
            <a:off x="3810000" y="23749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55503F"/>
                </a:solidFill>
                <a:latin typeface="Georgia"/>
              </a:rPr>
              <a:t>457 936 · 33,3%</a:t>
            </a:r>
            <a:endParaRPr sz="105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66" name="TextBox 16"/>
          <p:cNvSpPr txBox="1"/>
          <p:nvPr/>
        </p:nvSpPr>
        <p:spPr>
          <a:xfrm>
            <a:off x="6350000" y="23749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1B1A18"/>
                </a:solidFill>
                <a:latin typeface="Georgia"/>
              </a:rPr>
              <a:t>1 240 655 · 54,7%</a:t>
            </a:r>
            <a:endParaRPr sz="105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467" name="TextBox 17"/>
          <p:cNvSpPr txBox="1"/>
          <p:nvPr/>
        </p:nvSpPr>
        <p:spPr>
          <a:xfrm>
            <a:off x="8890000" y="2374900"/>
            <a:ext cx="279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55503F"/>
                </a:solidFill>
                <a:latin typeface="Consolas"/>
              </a:rPr>
              <a:t>+782 719 · +21,4 п. п.</a:t>
            </a:r>
            <a:endParaRPr sz="9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68" name="TextBox 18"/>
          <p:cNvSpPr txBox="1"/>
          <p:nvPr/>
        </p:nvSpPr>
        <p:spPr>
          <a:xfrm>
            <a:off x="812800" y="3048000"/>
            <a:ext cx="2921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«Новые люди»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69" name="TextBox 19"/>
          <p:cNvSpPr txBox="1"/>
          <p:nvPr/>
        </p:nvSpPr>
        <p:spPr>
          <a:xfrm>
            <a:off x="3810000" y="30607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55503F"/>
                </a:solidFill>
                <a:latin typeface="Georgia"/>
              </a:rPr>
              <a:t>138 289 · 10,1%</a:t>
            </a:r>
            <a:endParaRPr sz="105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70" name="TextBox 20"/>
          <p:cNvSpPr txBox="1"/>
          <p:nvPr/>
        </p:nvSpPr>
        <p:spPr>
          <a:xfrm>
            <a:off x="6350000" y="30607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1B1A18"/>
                </a:solidFill>
                <a:latin typeface="Georgia"/>
              </a:rPr>
              <a:t>280 239 · 12,4%</a:t>
            </a:r>
            <a:endParaRPr sz="105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471" name="TextBox 21"/>
          <p:cNvSpPr txBox="1"/>
          <p:nvPr/>
        </p:nvSpPr>
        <p:spPr>
          <a:xfrm>
            <a:off x="8890000" y="3060700"/>
            <a:ext cx="279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55503F"/>
                </a:solidFill>
                <a:latin typeface="Consolas"/>
              </a:rPr>
              <a:t>+141 950 · +2,3 п. п.</a:t>
            </a:r>
            <a:endParaRPr sz="9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72" name="TextBox 22"/>
          <p:cNvSpPr txBox="1"/>
          <p:nvPr/>
        </p:nvSpPr>
        <p:spPr>
          <a:xfrm>
            <a:off x="812800" y="3733800"/>
            <a:ext cx="2921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ЛДПР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73" name="TextBox 23"/>
          <p:cNvSpPr txBox="1"/>
          <p:nvPr/>
        </p:nvSpPr>
        <p:spPr>
          <a:xfrm>
            <a:off x="3810000" y="37465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55503F"/>
                </a:solidFill>
                <a:latin typeface="Georgia"/>
              </a:rPr>
              <a:t>108 703 · 7,9%</a:t>
            </a:r>
            <a:endParaRPr sz="105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74" name="TextBox 24"/>
          <p:cNvSpPr txBox="1"/>
          <p:nvPr/>
        </p:nvSpPr>
        <p:spPr>
          <a:xfrm>
            <a:off x="6350000" y="37465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1B1A18"/>
                </a:solidFill>
                <a:latin typeface="Georgia"/>
              </a:rPr>
              <a:t>275 814 · 12,2%</a:t>
            </a:r>
            <a:endParaRPr sz="105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475" name="TextBox 25"/>
          <p:cNvSpPr txBox="1"/>
          <p:nvPr/>
        </p:nvSpPr>
        <p:spPr>
          <a:xfrm>
            <a:off x="8890000" y="3746500"/>
            <a:ext cx="279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55503F"/>
                </a:solidFill>
                <a:latin typeface="Consolas"/>
              </a:rPr>
              <a:t>+167 111 · +4,3 п. п.</a:t>
            </a:r>
            <a:endParaRPr sz="9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76" name="Rectangle 26"/>
          <p:cNvSpPr/>
          <p:nvPr/>
        </p:nvSpPr>
        <p:spPr>
          <a:xfrm>
            <a:off x="812800" y="4318000"/>
            <a:ext cx="10972800" cy="6350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7" name="Rectangle 27"/>
          <p:cNvSpPr/>
          <p:nvPr/>
        </p:nvSpPr>
        <p:spPr>
          <a:xfrm>
            <a:off x="812800" y="4318000"/>
            <a:ext cx="63500" cy="635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78" name="TextBox 28"/>
          <p:cNvSpPr txBox="1"/>
          <p:nvPr/>
        </p:nvSpPr>
        <p:spPr>
          <a:xfrm>
            <a:off x="812800" y="4419600"/>
            <a:ext cx="2921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КПРФ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79" name="TextBox 29"/>
          <p:cNvSpPr txBox="1"/>
          <p:nvPr/>
        </p:nvSpPr>
        <p:spPr>
          <a:xfrm>
            <a:off x="3810000" y="44323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55503F"/>
                </a:solidFill>
                <a:latin typeface="Georgia"/>
              </a:rPr>
              <a:t>240 291 · 17,5%</a:t>
            </a:r>
            <a:endParaRPr sz="105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80" name="TextBox 30"/>
          <p:cNvSpPr txBox="1"/>
          <p:nvPr/>
        </p:nvSpPr>
        <p:spPr>
          <a:xfrm>
            <a:off x="6350000" y="44323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1B1A18"/>
                </a:solidFill>
                <a:latin typeface="Georgia"/>
              </a:rPr>
              <a:t>244 057 · 10,8%</a:t>
            </a:r>
            <a:endParaRPr sz="105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481" name="TextBox 31"/>
          <p:cNvSpPr txBox="1"/>
          <p:nvPr/>
        </p:nvSpPr>
        <p:spPr>
          <a:xfrm>
            <a:off x="8890000" y="4432300"/>
            <a:ext cx="279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+3 766 · −6,7 п. п.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482" name="TextBox 32"/>
          <p:cNvSpPr txBox="1"/>
          <p:nvPr/>
        </p:nvSpPr>
        <p:spPr>
          <a:xfrm>
            <a:off x="812800" y="5105400"/>
            <a:ext cx="2921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«Зелёные»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83" name="TextBox 33"/>
          <p:cNvSpPr txBox="1"/>
          <p:nvPr/>
        </p:nvSpPr>
        <p:spPr>
          <a:xfrm>
            <a:off x="3810000" y="51181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55503F"/>
                </a:solidFill>
                <a:latin typeface="Georgia"/>
              </a:rPr>
              <a:t>не участвовали</a:t>
            </a:r>
            <a:endParaRPr sz="105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484" name="TextBox 34"/>
          <p:cNvSpPr txBox="1"/>
          <p:nvPr/>
        </p:nvSpPr>
        <p:spPr>
          <a:xfrm>
            <a:off x="6350000" y="5118100"/>
            <a:ext cx="2413000" cy="275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cap="none">
                <a:solidFill>
                  <a:srgbClr val="1B1A18"/>
                </a:solidFill>
                <a:latin typeface="Georgia"/>
              </a:rPr>
              <a:t>138 445 · 6,1%</a:t>
            </a:r>
            <a:endParaRPr sz="105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485" name="TextBox 35"/>
          <p:cNvSpPr txBox="1"/>
          <p:nvPr/>
        </p:nvSpPr>
        <p:spPr>
          <a:xfrm>
            <a:off x="8890000" y="5118100"/>
            <a:ext cx="279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55503F"/>
                </a:solidFill>
                <a:latin typeface="Consolas"/>
              </a:rPr>
              <a:t>впервые в ЗакСе</a:t>
            </a:r>
            <a:endParaRPr sz="9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86" name="Rectangle 36"/>
          <p:cNvSpPr/>
          <p:nvPr/>
        </p:nvSpPr>
        <p:spPr>
          <a:xfrm>
            <a:off x="812800" y="5867400"/>
            <a:ext cx="10972800" cy="9525"/>
          </a:xfrm>
          <a:prstGeom prst="rect">
            <a:avLst/>
          </a:prstGeom>
          <a:solidFill>
            <a:srgbClr val="555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7" name="TextBox 37"/>
          <p:cNvSpPr txBox="1"/>
          <p:nvPr/>
        </p:nvSpPr>
        <p:spPr>
          <a:xfrm>
            <a:off x="812800" y="5969000"/>
            <a:ext cx="10972800" cy="252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20" b="0" i="1" cap="none">
                <a:solidFill>
                  <a:srgbClr val="55503F"/>
                </a:solidFill>
                <a:latin typeface="Georgia"/>
              </a:rPr>
              <a:t>Сумма голосов по спискам; проценты — от числа действительных бюллетеней. «Зелёные» в 2021 году в выборах не участвовали.</a:t>
            </a:r>
            <a:endParaRPr sz="920" b="0" i="1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89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07 / ПРИЧИНЫ</a:t>
            </a:r>
            <a:endParaRPr sz="950" b="0" i="0" cap="none" spc="2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490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491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Почему протест не становится левым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92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3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5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08 / 17</a:t>
            </a:r>
          </a:p>
        </p:txBody>
      </p:sp>
      <p:sp>
        <p:nvSpPr>
          <p:cNvPr id="496" name="Rectangle 9"/>
          <p:cNvSpPr/>
          <p:nvPr/>
        </p:nvSpPr>
        <p:spPr>
          <a:xfrm>
            <a:off x="812800" y="2108200"/>
            <a:ext cx="5257800" cy="1778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97" name="TextBox 10"/>
          <p:cNvSpPr txBox="1"/>
          <p:nvPr/>
        </p:nvSpPr>
        <p:spPr>
          <a:xfrm>
            <a:off x="812800" y="2235200"/>
            <a:ext cx="508000" cy="512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 cap="none">
                <a:solidFill>
                  <a:srgbClr val="A82C1E"/>
                </a:solidFill>
                <a:latin typeface="Bahnschrift Light Condensed"/>
              </a:rPr>
              <a:t>01</a:t>
            </a:r>
            <a:endParaRPr sz="2400" b="0" i="0" cap="none">
              <a:solidFill>
                <a:srgbClr val="A82C1E"/>
              </a:solidFill>
              <a:latin typeface="Bahnschrift Light Condensed"/>
            </a:endParaRPr>
          </a:p>
        </p:txBody>
      </p:sp>
      <p:sp>
        <p:nvSpPr>
          <p:cNvPr id="498" name="TextBox 11"/>
          <p:cNvSpPr txBox="1"/>
          <p:nvPr/>
        </p:nvSpPr>
        <p:spPr>
          <a:xfrm>
            <a:off x="1473200" y="2286000"/>
            <a:ext cx="4318000" cy="34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cap="none">
                <a:solidFill>
                  <a:srgbClr val="1B1A18"/>
                </a:solidFill>
                <a:latin typeface="Bahnschrift SemiBold"/>
              </a:rPr>
              <a:t>Бренд</a:t>
            </a:r>
            <a:endParaRPr sz="14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499" name="TextBox 12"/>
          <p:cNvSpPr txBox="1"/>
          <p:nvPr/>
        </p:nvSpPr>
        <p:spPr>
          <a:xfrm>
            <a:off x="812800" y="2743200"/>
            <a:ext cx="5130800" cy="527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60" b="0" i="0" cap="none">
                <a:solidFill>
                  <a:srgbClr val="55503F"/>
                </a:solidFill>
                <a:latin typeface="Georgia"/>
              </a:rPr>
              <a:t>Узнаваемость высокая, привлекательность для 18–30-летних — низкая. «КПРФ» читается как партия прошлого, а не как проект будущего.</a:t>
            </a:r>
            <a:endParaRPr sz="10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00" name="Rectangle 13"/>
          <p:cNvSpPr/>
          <p:nvPr/>
        </p:nvSpPr>
        <p:spPr>
          <a:xfrm>
            <a:off x="6527800" y="2108200"/>
            <a:ext cx="5257800" cy="1778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1" name="TextBox 14"/>
          <p:cNvSpPr txBox="1"/>
          <p:nvPr/>
        </p:nvSpPr>
        <p:spPr>
          <a:xfrm>
            <a:off x="6527800" y="2235200"/>
            <a:ext cx="508000" cy="512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 cap="none">
                <a:solidFill>
                  <a:srgbClr val="A82C1E"/>
                </a:solidFill>
                <a:latin typeface="Bahnschrift Light Condensed"/>
              </a:rPr>
              <a:t>02</a:t>
            </a:r>
            <a:endParaRPr sz="2400" b="0" i="0" cap="none">
              <a:solidFill>
                <a:srgbClr val="A82C1E"/>
              </a:solidFill>
              <a:latin typeface="Bahnschrift Light Condensed"/>
            </a:endParaRPr>
          </a:p>
        </p:txBody>
      </p:sp>
      <p:sp>
        <p:nvSpPr>
          <p:cNvPr id="502" name="TextBox 15"/>
          <p:cNvSpPr txBox="1"/>
          <p:nvPr/>
        </p:nvSpPr>
        <p:spPr>
          <a:xfrm>
            <a:off x="7188200" y="2286000"/>
            <a:ext cx="4318000" cy="34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cap="none">
                <a:solidFill>
                  <a:srgbClr val="1B1A18"/>
                </a:solidFill>
                <a:latin typeface="Bahnschrift SemiBold"/>
              </a:rPr>
              <a:t>Повестка</a:t>
            </a:r>
            <a:endParaRPr sz="14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03" name="TextBox 16"/>
          <p:cNvSpPr txBox="1"/>
          <p:nvPr/>
        </p:nvSpPr>
        <p:spPr>
          <a:xfrm>
            <a:off x="6527800" y="2743200"/>
            <a:ext cx="5130800" cy="527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60" b="0" i="0" cap="none">
                <a:solidFill>
                  <a:srgbClr val="55503F"/>
                </a:solidFill>
                <a:latin typeface="Georgia"/>
              </a:rPr>
              <a:t>Пенсии и тарифы мобилизуют старших. Жильё, аренда, карьера — язык, на котором с молодёжью не говорят.</a:t>
            </a:r>
            <a:endParaRPr sz="10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04" name="Rectangle 17"/>
          <p:cNvSpPr/>
          <p:nvPr/>
        </p:nvSpPr>
        <p:spPr>
          <a:xfrm>
            <a:off x="812800" y="4013200"/>
            <a:ext cx="5257800" cy="1778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5" name="TextBox 18"/>
          <p:cNvSpPr txBox="1"/>
          <p:nvPr/>
        </p:nvSpPr>
        <p:spPr>
          <a:xfrm>
            <a:off x="812800" y="4140200"/>
            <a:ext cx="508000" cy="512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 cap="none">
                <a:solidFill>
                  <a:srgbClr val="A82C1E"/>
                </a:solidFill>
                <a:latin typeface="Bahnschrift Light Condensed"/>
              </a:rPr>
              <a:t>03</a:t>
            </a:r>
            <a:endParaRPr sz="2400" b="0" i="0" cap="none">
              <a:solidFill>
                <a:srgbClr val="A82C1E"/>
              </a:solidFill>
              <a:latin typeface="Bahnschrift Light Condensed"/>
            </a:endParaRPr>
          </a:p>
        </p:txBody>
      </p:sp>
      <p:sp>
        <p:nvSpPr>
          <p:cNvPr id="506" name="TextBox 19"/>
          <p:cNvSpPr txBox="1"/>
          <p:nvPr/>
        </p:nvSpPr>
        <p:spPr>
          <a:xfrm>
            <a:off x="1473200" y="4191000"/>
            <a:ext cx="4318000" cy="34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cap="none">
                <a:solidFill>
                  <a:srgbClr val="1B1A18"/>
                </a:solidFill>
                <a:latin typeface="Bahnschrift SemiBold"/>
              </a:rPr>
              <a:t>Организация</a:t>
            </a:r>
            <a:endParaRPr sz="14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07" name="TextBox 20"/>
          <p:cNvSpPr txBox="1"/>
          <p:nvPr/>
        </p:nvSpPr>
        <p:spPr>
          <a:xfrm>
            <a:off x="812800" y="4648200"/>
            <a:ext cx="5130800" cy="527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60" b="0" i="0" cap="none">
                <a:solidFill>
                  <a:srgbClr val="55503F"/>
                </a:solidFill>
                <a:latin typeface="Georgia"/>
              </a:rPr>
              <a:t>Приёмные и депутатские запросы работают точечно. Районных ячеек и работы с сообществами почти нет — отсюда 10 муниципальных мандатов.</a:t>
            </a:r>
            <a:endParaRPr sz="10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08" name="Rectangle 21"/>
          <p:cNvSpPr/>
          <p:nvPr/>
        </p:nvSpPr>
        <p:spPr>
          <a:xfrm>
            <a:off x="6527800" y="4013200"/>
            <a:ext cx="5257800" cy="1778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09" name="TextBox 22"/>
          <p:cNvSpPr txBox="1"/>
          <p:nvPr/>
        </p:nvSpPr>
        <p:spPr>
          <a:xfrm>
            <a:off x="6527800" y="4140200"/>
            <a:ext cx="508000" cy="512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 cap="none">
                <a:solidFill>
                  <a:srgbClr val="A82C1E"/>
                </a:solidFill>
                <a:latin typeface="Bahnschrift Light Condensed"/>
              </a:rPr>
              <a:t>04</a:t>
            </a:r>
            <a:endParaRPr sz="2400" b="0" i="0" cap="none">
              <a:solidFill>
                <a:srgbClr val="A82C1E"/>
              </a:solidFill>
              <a:latin typeface="Bahnschrift Light Condensed"/>
            </a:endParaRPr>
          </a:p>
        </p:txBody>
      </p:sp>
      <p:sp>
        <p:nvSpPr>
          <p:cNvPr id="510" name="TextBox 23"/>
          <p:cNvSpPr txBox="1"/>
          <p:nvPr/>
        </p:nvSpPr>
        <p:spPr>
          <a:xfrm>
            <a:off x="7188200" y="4191000"/>
            <a:ext cx="4318000" cy="34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cap="none">
                <a:solidFill>
                  <a:srgbClr val="1B1A18"/>
                </a:solidFill>
                <a:latin typeface="Bahnschrift SemiBold"/>
              </a:rPr>
              <a:t>Конкуренция</a:t>
            </a:r>
            <a:endParaRPr sz="14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11" name="TextBox 24"/>
          <p:cNvSpPr txBox="1"/>
          <p:nvPr/>
        </p:nvSpPr>
        <p:spPr>
          <a:xfrm>
            <a:off x="6527800" y="4648200"/>
            <a:ext cx="5130800" cy="527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60" b="0" i="0" cap="none">
                <a:solidFill>
                  <a:srgbClr val="55503F"/>
                </a:solidFill>
                <a:latin typeface="Georgia"/>
              </a:rPr>
              <a:t>За протест конкурируют ЛДПР, «Новые люди» и «Зелёные». Власть забирает запрос на стабильность, оставляя КПРФ нишу «ностальгии».</a:t>
            </a:r>
            <a:endParaRPr sz="10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12" name="TextBox 25"/>
          <p:cNvSpPr txBox="1"/>
          <p:nvPr/>
        </p:nvSpPr>
        <p:spPr>
          <a:xfrm>
            <a:off x="812800" y="5969000"/>
            <a:ext cx="109728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 cap="none">
                <a:solidFill>
                  <a:srgbClr val="1B1A18"/>
                </a:solidFill>
                <a:latin typeface="Georgia"/>
              </a:rPr>
              <a:t>КПРФ выигрывает у других оппозиционных партий, но не у власти — и не у поколения.</a:t>
            </a:r>
            <a:endParaRPr sz="1150" b="0" i="1" cap="none">
              <a:solidFill>
                <a:srgbClr val="1B1A1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4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08 / АГИТАЦИЯ</a:t>
            </a:r>
            <a:endParaRPr sz="950" b="0" i="0" cap="none" spc="2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15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516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Агитация, которая доходит до участка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17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18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20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09 / 17</a:t>
            </a:r>
          </a:p>
        </p:txBody>
      </p:sp>
      <p:sp>
        <p:nvSpPr>
          <p:cNvPr id="521" name="TextBox 9"/>
          <p:cNvSpPr txBox="1"/>
          <p:nvPr/>
        </p:nvSpPr>
        <p:spPr>
          <a:xfrm>
            <a:off x="812800" y="1854200"/>
            <a:ext cx="3048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КАНАЛ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522" name="TextBox 10"/>
          <p:cNvSpPr txBox="1"/>
          <p:nvPr/>
        </p:nvSpPr>
        <p:spPr>
          <a:xfrm>
            <a:off x="4267200" y="1854200"/>
            <a:ext cx="4572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ЧТО ДЕЛАЮТ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523" name="TextBox 11"/>
          <p:cNvSpPr txBox="1"/>
          <p:nvPr/>
        </p:nvSpPr>
        <p:spPr>
          <a:xfrm>
            <a:off x="9093200" y="1854200"/>
            <a:ext cx="1143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ОХВАТ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524" name="TextBox 12"/>
          <p:cNvSpPr txBox="1"/>
          <p:nvPr/>
        </p:nvSpPr>
        <p:spPr>
          <a:xfrm>
            <a:off x="10312400" y="1854200"/>
            <a:ext cx="1397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КОНВЕРСИЯ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525" name="Rectangle 13"/>
          <p:cNvSpPr/>
          <p:nvPr/>
        </p:nvSpPr>
        <p:spPr>
          <a:xfrm>
            <a:off x="812800" y="21082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26" name="TextBox 14"/>
          <p:cNvSpPr txBox="1"/>
          <p:nvPr/>
        </p:nvSpPr>
        <p:spPr>
          <a:xfrm>
            <a:off x="812800" y="2260600"/>
            <a:ext cx="32258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Газета «Правда» и районные листки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27" name="TextBox 15"/>
          <p:cNvSpPr txBox="1"/>
          <p:nvPr/>
        </p:nvSpPr>
        <p:spPr>
          <a:xfrm>
            <a:off x="4267200" y="2286000"/>
            <a:ext cx="457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Подписка, тираж, старшая аудитория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28" name="TextBox 16"/>
          <p:cNvSpPr txBox="1"/>
          <p:nvPr/>
        </p:nvSpPr>
        <p:spPr>
          <a:xfrm>
            <a:off x="9093200" y="2286000"/>
            <a:ext cx="1143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низкий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29" name="TextBox 17"/>
          <p:cNvSpPr txBox="1"/>
          <p:nvPr/>
        </p:nvSpPr>
        <p:spPr>
          <a:xfrm>
            <a:off x="10312400" y="2286000"/>
            <a:ext cx="1397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высокая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30" name="Rectangle 18"/>
          <p:cNvSpPr/>
          <p:nvPr/>
        </p:nvSpPr>
        <p:spPr>
          <a:xfrm>
            <a:off x="812800" y="2819400"/>
            <a:ext cx="10972800" cy="558800"/>
          </a:xfrm>
          <a:prstGeom prst="rect">
            <a:avLst/>
          </a:prstGeom>
          <a:solidFill>
            <a:srgbClr val="E3D9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31" name="TextBox 19"/>
          <p:cNvSpPr txBox="1"/>
          <p:nvPr/>
        </p:nvSpPr>
        <p:spPr>
          <a:xfrm>
            <a:off x="812800" y="2895600"/>
            <a:ext cx="32258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Приёмные депутатов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32" name="TextBox 20"/>
          <p:cNvSpPr txBox="1"/>
          <p:nvPr/>
        </p:nvSpPr>
        <p:spPr>
          <a:xfrm>
            <a:off x="4267200" y="2921000"/>
            <a:ext cx="457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Жалобы, ЖКХ, льготы, помощь по конкретному адресу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33" name="TextBox 21"/>
          <p:cNvSpPr txBox="1"/>
          <p:nvPr/>
        </p:nvSpPr>
        <p:spPr>
          <a:xfrm>
            <a:off x="9093200" y="2921000"/>
            <a:ext cx="1143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низкий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34" name="TextBox 22"/>
          <p:cNvSpPr txBox="1"/>
          <p:nvPr/>
        </p:nvSpPr>
        <p:spPr>
          <a:xfrm>
            <a:off x="10312400" y="2921000"/>
            <a:ext cx="1397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высокая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35" name="TextBox 23"/>
          <p:cNvSpPr txBox="1"/>
          <p:nvPr/>
        </p:nvSpPr>
        <p:spPr>
          <a:xfrm>
            <a:off x="812800" y="3530600"/>
            <a:ext cx="32258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Уличная агитация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36" name="TextBox 24"/>
          <p:cNvSpPr txBox="1"/>
          <p:nvPr/>
        </p:nvSpPr>
        <p:spPr>
          <a:xfrm>
            <a:off x="4267200" y="3556000"/>
            <a:ext cx="457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Пикеты, автопробеги, «красные» палатки у метро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37" name="TextBox 25"/>
          <p:cNvSpPr txBox="1"/>
          <p:nvPr/>
        </p:nvSpPr>
        <p:spPr>
          <a:xfrm>
            <a:off x="9093200" y="3556000"/>
            <a:ext cx="1143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средний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38" name="TextBox 26"/>
          <p:cNvSpPr txBox="1"/>
          <p:nvPr/>
        </p:nvSpPr>
        <p:spPr>
          <a:xfrm>
            <a:off x="10312400" y="3556000"/>
            <a:ext cx="1397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низкая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39" name="Rectangle 27"/>
          <p:cNvSpPr/>
          <p:nvPr/>
        </p:nvSpPr>
        <p:spPr>
          <a:xfrm>
            <a:off x="812800" y="4089400"/>
            <a:ext cx="10972800" cy="558800"/>
          </a:xfrm>
          <a:prstGeom prst="rect">
            <a:avLst/>
          </a:prstGeom>
          <a:solidFill>
            <a:srgbClr val="E3D9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0" name="TextBox 28"/>
          <p:cNvSpPr txBox="1"/>
          <p:nvPr/>
        </p:nvSpPr>
        <p:spPr>
          <a:xfrm>
            <a:off x="812800" y="4165600"/>
            <a:ext cx="32258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Telegram и YouTube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41" name="TextBox 29"/>
          <p:cNvSpPr txBox="1"/>
          <p:nvPr/>
        </p:nvSpPr>
        <p:spPr>
          <a:xfrm>
            <a:off x="4267200" y="4191000"/>
            <a:ext cx="457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«Красное ТВ», региональные каналы, нарезки из Думы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42" name="TextBox 30"/>
          <p:cNvSpPr txBox="1"/>
          <p:nvPr/>
        </p:nvSpPr>
        <p:spPr>
          <a:xfrm>
            <a:off x="9093200" y="4191000"/>
            <a:ext cx="1143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средний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43" name="TextBox 31"/>
          <p:cNvSpPr txBox="1"/>
          <p:nvPr/>
        </p:nvSpPr>
        <p:spPr>
          <a:xfrm>
            <a:off x="10312400" y="4191000"/>
            <a:ext cx="1397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низкая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44" name="TextBox 32"/>
          <p:cNvSpPr txBox="1"/>
          <p:nvPr/>
        </p:nvSpPr>
        <p:spPr>
          <a:xfrm>
            <a:off x="812800" y="4800600"/>
            <a:ext cx="32258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Депутатские запросы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45" name="TextBox 33"/>
          <p:cNvSpPr txBox="1"/>
          <p:nvPr/>
        </p:nvSpPr>
        <p:spPr>
          <a:xfrm>
            <a:off x="4267200" y="4826000"/>
            <a:ext cx="457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Публичные кампании по тарифам, стройкам, экологии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46" name="TextBox 34"/>
          <p:cNvSpPr txBox="1"/>
          <p:nvPr/>
        </p:nvSpPr>
        <p:spPr>
          <a:xfrm>
            <a:off x="9093200" y="4826000"/>
            <a:ext cx="1143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средний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47" name="TextBox 35"/>
          <p:cNvSpPr txBox="1"/>
          <p:nvPr/>
        </p:nvSpPr>
        <p:spPr>
          <a:xfrm>
            <a:off x="10312400" y="4826000"/>
            <a:ext cx="1397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точечная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48" name="Rectangle 36"/>
          <p:cNvSpPr/>
          <p:nvPr/>
        </p:nvSpPr>
        <p:spPr>
          <a:xfrm>
            <a:off x="812800" y="5359400"/>
            <a:ext cx="10972800" cy="558800"/>
          </a:xfrm>
          <a:prstGeom prst="rect">
            <a:avLst/>
          </a:prstGeom>
          <a:solidFill>
            <a:srgbClr val="E3D9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49" name="TextBox 37"/>
          <p:cNvSpPr txBox="1"/>
          <p:nvPr/>
        </p:nvSpPr>
        <p:spPr>
          <a:xfrm>
            <a:off x="812800" y="5435600"/>
            <a:ext cx="32258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Календарь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50" name="TextBox 38"/>
          <p:cNvSpPr txBox="1"/>
          <p:nvPr/>
        </p:nvSpPr>
        <p:spPr>
          <a:xfrm>
            <a:off x="4267200" y="5461000"/>
            <a:ext cx="4572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cap="none">
                <a:solidFill>
                  <a:srgbClr val="55503F"/>
                </a:solidFill>
                <a:latin typeface="Georgia"/>
              </a:rPr>
              <a:t>1 мая, 9 мая, 7 ноября: ритуал и мобилизация ядра</a:t>
            </a:r>
            <a:endParaRPr sz="100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51" name="TextBox 39"/>
          <p:cNvSpPr txBox="1"/>
          <p:nvPr/>
        </p:nvSpPr>
        <p:spPr>
          <a:xfrm>
            <a:off x="9093200" y="5461000"/>
            <a:ext cx="1143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высокий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52" name="TextBox 40"/>
          <p:cNvSpPr txBox="1"/>
          <p:nvPr/>
        </p:nvSpPr>
        <p:spPr>
          <a:xfrm>
            <a:off x="10312400" y="5461000"/>
            <a:ext cx="1397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>
                <a:solidFill>
                  <a:srgbClr val="A82C1E"/>
                </a:solidFill>
                <a:latin typeface="Consolas"/>
              </a:rPr>
              <a:t>низкая</a:t>
            </a:r>
            <a:endParaRPr sz="95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53" name="TextBox 41"/>
          <p:cNvSpPr txBox="1"/>
          <p:nvPr/>
        </p:nvSpPr>
        <p:spPr>
          <a:xfrm>
            <a:off x="812800" y="6096000"/>
            <a:ext cx="10972800" cy="27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60" b="0" i="1" cap="none">
                <a:solidFill>
                  <a:srgbClr val="1B1A18"/>
                </a:solidFill>
                <a:latin typeface="Georgia"/>
              </a:rPr>
              <a:t>В день голосования агитация запрещена: участок остаётся единственной точкой контакта — и партии там не видно.</a:t>
            </a:r>
            <a:endParaRPr sz="1060" b="0" i="1" cap="none">
              <a:solidFill>
                <a:srgbClr val="1B1A1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86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09 / КОНТРАСТ</a:t>
            </a:r>
          </a:p>
        </p:txBody>
      </p:sp>
      <p:sp>
        <p:nvSpPr>
          <p:cNvPr id="587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588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Почему у КПРФ не так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89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90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92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10 / 17</a:t>
            </a:r>
          </a:p>
        </p:txBody>
      </p:sp>
      <p:sp>
        <p:nvSpPr>
          <p:cNvPr id="593" name="TextBox 9"/>
          <p:cNvSpPr txBox="1"/>
          <p:nvPr/>
        </p:nvSpPr>
        <p:spPr>
          <a:xfrm>
            <a:off x="812800" y="1854200"/>
            <a:ext cx="2794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55503F"/>
                </a:solidFill>
                <a:latin typeface="Consolas"/>
              </a:rPr>
              <a:t>МЕХАНИЗМ</a:t>
            </a:r>
            <a:endParaRPr sz="850" b="0" i="0" cap="none" spc="16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594" name="TextBox 10"/>
          <p:cNvSpPr txBox="1"/>
          <p:nvPr/>
        </p:nvSpPr>
        <p:spPr>
          <a:xfrm>
            <a:off x="3810000" y="1854200"/>
            <a:ext cx="3429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A82C1E"/>
                </a:solidFill>
                <a:latin typeface="Consolas"/>
              </a:rPr>
              <a:t>DIE LINKE</a:t>
            </a:r>
            <a:endParaRPr sz="850" b="0" i="0" cap="none" spc="16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95" name="TextBox 11"/>
          <p:cNvSpPr txBox="1"/>
          <p:nvPr/>
        </p:nvSpPr>
        <p:spPr>
          <a:xfrm>
            <a:off x="7620000" y="1854200"/>
            <a:ext cx="3683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cap="none" spc="160">
                <a:solidFill>
                  <a:srgbClr val="A82C1E"/>
                </a:solidFill>
                <a:latin typeface="Consolas"/>
              </a:rPr>
              <a:t>КПРФ</a:t>
            </a:r>
            <a:endParaRPr sz="850" b="0" i="0" cap="none" spc="16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596" name="Rectangle 12"/>
          <p:cNvSpPr/>
          <p:nvPr/>
        </p:nvSpPr>
        <p:spPr>
          <a:xfrm>
            <a:off x="812800" y="21336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597" name="TextBox 13"/>
          <p:cNvSpPr txBox="1"/>
          <p:nvPr/>
        </p:nvSpPr>
        <p:spPr>
          <a:xfrm>
            <a:off x="812800" y="2336800"/>
            <a:ext cx="27940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Районная работа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598" name="TextBox 14"/>
          <p:cNvSpPr txBox="1"/>
          <p:nvPr/>
        </p:nvSpPr>
        <p:spPr>
          <a:xfrm>
            <a:off x="3810000" y="2336800"/>
            <a:ext cx="3556000" cy="2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Постоянные отделения в спальных районах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599" name="TextBox 15"/>
          <p:cNvSpPr txBox="1"/>
          <p:nvPr/>
        </p:nvSpPr>
        <p:spPr>
          <a:xfrm>
            <a:off x="7620000" y="2336800"/>
            <a:ext cx="3810000" cy="2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1B1A18"/>
                </a:solidFill>
                <a:latin typeface="Georgia"/>
              </a:rPr>
              <a:t>Приёмная и депутатский запрос</a:t>
            </a:r>
            <a:endParaRPr sz="102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600" name="TextBox 16"/>
          <p:cNvSpPr txBox="1"/>
          <p:nvPr/>
        </p:nvSpPr>
        <p:spPr>
          <a:xfrm>
            <a:off x="812800" y="3073400"/>
            <a:ext cx="27940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Повестка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01" name="TextBox 17"/>
          <p:cNvSpPr txBox="1"/>
          <p:nvPr/>
        </p:nvSpPr>
        <p:spPr>
          <a:xfrm>
            <a:off x="3810000" y="3073400"/>
            <a:ext cx="3556000" cy="2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Аренда, жильё, выселения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02" name="TextBox 18"/>
          <p:cNvSpPr txBox="1"/>
          <p:nvPr/>
        </p:nvSpPr>
        <p:spPr>
          <a:xfrm>
            <a:off x="7620000" y="3073400"/>
            <a:ext cx="3810000" cy="2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1B1A18"/>
                </a:solidFill>
                <a:latin typeface="Georgia"/>
              </a:rPr>
              <a:t>Пенсии, тарифы, льготы</a:t>
            </a:r>
            <a:endParaRPr sz="102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603" name="TextBox 19"/>
          <p:cNvSpPr txBox="1"/>
          <p:nvPr/>
        </p:nvSpPr>
        <p:spPr>
          <a:xfrm>
            <a:off x="812800" y="3810000"/>
            <a:ext cx="27940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Лица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04" name="TextBox 20"/>
          <p:cNvSpPr txBox="1"/>
          <p:nvPr/>
        </p:nvSpPr>
        <p:spPr>
          <a:xfrm>
            <a:off x="3810000" y="3810000"/>
            <a:ext cx="3556000" cy="2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Кандидаты 25–35 лет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05" name="TextBox 21"/>
          <p:cNvSpPr txBox="1"/>
          <p:nvPr/>
        </p:nvSpPr>
        <p:spPr>
          <a:xfrm>
            <a:off x="7620000" y="3810000"/>
            <a:ext cx="3810000" cy="2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1B1A18"/>
                </a:solidFill>
                <a:latin typeface="Georgia"/>
              </a:rPr>
              <a:t>Узнаваемые старшие</a:t>
            </a:r>
            <a:endParaRPr sz="102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606" name="TextBox 22"/>
          <p:cNvSpPr txBox="1"/>
          <p:nvPr/>
        </p:nvSpPr>
        <p:spPr>
          <a:xfrm>
            <a:off x="812800" y="4546600"/>
            <a:ext cx="27940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cap="none">
                <a:solidFill>
                  <a:srgbClr val="1B1A18"/>
                </a:solidFill>
                <a:latin typeface="Bahnschrift SemiBold"/>
              </a:rPr>
              <a:t>Медиа</a:t>
            </a:r>
            <a:endParaRPr sz="11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07" name="TextBox 23"/>
          <p:cNvSpPr txBox="1"/>
          <p:nvPr/>
        </p:nvSpPr>
        <p:spPr>
          <a:xfrm>
            <a:off x="3810000" y="4546600"/>
            <a:ext cx="3556000" cy="2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TikTok, районные чаты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08" name="TextBox 24"/>
          <p:cNvSpPr txBox="1"/>
          <p:nvPr/>
        </p:nvSpPr>
        <p:spPr>
          <a:xfrm>
            <a:off x="7620000" y="4546600"/>
            <a:ext cx="3810000" cy="2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1B1A18"/>
                </a:solidFill>
                <a:latin typeface="Georgia"/>
              </a:rPr>
              <a:t>Газета и Telegram</a:t>
            </a:r>
            <a:endParaRPr sz="102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609" name="Rectangle 25"/>
          <p:cNvSpPr/>
          <p:nvPr/>
        </p:nvSpPr>
        <p:spPr>
          <a:xfrm>
            <a:off x="812800" y="5435600"/>
            <a:ext cx="109728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10" name="TextBox 26"/>
          <p:cNvSpPr txBox="1"/>
          <p:nvPr/>
        </p:nvSpPr>
        <p:spPr>
          <a:xfrm>
            <a:off x="812800" y="5562600"/>
            <a:ext cx="10972800" cy="317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1" cap="none">
                <a:solidFill>
                  <a:srgbClr val="1B1A18"/>
                </a:solidFill>
                <a:latin typeface="Georgia"/>
              </a:rPr>
              <a:t>Муниципальные выборы-2024: КПРФ — 10 мандатов, ЛДПР — 68, «Новые люди» — 36. Именно на этом уровне видно, есть ли у партии район.</a:t>
            </a:r>
            <a:endParaRPr sz="1100" b="0" i="1" cap="none">
              <a:solidFill>
                <a:srgbClr val="1B1A1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12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10 / ДЕМОГРАФИЯ</a:t>
            </a:r>
          </a:p>
        </p:txBody>
      </p:sp>
      <p:sp>
        <p:nvSpPr>
          <p:cNvPr id="613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14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База тает быстрее, чем растёт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15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16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18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11 / 17</a:t>
            </a:r>
          </a:p>
        </p:txBody>
      </p:sp>
      <p:sp>
        <p:nvSpPr>
          <p:cNvPr id="619" name="TextBox 9"/>
          <p:cNvSpPr txBox="1"/>
          <p:nvPr/>
        </p:nvSpPr>
        <p:spPr>
          <a:xfrm>
            <a:off x="812800" y="1854200"/>
            <a:ext cx="6350000" cy="242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 cap="none" spc="150">
                <a:solidFill>
                  <a:srgbClr val="A82C1E"/>
                </a:solidFill>
                <a:latin typeface="Consolas"/>
              </a:rPr>
              <a:t>РОЖДЕНИЯ В РОССИИ, МЛН ЧЕЛОВЕК</a:t>
            </a:r>
            <a:endParaRPr sz="860" b="0" i="0" cap="none" spc="15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620" name="Rectangle 10"/>
          <p:cNvSpPr/>
          <p:nvPr/>
        </p:nvSpPr>
        <p:spPr>
          <a:xfrm>
            <a:off x="812800" y="2489200"/>
            <a:ext cx="9525" cy="25908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21" name="Rectangle 11"/>
          <p:cNvSpPr/>
          <p:nvPr/>
        </p:nvSpPr>
        <p:spPr>
          <a:xfrm>
            <a:off x="812800" y="5080000"/>
            <a:ext cx="6350000" cy="9525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22" name="Rectangle 12"/>
          <p:cNvSpPr/>
          <p:nvPr/>
        </p:nvSpPr>
        <p:spPr>
          <a:xfrm>
            <a:off x="812800" y="4413250"/>
            <a:ext cx="6350000" cy="508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23" name="TextBox 13"/>
          <p:cNvSpPr txBox="1"/>
          <p:nvPr/>
        </p:nvSpPr>
        <p:spPr>
          <a:xfrm>
            <a:off x="279400" y="4324350"/>
            <a:ext cx="457200" cy="222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 i="0" cap="none">
                <a:solidFill>
                  <a:srgbClr val="55503F"/>
                </a:solidFill>
                <a:latin typeface="Consolas"/>
              </a:rPr>
              <a:t>0,5</a:t>
            </a:r>
            <a:endParaRPr sz="7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24" name="Rectangle 14"/>
          <p:cNvSpPr/>
          <p:nvPr/>
        </p:nvSpPr>
        <p:spPr>
          <a:xfrm>
            <a:off x="812800" y="3746500"/>
            <a:ext cx="6350000" cy="508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25" name="TextBox 15"/>
          <p:cNvSpPr txBox="1"/>
          <p:nvPr/>
        </p:nvSpPr>
        <p:spPr>
          <a:xfrm>
            <a:off x="279400" y="3657600"/>
            <a:ext cx="457200" cy="222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 i="0" cap="none">
                <a:solidFill>
                  <a:srgbClr val="55503F"/>
                </a:solidFill>
                <a:latin typeface="Consolas"/>
              </a:rPr>
              <a:t>1</a:t>
            </a:r>
            <a:endParaRPr sz="7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26" name="Rectangle 16"/>
          <p:cNvSpPr/>
          <p:nvPr/>
        </p:nvSpPr>
        <p:spPr>
          <a:xfrm>
            <a:off x="812800" y="3079750"/>
            <a:ext cx="6350000" cy="508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27" name="TextBox 17"/>
          <p:cNvSpPr txBox="1"/>
          <p:nvPr/>
        </p:nvSpPr>
        <p:spPr>
          <a:xfrm>
            <a:off x="279400" y="2990850"/>
            <a:ext cx="457200" cy="222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 i="0" cap="none">
                <a:solidFill>
                  <a:srgbClr val="55503F"/>
                </a:solidFill>
                <a:latin typeface="Consolas"/>
              </a:rPr>
              <a:t>1,5</a:t>
            </a:r>
            <a:endParaRPr sz="7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28" name="Rectangle 18"/>
          <p:cNvSpPr/>
          <p:nvPr/>
        </p:nvSpPr>
        <p:spPr>
          <a:xfrm>
            <a:off x="812800" y="2413000"/>
            <a:ext cx="6350000" cy="508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29" name="TextBox 19"/>
          <p:cNvSpPr txBox="1"/>
          <p:nvPr/>
        </p:nvSpPr>
        <p:spPr>
          <a:xfrm>
            <a:off x="279400" y="2324100"/>
            <a:ext cx="457200" cy="222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 i="0" cap="none">
                <a:solidFill>
                  <a:srgbClr val="55503F"/>
                </a:solidFill>
                <a:latin typeface="Consolas"/>
              </a:rPr>
              <a:t>2</a:t>
            </a:r>
            <a:endParaRPr sz="7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30" name="Rectangle 20"/>
          <p:cNvSpPr/>
          <p:nvPr/>
        </p:nvSpPr>
        <p:spPr>
          <a:xfrm>
            <a:off x="1524000" y="2493010"/>
            <a:ext cx="1016000" cy="258699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31" name="TextBox 21"/>
          <p:cNvSpPr txBox="1"/>
          <p:nvPr/>
        </p:nvSpPr>
        <p:spPr>
          <a:xfrm>
            <a:off x="1397000" y="2277110"/>
            <a:ext cx="127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 cap="none">
                <a:solidFill>
                  <a:srgbClr val="1B1A18"/>
                </a:solidFill>
                <a:latin typeface="Consolas"/>
              </a:rPr>
              <a:t>1,94</a:t>
            </a:r>
            <a:endParaRPr sz="900" b="0" i="0" cap="none">
              <a:solidFill>
                <a:srgbClr val="1B1A18"/>
              </a:solidFill>
              <a:latin typeface="Consolas"/>
            </a:endParaRPr>
          </a:p>
        </p:txBody>
      </p:sp>
      <p:sp>
        <p:nvSpPr>
          <p:cNvPr id="632" name="TextBox 22"/>
          <p:cNvSpPr txBox="1"/>
          <p:nvPr/>
        </p:nvSpPr>
        <p:spPr>
          <a:xfrm>
            <a:off x="1397000" y="5181600"/>
            <a:ext cx="1270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 cap="none">
                <a:solidFill>
                  <a:srgbClr val="55503F"/>
                </a:solidFill>
                <a:latin typeface="Consolas"/>
              </a:rPr>
              <a:t>2014</a:t>
            </a:r>
            <a:endParaRPr sz="8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33" name="Rectangle 23"/>
          <p:cNvSpPr/>
          <p:nvPr/>
        </p:nvSpPr>
        <p:spPr>
          <a:xfrm>
            <a:off x="3302000" y="3106420"/>
            <a:ext cx="1016000" cy="197358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34" name="TextBox 24"/>
          <p:cNvSpPr txBox="1"/>
          <p:nvPr/>
        </p:nvSpPr>
        <p:spPr>
          <a:xfrm>
            <a:off x="3175000" y="2890520"/>
            <a:ext cx="127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 cap="none">
                <a:solidFill>
                  <a:srgbClr val="1B1A18"/>
                </a:solidFill>
                <a:latin typeface="Consolas"/>
              </a:rPr>
              <a:t>1,48</a:t>
            </a:r>
            <a:endParaRPr sz="900" b="0" i="0" cap="none">
              <a:solidFill>
                <a:srgbClr val="1B1A18"/>
              </a:solidFill>
              <a:latin typeface="Consolas"/>
            </a:endParaRPr>
          </a:p>
        </p:txBody>
      </p:sp>
      <p:sp>
        <p:nvSpPr>
          <p:cNvPr id="635" name="TextBox 25"/>
          <p:cNvSpPr txBox="1"/>
          <p:nvPr/>
        </p:nvSpPr>
        <p:spPr>
          <a:xfrm>
            <a:off x="3175000" y="5181600"/>
            <a:ext cx="1270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 cap="none">
                <a:solidFill>
                  <a:srgbClr val="55503F"/>
                </a:solidFill>
                <a:latin typeface="Consolas"/>
              </a:rPr>
              <a:t>2019</a:t>
            </a:r>
            <a:endParaRPr sz="8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36" name="Rectangle 26"/>
          <p:cNvSpPr/>
          <p:nvPr/>
        </p:nvSpPr>
        <p:spPr>
          <a:xfrm>
            <a:off x="5080000" y="3453130"/>
            <a:ext cx="1016000" cy="162687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37" name="TextBox 27"/>
          <p:cNvSpPr txBox="1"/>
          <p:nvPr/>
        </p:nvSpPr>
        <p:spPr>
          <a:xfrm>
            <a:off x="4953000" y="3237230"/>
            <a:ext cx="127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 cap="none">
                <a:solidFill>
                  <a:srgbClr val="1B1A18"/>
                </a:solidFill>
                <a:latin typeface="Consolas"/>
              </a:rPr>
              <a:t>1,22</a:t>
            </a:r>
            <a:endParaRPr sz="900" b="0" i="0" cap="none">
              <a:solidFill>
                <a:srgbClr val="1B1A18"/>
              </a:solidFill>
              <a:latin typeface="Consolas"/>
            </a:endParaRPr>
          </a:p>
        </p:txBody>
      </p:sp>
      <p:sp>
        <p:nvSpPr>
          <p:cNvPr id="638" name="TextBox 28"/>
          <p:cNvSpPr txBox="1"/>
          <p:nvPr/>
        </p:nvSpPr>
        <p:spPr>
          <a:xfrm>
            <a:off x="4953000" y="5181600"/>
            <a:ext cx="1270000" cy="24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 i="0" cap="none">
                <a:solidFill>
                  <a:srgbClr val="55503F"/>
                </a:solidFill>
                <a:latin typeface="Consolas"/>
              </a:rPr>
              <a:t>2024</a:t>
            </a:r>
            <a:endParaRPr sz="850" b="0" i="0" cap="none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39" name="Rectangle 29"/>
          <p:cNvSpPr/>
          <p:nvPr/>
        </p:nvSpPr>
        <p:spPr>
          <a:xfrm>
            <a:off x="7874000" y="1854200"/>
            <a:ext cx="9525" cy="38100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40" name="TextBox 30"/>
          <p:cNvSpPr txBox="1"/>
          <p:nvPr/>
        </p:nvSpPr>
        <p:spPr>
          <a:xfrm>
            <a:off x="8077200" y="1854200"/>
            <a:ext cx="3302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180">
                <a:solidFill>
                  <a:srgbClr val="A82C1E"/>
                </a:solidFill>
                <a:latin typeface="Consolas"/>
              </a:rPr>
              <a:t>ТРИ ЦИФРЫ</a:t>
            </a:r>
            <a:endParaRPr sz="900" b="0" i="0" cap="none" spc="18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641" name="TextBox 31"/>
          <p:cNvSpPr txBox="1"/>
          <p:nvPr/>
        </p:nvSpPr>
        <p:spPr>
          <a:xfrm>
            <a:off x="8077200" y="2159000"/>
            <a:ext cx="3302000" cy="512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 cap="none">
                <a:solidFill>
                  <a:srgbClr val="1B1A18"/>
                </a:solidFill>
                <a:latin typeface="Bahnschrift SemiBold Condensed"/>
              </a:rPr>
              <a:t>≈ 1,4</a:t>
            </a:r>
            <a:endParaRPr sz="2400" b="0" i="0" cap="none">
              <a:solidFill>
                <a:srgbClr val="1B1A18"/>
              </a:solidFill>
              <a:latin typeface="Bahnschrift SemiBold Condensed"/>
            </a:endParaRPr>
          </a:p>
        </p:txBody>
      </p:sp>
      <p:sp>
        <p:nvSpPr>
          <p:cNvPr id="642" name="TextBox 32"/>
          <p:cNvSpPr txBox="1"/>
          <p:nvPr/>
        </p:nvSpPr>
        <p:spPr>
          <a:xfrm>
            <a:off x="8077200" y="2514600"/>
            <a:ext cx="3302000" cy="261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 cap="none">
                <a:solidFill>
                  <a:srgbClr val="55503F"/>
                </a:solidFill>
                <a:latin typeface="Georgia"/>
              </a:rPr>
              <a:t>суммарный коэффициент рождаемости</a:t>
            </a:r>
            <a:endParaRPr sz="93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43" name="TextBox 33"/>
          <p:cNvSpPr txBox="1"/>
          <p:nvPr/>
        </p:nvSpPr>
        <p:spPr>
          <a:xfrm>
            <a:off x="8077200" y="3048000"/>
            <a:ext cx="3302000" cy="512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 cap="none">
                <a:solidFill>
                  <a:srgbClr val="1B1A18"/>
                </a:solidFill>
                <a:latin typeface="Bahnschrift SemiBold Condensed"/>
              </a:rPr>
              <a:t>≈ 600 тыс.</a:t>
            </a:r>
            <a:endParaRPr sz="2400" b="0" i="0" cap="none">
              <a:solidFill>
                <a:srgbClr val="1B1A18"/>
              </a:solidFill>
              <a:latin typeface="Bahnschrift SemiBold Condensed"/>
            </a:endParaRPr>
          </a:p>
        </p:txBody>
      </p:sp>
      <p:sp>
        <p:nvSpPr>
          <p:cNvPr id="644" name="TextBox 34"/>
          <p:cNvSpPr txBox="1"/>
          <p:nvPr/>
        </p:nvSpPr>
        <p:spPr>
          <a:xfrm>
            <a:off x="8077200" y="3403600"/>
            <a:ext cx="3302000" cy="261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 cap="none">
                <a:solidFill>
                  <a:srgbClr val="55503F"/>
                </a:solidFill>
                <a:latin typeface="Georgia"/>
              </a:rPr>
              <a:t>естественная убыль в год</a:t>
            </a:r>
            <a:endParaRPr sz="93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45" name="TextBox 35"/>
          <p:cNvSpPr txBox="1"/>
          <p:nvPr/>
        </p:nvSpPr>
        <p:spPr>
          <a:xfrm>
            <a:off x="8077200" y="3937000"/>
            <a:ext cx="3302000" cy="512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 cap="none">
                <a:solidFill>
                  <a:srgbClr val="1B1A18"/>
                </a:solidFill>
                <a:latin typeface="Bahnschrift SemiBold Condensed"/>
              </a:rPr>
              <a:t>&lt; 8%</a:t>
            </a:r>
            <a:endParaRPr sz="2400" b="0" i="0" cap="none">
              <a:solidFill>
                <a:srgbClr val="1B1A18"/>
              </a:solidFill>
              <a:latin typeface="Bahnschrift SemiBold Condensed"/>
            </a:endParaRPr>
          </a:p>
        </p:txBody>
      </p:sp>
      <p:sp>
        <p:nvSpPr>
          <p:cNvPr id="646" name="TextBox 36"/>
          <p:cNvSpPr txBox="1"/>
          <p:nvPr/>
        </p:nvSpPr>
        <p:spPr>
          <a:xfrm>
            <a:off x="8077200" y="4292600"/>
            <a:ext cx="3302000" cy="261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 cap="none">
                <a:solidFill>
                  <a:srgbClr val="55503F"/>
                </a:solidFill>
                <a:latin typeface="Georgia"/>
              </a:rPr>
              <a:t>избирателей — 18–24 года</a:t>
            </a:r>
            <a:endParaRPr sz="93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47" name="TextBox 37"/>
          <p:cNvSpPr txBox="1"/>
          <p:nvPr/>
        </p:nvSpPr>
        <p:spPr>
          <a:xfrm>
            <a:off x="8077200" y="4826000"/>
            <a:ext cx="3302000" cy="512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 cap="none">
                <a:solidFill>
                  <a:srgbClr val="1B1A18"/>
                </a:solidFill>
                <a:latin typeface="Bahnschrift SemiBold Condensed"/>
              </a:rPr>
              <a:t>сотни тысяч</a:t>
            </a:r>
            <a:endParaRPr sz="2400" b="0" i="0" cap="none">
              <a:solidFill>
                <a:srgbClr val="1B1A18"/>
              </a:solidFill>
              <a:latin typeface="Bahnschrift SemiBold Condensed"/>
            </a:endParaRPr>
          </a:p>
        </p:txBody>
      </p:sp>
      <p:sp>
        <p:nvSpPr>
          <p:cNvPr id="648" name="TextBox 38"/>
          <p:cNvSpPr txBox="1"/>
          <p:nvPr/>
        </p:nvSpPr>
        <p:spPr>
          <a:xfrm>
            <a:off x="8077200" y="5181600"/>
            <a:ext cx="3302000" cy="261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30" b="0" i="0" cap="none">
                <a:solidFill>
                  <a:srgbClr val="55503F"/>
                </a:solidFill>
                <a:latin typeface="Georgia"/>
              </a:rPr>
              <a:t>уехали в 2022–2023, в основном молодые</a:t>
            </a:r>
            <a:endParaRPr sz="93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49" name="TextBox 39"/>
          <p:cNvSpPr txBox="1"/>
          <p:nvPr/>
        </p:nvSpPr>
        <p:spPr>
          <a:xfrm>
            <a:off x="812800" y="5715000"/>
            <a:ext cx="109728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 cap="none">
                <a:solidFill>
                  <a:srgbClr val="1B1A18"/>
                </a:solidFill>
                <a:latin typeface="Georgia"/>
              </a:rPr>
              <a:t>Партия, чей электорат старше страны, стареет быстрее страны.</a:t>
            </a:r>
            <a:endParaRPr sz="1150" b="0" i="1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650" name="TextBox 40"/>
          <p:cNvSpPr txBox="1"/>
          <p:nvPr/>
        </p:nvSpPr>
        <p:spPr>
          <a:xfrm>
            <a:off x="812800" y="6019800"/>
            <a:ext cx="10972800" cy="245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 cap="none">
                <a:solidFill>
                  <a:srgbClr val="55503F"/>
                </a:solidFill>
                <a:latin typeface="Georgia"/>
              </a:rPr>
              <a:t>Источник: Росстат; оценки — демографический прогноз, а не точный счёт.</a:t>
            </a:r>
            <a:endParaRPr sz="880" b="0" i="0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52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11 / МЕХАНИЗМ</a:t>
            </a:r>
          </a:p>
        </p:txBody>
      </p:sp>
      <p:sp>
        <p:nvSpPr>
          <p:cNvPr id="653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54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Три потери и один замкнутый круг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55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56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58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12 / 17</a:t>
            </a:r>
          </a:p>
        </p:txBody>
      </p:sp>
      <p:sp>
        <p:nvSpPr>
          <p:cNvPr id="659" name="Rectangle 9"/>
          <p:cNvSpPr/>
          <p:nvPr/>
        </p:nvSpPr>
        <p:spPr>
          <a:xfrm>
            <a:off x="812800" y="2159000"/>
            <a:ext cx="3454400" cy="19050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0" name="Rectangle 10"/>
          <p:cNvSpPr/>
          <p:nvPr/>
        </p:nvSpPr>
        <p:spPr>
          <a:xfrm>
            <a:off x="812800" y="21590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1" name="TextBox 11"/>
          <p:cNvSpPr txBox="1"/>
          <p:nvPr/>
        </p:nvSpPr>
        <p:spPr>
          <a:xfrm>
            <a:off x="1016000" y="2362200"/>
            <a:ext cx="5080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cap="none">
                <a:solidFill>
                  <a:srgbClr val="A82C1E"/>
                </a:solidFill>
                <a:latin typeface="Consolas"/>
              </a:rPr>
              <a:t>01</a:t>
            </a:r>
            <a:endParaRPr sz="10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662" name="TextBox 12"/>
          <p:cNvSpPr txBox="1"/>
          <p:nvPr/>
        </p:nvSpPr>
        <p:spPr>
          <a:xfrm>
            <a:off x="1016000" y="2692400"/>
            <a:ext cx="3048000" cy="34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cap="none">
                <a:solidFill>
                  <a:srgbClr val="1B1A18"/>
                </a:solidFill>
                <a:latin typeface="Bahnschrift SemiBold"/>
              </a:rPr>
              <a:t>Смертность ядра</a:t>
            </a:r>
            <a:endParaRPr sz="14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63" name="TextBox 13"/>
          <p:cNvSpPr txBox="1"/>
          <p:nvPr/>
        </p:nvSpPr>
        <p:spPr>
          <a:xfrm>
            <a:off x="1016000" y="3048000"/>
            <a:ext cx="3048000" cy="697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Каждые пять лет из электората выбывает поколение 1940–50-х. Это не протест и не разочарование — это биология.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64" name="Arrow 14"/>
          <p:cNvSpPr/>
          <p:nvPr/>
        </p:nvSpPr>
        <p:spPr>
          <a:xfrm>
            <a:off x="4305300" y="2946400"/>
            <a:ext cx="254000" cy="381000"/>
          </a:xfrm>
          <a:prstGeom prst="rightArrow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5" name="Rectangle 15"/>
          <p:cNvSpPr/>
          <p:nvPr/>
        </p:nvSpPr>
        <p:spPr>
          <a:xfrm>
            <a:off x="4622800" y="2159000"/>
            <a:ext cx="3454400" cy="19050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6" name="Rectangle 16"/>
          <p:cNvSpPr/>
          <p:nvPr/>
        </p:nvSpPr>
        <p:spPr>
          <a:xfrm>
            <a:off x="4622800" y="21590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67" name="TextBox 17"/>
          <p:cNvSpPr txBox="1"/>
          <p:nvPr/>
        </p:nvSpPr>
        <p:spPr>
          <a:xfrm>
            <a:off x="4826000" y="2362200"/>
            <a:ext cx="5080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cap="none">
                <a:solidFill>
                  <a:srgbClr val="A82C1E"/>
                </a:solidFill>
                <a:latin typeface="Consolas"/>
              </a:rPr>
              <a:t>02</a:t>
            </a:r>
            <a:endParaRPr sz="10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668" name="TextBox 18"/>
          <p:cNvSpPr txBox="1"/>
          <p:nvPr/>
        </p:nvSpPr>
        <p:spPr>
          <a:xfrm>
            <a:off x="4826000" y="2692400"/>
            <a:ext cx="3048000" cy="34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cap="none">
                <a:solidFill>
                  <a:srgbClr val="1B1A18"/>
                </a:solidFill>
                <a:latin typeface="Bahnschrift SemiBold"/>
              </a:rPr>
              <a:t>Нет замены</a:t>
            </a:r>
            <a:endParaRPr sz="14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69" name="TextBox 19"/>
          <p:cNvSpPr txBox="1"/>
          <p:nvPr/>
        </p:nvSpPr>
        <p:spPr>
          <a:xfrm>
            <a:off x="4826000" y="3048000"/>
            <a:ext cx="3048000" cy="495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Молодёжь не приходит: мешают бренд, повестка и отсутствие районной работы.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70" name="Arrow 20"/>
          <p:cNvSpPr/>
          <p:nvPr/>
        </p:nvSpPr>
        <p:spPr>
          <a:xfrm>
            <a:off x="8115300" y="2946400"/>
            <a:ext cx="254000" cy="381000"/>
          </a:xfrm>
          <a:prstGeom prst="rightArrow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1" name="Rectangle 21"/>
          <p:cNvSpPr/>
          <p:nvPr/>
        </p:nvSpPr>
        <p:spPr>
          <a:xfrm>
            <a:off x="8432800" y="2159000"/>
            <a:ext cx="3454400" cy="19050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2" name="Rectangle 22"/>
          <p:cNvSpPr/>
          <p:nvPr/>
        </p:nvSpPr>
        <p:spPr>
          <a:xfrm>
            <a:off x="8432800" y="21590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3" name="TextBox 23"/>
          <p:cNvSpPr txBox="1"/>
          <p:nvPr/>
        </p:nvSpPr>
        <p:spPr>
          <a:xfrm>
            <a:off x="8636000" y="2362200"/>
            <a:ext cx="5080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cap="none">
                <a:solidFill>
                  <a:srgbClr val="A82C1E"/>
                </a:solidFill>
                <a:latin typeface="Consolas"/>
              </a:rPr>
              <a:t>03</a:t>
            </a:r>
            <a:endParaRPr sz="10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674" name="TextBox 24"/>
          <p:cNvSpPr txBox="1"/>
          <p:nvPr/>
        </p:nvSpPr>
        <p:spPr>
          <a:xfrm>
            <a:off x="8636000" y="2692400"/>
            <a:ext cx="3048000" cy="345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cap="none">
                <a:solidFill>
                  <a:srgbClr val="1B1A18"/>
                </a:solidFill>
                <a:latin typeface="Bahnschrift SemiBold"/>
              </a:rPr>
              <a:t>Рост явки</a:t>
            </a:r>
            <a:endParaRPr sz="14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75" name="TextBox 25"/>
          <p:cNvSpPr txBox="1"/>
          <p:nvPr/>
        </p:nvSpPr>
        <p:spPr>
          <a:xfrm>
            <a:off x="8636000" y="3048000"/>
            <a:ext cx="3048000" cy="697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Власть мобилизует новых избирателей — и доля КПРФ падает даже при стабильном числе голосов.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76" name="Rectangle 26"/>
          <p:cNvSpPr/>
          <p:nvPr/>
        </p:nvSpPr>
        <p:spPr>
          <a:xfrm>
            <a:off x="812800" y="4572000"/>
            <a:ext cx="10972800" cy="10922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77" name="TextBox 27"/>
          <p:cNvSpPr txBox="1"/>
          <p:nvPr/>
        </p:nvSpPr>
        <p:spPr>
          <a:xfrm>
            <a:off x="1016000" y="4724400"/>
            <a:ext cx="381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BE8B2E"/>
                </a:solidFill>
                <a:latin typeface="Consolas"/>
              </a:rPr>
              <a:t>Замкнутый круг</a:t>
            </a:r>
            <a:endParaRPr sz="900" b="0" i="0" cap="none" spc="200">
              <a:solidFill>
                <a:srgbClr val="BE8B2E"/>
              </a:solidFill>
              <a:latin typeface="Consolas"/>
            </a:endParaRPr>
          </a:p>
        </p:txBody>
      </p:sp>
      <p:sp>
        <p:nvSpPr>
          <p:cNvPr id="678" name="TextBox 28"/>
          <p:cNvSpPr txBox="1"/>
          <p:nvPr/>
        </p:nvSpPr>
        <p:spPr>
          <a:xfrm>
            <a:off x="1016000" y="5003800"/>
            <a:ext cx="10541000" cy="348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 cap="none">
                <a:solidFill>
                  <a:srgbClr val="F0E8D6"/>
                </a:solidFill>
                <a:latin typeface="Georgia"/>
              </a:rPr>
              <a:t>Чем старше электорат, тем меньше стимулов говорить с молодыми — и тем старше электорат.</a:t>
            </a:r>
            <a:endParaRPr sz="1250" b="0" i="0" cap="none">
              <a:solidFill>
                <a:srgbClr val="F0E8D6"/>
              </a:solidFill>
              <a:latin typeface="Georgia"/>
            </a:endParaRPr>
          </a:p>
        </p:txBody>
      </p:sp>
      <p:sp>
        <p:nvSpPr>
          <p:cNvPr id="679" name="TextBox 29"/>
          <p:cNvSpPr txBox="1"/>
          <p:nvPr/>
        </p:nvSpPr>
        <p:spPr>
          <a:xfrm>
            <a:off x="812800" y="5867400"/>
            <a:ext cx="10972800" cy="2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1" cap="none">
                <a:solidFill>
                  <a:srgbClr val="55503F"/>
                </a:solidFill>
                <a:latin typeface="Georgia"/>
              </a:rPr>
              <a:t>Разорвать круг можно только извне: новая повестка, новые лица и работа в городских сообществах.</a:t>
            </a:r>
            <a:endParaRPr sz="1100" b="0" i="1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63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12 / ГИПОТЕЗА</a:t>
            </a:r>
          </a:p>
        </p:txBody>
      </p:sp>
      <p:sp>
        <p:nvSpPr>
          <p:cNvPr id="764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765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Рабочая гипотеза: два потока, одна воронка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66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67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69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13 / 17</a:t>
            </a:r>
          </a:p>
        </p:txBody>
      </p:sp>
      <p:sp>
        <p:nvSpPr>
          <p:cNvPr id="770" name="Rectangle 9"/>
          <p:cNvSpPr/>
          <p:nvPr/>
        </p:nvSpPr>
        <p:spPr>
          <a:xfrm>
            <a:off x="812800" y="1854200"/>
            <a:ext cx="10972800" cy="13208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71" name="TextBox 10"/>
          <p:cNvSpPr txBox="1"/>
          <p:nvPr/>
        </p:nvSpPr>
        <p:spPr>
          <a:xfrm>
            <a:off x="1016000" y="2057400"/>
            <a:ext cx="10566400" cy="790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 i="0" cap="none">
                <a:solidFill>
                  <a:srgbClr val="F0E8D6"/>
                </a:solidFill>
                <a:latin typeface="Georgia"/>
              </a:rPr>
              <a:t>Электорат КПРФ сокращается потому, что старшее ядро выбывает естественным путём, а рабочая молодёжь не приходит на его место.</a:t>
            </a:r>
            <a:endParaRPr sz="1700" b="0" i="0" cap="none">
              <a:solidFill>
                <a:srgbClr val="F0E8D6"/>
              </a:solidFill>
              <a:latin typeface="Georgia"/>
            </a:endParaRPr>
          </a:p>
        </p:txBody>
      </p:sp>
      <p:sp>
        <p:nvSpPr>
          <p:cNvPr id="772" name="Rectangle 11"/>
          <p:cNvSpPr/>
          <p:nvPr/>
        </p:nvSpPr>
        <p:spPr>
          <a:xfrm>
            <a:off x="812800" y="3454400"/>
            <a:ext cx="3454400" cy="18542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73" name="Rectangle 12"/>
          <p:cNvSpPr/>
          <p:nvPr/>
        </p:nvSpPr>
        <p:spPr>
          <a:xfrm>
            <a:off x="812800" y="34544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74" name="TextBox 13"/>
          <p:cNvSpPr txBox="1"/>
          <p:nvPr/>
        </p:nvSpPr>
        <p:spPr>
          <a:xfrm>
            <a:off x="1016000" y="3632200"/>
            <a:ext cx="762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A82C1E"/>
                </a:solidFill>
                <a:latin typeface="Consolas"/>
              </a:rPr>
              <a:t>H1</a:t>
            </a:r>
            <a:endParaRPr sz="950" b="0" i="0" cap="none" spc="14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75" name="TextBox 14"/>
          <p:cNvSpPr txBox="1"/>
          <p:nvPr/>
        </p:nvSpPr>
        <p:spPr>
          <a:xfrm>
            <a:off x="1016000" y="3911600"/>
            <a:ext cx="3048000" cy="32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 cap="none">
                <a:solidFill>
                  <a:srgbClr val="1B1A18"/>
                </a:solidFill>
                <a:latin typeface="Bahnschrift SemiBold"/>
              </a:rPr>
              <a:t>Выбытие ядра</a:t>
            </a:r>
            <a:endParaRPr sz="13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76" name="TextBox 15"/>
          <p:cNvSpPr txBox="1"/>
          <p:nvPr/>
        </p:nvSpPr>
        <p:spPr>
          <a:xfrm>
            <a:off x="1016000" y="4241800"/>
            <a:ext cx="3048000" cy="707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Поколение 1940–50-х уходит. Доля 55+ остаётся 70%, но сама численность ядра падает.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77" name="Rectangle 16"/>
          <p:cNvSpPr/>
          <p:nvPr/>
        </p:nvSpPr>
        <p:spPr>
          <a:xfrm>
            <a:off x="4495800" y="3454400"/>
            <a:ext cx="3454400" cy="18542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78" name="Rectangle 17"/>
          <p:cNvSpPr/>
          <p:nvPr/>
        </p:nvSpPr>
        <p:spPr>
          <a:xfrm>
            <a:off x="4495800" y="34544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79" name="TextBox 18"/>
          <p:cNvSpPr txBox="1"/>
          <p:nvPr/>
        </p:nvSpPr>
        <p:spPr>
          <a:xfrm>
            <a:off x="4699000" y="3632200"/>
            <a:ext cx="762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A82C1E"/>
                </a:solidFill>
                <a:latin typeface="Consolas"/>
              </a:rPr>
              <a:t>H2</a:t>
            </a:r>
            <a:endParaRPr sz="950" b="0" i="0" cap="none" spc="14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80" name="TextBox 19"/>
          <p:cNvSpPr txBox="1"/>
          <p:nvPr/>
        </p:nvSpPr>
        <p:spPr>
          <a:xfrm>
            <a:off x="4699000" y="3911600"/>
            <a:ext cx="3048000" cy="32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 cap="none">
                <a:solidFill>
                  <a:srgbClr val="1B1A18"/>
                </a:solidFill>
                <a:latin typeface="Bahnschrift SemiBold"/>
              </a:rPr>
              <a:t>Нет притока</a:t>
            </a:r>
            <a:endParaRPr sz="13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81" name="TextBox 20"/>
          <p:cNvSpPr txBox="1"/>
          <p:nvPr/>
        </p:nvSpPr>
        <p:spPr>
          <a:xfrm>
            <a:off x="4699000" y="4241800"/>
            <a:ext cx="3048000" cy="707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Рабочая молодёжь 18–34 не видит в партии канал защиты: аренда, зарплата, условия труда.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82" name="Rectangle 21"/>
          <p:cNvSpPr/>
          <p:nvPr/>
        </p:nvSpPr>
        <p:spPr>
          <a:xfrm>
            <a:off x="8178800" y="3454400"/>
            <a:ext cx="3454400" cy="18542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83" name="Rectangle 22"/>
          <p:cNvSpPr/>
          <p:nvPr/>
        </p:nvSpPr>
        <p:spPr>
          <a:xfrm>
            <a:off x="8178800" y="34544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84" name="TextBox 23"/>
          <p:cNvSpPr txBox="1"/>
          <p:nvPr/>
        </p:nvSpPr>
        <p:spPr>
          <a:xfrm>
            <a:off x="8382000" y="3632200"/>
            <a:ext cx="762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A82C1E"/>
                </a:solidFill>
                <a:latin typeface="Consolas"/>
              </a:rPr>
              <a:t>H3</a:t>
            </a:r>
            <a:endParaRPr sz="950" b="0" i="0" cap="none" spc="14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85" name="TextBox 24"/>
          <p:cNvSpPr txBox="1"/>
          <p:nvPr/>
        </p:nvSpPr>
        <p:spPr>
          <a:xfrm>
            <a:off x="8382000" y="3911600"/>
            <a:ext cx="3048000" cy="32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 cap="none">
                <a:solidFill>
                  <a:srgbClr val="1B1A18"/>
                </a:solidFill>
                <a:latin typeface="Bahnschrift SemiBold"/>
              </a:rPr>
              <a:t>Эффект явки</a:t>
            </a:r>
            <a:endParaRPr sz="13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86" name="TextBox 25"/>
          <p:cNvSpPr txBox="1"/>
          <p:nvPr/>
        </p:nvSpPr>
        <p:spPr>
          <a:xfrm>
            <a:off x="8382000" y="4241800"/>
            <a:ext cx="3048000" cy="707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20" b="0" i="0" cap="none">
                <a:solidFill>
                  <a:srgbClr val="55503F"/>
                </a:solidFill>
                <a:latin typeface="Georgia"/>
              </a:rPr>
              <a:t>При росте явки доля падает даже при стабильных голосах: новые избиратели уходят другим.</a:t>
            </a:r>
            <a:endParaRPr sz="102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87" name="TextBox 26"/>
          <p:cNvSpPr txBox="1"/>
          <p:nvPr/>
        </p:nvSpPr>
        <p:spPr>
          <a:xfrm>
            <a:off x="812800" y="5638800"/>
            <a:ext cx="10972800" cy="292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 cap="none">
                <a:solidFill>
                  <a:srgbClr val="1B1A18"/>
                </a:solidFill>
                <a:latin typeface="Georgia"/>
              </a:rPr>
              <a:t>Следствие: партия сохраняет второе место и теряет представительство — как в Петербурге в 2026-м.</a:t>
            </a:r>
            <a:endParaRPr sz="1150" b="0" i="1" cap="none">
              <a:solidFill>
                <a:srgbClr val="1B1A1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50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13 / ГИПОТЕЗА</a:t>
            </a:r>
          </a:p>
        </p:txBody>
      </p:sp>
      <p:sp>
        <p:nvSpPr>
          <p:cNvPr id="851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852" name="TextBox 4"/>
          <p:cNvSpPr txBox="1"/>
          <p:nvPr/>
        </p:nvSpPr>
        <p:spPr>
          <a:xfrm>
            <a:off x="812800" y="635000"/>
            <a:ext cx="10541000" cy="53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0" i="0" cap="none">
                <a:solidFill>
                  <a:srgbClr val="1B1A18"/>
                </a:solidFill>
                <a:latin typeface="Bahnschrift SemiBold"/>
              </a:rPr>
              <a:t>Исследовательская гипотеза: когортное замещение</a:t>
            </a:r>
            <a:endParaRPr sz="29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853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54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55" name="TextBox 7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14 / 17</a:t>
            </a:r>
          </a:p>
        </p:txBody>
      </p:sp>
      <p:sp>
        <p:nvSpPr>
          <p:cNvPr id="856" name="TextBox 8"/>
          <p:cNvSpPr txBox="1"/>
          <p:nvPr/>
        </p:nvSpPr>
        <p:spPr>
          <a:xfrm>
            <a:off x="812800" y="1778000"/>
            <a:ext cx="6350000" cy="245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 cap="none" spc="200">
                <a:solidFill>
                  <a:srgbClr val="A82C1E"/>
                </a:solidFill>
                <a:latin typeface="Consolas"/>
              </a:rPr>
              <a:t>ИССЛЕДОВАТЕЛЬСКИЙ ВОПРОС</a:t>
            </a:r>
            <a:endParaRPr sz="88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57" name="TextBox 9"/>
          <p:cNvSpPr txBox="1"/>
          <p:nvPr/>
        </p:nvSpPr>
        <p:spPr>
          <a:xfrm>
            <a:off x="812800" y="2006600"/>
            <a:ext cx="10972800" cy="336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 cap="none">
                <a:solidFill>
                  <a:srgbClr val="1B1A18"/>
                </a:solidFill>
                <a:latin typeface="Georgia"/>
              </a:rPr>
              <a:t>Сокращается ли поддержка КПРФ потому, что меняются взгляды, — или потому, что меняются поколения?</a:t>
            </a:r>
            <a:endParaRPr sz="1400" b="0" i="1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858" name="Rectangle 10"/>
          <p:cNvSpPr/>
          <p:nvPr/>
        </p:nvSpPr>
        <p:spPr>
          <a:xfrm>
            <a:off x="812800" y="2489200"/>
            <a:ext cx="10972800" cy="12192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59" name="TextBox 11"/>
          <p:cNvSpPr txBox="1"/>
          <p:nvPr/>
        </p:nvSpPr>
        <p:spPr>
          <a:xfrm>
            <a:off x="1016000" y="2667000"/>
            <a:ext cx="10541000" cy="601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 i="0" cap="none">
                <a:solidFill>
                  <a:srgbClr val="F0E8D6"/>
                </a:solidFill>
                <a:latin typeface="Georgia"/>
              </a:rPr>
              <a:t>Поддержка КПРФ сокращается главным образом из-за когортного замещения: уходят поколения, социализированные в СССР, а новые поколения не формируют партийной идентификации с партией. Организационная слабость усиливает эффект, но не создаёт его.</a:t>
            </a:r>
            <a:endParaRPr sz="1240" b="0" i="0" cap="none">
              <a:solidFill>
                <a:srgbClr val="F0E8D6"/>
              </a:solidFill>
              <a:latin typeface="Georgia"/>
            </a:endParaRPr>
          </a:p>
        </p:txBody>
      </p:sp>
      <p:sp>
        <p:nvSpPr>
          <p:cNvPr id="860" name="Rectangle 12"/>
          <p:cNvSpPr/>
          <p:nvPr/>
        </p:nvSpPr>
        <p:spPr>
          <a:xfrm>
            <a:off x="812800" y="3937000"/>
            <a:ext cx="3454400" cy="15240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61" name="Rectangle 13"/>
          <p:cNvSpPr/>
          <p:nvPr/>
        </p:nvSpPr>
        <p:spPr>
          <a:xfrm>
            <a:off x="812800" y="39370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62" name="TextBox 14"/>
          <p:cNvSpPr txBox="1"/>
          <p:nvPr/>
        </p:nvSpPr>
        <p:spPr>
          <a:xfrm>
            <a:off x="1016000" y="4089400"/>
            <a:ext cx="635000" cy="252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20" b="0" i="0" cap="none" spc="120">
                <a:solidFill>
                  <a:srgbClr val="A82C1E"/>
                </a:solidFill>
                <a:latin typeface="Consolas"/>
              </a:rPr>
              <a:t>H1</a:t>
            </a:r>
            <a:endParaRPr sz="920" b="0" i="0" cap="none" spc="1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63" name="TextBox 15"/>
          <p:cNvSpPr txBox="1"/>
          <p:nvPr/>
        </p:nvSpPr>
        <p:spPr>
          <a:xfrm>
            <a:off x="1016000" y="4343400"/>
            <a:ext cx="3048000" cy="319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cap="none">
                <a:solidFill>
                  <a:srgbClr val="1B1A18"/>
                </a:solidFill>
                <a:latin typeface="Bahnschrift SemiBold"/>
              </a:rPr>
              <a:t>Композиция</a:t>
            </a:r>
            <a:endParaRPr sz="13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864" name="TextBox 16"/>
          <p:cNvSpPr txBox="1"/>
          <p:nvPr/>
        </p:nvSpPr>
        <p:spPr>
          <a:xfrm>
            <a:off x="1016000" y="4648200"/>
            <a:ext cx="3048000" cy="662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0" b="0" i="0" cap="none">
                <a:solidFill>
                  <a:srgbClr val="55503F"/>
                </a:solidFill>
                <a:latin typeface="Georgia"/>
              </a:rPr>
              <a:t>Доля 55+ растёт не потому, что пожилые «переходят» к КПРФ, а потому, что молодые не приходят.</a:t>
            </a:r>
            <a:endParaRPr sz="9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865" name="Rectangle 17"/>
          <p:cNvSpPr/>
          <p:nvPr/>
        </p:nvSpPr>
        <p:spPr>
          <a:xfrm>
            <a:off x="4495800" y="3937000"/>
            <a:ext cx="3454400" cy="15240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66" name="Rectangle 18"/>
          <p:cNvSpPr/>
          <p:nvPr/>
        </p:nvSpPr>
        <p:spPr>
          <a:xfrm>
            <a:off x="4495800" y="39370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67" name="TextBox 19"/>
          <p:cNvSpPr txBox="1"/>
          <p:nvPr/>
        </p:nvSpPr>
        <p:spPr>
          <a:xfrm>
            <a:off x="4699000" y="4089400"/>
            <a:ext cx="635000" cy="252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20" b="0" i="0" cap="none" spc="120">
                <a:solidFill>
                  <a:srgbClr val="A82C1E"/>
                </a:solidFill>
                <a:latin typeface="Consolas"/>
              </a:rPr>
              <a:t>H2</a:t>
            </a:r>
            <a:endParaRPr sz="920" b="0" i="0" cap="none" spc="1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68" name="TextBox 20"/>
          <p:cNvSpPr txBox="1"/>
          <p:nvPr/>
        </p:nvSpPr>
        <p:spPr>
          <a:xfrm>
            <a:off x="4699000" y="4343400"/>
            <a:ext cx="3048000" cy="319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cap="none">
                <a:solidFill>
                  <a:srgbClr val="1B1A18"/>
                </a:solidFill>
                <a:latin typeface="Bahnschrift SemiBold"/>
              </a:rPr>
              <a:t>Социализация</a:t>
            </a:r>
            <a:endParaRPr sz="13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869" name="TextBox 21"/>
          <p:cNvSpPr txBox="1"/>
          <p:nvPr/>
        </p:nvSpPr>
        <p:spPr>
          <a:xfrm>
            <a:off x="4699000" y="4648200"/>
            <a:ext cx="3048000" cy="662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0" b="0" i="0" cap="none">
                <a:solidFill>
                  <a:srgbClr val="55503F"/>
                </a:solidFill>
                <a:latin typeface="Georgia"/>
              </a:rPr>
              <a:t>У когорт, социализированных после 1991 года, вероятность голосовать за КПРФ ниже при контроле на доход и образование.</a:t>
            </a:r>
            <a:endParaRPr sz="9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870" name="Rectangle 22"/>
          <p:cNvSpPr/>
          <p:nvPr/>
        </p:nvSpPr>
        <p:spPr>
          <a:xfrm>
            <a:off x="8178800" y="3937000"/>
            <a:ext cx="3454400" cy="1524000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71" name="Rectangle 23"/>
          <p:cNvSpPr/>
          <p:nvPr/>
        </p:nvSpPr>
        <p:spPr>
          <a:xfrm>
            <a:off x="8178800" y="3937000"/>
            <a:ext cx="34544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72" name="TextBox 24"/>
          <p:cNvSpPr txBox="1"/>
          <p:nvPr/>
        </p:nvSpPr>
        <p:spPr>
          <a:xfrm>
            <a:off x="8382000" y="4089400"/>
            <a:ext cx="635000" cy="252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20" b="0" i="0" cap="none" spc="120">
                <a:solidFill>
                  <a:srgbClr val="A82C1E"/>
                </a:solidFill>
                <a:latin typeface="Consolas"/>
              </a:rPr>
              <a:t>H3</a:t>
            </a:r>
            <a:endParaRPr sz="920" b="0" i="0" cap="none" spc="1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73" name="TextBox 25"/>
          <p:cNvSpPr txBox="1"/>
          <p:nvPr/>
        </p:nvSpPr>
        <p:spPr>
          <a:xfrm>
            <a:off x="8382000" y="4343400"/>
            <a:ext cx="3048000" cy="319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cap="none">
                <a:solidFill>
                  <a:srgbClr val="1B1A18"/>
                </a:solidFill>
                <a:latin typeface="Bahnschrift SemiBold"/>
              </a:rPr>
              <a:t>Модерация</a:t>
            </a:r>
            <a:endParaRPr sz="13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874" name="TextBox 26"/>
          <p:cNvSpPr txBox="1"/>
          <p:nvPr/>
        </p:nvSpPr>
        <p:spPr>
          <a:xfrm>
            <a:off x="8382000" y="4648200"/>
            <a:ext cx="3048000" cy="471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0" b="0" i="0" cap="none">
                <a:solidFill>
                  <a:srgbClr val="55503F"/>
                </a:solidFill>
                <a:latin typeface="Georgia"/>
              </a:rPr>
              <a:t>Там, где есть районная организация, межпоколенческий разрыв меньше.</a:t>
            </a:r>
            <a:endParaRPr sz="9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875" name="TextBox 27"/>
          <p:cNvSpPr txBox="1"/>
          <p:nvPr/>
        </p:nvSpPr>
        <p:spPr>
          <a:xfrm>
            <a:off x="812800" y="5664200"/>
            <a:ext cx="10972800" cy="27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40" b="0" i="1" cap="none">
                <a:solidFill>
                  <a:srgbClr val="55503F"/>
                </a:solidFill>
                <a:latin typeface="Georgia"/>
              </a:rPr>
              <a:t>Теоретическая рамка: теория поколений (Маннгейм), когортное замещение (Инглхарт), кливаджи (Липсет–Роккан), делегитимация партий.</a:t>
            </a:r>
            <a:endParaRPr sz="940" b="0" i="1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89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14 / ПРОВЕРКА</a:t>
            </a:r>
          </a:p>
        </p:txBody>
      </p:sp>
      <p:sp>
        <p:nvSpPr>
          <p:cNvPr id="790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791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Как проверить гипотезу и что её опровергнет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92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93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95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15 / 17</a:t>
            </a:r>
          </a:p>
        </p:txBody>
      </p:sp>
      <p:sp>
        <p:nvSpPr>
          <p:cNvPr id="796" name="TextBox 9"/>
          <p:cNvSpPr txBox="1"/>
          <p:nvPr/>
        </p:nvSpPr>
        <p:spPr>
          <a:xfrm>
            <a:off x="812800" y="1854200"/>
            <a:ext cx="5080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ЕСЛИ ГИПОТЕЗА ВЕРНА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97" name="TextBox 10"/>
          <p:cNvSpPr txBox="1"/>
          <p:nvPr/>
        </p:nvSpPr>
        <p:spPr>
          <a:xfrm>
            <a:off x="812800" y="2260600"/>
            <a:ext cx="381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>
                <a:solidFill>
                  <a:srgbClr val="A82C1E"/>
                </a:solidFill>
                <a:latin typeface="Consolas"/>
              </a:rPr>
              <a:t>01</a:t>
            </a:r>
            <a:endParaRPr sz="9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98" name="TextBox 11"/>
          <p:cNvSpPr txBox="1"/>
          <p:nvPr/>
        </p:nvSpPr>
        <p:spPr>
          <a:xfrm>
            <a:off x="1270000" y="2235200"/>
            <a:ext cx="4572000" cy="301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Медианный возраст сторонников растёт от кампании к кампании.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799" name="TextBox 12"/>
          <p:cNvSpPr txBox="1"/>
          <p:nvPr/>
        </p:nvSpPr>
        <p:spPr>
          <a:xfrm>
            <a:off x="812800" y="2971800"/>
            <a:ext cx="381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>
                <a:solidFill>
                  <a:srgbClr val="A82C1E"/>
                </a:solidFill>
                <a:latin typeface="Consolas"/>
              </a:rPr>
              <a:t>02</a:t>
            </a:r>
            <a:endParaRPr sz="9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00" name="TextBox 13"/>
          <p:cNvSpPr txBox="1"/>
          <p:nvPr/>
        </p:nvSpPr>
        <p:spPr>
          <a:xfrm>
            <a:off x="1270000" y="2946400"/>
            <a:ext cx="4572000" cy="301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Абсолютные голоса стагнируют, а доля падает при росте явки.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801" name="TextBox 14"/>
          <p:cNvSpPr txBox="1"/>
          <p:nvPr/>
        </p:nvSpPr>
        <p:spPr>
          <a:xfrm>
            <a:off x="812800" y="3683000"/>
            <a:ext cx="381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>
                <a:solidFill>
                  <a:srgbClr val="A82C1E"/>
                </a:solidFill>
                <a:latin typeface="Consolas"/>
              </a:rPr>
              <a:t>03</a:t>
            </a:r>
            <a:endParaRPr sz="9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02" name="TextBox 15"/>
          <p:cNvSpPr txBox="1"/>
          <p:nvPr/>
        </p:nvSpPr>
        <p:spPr>
          <a:xfrm>
            <a:off x="1270000" y="3657600"/>
            <a:ext cx="4572000" cy="301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Поддержка 18–34 ниже средней по партии в разы.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803" name="TextBox 16"/>
          <p:cNvSpPr txBox="1"/>
          <p:nvPr/>
        </p:nvSpPr>
        <p:spPr>
          <a:xfrm>
            <a:off x="812800" y="4394200"/>
            <a:ext cx="381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>
                <a:solidFill>
                  <a:srgbClr val="A82C1E"/>
                </a:solidFill>
                <a:latin typeface="Consolas"/>
              </a:rPr>
              <a:t>04</a:t>
            </a:r>
            <a:endParaRPr sz="9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04" name="TextBox 17"/>
          <p:cNvSpPr txBox="1"/>
          <p:nvPr/>
        </p:nvSpPr>
        <p:spPr>
          <a:xfrm>
            <a:off x="1270000" y="4368800"/>
            <a:ext cx="4572000" cy="51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В новых районах с молодой структурой результат ниже, чем в старых спальных.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805" name="TextBox 18"/>
          <p:cNvSpPr txBox="1"/>
          <p:nvPr/>
        </p:nvSpPr>
        <p:spPr>
          <a:xfrm>
            <a:off x="812800" y="5105400"/>
            <a:ext cx="381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>
                <a:solidFill>
                  <a:srgbClr val="A82C1E"/>
                </a:solidFill>
                <a:latin typeface="Consolas"/>
              </a:rPr>
              <a:t>05</a:t>
            </a:r>
            <a:endParaRPr sz="9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06" name="TextBox 19"/>
          <p:cNvSpPr txBox="1"/>
          <p:nvPr/>
        </p:nvSpPr>
        <p:spPr>
          <a:xfrm>
            <a:off x="1270000" y="5080000"/>
            <a:ext cx="4572000" cy="301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60" b="0" i="0" cap="none">
                <a:solidFill>
                  <a:srgbClr val="1B1A18"/>
                </a:solidFill>
                <a:latin typeface="Georgia"/>
              </a:rPr>
              <a:t>Приток в партию и ЛКСМ не компенсирует выбытие.</a:t>
            </a:r>
            <a:endParaRPr sz="106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807" name="Rectangle 20"/>
          <p:cNvSpPr/>
          <p:nvPr/>
        </p:nvSpPr>
        <p:spPr>
          <a:xfrm>
            <a:off x="6350000" y="1854200"/>
            <a:ext cx="12700" cy="40640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08" name="TextBox 21"/>
          <p:cNvSpPr txBox="1"/>
          <p:nvPr/>
        </p:nvSpPr>
        <p:spPr>
          <a:xfrm>
            <a:off x="6654800" y="1854200"/>
            <a:ext cx="4318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ЧТО ОПРОВЕРГНЕТ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09" name="TextBox 22"/>
          <p:cNvSpPr txBox="1"/>
          <p:nvPr/>
        </p:nvSpPr>
        <p:spPr>
          <a:xfrm>
            <a:off x="6654800" y="2235200"/>
            <a:ext cx="254000" cy="2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cap="none">
                <a:solidFill>
                  <a:srgbClr val="A82C1E"/>
                </a:solidFill>
                <a:latin typeface="Georgia"/>
              </a:rPr>
              <a:t>—</a:t>
            </a:r>
            <a:endParaRPr sz="1100" b="0" i="0" cap="none">
              <a:solidFill>
                <a:srgbClr val="A82C1E"/>
              </a:solidFill>
              <a:latin typeface="Georgia"/>
            </a:endParaRPr>
          </a:p>
        </p:txBody>
      </p:sp>
      <p:sp>
        <p:nvSpPr>
          <p:cNvPr id="810" name="TextBox 23"/>
          <p:cNvSpPr txBox="1"/>
          <p:nvPr/>
        </p:nvSpPr>
        <p:spPr>
          <a:xfrm>
            <a:off x="6959600" y="2235200"/>
            <a:ext cx="4267200" cy="297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40" b="0" i="0" cap="none">
                <a:solidFill>
                  <a:srgbClr val="1B1A18"/>
                </a:solidFill>
                <a:latin typeface="Georgia"/>
              </a:rPr>
              <a:t>Рост абсолютных голосов при росте явки.</a:t>
            </a:r>
            <a:endParaRPr sz="104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811" name="TextBox 24"/>
          <p:cNvSpPr txBox="1"/>
          <p:nvPr/>
        </p:nvSpPr>
        <p:spPr>
          <a:xfrm>
            <a:off x="6654800" y="2794000"/>
            <a:ext cx="254000" cy="2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cap="none">
                <a:solidFill>
                  <a:srgbClr val="A82C1E"/>
                </a:solidFill>
                <a:latin typeface="Georgia"/>
              </a:rPr>
              <a:t>—</a:t>
            </a:r>
            <a:endParaRPr sz="1100" b="0" i="0" cap="none">
              <a:solidFill>
                <a:srgbClr val="A82C1E"/>
              </a:solidFill>
              <a:latin typeface="Georgia"/>
            </a:endParaRPr>
          </a:p>
        </p:txBody>
      </p:sp>
      <p:sp>
        <p:nvSpPr>
          <p:cNvPr id="812" name="TextBox 25"/>
          <p:cNvSpPr txBox="1"/>
          <p:nvPr/>
        </p:nvSpPr>
        <p:spPr>
          <a:xfrm>
            <a:off x="6959600" y="2794000"/>
            <a:ext cx="4267200" cy="297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40" b="0" i="0" cap="none">
                <a:solidFill>
                  <a:srgbClr val="1B1A18"/>
                </a:solidFill>
                <a:latin typeface="Georgia"/>
              </a:rPr>
              <a:t>Рост поддержки именно среди рабочей молодёжи.</a:t>
            </a:r>
            <a:endParaRPr sz="104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813" name="TextBox 26"/>
          <p:cNvSpPr txBox="1"/>
          <p:nvPr/>
        </p:nvSpPr>
        <p:spPr>
          <a:xfrm>
            <a:off x="6654800" y="3352800"/>
            <a:ext cx="254000" cy="28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cap="none">
                <a:solidFill>
                  <a:srgbClr val="A82C1E"/>
                </a:solidFill>
                <a:latin typeface="Georgia"/>
              </a:rPr>
              <a:t>—</a:t>
            </a:r>
            <a:endParaRPr sz="1100" b="0" i="0" cap="none">
              <a:solidFill>
                <a:srgbClr val="A82C1E"/>
              </a:solidFill>
              <a:latin typeface="Georgia"/>
            </a:endParaRPr>
          </a:p>
        </p:txBody>
      </p:sp>
      <p:sp>
        <p:nvSpPr>
          <p:cNvPr id="814" name="TextBox 27"/>
          <p:cNvSpPr txBox="1"/>
          <p:nvPr/>
        </p:nvSpPr>
        <p:spPr>
          <a:xfrm>
            <a:off x="6959600" y="3352800"/>
            <a:ext cx="4267200" cy="297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40" b="0" i="0" cap="none">
                <a:solidFill>
                  <a:srgbClr val="1B1A18"/>
                </a:solidFill>
                <a:latin typeface="Georgia"/>
              </a:rPr>
              <a:t>Омоложение членства и списков кандидатов.</a:t>
            </a:r>
            <a:endParaRPr sz="1040" b="0" i="0" cap="none">
              <a:solidFill>
                <a:srgbClr val="1B1A18"/>
              </a:solidFill>
              <a:latin typeface="Georgia"/>
            </a:endParaRPr>
          </a:p>
        </p:txBody>
      </p:sp>
      <p:sp>
        <p:nvSpPr>
          <p:cNvPr id="815" name="TextBox 28"/>
          <p:cNvSpPr txBox="1"/>
          <p:nvPr/>
        </p:nvSpPr>
        <p:spPr>
          <a:xfrm>
            <a:off x="6654800" y="4064000"/>
            <a:ext cx="43180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cap="none" spc="200">
                <a:solidFill>
                  <a:srgbClr val="A82C1E"/>
                </a:solidFill>
                <a:latin typeface="Consolas"/>
              </a:rPr>
              <a:t>ЧЕМ ПРОВЕРЯТЬ</a:t>
            </a:r>
            <a:endParaRPr sz="900" b="0" i="0" cap="none" spc="20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816" name="TextBox 29"/>
          <p:cNvSpPr txBox="1"/>
          <p:nvPr/>
        </p:nvSpPr>
        <p:spPr>
          <a:xfrm>
            <a:off x="6654800" y="4368800"/>
            <a:ext cx="4318000" cy="1107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Протоколы УИК и явка по участкам;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exit poll и Левада по возрастам;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Росстат — возрастная структура районов;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APC-декомпозиция: возраст — период — когорта;</a:t>
            </a:r>
          </a:p>
          <a:p>
            <a:r>
              <a:rPr sz="980" b="0" i="0" cap="none">
                <a:solidFill>
                  <a:srgbClr val="55503F"/>
                </a:solidFill>
                <a:latin typeface="Georgia"/>
              </a:rPr>
              <a:t>членство КПРФ и ЛКСМ, состав кандидатов.</a:t>
            </a:r>
          </a:p>
        </p:txBody>
      </p:sp>
      <p:sp>
        <p:nvSpPr>
          <p:cNvPr id="817" name="TextBox 30"/>
          <p:cNvSpPr txBox="1"/>
          <p:nvPr/>
        </p:nvSpPr>
        <p:spPr>
          <a:xfrm>
            <a:off x="812800" y="6070600"/>
            <a:ext cx="109728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20" b="0" i="1" cap="none">
                <a:solidFill>
                  <a:srgbClr val="55503F"/>
                </a:solidFill>
                <a:latin typeface="Georgia"/>
              </a:rPr>
              <a:t>Ограничение: «рабочая молодёжь» — не одна группа. Данных по профессиям в открытом доступе мало, поэтому гипотеза проверяется косвенно — через возраст и район.</a:t>
            </a:r>
            <a:endParaRPr sz="920" b="0" i="1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81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15 / ИТОГИ</a:t>
            </a:r>
          </a:p>
        </p:txBody>
      </p:sp>
      <p:sp>
        <p:nvSpPr>
          <p:cNvPr id="682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683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Что видно из комиссии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84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85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87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16 / 17</a:t>
            </a:r>
          </a:p>
        </p:txBody>
      </p:sp>
      <p:sp>
        <p:nvSpPr>
          <p:cNvPr id="688" name="Rectangle 9"/>
          <p:cNvSpPr/>
          <p:nvPr/>
        </p:nvSpPr>
        <p:spPr>
          <a:xfrm>
            <a:off x="812800" y="1879600"/>
            <a:ext cx="10972800" cy="9525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89" name="TextBox 10"/>
          <p:cNvSpPr txBox="1"/>
          <p:nvPr/>
        </p:nvSpPr>
        <p:spPr>
          <a:xfrm>
            <a:off x="812800" y="2032000"/>
            <a:ext cx="5080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cap="none">
                <a:solidFill>
                  <a:srgbClr val="A82C1E"/>
                </a:solidFill>
                <a:latin typeface="Consolas"/>
              </a:rPr>
              <a:t>01</a:t>
            </a:r>
            <a:endParaRPr sz="10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690" name="TextBox 11"/>
          <p:cNvSpPr txBox="1"/>
          <p:nvPr/>
        </p:nvSpPr>
        <p:spPr>
          <a:xfrm>
            <a:off x="1422400" y="1981200"/>
            <a:ext cx="4572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Ядро приходит стабильно — и стареет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91" name="TextBox 12"/>
          <p:cNvSpPr txBox="1"/>
          <p:nvPr/>
        </p:nvSpPr>
        <p:spPr>
          <a:xfrm>
            <a:off x="6096000" y="1981200"/>
            <a:ext cx="5689600" cy="278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Одни и те же лица каждые выборы: 70% сторонников КПРФ — старше 55 лет.</a:t>
            </a:r>
            <a:endParaRPr sz="98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92" name="Rectangle 13"/>
          <p:cNvSpPr/>
          <p:nvPr/>
        </p:nvSpPr>
        <p:spPr>
          <a:xfrm>
            <a:off x="812800" y="2667000"/>
            <a:ext cx="10972800" cy="9525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93" name="TextBox 14"/>
          <p:cNvSpPr txBox="1"/>
          <p:nvPr/>
        </p:nvSpPr>
        <p:spPr>
          <a:xfrm>
            <a:off x="812800" y="2819400"/>
            <a:ext cx="5080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cap="none">
                <a:solidFill>
                  <a:srgbClr val="A82C1E"/>
                </a:solidFill>
                <a:latin typeface="Consolas"/>
              </a:rPr>
              <a:t>02</a:t>
            </a:r>
            <a:endParaRPr sz="10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694" name="TextBox 15"/>
          <p:cNvSpPr txBox="1"/>
          <p:nvPr/>
        </p:nvSpPr>
        <p:spPr>
          <a:xfrm>
            <a:off x="1422400" y="2768600"/>
            <a:ext cx="4572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Молодёжь приходит, но не к КПРФ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95" name="TextBox 16"/>
          <p:cNvSpPr txBox="1"/>
          <p:nvPr/>
        </p:nvSpPr>
        <p:spPr>
          <a:xfrm>
            <a:off x="6096000" y="2768600"/>
            <a:ext cx="5689600" cy="278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В 2026-м молодых на участке было больше. Их голоса ушли к другим.</a:t>
            </a:r>
            <a:endParaRPr sz="98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696" name="Rectangle 17"/>
          <p:cNvSpPr/>
          <p:nvPr/>
        </p:nvSpPr>
        <p:spPr>
          <a:xfrm>
            <a:off x="812800" y="3454400"/>
            <a:ext cx="10972800" cy="9525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97" name="TextBox 18"/>
          <p:cNvSpPr txBox="1"/>
          <p:nvPr/>
        </p:nvSpPr>
        <p:spPr>
          <a:xfrm>
            <a:off x="812800" y="3606800"/>
            <a:ext cx="5080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cap="none">
                <a:solidFill>
                  <a:srgbClr val="A82C1E"/>
                </a:solidFill>
                <a:latin typeface="Consolas"/>
              </a:rPr>
              <a:t>03</a:t>
            </a:r>
            <a:endParaRPr sz="10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698" name="TextBox 19"/>
          <p:cNvSpPr txBox="1"/>
          <p:nvPr/>
        </p:nvSpPr>
        <p:spPr>
          <a:xfrm>
            <a:off x="1422400" y="3556000"/>
            <a:ext cx="4572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Рост явки размывает долю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699" name="TextBox 20"/>
          <p:cNvSpPr txBox="1"/>
          <p:nvPr/>
        </p:nvSpPr>
        <p:spPr>
          <a:xfrm>
            <a:off x="6096000" y="3556000"/>
            <a:ext cx="5689600" cy="278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Голосов столько же, доля — вдвое меньше: новых избирателей мобилизовали не коммунисты.</a:t>
            </a:r>
            <a:endParaRPr sz="98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00" name="Rectangle 21"/>
          <p:cNvSpPr/>
          <p:nvPr/>
        </p:nvSpPr>
        <p:spPr>
          <a:xfrm>
            <a:off x="812800" y="4241800"/>
            <a:ext cx="10972800" cy="9525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01" name="TextBox 22"/>
          <p:cNvSpPr txBox="1"/>
          <p:nvPr/>
        </p:nvSpPr>
        <p:spPr>
          <a:xfrm>
            <a:off x="812800" y="4394200"/>
            <a:ext cx="5080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cap="none">
                <a:solidFill>
                  <a:srgbClr val="A82C1E"/>
                </a:solidFill>
                <a:latin typeface="Consolas"/>
              </a:rPr>
              <a:t>04</a:t>
            </a:r>
            <a:endParaRPr sz="10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02" name="TextBox 23"/>
          <p:cNvSpPr txBox="1"/>
          <p:nvPr/>
        </p:nvSpPr>
        <p:spPr>
          <a:xfrm>
            <a:off x="1422400" y="4343400"/>
            <a:ext cx="4572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Личный депутат сильнее бренда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03" name="TextBox 24"/>
          <p:cNvSpPr txBox="1"/>
          <p:nvPr/>
        </p:nvSpPr>
        <p:spPr>
          <a:xfrm>
            <a:off x="6096000" y="4343400"/>
            <a:ext cx="5689600" cy="278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Там, где есть узнаваемый человек, результат выше партийного среднего.</a:t>
            </a:r>
            <a:endParaRPr sz="98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04" name="Rectangle 25"/>
          <p:cNvSpPr/>
          <p:nvPr/>
        </p:nvSpPr>
        <p:spPr>
          <a:xfrm>
            <a:off x="812800" y="5029200"/>
            <a:ext cx="10972800" cy="9525"/>
          </a:xfrm>
          <a:prstGeom prst="rect">
            <a:avLst/>
          </a:prstGeom>
          <a:solidFill>
            <a:srgbClr val="DED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05" name="TextBox 26"/>
          <p:cNvSpPr txBox="1"/>
          <p:nvPr/>
        </p:nvSpPr>
        <p:spPr>
          <a:xfrm>
            <a:off x="812800" y="5181600"/>
            <a:ext cx="5080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cap="none">
                <a:solidFill>
                  <a:srgbClr val="A82C1E"/>
                </a:solidFill>
                <a:latin typeface="Consolas"/>
              </a:rPr>
              <a:t>05</a:t>
            </a:r>
            <a:endParaRPr sz="1000" b="0" i="0" cap="none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06" name="TextBox 27"/>
          <p:cNvSpPr txBox="1"/>
          <p:nvPr/>
        </p:nvSpPr>
        <p:spPr>
          <a:xfrm>
            <a:off x="1422400" y="5130800"/>
            <a:ext cx="4572000" cy="31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cap="none">
                <a:solidFill>
                  <a:srgbClr val="1B1A18"/>
                </a:solidFill>
                <a:latin typeface="Bahnschrift SemiBold"/>
              </a:rPr>
              <a:t>Агитация не доходит до окраинной молодёжи</a:t>
            </a:r>
            <a:endParaRPr sz="125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07" name="TextBox 28"/>
          <p:cNvSpPr txBox="1"/>
          <p:nvPr/>
        </p:nvSpPr>
        <p:spPr>
          <a:xfrm>
            <a:off x="6096000" y="5130800"/>
            <a:ext cx="5689600" cy="278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 i="0" cap="none">
                <a:solidFill>
                  <a:srgbClr val="55503F"/>
                </a:solidFill>
                <a:latin typeface="Georgia"/>
              </a:rPr>
              <a:t>Газета и приёмная работают на ядро; районных ячеек и цифры почти нет.</a:t>
            </a:r>
            <a:endParaRPr sz="980" b="0" i="0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09" name="TextBox 2"/>
          <p:cNvSpPr txBox="1"/>
          <p:nvPr/>
        </p:nvSpPr>
        <p:spPr>
          <a:xfrm>
            <a:off x="812800" y="330200"/>
            <a:ext cx="53340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cap="none" spc="220">
                <a:solidFill>
                  <a:srgbClr val="A82C1E"/>
                </a:solidFill>
                <a:latin typeface="Consolas"/>
              </a:rPr>
              <a:t>16 / СЦЕНАРИИ</a:t>
            </a:r>
          </a:p>
        </p:txBody>
      </p:sp>
      <p:sp>
        <p:nvSpPr>
          <p:cNvPr id="710" name="TextBox 3"/>
          <p:cNvSpPr txBox="1"/>
          <p:nvPr/>
        </p:nvSpPr>
        <p:spPr>
          <a:xfrm>
            <a:off x="7620000" y="330200"/>
            <a:ext cx="3759200" cy="25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 cap="none" spc="140">
                <a:solidFill>
                  <a:srgbClr val="55503F"/>
                </a:solidFill>
                <a:latin typeface="Consolas"/>
              </a:rPr>
              <a:t>УЧАСТОК 765 · 2024–2026</a:t>
            </a:r>
            <a:endParaRPr sz="950" b="0" i="0" cap="none" spc="140">
              <a:solidFill>
                <a:srgbClr val="55503F"/>
              </a:solidFill>
              <a:latin typeface="Consolas"/>
            </a:endParaRPr>
          </a:p>
        </p:txBody>
      </p:sp>
      <p:sp>
        <p:nvSpPr>
          <p:cNvPr id="711" name="TextBox 4"/>
          <p:cNvSpPr txBox="1"/>
          <p:nvPr/>
        </p:nvSpPr>
        <p:spPr>
          <a:xfrm>
            <a:off x="812800" y="635000"/>
            <a:ext cx="10541000" cy="563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0" i="0" cap="none">
                <a:solidFill>
                  <a:srgbClr val="1B1A18"/>
                </a:solidFill>
                <a:latin typeface="Bahnschrift SemiBold"/>
              </a:rPr>
              <a:t>Что будет дальше: три траектории</a:t>
            </a:r>
            <a:endParaRPr sz="3100" b="0" i="0" cap="none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12" name="Rectangle 5"/>
          <p:cNvSpPr/>
          <p:nvPr/>
        </p:nvSpPr>
        <p:spPr>
          <a:xfrm>
            <a:off x="812800" y="1422400"/>
            <a:ext cx="10972800" cy="127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13" name="Rectangle 6"/>
          <p:cNvSpPr/>
          <p:nvPr/>
        </p:nvSpPr>
        <p:spPr>
          <a:xfrm>
            <a:off x="812800" y="1384300"/>
            <a:ext cx="1524000" cy="6350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15" name="TextBox 8"/>
          <p:cNvSpPr txBox="1"/>
          <p:nvPr/>
        </p:nvSpPr>
        <p:spPr>
          <a:xfrm>
            <a:off x="9652000" y="6400800"/>
            <a:ext cx="2133600" cy="249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cap="none" spc="140">
                <a:solidFill>
                  <a:srgbClr val="55503F"/>
                </a:solidFill>
                <a:latin typeface="Consolas"/>
              </a:rPr>
              <a:t>17 / 17</a:t>
            </a:r>
          </a:p>
        </p:txBody>
      </p:sp>
      <p:sp>
        <p:nvSpPr>
          <p:cNvPr id="716" name="Rectangle 9"/>
          <p:cNvSpPr/>
          <p:nvPr/>
        </p:nvSpPr>
        <p:spPr>
          <a:xfrm>
            <a:off x="812800" y="2032000"/>
            <a:ext cx="3454400" cy="3175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17" name="TextBox 10"/>
          <p:cNvSpPr txBox="1"/>
          <p:nvPr/>
        </p:nvSpPr>
        <p:spPr>
          <a:xfrm>
            <a:off x="812800" y="2184400"/>
            <a:ext cx="3454400" cy="354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 cap="none" spc="120">
                <a:solidFill>
                  <a:srgbClr val="1B1A18"/>
                </a:solidFill>
                <a:latin typeface="Bahnschrift SemiBold"/>
              </a:rPr>
              <a:t>ИНЕРЦИЯ</a:t>
            </a:r>
            <a:endParaRPr sz="1500" b="0" i="0" cap="none" spc="120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18" name="TextBox 11"/>
          <p:cNvSpPr txBox="1"/>
          <p:nvPr/>
        </p:nvSpPr>
        <p:spPr>
          <a:xfrm>
            <a:off x="812800" y="2489200"/>
            <a:ext cx="3454400" cy="238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 cap="none" spc="120">
                <a:solidFill>
                  <a:srgbClr val="A82C1E"/>
                </a:solidFill>
                <a:latin typeface="Consolas"/>
              </a:rPr>
              <a:t>наиболее вероятно</a:t>
            </a:r>
            <a:endParaRPr sz="840" b="0" i="0" cap="none" spc="1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19" name="TextBox 12"/>
          <p:cNvSpPr txBox="1"/>
          <p:nvPr/>
        </p:nvSpPr>
        <p:spPr>
          <a:xfrm>
            <a:off x="812800" y="2794000"/>
            <a:ext cx="3454400" cy="769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60" b="0" i="0" cap="none">
                <a:solidFill>
                  <a:srgbClr val="55503F"/>
                </a:solidFill>
                <a:latin typeface="Georgia"/>
              </a:rPr>
              <a:t>8–12% на федеральных выборах, 1–2 мандата в Петербурге. Ядро стареет, явка растёт, доля снижается.</a:t>
            </a:r>
            <a:endParaRPr sz="10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20" name="Rectangle 13"/>
          <p:cNvSpPr/>
          <p:nvPr/>
        </p:nvSpPr>
        <p:spPr>
          <a:xfrm>
            <a:off x="4495800" y="2032000"/>
            <a:ext cx="3454400" cy="3175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21" name="TextBox 14"/>
          <p:cNvSpPr txBox="1"/>
          <p:nvPr/>
        </p:nvSpPr>
        <p:spPr>
          <a:xfrm>
            <a:off x="4495800" y="2184400"/>
            <a:ext cx="3454400" cy="354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 cap="none" spc="120">
                <a:solidFill>
                  <a:srgbClr val="1B1A18"/>
                </a:solidFill>
                <a:latin typeface="Bahnschrift SemiBold"/>
              </a:rPr>
              <a:t>ОБНОВЛЕНИЕ</a:t>
            </a:r>
            <a:endParaRPr sz="1500" b="0" i="0" cap="none" spc="120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22" name="TextBox 15"/>
          <p:cNvSpPr txBox="1"/>
          <p:nvPr/>
        </p:nvSpPr>
        <p:spPr>
          <a:xfrm>
            <a:off x="4495800" y="2489200"/>
            <a:ext cx="3454400" cy="238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 cap="none" spc="120">
                <a:solidFill>
                  <a:srgbClr val="A82C1E"/>
                </a:solidFill>
                <a:latin typeface="Consolas"/>
              </a:rPr>
              <a:t>возможно</a:t>
            </a:r>
            <a:endParaRPr sz="840" b="0" i="0" cap="none" spc="1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23" name="TextBox 16"/>
          <p:cNvSpPr txBox="1"/>
          <p:nvPr/>
        </p:nvSpPr>
        <p:spPr>
          <a:xfrm>
            <a:off x="4495800" y="2794000"/>
            <a:ext cx="3454400" cy="543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60" b="0" i="0" cap="none">
                <a:solidFill>
                  <a:srgbClr val="55503F"/>
                </a:solidFill>
                <a:latin typeface="Georgia"/>
              </a:rPr>
              <a:t>Новые лица и городская повестка: аренда, тарифы, экология. Районные кампании и возврат к 15–18%.</a:t>
            </a:r>
            <a:endParaRPr sz="10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24" name="Rectangle 17"/>
          <p:cNvSpPr/>
          <p:nvPr/>
        </p:nvSpPr>
        <p:spPr>
          <a:xfrm>
            <a:off x="8178800" y="2032000"/>
            <a:ext cx="3454400" cy="31750"/>
          </a:xfrm>
          <a:prstGeom prst="rect">
            <a:avLst/>
          </a:prstGeom>
          <a:solidFill>
            <a:srgbClr val="A82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25" name="TextBox 18"/>
          <p:cNvSpPr txBox="1"/>
          <p:nvPr/>
        </p:nvSpPr>
        <p:spPr>
          <a:xfrm>
            <a:off x="8178800" y="2184400"/>
            <a:ext cx="3454400" cy="354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 cap="none" spc="120">
                <a:solidFill>
                  <a:srgbClr val="1B1A18"/>
                </a:solidFill>
                <a:latin typeface="Bahnschrift SemiBold"/>
              </a:rPr>
              <a:t>ФРАГМЕНТАЦИЯ</a:t>
            </a:r>
            <a:endParaRPr sz="1500" b="0" i="0" cap="none" spc="120">
              <a:solidFill>
                <a:srgbClr val="1B1A18"/>
              </a:solidFill>
              <a:latin typeface="Bahnschrift SemiBold"/>
            </a:endParaRPr>
          </a:p>
        </p:txBody>
      </p:sp>
      <p:sp>
        <p:nvSpPr>
          <p:cNvPr id="726" name="TextBox 19"/>
          <p:cNvSpPr txBox="1"/>
          <p:nvPr/>
        </p:nvSpPr>
        <p:spPr>
          <a:xfrm>
            <a:off x="8178800" y="2489200"/>
            <a:ext cx="3454400" cy="238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 cap="none" spc="120">
                <a:solidFill>
                  <a:srgbClr val="A82C1E"/>
                </a:solidFill>
                <a:latin typeface="Consolas"/>
              </a:rPr>
              <a:t>риск</a:t>
            </a:r>
            <a:endParaRPr sz="840" b="0" i="0" cap="none" spc="120">
              <a:solidFill>
                <a:srgbClr val="A82C1E"/>
              </a:solidFill>
              <a:latin typeface="Consolas"/>
            </a:endParaRPr>
          </a:p>
        </p:txBody>
      </p:sp>
      <p:sp>
        <p:nvSpPr>
          <p:cNvPr id="727" name="TextBox 20"/>
          <p:cNvSpPr txBox="1"/>
          <p:nvPr/>
        </p:nvSpPr>
        <p:spPr>
          <a:xfrm>
            <a:off x="8178800" y="2794000"/>
            <a:ext cx="3454400" cy="769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60" b="0" i="0" cap="none">
                <a:solidFill>
                  <a:srgbClr val="55503F"/>
                </a:solidFill>
                <a:latin typeface="Georgia"/>
              </a:rPr>
              <a:t>Уход в нишу «партии памяти»: конкуренция с «Новыми людьми» и «Зелёными», потеря статуса главной оппозиции.</a:t>
            </a:r>
            <a:endParaRPr sz="1060" b="0" i="0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28" name="Rectangle 21"/>
          <p:cNvSpPr/>
          <p:nvPr/>
        </p:nvSpPr>
        <p:spPr>
          <a:xfrm>
            <a:off x="812800" y="4292600"/>
            <a:ext cx="10972800" cy="1016000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29" name="TextBox 22"/>
          <p:cNvSpPr txBox="1"/>
          <p:nvPr/>
        </p:nvSpPr>
        <p:spPr>
          <a:xfrm>
            <a:off x="1016000" y="4597400"/>
            <a:ext cx="10541000" cy="389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 cap="none">
                <a:solidFill>
                  <a:srgbClr val="F0E8D6"/>
                </a:solidFill>
                <a:latin typeface="Bahnschrift SemiBold"/>
              </a:rPr>
              <a:t>Вопрос не в возрасте партии. Вопрос в том, есть ли у неё поколение.</a:t>
            </a:r>
            <a:endParaRPr sz="1700" b="0" i="0" cap="none">
              <a:solidFill>
                <a:srgbClr val="F0E8D6"/>
              </a:solidFill>
              <a:latin typeface="Bahnschrift SemiBold"/>
            </a:endParaRPr>
          </a:p>
        </p:txBody>
      </p:sp>
      <p:sp>
        <p:nvSpPr>
          <p:cNvPr id="730" name="TextBox 23"/>
          <p:cNvSpPr txBox="1"/>
          <p:nvPr/>
        </p:nvSpPr>
        <p:spPr>
          <a:xfrm>
            <a:off x="812800" y="5537200"/>
            <a:ext cx="10972800" cy="261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60" b="0" i="1" cap="none">
                <a:solidFill>
                  <a:srgbClr val="55503F"/>
                </a:solidFill>
                <a:latin typeface="Georgia"/>
              </a:rPr>
              <a:t>Источники: СПбИК; ЦИК РФ; Левада-Центр (август 2026); ВЦИОМ и ФОМ (сентябрь–октябрь 2026); Bundeswahlleiterin; FES; Росстат.</a:t>
            </a:r>
            <a:endParaRPr sz="860" b="0" i="1" cap="none">
              <a:solidFill>
                <a:srgbClr val="55503F"/>
              </a:solidFill>
              <a:latin typeface="Georgia"/>
            </a:endParaRPr>
          </a:p>
        </p:txBody>
      </p:sp>
      <p:sp>
        <p:nvSpPr>
          <p:cNvPr id="731" name="TextBox 24"/>
          <p:cNvSpPr txBox="1"/>
          <p:nvPr/>
        </p:nvSpPr>
        <p:spPr>
          <a:xfrm>
            <a:off x="812800" y="6096000"/>
            <a:ext cx="10972800" cy="242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0" b="0" i="0" cap="none">
                <a:solidFill>
                  <a:srgbClr val="55503F"/>
                </a:solidFill>
                <a:latin typeface="Georgia"/>
              </a:rPr>
              <a:t>Оценки сценариев — авторская интерпретация данных, а не прогноз результатов выборов.</a:t>
            </a:r>
            <a:endParaRPr sz="860" b="0" i="0" cap="none">
              <a:solidFill>
                <a:srgbClr val="55503F"/>
              </a:solidFill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17</Slides>
  <Notes>17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Участок 765: КПРФ и её избиратель, 2024–2026</dc:title>
  <dc:subject>Взгляд члена избирательной комиссии: выборы 2024 и 2026, УИК №765, Кировский район Санкт-Петербурга</dc:subject>
  <dc:creator>Член УИК №765</dc:creator>
  <cp:keywords>КПРФ, УИК 765, Ульянка, выборы 2024, выборы 2026, ЗакС, агитация, демография</cp:keywords>
  <dc:description>Учебная аналитическая презентация. Данные: СПбИК, ЦИК, Левада-Центр, ВЦИОМ, ФОМ, Bundeswahlleiterin, FES, Росстат.</dc:description>
  <cp:category>Лекция</cp:category>
</cp:coreProperties>
</file>