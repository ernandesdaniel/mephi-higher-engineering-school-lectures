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  <p:extLst>
    <p:ext uri="{521415D9-36F7-43E2-AB2F-B90AF26B5E84}">
      <p14:sectionLst xmlns:p14="http://schemas.microsoft.com/office/powerpoint/2010/main">
        <p14:section name="Участок и метод" id="{E43E6556-07F2-43D6-8881-71BF740DFF79}">
          <p14:sldIdLst>
            <p14:sldId id="256"/>
            <p14:sldId id="257"/>
            <p14:sldId id="258"/>
            <p14:sldId id="259"/>
          </p14:sldIdLst>
        </p14:section>
        <p14:section name="Кампании 2024 и 2026" id="{B9E0D833-E345-4059-8B6F-2330CE6B7638}">
          <p14:sldIdLst>
            <p14:sldId id="260"/>
            <p14:sldId id="261"/>
            <p14:sldId id="262"/>
            <p14:sldId id="263"/>
            <p14:sldId id="264"/>
          </p14:sldIdLst>
        </p14:section>
        <p14:section name="Контраст и итоги" id="{A98C0E8A-9EDE-427A-8925-E8A124C0331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theme" Target="theme/theme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Меня зовут не важно — важно, что я пять лет работаю в комиссии 765-го участка в Ульянке и вижу избирателя КПРФ не в опросах, а в очереди.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 и 2026 — две кампании, которые я отработал от открытия до подсчёта. Данные участка дополняю городской и федеральной статистикой.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Ульянка — типичный спальный район: панель, дворы, школа. Здесь живёт тот самый «старый» электорат, о котором говорят социологи.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Портрет из опросов совпадает с тем, что видно на участке: старшие, мужчины, с бытовыми запросами.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2024-й: губернаторские выборы мы отработали при явке 37,8%. КПРФ в бюллетене не было — и левый протест ушёл к другим.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2026-й: три дня, другая явка. Голосов у КПРФ столько же, но доля упала вдвое — новые избиратели пришли не к ним.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 городу видно то же, что на участке: рост явки размывает долю КПРФ.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Бренд, повестка, организация и конкуренция — четыре причины, которые видно и в очереди, и в цифрах.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Агитация работает на ядро: газета и приёмная дают высокую конверсию, но почти не достают молодых.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Die Linke — единственный зарубежный пример в презентации: он нужен, чтобы показать механизм работы с окраинами и молодёжью.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Разница не в идеологии, а в четырёх практиках: районная ячейка, жилищная повестка, новые лица и цифровые каналы.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Демография — самый жёсткий ограничитель: ядро физически убывает, а замены нет.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Три потери складываются в замкнутый круг, который не разрывается одной кампанией.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Гипотеза: сокращение объясняется двумя потоками — естественным выбытием старшего ядра и отсутствием притока рабочей молодёжи. Третий механизм — эффект явки — усиливает падение доли.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Социологическая рамка: сокращение объясняется не сменой убеждений, а сменой поколений. Проверяется декомпозицией на возраст, период и когорту.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 проверяема: пять следствий и три опровергающих условия. Ограничение — нет открытых данных по профессиям, поэтому проверяем косвенно: через возраст, район и динамику явки.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Пять наблюдений с участка — это то, что я вижу каждую кампанию: люди те же, молодёжь приходит, но не к КПРФ.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Сценарии — аналитическая рамка, а не прогноз. Наиболее вероятна инерция.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Oval 1"/>
          <p:cNvSpPr/>
          <p:nvPr/>
        </p:nvSpPr>
        <p:spPr>
          <a:xfrm>
            <a:off x="7874000" y="-1397000"/>
            <a:ext cx="6604000" cy="6604000"/>
          </a:xfrm>
          <a:prstGeom prst="ellipse">
            <a:avLst/>
          </a:prstGeom>
          <a:noFill/>
          <a:ln w="1524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3" name="Oval 2"/>
          <p:cNvSpPr/>
          <p:nvPr/>
        </p:nvSpPr>
        <p:spPr>
          <a:xfrm>
            <a:off x="8763000" y="-508000"/>
            <a:ext cx="4826000" cy="4826000"/>
          </a:xfrm>
          <a:prstGeom prst="ellipse">
            <a:avLst/>
          </a:prstGeom>
          <a:noFill/>
          <a:ln w="9525">
            <a:solidFill>
              <a:srgbClr val="5A4A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4" name="Rectangle 3"/>
          <p:cNvSpPr/>
          <p:nvPr/>
        </p:nvSpPr>
        <p:spPr>
          <a:xfrm>
            <a:off x="8890000" y="1905000"/>
            <a:ext cx="304800" cy="4064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Rectangle 4"/>
          <p:cNvSpPr/>
          <p:nvPr/>
        </p:nvSpPr>
        <p:spPr>
          <a:xfrm>
            <a:off x="9423400" y="1905000"/>
            <a:ext cx="76200" cy="40640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Rectangle 5"/>
          <p:cNvSpPr/>
          <p:nvPr/>
        </p:nvSpPr>
        <p:spPr>
          <a:xfrm>
            <a:off x="7112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7" name="Rectangle 6"/>
          <p:cNvSpPr/>
          <p:nvPr/>
        </p:nvSpPr>
        <p:spPr>
          <a:xfrm>
            <a:off x="11684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8" name="Rectangle 7"/>
          <p:cNvSpPr/>
          <p:nvPr/>
        </p:nvSpPr>
        <p:spPr>
          <a:xfrm>
            <a:off x="508000" y="355600"/>
            <a:ext cx="330200" cy="1905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9" name="Rectangle 8"/>
          <p:cNvSpPr/>
          <p:nvPr/>
        </p:nvSpPr>
        <p:spPr>
          <a:xfrm>
            <a:off x="660400" y="203200"/>
            <a:ext cx="19050" cy="3302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9"/>
          <p:cNvSpPr txBox="1"/>
          <p:nvPr/>
        </p:nvSpPr>
        <p:spPr>
          <a:xfrm>
            <a:off x="812800" y="1397000"/>
            <a:ext cx="9144000" cy="136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800" b="0" i="0" cap="none">
                <a:solidFill>
                  <a:srgbClr val="F0E8D6"/>
                </a:solidFill>
                <a:latin typeface="Bahnschrift SemiBold Condensed"/>
              </a:rPr>
              <a:t>УЧАСТОК 765</a:t>
            </a:r>
            <a:endParaRPr sz="88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81" name="Rectangle 10"/>
          <p:cNvSpPr/>
          <p:nvPr/>
        </p:nvSpPr>
        <p:spPr>
          <a:xfrm>
            <a:off x="838200" y="3175000"/>
            <a:ext cx="3048000" cy="889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2" name="TextBox 11"/>
          <p:cNvSpPr txBox="1"/>
          <p:nvPr/>
        </p:nvSpPr>
        <p:spPr>
          <a:xfrm>
            <a:off x="838200" y="3505200"/>
            <a:ext cx="7620000" cy="5074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1" cap="none">
                <a:solidFill>
                  <a:srgbClr val="D8CDB4"/>
                </a:solidFill>
                <a:latin typeface="Georgia"/>
              </a:rPr>
              <a:t>Выборы 2024 и 2026</a:t>
            </a:r>
          </a:p>
        </p:txBody>
      </p:sp>
      <p:sp>
        <p:nvSpPr>
          <p:cNvPr id="283" name="TextBox 12"/>
          <p:cNvSpPr txBox="1"/>
          <p:nvPr/>
        </p:nvSpPr>
        <p:spPr>
          <a:xfrm>
            <a:off x="838200" y="4191000"/>
            <a:ext cx="88900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B9AE96"/>
                </a:solidFill>
                <a:latin typeface="Georgia"/>
              </a:rPr>
              <a:t>КПРФ и её избиратель на юго-западе Петербурга</a:t>
            </a:r>
            <a:endParaRPr sz="125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284" name="Rectangle 13"/>
          <p:cNvSpPr/>
          <p:nvPr/>
        </p:nvSpPr>
        <p:spPr>
          <a:xfrm>
            <a:off x="838200" y="4724400"/>
            <a:ext cx="2997200" cy="711200"/>
          </a:xfrm>
          <a:prstGeom prst="rect">
            <a:avLst/>
          </a:prstGeom>
          <a:noFill/>
          <a:ln w="1270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14"/>
          <p:cNvSpPr txBox="1"/>
          <p:nvPr/>
        </p:nvSpPr>
        <p:spPr>
          <a:xfrm>
            <a:off x="990600" y="4826000"/>
            <a:ext cx="2794000" cy="508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06–08.09.2024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18–20.09.2026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86" name="TextBox 15"/>
          <p:cNvSpPr txBox="1"/>
          <p:nvPr/>
        </p:nvSpPr>
        <p:spPr>
          <a:xfrm>
            <a:off x="812800" y="6172200"/>
            <a:ext cx="9906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20">
                <a:solidFill>
                  <a:srgbClr val="9A8F76"/>
                </a:solidFill>
                <a:latin typeface="Consolas"/>
              </a:rPr>
              <a:t>КИРОВСКИЙ РАЙОН · МО УЛЬЯНКА · ЛИЦЕЙ №244 · ПР. ВЕТЕРАНОВ, 80</a:t>
            </a:r>
            <a:endParaRPr sz="860" b="0" i="0" cap="none" spc="120">
              <a:solidFill>
                <a:srgbClr val="9A8F76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8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01 / КОНТЕКСТ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289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290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говорит и откуда данные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2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4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02 / 18</a:t>
            </a:r>
          </a:p>
        </p:txBody>
      </p:sp>
      <p:sp>
        <p:nvSpPr>
          <p:cNvPr id="295" name="Rectangle 9"/>
          <p:cNvSpPr/>
          <p:nvPr/>
        </p:nvSpPr>
        <p:spPr>
          <a:xfrm>
            <a:off x="812800" y="1854200"/>
            <a:ext cx="4191000" cy="37084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10"/>
          <p:cNvSpPr txBox="1"/>
          <p:nvPr/>
        </p:nvSpPr>
        <p:spPr>
          <a:xfrm>
            <a:off x="1016000" y="20320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ЧЛЕН УИК С ПРАВОМ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7" name="TextBox 11"/>
          <p:cNvSpPr txBox="1"/>
          <p:nvPr/>
        </p:nvSpPr>
        <p:spPr>
          <a:xfrm>
            <a:off x="1016000" y="22352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РЕШАЮЩЕГО ГОЛОСА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8" name="TextBox 12"/>
          <p:cNvSpPr txBox="1"/>
          <p:nvPr/>
        </p:nvSpPr>
        <p:spPr>
          <a:xfrm>
            <a:off x="1016000" y="2540000"/>
            <a:ext cx="3810000" cy="792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 cap="none">
                <a:solidFill>
                  <a:srgbClr val="F0E8D6"/>
                </a:solidFill>
                <a:latin typeface="Bahnschrift SemiBold Condensed"/>
              </a:rPr>
              <a:t>УИК №765</a:t>
            </a:r>
            <a:endParaRPr sz="4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99" name="TextBox 13"/>
          <p:cNvSpPr txBox="1"/>
          <p:nvPr/>
        </p:nvSpPr>
        <p:spPr>
          <a:xfrm>
            <a:off x="1016000" y="3276600"/>
            <a:ext cx="3810000" cy="10302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Кировский район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МО Ульянка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лицей №244,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пр. Ветеранов, 80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300" name="TextBox 14"/>
          <p:cNvSpPr txBox="1"/>
          <p:nvPr/>
        </p:nvSpPr>
        <p:spPr>
          <a:xfrm>
            <a:off x="1016000" y="4851400"/>
            <a:ext cx="3810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 cap="none">
                <a:solidFill>
                  <a:srgbClr val="BE8B2E"/>
                </a:solidFill>
                <a:latin typeface="Georgia"/>
              </a:rPr>
              <a:t>В комиссии — с 2024 года</a:t>
            </a:r>
            <a:endParaRPr sz="950" b="0" i="1" cap="none">
              <a:solidFill>
                <a:srgbClr val="BE8B2E"/>
              </a:solidFill>
              <a:latin typeface="Georgia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5461000" y="185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16"/>
          <p:cNvSpPr txBox="1"/>
          <p:nvPr/>
        </p:nvSpPr>
        <p:spPr>
          <a:xfrm>
            <a:off x="5461000" y="198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2024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3" name="TextBox 17"/>
          <p:cNvSpPr txBox="1"/>
          <p:nvPr/>
        </p:nvSpPr>
        <p:spPr>
          <a:xfrm>
            <a:off x="5461000" y="226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Март — президентские выборы.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Сентябрь — губернаторские и муниципальные.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4" name="Rectangle 18"/>
          <p:cNvSpPr/>
          <p:nvPr/>
        </p:nvSpPr>
        <p:spPr>
          <a:xfrm>
            <a:off x="5461000" y="312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TextBox 19"/>
          <p:cNvSpPr txBox="1"/>
          <p:nvPr/>
        </p:nvSpPr>
        <p:spPr>
          <a:xfrm>
            <a:off x="5461000" y="325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2026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6" name="TextBox 20"/>
          <p:cNvSpPr txBox="1"/>
          <p:nvPr/>
        </p:nvSpPr>
        <p:spPr>
          <a:xfrm>
            <a:off x="5461000" y="3530600"/>
            <a:ext cx="5918200" cy="3095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18–20 сентября — Госдума и ЗакС Санкт-Петербурга. Три дня голосования.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7" name="Rectangle 21"/>
          <p:cNvSpPr/>
          <p:nvPr/>
        </p:nvSpPr>
        <p:spPr>
          <a:xfrm>
            <a:off x="5461000" y="439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8" name="TextBox 22"/>
          <p:cNvSpPr txBox="1"/>
          <p:nvPr/>
        </p:nvSpPr>
        <p:spPr>
          <a:xfrm>
            <a:off x="5461000" y="452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ДАННЫЕ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9" name="TextBox 23"/>
          <p:cNvSpPr txBox="1"/>
          <p:nvPr/>
        </p:nvSpPr>
        <p:spPr>
          <a:xfrm>
            <a:off x="5461000" y="480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Протоколы УИК, СПбИК и ЦИК; опросы Левады, ВЦИОМ и ФОМ. Цифры по городу и стране — из открытых источников.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10" name="TextBox 24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Личные наблюдения — не социология: там, где нет протокола, я говорю «на участке».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02 / МЕСТО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7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Участок 765: спальный район на юго-западе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03 / 18</a:t>
            </a:r>
          </a:p>
        </p:txBody>
      </p:sp>
      <p:sp>
        <p:nvSpPr>
          <p:cNvPr id="381" name="TextBox 9"/>
          <p:cNvSpPr txBox="1"/>
          <p:nvPr/>
        </p:nvSpPr>
        <p:spPr>
          <a:xfrm>
            <a:off x="812800" y="1854200"/>
            <a:ext cx="10972800" cy="603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cap="none">
                <a:solidFill>
                  <a:srgbClr val="1B1A18"/>
                </a:solidFill>
                <a:latin typeface="Georgia"/>
              </a:rPr>
              <a:t>Ульянка — панельная застройка 1970-х: дворы, школа, поликлиника, магазины у дома. Люди живут здесь десятилетиями, соседей знают в лицо — и комиссию тоже.</a:t>
            </a:r>
            <a:endParaRPr sz="120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82" name="Rectangle 10"/>
          <p:cNvSpPr/>
          <p:nvPr/>
        </p:nvSpPr>
        <p:spPr>
          <a:xfrm>
            <a:off x="4318000" y="2997200"/>
            <a:ext cx="12700" cy="2844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3" name="TextBox 11"/>
          <p:cNvSpPr txBox="1"/>
          <p:nvPr/>
        </p:nvSpPr>
        <p:spPr>
          <a:xfrm>
            <a:off x="812800" y="3048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4" name="TextBox 12"/>
          <p:cNvSpPr txBox="1"/>
          <p:nvPr/>
        </p:nvSpPr>
        <p:spPr>
          <a:xfrm>
            <a:off x="812800" y="3429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избирателя в списке (2021)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5" name="TextBox 13"/>
          <p:cNvSpPr txBox="1"/>
          <p:nvPr/>
        </p:nvSpPr>
        <p:spPr>
          <a:xfrm>
            <a:off x="812800" y="3937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3 дня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6" name="TextBox 14"/>
          <p:cNvSpPr txBox="1"/>
          <p:nvPr/>
        </p:nvSpPr>
        <p:spPr>
          <a:xfrm>
            <a:off x="812800" y="4318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голосования в 2026 году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7" name="TextBox 15"/>
          <p:cNvSpPr txBox="1"/>
          <p:nvPr/>
        </p:nvSpPr>
        <p:spPr>
          <a:xfrm>
            <a:off x="812800" y="4826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08:00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8" name="TextBox 16"/>
          <p:cNvSpPr txBox="1"/>
          <p:nvPr/>
        </p:nvSpPr>
        <p:spPr>
          <a:xfrm>
            <a:off x="812800" y="5207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открытие участка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9" name="TextBox 17"/>
          <p:cNvSpPr txBox="1"/>
          <p:nvPr/>
        </p:nvSpPr>
        <p:spPr>
          <a:xfrm>
            <a:off x="4622800" y="30480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ДЕНЬ ГОЛОСОВАНИЯ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90" name="TextBox 18"/>
          <p:cNvSpPr txBox="1"/>
          <p:nvPr/>
        </p:nvSpPr>
        <p:spPr>
          <a:xfrm>
            <a:off x="4622800" y="335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08:00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1" name="TextBox 19"/>
          <p:cNvSpPr txBox="1"/>
          <p:nvPr/>
        </p:nvSpPr>
        <p:spPr>
          <a:xfrm>
            <a:off x="6096000" y="334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Очередь к открытию: старшие, с квитанциями и вопросами про пенсию.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2" name="TextBox 20"/>
          <p:cNvSpPr txBox="1"/>
          <p:nvPr/>
        </p:nvSpPr>
        <p:spPr>
          <a:xfrm>
            <a:off x="4622800" y="398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12:00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3" name="TextBox 21"/>
          <p:cNvSpPr txBox="1"/>
          <p:nvPr/>
        </p:nvSpPr>
        <p:spPr>
          <a:xfrm>
            <a:off x="6096000" y="397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Родители с детьми, бабушки с внуками — «по пути из поликлиники».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4" name="TextBox 22"/>
          <p:cNvSpPr txBox="1"/>
          <p:nvPr/>
        </p:nvSpPr>
        <p:spPr>
          <a:xfrm>
            <a:off x="4622800" y="462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17:00–20:00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5" name="TextBox 23"/>
          <p:cNvSpPr txBox="1"/>
          <p:nvPr/>
        </p:nvSpPr>
        <p:spPr>
          <a:xfrm>
            <a:off x="6096000" y="461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Работающие: приходят после смены, часто всей семьёй.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6" name="TextBox 24"/>
          <p:cNvSpPr txBox="1"/>
          <p:nvPr/>
        </p:nvSpPr>
        <p:spPr>
          <a:xfrm>
            <a:off x="4622800" y="525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весь день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7" name="TextBox 25"/>
          <p:cNvSpPr txBox="1"/>
          <p:nvPr/>
        </p:nvSpPr>
        <p:spPr>
          <a:xfrm>
            <a:off x="6096000" y="524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ДЭГ, надомное голосование, наблюдатели и камеры.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8" name="TextBox 26"/>
          <p:cNvSpPr txBox="1"/>
          <p:nvPr/>
        </p:nvSpPr>
        <p:spPr>
          <a:xfrm>
            <a:off x="812800" y="5994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За три дня кампании 2026 года через участок прошли те же лица, что и в 2024-м. Новых — единицы.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03 / ПОРТРЕТ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4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4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приходит на участок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04 / 18</a:t>
            </a:r>
          </a:p>
        </p:txBody>
      </p:sp>
      <p:sp>
        <p:nvSpPr>
          <p:cNvPr id="34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8" name="TextBox 10"/>
          <p:cNvSpPr txBox="1"/>
          <p:nvPr/>
        </p:nvSpPr>
        <p:spPr>
          <a:xfrm>
            <a:off x="8128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70%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49" name="TextBox 11"/>
          <p:cNvSpPr txBox="1"/>
          <p:nvPr/>
        </p:nvSpPr>
        <p:spPr>
          <a:xfrm>
            <a:off x="8128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старше 55 лет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3"/>
          <p:cNvSpPr txBox="1"/>
          <p:nvPr/>
        </p:nvSpPr>
        <p:spPr>
          <a:xfrm>
            <a:off x="35052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64%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2" name="TextBox 14"/>
          <p:cNvSpPr txBox="1"/>
          <p:nvPr/>
        </p:nvSpPr>
        <p:spPr>
          <a:xfrm>
            <a:off x="35052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мужчины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16"/>
          <p:cNvSpPr txBox="1"/>
          <p:nvPr/>
        </p:nvSpPr>
        <p:spPr>
          <a:xfrm>
            <a:off x="61976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≈ 55–60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5" name="TextBox 17"/>
          <p:cNvSpPr txBox="1"/>
          <p:nvPr/>
        </p:nvSpPr>
        <p:spPr>
          <a:xfrm>
            <a:off x="61976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средний возраст ядра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TextBox 19"/>
          <p:cNvSpPr txBox="1"/>
          <p:nvPr/>
        </p:nvSpPr>
        <p:spPr>
          <a:xfrm>
            <a:off x="88900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8" name="TextBox 20"/>
          <p:cNvSpPr txBox="1"/>
          <p:nvPr/>
        </p:nvSpPr>
        <p:spPr>
          <a:xfrm>
            <a:off x="88900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избирателя в списке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9" name="TextBox 21"/>
          <p:cNvSpPr txBox="1"/>
          <p:nvPr/>
        </p:nvSpPr>
        <p:spPr>
          <a:xfrm>
            <a:off x="812800" y="3454400"/>
            <a:ext cx="635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ВИДНО У СТОЛА КОМИССИИ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60" name="Rectangle 22"/>
          <p:cNvSpPr/>
          <p:nvPr/>
        </p:nvSpPr>
        <p:spPr>
          <a:xfrm>
            <a:off x="812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23"/>
          <p:cNvSpPr txBox="1"/>
          <p:nvPr/>
        </p:nvSpPr>
        <p:spPr>
          <a:xfrm>
            <a:off x="812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Пенсионеры — к открытию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2" name="TextBox 24"/>
          <p:cNvSpPr txBox="1"/>
          <p:nvPr/>
        </p:nvSpPr>
        <p:spPr>
          <a:xfrm>
            <a:off x="812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первыми, знают свой участок, спрашивают про выплаты и тарифы.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3" name="Rectangle 25"/>
          <p:cNvSpPr/>
          <p:nvPr/>
        </p:nvSpPr>
        <p:spPr>
          <a:xfrm>
            <a:off x="6527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26"/>
          <p:cNvSpPr txBox="1"/>
          <p:nvPr/>
        </p:nvSpPr>
        <p:spPr>
          <a:xfrm>
            <a:off x="6527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Работающие — после 18:00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5" name="TextBox 27"/>
          <p:cNvSpPr txBox="1"/>
          <p:nvPr/>
        </p:nvSpPr>
        <p:spPr>
          <a:xfrm>
            <a:off x="6527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Голосуют быстро, часто не разбираясь в партийных списках.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812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7" name="TextBox 29"/>
          <p:cNvSpPr txBox="1"/>
          <p:nvPr/>
        </p:nvSpPr>
        <p:spPr>
          <a:xfrm>
            <a:off x="812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Молодёжь — единицы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8" name="TextBox 30"/>
          <p:cNvSpPr txBox="1"/>
          <p:nvPr/>
        </p:nvSpPr>
        <p:spPr>
          <a:xfrm>
            <a:off x="812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Студенты и молодые семьи приходят редко; в 2026-м — чаще, но не к КПРФ.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9" name="Rectangle 31"/>
          <p:cNvSpPr/>
          <p:nvPr/>
        </p:nvSpPr>
        <p:spPr>
          <a:xfrm>
            <a:off x="6527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0" name="TextBox 32"/>
          <p:cNvSpPr txBox="1"/>
          <p:nvPr/>
        </p:nvSpPr>
        <p:spPr>
          <a:xfrm>
            <a:off x="6527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Семьи — в выходной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1" name="TextBox 33"/>
          <p:cNvSpPr txBox="1"/>
          <p:nvPr/>
        </p:nvSpPr>
        <p:spPr>
          <a:xfrm>
            <a:off x="6527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с детьми; для них важнее «нормальная жизнь», чем идеология.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72" name="TextBox 34"/>
          <p:cNvSpPr txBox="1"/>
          <p:nvPr/>
        </p:nvSpPr>
        <p:spPr>
          <a:xfrm>
            <a:off x="812800" y="60706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Левада-Центр, август 2026: 70% сторонников КПРФ — старше 55 лет; 64% — мужчины.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04 / 2024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0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0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2024: губернаторские и муниципальные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0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05 / 18</a:t>
            </a:r>
          </a:p>
        </p:txBody>
      </p:sp>
      <p:sp>
        <p:nvSpPr>
          <p:cNvPr id="40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10"/>
          <p:cNvSpPr txBox="1"/>
          <p:nvPr/>
        </p:nvSpPr>
        <p:spPr>
          <a:xfrm>
            <a:off x="8128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37,76%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09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на выборах губернатора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1" name="TextBox 13"/>
          <p:cNvSpPr txBox="1"/>
          <p:nvPr/>
        </p:nvSpPr>
        <p:spPr>
          <a:xfrm>
            <a:off x="35052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59,80%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2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Беглов, «Единая Россия»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4" name="TextBox 16"/>
          <p:cNvSpPr txBox="1"/>
          <p:nvPr/>
        </p:nvSpPr>
        <p:spPr>
          <a:xfrm>
            <a:off x="61976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8,06%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5" name="TextBox 17"/>
          <p:cNvSpPr txBox="1"/>
          <p:nvPr/>
        </p:nvSpPr>
        <p:spPr>
          <a:xfrm>
            <a:off x="61976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«Коммунисты России» — лучший результат левых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19"/>
          <p:cNvSpPr txBox="1"/>
          <p:nvPr/>
        </p:nvSpPr>
        <p:spPr>
          <a:xfrm>
            <a:off x="88900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10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8" name="TextBox 20"/>
          <p:cNvSpPr txBox="1"/>
          <p:nvPr/>
        </p:nvSpPr>
        <p:spPr>
          <a:xfrm>
            <a:off x="88900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мандатов у КПРФ на муниципальных выборах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9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0" name="TextBox 22"/>
          <p:cNvSpPr txBox="1"/>
          <p:nvPr/>
        </p:nvSpPr>
        <p:spPr>
          <a:xfrm>
            <a:off x="1016000" y="3784600"/>
            <a:ext cx="10541000" cy="371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cap="none">
                <a:solidFill>
                  <a:srgbClr val="F0E8D6"/>
                </a:solidFill>
                <a:latin typeface="Bahnschrift SemiBold"/>
              </a:rPr>
              <a:t>Кандидата от КПРФ в губернаторском бюллетене не было.</a:t>
            </a:r>
            <a:endParaRPr sz="16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421" name="TextBox 23"/>
          <p:cNvSpPr txBox="1"/>
          <p:nvPr/>
        </p:nvSpPr>
        <p:spPr>
          <a:xfrm>
            <a:off x="1016000" y="4140200"/>
            <a:ext cx="10541000" cy="3093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Левый фланг представляли «Коммунисты России» (8,06%) и «Зелёные» (11,79%). Протест шёл мимо КПРФ.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422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МУНИЦИПАЛЬНЫЙ УРОВЕНЬ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23" name="TextBox 25"/>
          <p:cNvSpPr txBox="1"/>
          <p:nvPr/>
        </p:nvSpPr>
        <p:spPr>
          <a:xfrm>
            <a:off x="812800" y="5283200"/>
            <a:ext cx="10972800" cy="56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1B1A18"/>
                </a:solidFill>
                <a:latin typeface="Georgia"/>
              </a:rPr>
              <a:t>Явка — 31,73%. КПРФ получила 10 мандатов по всему городу: у ЛДПР — 68, у «Новых людей» — 36.</a:t>
            </a:r>
            <a:endParaRPr sz="1100" b="0" i="0" cap="none">
              <a:solidFill>
                <a:srgbClr val="1B1A18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1B1A18"/>
                </a:solidFill>
                <a:latin typeface="Georgia"/>
              </a:rPr>
              <a:t>Это и есть цена слабой районной работы: там, где нужна ячейка, у партии — приёмная.</a:t>
            </a:r>
            <a:endParaRPr sz="110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24" name="TextBox 26"/>
          <p:cNvSpPr txBox="1"/>
          <p:nvPr/>
        </p:nvSpPr>
        <p:spPr>
          <a:xfrm>
            <a:off x="812800" y="60706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Источники: СПбИК; ЦИК РФ, итоги выборов 6–8 сентября 2024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05 / 2026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2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2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2026: три дня, другая явка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2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06 / 18</a:t>
            </a:r>
          </a:p>
        </p:txBody>
      </p:sp>
      <p:sp>
        <p:nvSpPr>
          <p:cNvPr id="433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4" name="TextBox 10"/>
          <p:cNvSpPr txBox="1"/>
          <p:nvPr/>
        </p:nvSpPr>
        <p:spPr>
          <a:xfrm>
            <a:off x="8128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55,69%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5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в Петербурге — рекорд для города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6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7" name="TextBox 13"/>
          <p:cNvSpPr txBox="1"/>
          <p:nvPr/>
        </p:nvSpPr>
        <p:spPr>
          <a:xfrm>
            <a:off x="35052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10,75%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8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КПРФ по спискам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9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0" name="TextBox 16"/>
          <p:cNvSpPr txBox="1"/>
          <p:nvPr/>
        </p:nvSpPr>
        <p:spPr>
          <a:xfrm>
            <a:off x="61976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1" name="TextBox 17"/>
          <p:cNvSpPr txBox="1"/>
          <p:nvPr/>
        </p:nvSpPr>
        <p:spPr>
          <a:xfrm>
            <a:off x="61976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мандата из 50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2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9"/>
          <p:cNvSpPr txBox="1"/>
          <p:nvPr/>
        </p:nvSpPr>
        <p:spPr>
          <a:xfrm>
            <a:off x="88900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244 057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4" name="TextBox 20"/>
          <p:cNvSpPr txBox="1"/>
          <p:nvPr/>
        </p:nvSpPr>
        <p:spPr>
          <a:xfrm>
            <a:off x="88900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голосов у КПРФ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5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2"/>
          <p:cNvSpPr txBox="1"/>
          <p:nvPr/>
        </p:nvSpPr>
        <p:spPr>
          <a:xfrm>
            <a:off x="1016000" y="3784600"/>
            <a:ext cx="10541000" cy="371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cap="none">
                <a:solidFill>
                  <a:srgbClr val="F0E8D6"/>
                </a:solidFill>
                <a:latin typeface="Bahnschrift SemiBold"/>
              </a:rPr>
              <a:t>Голосов столько же, сколько в 2021-м. Доля — вдвое меньше.</a:t>
            </a:r>
            <a:endParaRPr sz="16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447" name="TextBox 23"/>
          <p:cNvSpPr txBox="1"/>
          <p:nvPr/>
        </p:nvSpPr>
        <p:spPr>
          <a:xfrm>
            <a:off x="1016000" y="4140200"/>
            <a:ext cx="10541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Явка выросла с 35% до 55,7%: почти 0,9 млн новых голосов ушли другим партиям.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448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ИЗ ЖУРНАЛА УЧАСТКА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49" name="TextBox 25"/>
          <p:cNvSpPr txBox="1"/>
          <p:nvPr/>
        </p:nvSpPr>
        <p:spPr>
          <a:xfrm>
            <a:off x="812800" y="5283200"/>
            <a:ext cx="10972800" cy="3368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Georgia"/>
              </a:rPr>
              <a:t>Людей больше, чем в 2024-м. Молодых — заметно больше. За КПРФ — те же лица, что и пять лет назад.</a:t>
            </a:r>
            <a:endParaRPr sz="11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50" name="TextBox 26"/>
          <p:cNvSpPr txBox="1"/>
          <p:nvPr/>
        </p:nvSpPr>
        <p:spPr>
          <a:xfrm>
            <a:off x="812800" y="59944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Источник: СПбИК, итоги выборов в ЗакС 18–20 сентября 2026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06 / АРИФМЕТИКА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Куда ушли новые голоса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07 / 18</a:t>
            </a:r>
          </a:p>
        </p:txBody>
      </p:sp>
      <p:sp>
        <p:nvSpPr>
          <p:cNvPr id="459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ПАРТИЯ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0" name="TextBox 10"/>
          <p:cNvSpPr txBox="1"/>
          <p:nvPr/>
        </p:nvSpPr>
        <p:spPr>
          <a:xfrm>
            <a:off x="381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2021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1" name="TextBox 11"/>
          <p:cNvSpPr txBox="1"/>
          <p:nvPr/>
        </p:nvSpPr>
        <p:spPr>
          <a:xfrm>
            <a:off x="635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2026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2" name="TextBox 12"/>
          <p:cNvSpPr txBox="1"/>
          <p:nvPr/>
        </p:nvSpPr>
        <p:spPr>
          <a:xfrm>
            <a:off x="889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ИЗМЕНЕНИЕ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4" name="TextBox 14"/>
          <p:cNvSpPr txBox="1"/>
          <p:nvPr/>
        </p:nvSpPr>
        <p:spPr>
          <a:xfrm>
            <a:off x="812800" y="23622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«Единая Россия»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5" name="TextBox 15"/>
          <p:cNvSpPr txBox="1"/>
          <p:nvPr/>
        </p:nvSpPr>
        <p:spPr>
          <a:xfrm>
            <a:off x="381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457 936 · 33,3%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66" name="TextBox 16"/>
          <p:cNvSpPr txBox="1"/>
          <p:nvPr/>
        </p:nvSpPr>
        <p:spPr>
          <a:xfrm>
            <a:off x="635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1 240 655 · 54,7%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67" name="TextBox 17"/>
          <p:cNvSpPr txBox="1"/>
          <p:nvPr/>
        </p:nvSpPr>
        <p:spPr>
          <a:xfrm>
            <a:off x="8890000" y="23749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+782 719 · +21,4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8" name="TextBox 18"/>
          <p:cNvSpPr txBox="1"/>
          <p:nvPr/>
        </p:nvSpPr>
        <p:spPr>
          <a:xfrm>
            <a:off x="812800" y="30480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«Новые люди»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9" name="TextBox 19"/>
          <p:cNvSpPr txBox="1"/>
          <p:nvPr/>
        </p:nvSpPr>
        <p:spPr>
          <a:xfrm>
            <a:off x="381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138 289 · 10,1%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0" name="TextBox 20"/>
          <p:cNvSpPr txBox="1"/>
          <p:nvPr/>
        </p:nvSpPr>
        <p:spPr>
          <a:xfrm>
            <a:off x="635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280 239 · 12,4%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1" name="TextBox 21"/>
          <p:cNvSpPr txBox="1"/>
          <p:nvPr/>
        </p:nvSpPr>
        <p:spPr>
          <a:xfrm>
            <a:off x="8890000" y="30607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+141 950 · +2,3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2" name="TextBox 22"/>
          <p:cNvSpPr txBox="1"/>
          <p:nvPr/>
        </p:nvSpPr>
        <p:spPr>
          <a:xfrm>
            <a:off x="812800" y="37338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ЛДПР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3" name="TextBox 23"/>
          <p:cNvSpPr txBox="1"/>
          <p:nvPr/>
        </p:nvSpPr>
        <p:spPr>
          <a:xfrm>
            <a:off x="381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108 703 · 7,9%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4" name="TextBox 24"/>
          <p:cNvSpPr txBox="1"/>
          <p:nvPr/>
        </p:nvSpPr>
        <p:spPr>
          <a:xfrm>
            <a:off x="635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275 814 · 12,2%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5" name="TextBox 25"/>
          <p:cNvSpPr txBox="1"/>
          <p:nvPr/>
        </p:nvSpPr>
        <p:spPr>
          <a:xfrm>
            <a:off x="8890000" y="37465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+167 111 · +4,3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6" name="Rectangle 26"/>
          <p:cNvSpPr/>
          <p:nvPr/>
        </p:nvSpPr>
        <p:spPr>
          <a:xfrm>
            <a:off x="812800" y="4318000"/>
            <a:ext cx="10972800" cy="63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Rectangle 27"/>
          <p:cNvSpPr/>
          <p:nvPr/>
        </p:nvSpPr>
        <p:spPr>
          <a:xfrm>
            <a:off x="812800" y="4318000"/>
            <a:ext cx="63500" cy="635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8" name="TextBox 28"/>
          <p:cNvSpPr txBox="1"/>
          <p:nvPr/>
        </p:nvSpPr>
        <p:spPr>
          <a:xfrm>
            <a:off x="812800" y="44196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9" name="TextBox 29"/>
          <p:cNvSpPr txBox="1"/>
          <p:nvPr/>
        </p:nvSpPr>
        <p:spPr>
          <a:xfrm>
            <a:off x="381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240 291 · 17,5%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0" name="TextBox 30"/>
          <p:cNvSpPr txBox="1"/>
          <p:nvPr/>
        </p:nvSpPr>
        <p:spPr>
          <a:xfrm>
            <a:off x="635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244 057 · 10,8%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1" name="TextBox 31"/>
          <p:cNvSpPr txBox="1"/>
          <p:nvPr/>
        </p:nvSpPr>
        <p:spPr>
          <a:xfrm>
            <a:off x="8890000" y="44323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+3 766 · −6,7 п. п.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82" name="TextBox 32"/>
          <p:cNvSpPr txBox="1"/>
          <p:nvPr/>
        </p:nvSpPr>
        <p:spPr>
          <a:xfrm>
            <a:off x="812800" y="51054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«Зелёные»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83" name="TextBox 33"/>
          <p:cNvSpPr txBox="1"/>
          <p:nvPr/>
        </p:nvSpPr>
        <p:spPr>
          <a:xfrm>
            <a:off x="381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не участвовали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4" name="TextBox 34"/>
          <p:cNvSpPr txBox="1"/>
          <p:nvPr/>
        </p:nvSpPr>
        <p:spPr>
          <a:xfrm>
            <a:off x="635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138 445 · 6,1%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5" name="TextBox 35"/>
          <p:cNvSpPr txBox="1"/>
          <p:nvPr/>
        </p:nvSpPr>
        <p:spPr>
          <a:xfrm>
            <a:off x="8890000" y="51181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впервые в ЗакСе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86" name="Rectangle 36"/>
          <p:cNvSpPr/>
          <p:nvPr/>
        </p:nvSpPr>
        <p:spPr>
          <a:xfrm>
            <a:off x="812800" y="5867400"/>
            <a:ext cx="10972800" cy="9525"/>
          </a:xfrm>
          <a:prstGeom prst="rect">
            <a:avLst/>
          </a:prstGeom>
          <a:solidFill>
            <a:srgbClr val="5550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37"/>
          <p:cNvSpPr txBox="1"/>
          <p:nvPr/>
        </p:nvSpPr>
        <p:spPr>
          <a:xfrm>
            <a:off x="812800" y="59690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Сумма голосов по спискам; проценты — от числа действительных бюллетеней. «Зелёные» в 2021 году в выборах не участвовали.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07 / ПРИЧИНЫ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протест не становится левым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08 / 18</a:t>
            </a:r>
          </a:p>
        </p:txBody>
      </p:sp>
      <p:sp>
        <p:nvSpPr>
          <p:cNvPr id="496" name="Rectangle 9"/>
          <p:cNvSpPr/>
          <p:nvPr/>
        </p:nvSpPr>
        <p:spPr>
          <a:xfrm>
            <a:off x="812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7" name="TextBox 10"/>
          <p:cNvSpPr txBox="1"/>
          <p:nvPr/>
        </p:nvSpPr>
        <p:spPr>
          <a:xfrm>
            <a:off x="812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01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498" name="TextBox 11"/>
          <p:cNvSpPr txBox="1"/>
          <p:nvPr/>
        </p:nvSpPr>
        <p:spPr>
          <a:xfrm>
            <a:off x="1473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Бренд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9" name="TextBox 12"/>
          <p:cNvSpPr txBox="1"/>
          <p:nvPr/>
        </p:nvSpPr>
        <p:spPr>
          <a:xfrm>
            <a:off x="812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Узнаваемость высокая, привлекательность для 18–30-летних — низкая. «КПРФ» читается как партия прошлого, а не как проект будущего.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0" name="Rectangle 13"/>
          <p:cNvSpPr/>
          <p:nvPr/>
        </p:nvSpPr>
        <p:spPr>
          <a:xfrm>
            <a:off x="6527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14"/>
          <p:cNvSpPr txBox="1"/>
          <p:nvPr/>
        </p:nvSpPr>
        <p:spPr>
          <a:xfrm>
            <a:off x="6527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02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2" name="TextBox 15"/>
          <p:cNvSpPr txBox="1"/>
          <p:nvPr/>
        </p:nvSpPr>
        <p:spPr>
          <a:xfrm>
            <a:off x="7188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3" name="TextBox 16"/>
          <p:cNvSpPr txBox="1"/>
          <p:nvPr/>
        </p:nvSpPr>
        <p:spPr>
          <a:xfrm>
            <a:off x="6527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Пенсии и тарифы мобилизуют старших. Жильё, аренда, карьера — язык, на котором с молодёжью не говорят.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4" name="Rectangle 17"/>
          <p:cNvSpPr/>
          <p:nvPr/>
        </p:nvSpPr>
        <p:spPr>
          <a:xfrm>
            <a:off x="812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18"/>
          <p:cNvSpPr txBox="1"/>
          <p:nvPr/>
        </p:nvSpPr>
        <p:spPr>
          <a:xfrm>
            <a:off x="812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03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6" name="TextBox 19"/>
          <p:cNvSpPr txBox="1"/>
          <p:nvPr/>
        </p:nvSpPr>
        <p:spPr>
          <a:xfrm>
            <a:off x="1473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Организация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7" name="TextBox 20"/>
          <p:cNvSpPr txBox="1"/>
          <p:nvPr/>
        </p:nvSpPr>
        <p:spPr>
          <a:xfrm>
            <a:off x="812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Приёмные и депутатские запросы работают точечно. Районных ячеек и работы с сообществами почти нет — отсюда 10 муниципальных мандатов.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8" name="Rectangle 21"/>
          <p:cNvSpPr/>
          <p:nvPr/>
        </p:nvSpPr>
        <p:spPr>
          <a:xfrm>
            <a:off x="6527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22"/>
          <p:cNvSpPr txBox="1"/>
          <p:nvPr/>
        </p:nvSpPr>
        <p:spPr>
          <a:xfrm>
            <a:off x="6527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04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10" name="TextBox 23"/>
          <p:cNvSpPr txBox="1"/>
          <p:nvPr/>
        </p:nvSpPr>
        <p:spPr>
          <a:xfrm>
            <a:off x="7188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Конкуренция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1" name="TextBox 24"/>
          <p:cNvSpPr txBox="1"/>
          <p:nvPr/>
        </p:nvSpPr>
        <p:spPr>
          <a:xfrm>
            <a:off x="6527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За протест конкурируют ЛДПР, «Новые люди» и «Зелёные». Власть забирает запрос на стабильность, оставляя КПРФ нишу «ностальгии».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12" name="TextBox 25"/>
          <p:cNvSpPr txBox="1"/>
          <p:nvPr/>
        </p:nvSpPr>
        <p:spPr>
          <a:xfrm>
            <a:off x="812800" y="5969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КПРФ выигрывает у других оппозиционных партий, но не у власти — и не у поколения.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08 / АГИТАЦИЯ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1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1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Агитация, которая доходит до участка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09 / 18</a:t>
            </a:r>
          </a:p>
        </p:txBody>
      </p:sp>
      <p:sp>
        <p:nvSpPr>
          <p:cNvPr id="521" name="TextBox 9"/>
          <p:cNvSpPr txBox="1"/>
          <p:nvPr/>
        </p:nvSpPr>
        <p:spPr>
          <a:xfrm>
            <a:off x="812800" y="1854200"/>
            <a:ext cx="3048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КАНАЛ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2" name="TextBox 10"/>
          <p:cNvSpPr txBox="1"/>
          <p:nvPr/>
        </p:nvSpPr>
        <p:spPr>
          <a:xfrm>
            <a:off x="4267200" y="1854200"/>
            <a:ext cx="4572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ЧТО ДЕЛАЮТ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3" name="TextBox 11"/>
          <p:cNvSpPr txBox="1"/>
          <p:nvPr/>
        </p:nvSpPr>
        <p:spPr>
          <a:xfrm>
            <a:off x="9093200" y="1854200"/>
            <a:ext cx="114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ОХВАТ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4" name="TextBox 12"/>
          <p:cNvSpPr txBox="1"/>
          <p:nvPr/>
        </p:nvSpPr>
        <p:spPr>
          <a:xfrm>
            <a:off x="10312400" y="1854200"/>
            <a:ext cx="1397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КОНВЕРСИЯ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5" name="Rectangle 13"/>
          <p:cNvSpPr/>
          <p:nvPr/>
        </p:nvSpPr>
        <p:spPr>
          <a:xfrm>
            <a:off x="812800" y="21082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6" name="TextBox 14"/>
          <p:cNvSpPr txBox="1"/>
          <p:nvPr/>
        </p:nvSpPr>
        <p:spPr>
          <a:xfrm>
            <a:off x="812800" y="226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Газета «Правда» и районные листки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27" name="TextBox 15"/>
          <p:cNvSpPr txBox="1"/>
          <p:nvPr/>
        </p:nvSpPr>
        <p:spPr>
          <a:xfrm>
            <a:off x="4267200" y="228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Подписка, тираж, старшая аудитория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28" name="TextBox 16"/>
          <p:cNvSpPr txBox="1"/>
          <p:nvPr/>
        </p:nvSpPr>
        <p:spPr>
          <a:xfrm>
            <a:off x="9093200" y="228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29" name="TextBox 17"/>
          <p:cNvSpPr txBox="1"/>
          <p:nvPr/>
        </p:nvSpPr>
        <p:spPr>
          <a:xfrm>
            <a:off x="10312400" y="228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0" name="Rectangle 18"/>
          <p:cNvSpPr/>
          <p:nvPr/>
        </p:nvSpPr>
        <p:spPr>
          <a:xfrm>
            <a:off x="812800" y="281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1" name="TextBox 19"/>
          <p:cNvSpPr txBox="1"/>
          <p:nvPr/>
        </p:nvSpPr>
        <p:spPr>
          <a:xfrm>
            <a:off x="812800" y="289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Приёмные депутатов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2" name="TextBox 20"/>
          <p:cNvSpPr txBox="1"/>
          <p:nvPr/>
        </p:nvSpPr>
        <p:spPr>
          <a:xfrm>
            <a:off x="4267200" y="292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Жалобы, ЖКХ, льготы, помощь по конкретному адресу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3" name="TextBox 21"/>
          <p:cNvSpPr txBox="1"/>
          <p:nvPr/>
        </p:nvSpPr>
        <p:spPr>
          <a:xfrm>
            <a:off x="9093200" y="292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4" name="TextBox 22"/>
          <p:cNvSpPr txBox="1"/>
          <p:nvPr/>
        </p:nvSpPr>
        <p:spPr>
          <a:xfrm>
            <a:off x="10312400" y="292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5" name="TextBox 23"/>
          <p:cNvSpPr txBox="1"/>
          <p:nvPr/>
        </p:nvSpPr>
        <p:spPr>
          <a:xfrm>
            <a:off x="812800" y="353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Уличная агитация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6" name="TextBox 24"/>
          <p:cNvSpPr txBox="1"/>
          <p:nvPr/>
        </p:nvSpPr>
        <p:spPr>
          <a:xfrm>
            <a:off x="4267200" y="355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Пикеты, автопробеги, «красные» палатки у метро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7" name="TextBox 25"/>
          <p:cNvSpPr txBox="1"/>
          <p:nvPr/>
        </p:nvSpPr>
        <p:spPr>
          <a:xfrm>
            <a:off x="9093200" y="355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8" name="TextBox 26"/>
          <p:cNvSpPr txBox="1"/>
          <p:nvPr/>
        </p:nvSpPr>
        <p:spPr>
          <a:xfrm>
            <a:off x="10312400" y="355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9" name="Rectangle 27"/>
          <p:cNvSpPr/>
          <p:nvPr/>
        </p:nvSpPr>
        <p:spPr>
          <a:xfrm>
            <a:off x="812800" y="408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28"/>
          <p:cNvSpPr txBox="1"/>
          <p:nvPr/>
        </p:nvSpPr>
        <p:spPr>
          <a:xfrm>
            <a:off x="812800" y="416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Telegram и YouTube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1" name="TextBox 29"/>
          <p:cNvSpPr txBox="1"/>
          <p:nvPr/>
        </p:nvSpPr>
        <p:spPr>
          <a:xfrm>
            <a:off x="4267200" y="419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«Красное ТВ», региональные каналы, нарезки из Думы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2" name="TextBox 30"/>
          <p:cNvSpPr txBox="1"/>
          <p:nvPr/>
        </p:nvSpPr>
        <p:spPr>
          <a:xfrm>
            <a:off x="9093200" y="419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3" name="TextBox 31"/>
          <p:cNvSpPr txBox="1"/>
          <p:nvPr/>
        </p:nvSpPr>
        <p:spPr>
          <a:xfrm>
            <a:off x="10312400" y="419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4" name="TextBox 32"/>
          <p:cNvSpPr txBox="1"/>
          <p:nvPr/>
        </p:nvSpPr>
        <p:spPr>
          <a:xfrm>
            <a:off x="812800" y="480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Депутатские запросы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5" name="TextBox 33"/>
          <p:cNvSpPr txBox="1"/>
          <p:nvPr/>
        </p:nvSpPr>
        <p:spPr>
          <a:xfrm>
            <a:off x="4267200" y="482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Публичные кампании по тарифам, стройкам, экологии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6" name="TextBox 34"/>
          <p:cNvSpPr txBox="1"/>
          <p:nvPr/>
        </p:nvSpPr>
        <p:spPr>
          <a:xfrm>
            <a:off x="9093200" y="482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7" name="TextBox 35"/>
          <p:cNvSpPr txBox="1"/>
          <p:nvPr/>
        </p:nvSpPr>
        <p:spPr>
          <a:xfrm>
            <a:off x="10312400" y="482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точечная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8" name="Rectangle 36"/>
          <p:cNvSpPr/>
          <p:nvPr/>
        </p:nvSpPr>
        <p:spPr>
          <a:xfrm>
            <a:off x="812800" y="535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TextBox 37"/>
          <p:cNvSpPr txBox="1"/>
          <p:nvPr/>
        </p:nvSpPr>
        <p:spPr>
          <a:xfrm>
            <a:off x="812800" y="543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Календарь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0" name="TextBox 38"/>
          <p:cNvSpPr txBox="1"/>
          <p:nvPr/>
        </p:nvSpPr>
        <p:spPr>
          <a:xfrm>
            <a:off x="4267200" y="546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1 мая, 9 мая, 7 ноября: ритуал и мобилизация ядра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51" name="TextBox 39"/>
          <p:cNvSpPr txBox="1"/>
          <p:nvPr/>
        </p:nvSpPr>
        <p:spPr>
          <a:xfrm>
            <a:off x="9093200" y="546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2" name="TextBox 40"/>
          <p:cNvSpPr txBox="1"/>
          <p:nvPr/>
        </p:nvSpPr>
        <p:spPr>
          <a:xfrm>
            <a:off x="10312400" y="546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3" name="TextBox 41"/>
          <p:cNvSpPr txBox="1"/>
          <p:nvPr/>
        </p:nvSpPr>
        <p:spPr>
          <a:xfrm>
            <a:off x="812800" y="6096000"/>
            <a:ext cx="10972800" cy="277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60" b="0" i="1" cap="none">
                <a:solidFill>
                  <a:srgbClr val="1B1A18"/>
                </a:solidFill>
                <a:latin typeface="Georgia"/>
              </a:rPr>
              <a:t>В день голосования агитация запрещена: участок остаётся единственной точкой контакта — и партии там не видно.</a:t>
            </a:r>
            <a:endParaRPr sz="106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09 / ОПЫТ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6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57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Die Linke: почему у них получается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8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9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10 / 18</a:t>
            </a:r>
          </a:p>
        </p:txBody>
      </p:sp>
      <p:sp>
        <p:nvSpPr>
          <p:cNvPr id="562" name="Rectangle 9"/>
          <p:cNvSpPr/>
          <p:nvPr/>
        </p:nvSpPr>
        <p:spPr>
          <a:xfrm>
            <a:off x="812800" y="1854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3" name="TextBox 10"/>
          <p:cNvSpPr txBox="1"/>
          <p:nvPr/>
        </p:nvSpPr>
        <p:spPr>
          <a:xfrm>
            <a:off x="812800" y="1955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Районные отделения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4" name="TextBox 11"/>
          <p:cNvSpPr txBox="1"/>
          <p:nvPr/>
        </p:nvSpPr>
        <p:spPr>
          <a:xfrm>
            <a:off x="812800" y="2235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ячейки в спальных районах, а не только приёмная депутата.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5" name="Rectangle 12"/>
          <p:cNvSpPr/>
          <p:nvPr/>
        </p:nvSpPr>
        <p:spPr>
          <a:xfrm>
            <a:off x="812800" y="2743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TextBox 13"/>
          <p:cNvSpPr txBox="1"/>
          <p:nvPr/>
        </p:nvSpPr>
        <p:spPr>
          <a:xfrm>
            <a:off x="812800" y="2844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Жилищная повестка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7" name="TextBox 14"/>
          <p:cNvSpPr txBox="1"/>
          <p:nvPr/>
        </p:nvSpPr>
        <p:spPr>
          <a:xfrm>
            <a:off x="812800" y="3124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рост цен, выселения — то, что волнует молодых в городе.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8" name="Rectangle 15"/>
          <p:cNvSpPr/>
          <p:nvPr/>
        </p:nvSpPr>
        <p:spPr>
          <a:xfrm>
            <a:off x="812800" y="3632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9" name="TextBox 16"/>
          <p:cNvSpPr txBox="1"/>
          <p:nvPr/>
        </p:nvSpPr>
        <p:spPr>
          <a:xfrm>
            <a:off x="812800" y="3733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Молодые лица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0" name="TextBox 17"/>
          <p:cNvSpPr txBox="1"/>
          <p:nvPr/>
        </p:nvSpPr>
        <p:spPr>
          <a:xfrm>
            <a:off x="812800" y="4013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 и кампании в TikTok, а не только в газете.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1" name="Rectangle 18"/>
          <p:cNvSpPr/>
          <p:nvPr/>
        </p:nvSpPr>
        <p:spPr>
          <a:xfrm>
            <a:off x="812800" y="4521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2" name="TextBox 19"/>
          <p:cNvSpPr txBox="1"/>
          <p:nvPr/>
        </p:nvSpPr>
        <p:spPr>
          <a:xfrm>
            <a:off x="812800" y="4622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Антифашизм как рамка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3" name="TextBox 20"/>
          <p:cNvSpPr txBox="1"/>
          <p:nvPr/>
        </p:nvSpPr>
        <p:spPr>
          <a:xfrm>
            <a:off x="812800" y="4902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Понятный язык для городской молодёжи и рабочих окраин.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4" name="Rectangle 21"/>
          <p:cNvSpPr/>
          <p:nvPr/>
        </p:nvSpPr>
        <p:spPr>
          <a:xfrm>
            <a:off x="7239000" y="1854200"/>
            <a:ext cx="4140200" cy="3606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5" name="TextBox 22"/>
          <p:cNvSpPr txBox="1"/>
          <p:nvPr/>
        </p:nvSpPr>
        <p:spPr>
          <a:xfrm>
            <a:off x="7442200" y="2032000"/>
            <a:ext cx="3683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ГЕРМАНИЯ-2025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576" name="TextBox 23"/>
          <p:cNvSpPr txBox="1"/>
          <p:nvPr/>
        </p:nvSpPr>
        <p:spPr>
          <a:xfrm>
            <a:off x="7442200" y="23622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8,8%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7" name="TextBox 24"/>
          <p:cNvSpPr txBox="1"/>
          <p:nvPr/>
        </p:nvSpPr>
        <p:spPr>
          <a:xfrm>
            <a:off x="7442200" y="27940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всего голосов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78" name="TextBox 25"/>
          <p:cNvSpPr txBox="1"/>
          <p:nvPr/>
        </p:nvSpPr>
        <p:spPr>
          <a:xfrm>
            <a:off x="7442200" y="32766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27,3%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9" name="TextBox 26"/>
          <p:cNvSpPr txBox="1"/>
          <p:nvPr/>
        </p:nvSpPr>
        <p:spPr>
          <a:xfrm>
            <a:off x="7442200" y="37084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среди 18–24 лет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0" name="TextBox 27"/>
          <p:cNvSpPr txBox="1"/>
          <p:nvPr/>
        </p:nvSpPr>
        <p:spPr>
          <a:xfrm>
            <a:off x="7442200" y="41910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19,9%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81" name="TextBox 28"/>
          <p:cNvSpPr txBox="1"/>
          <p:nvPr/>
        </p:nvSpPr>
        <p:spPr>
          <a:xfrm>
            <a:off x="7442200" y="46228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Берлин — лучший регион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2" name="TextBox 29"/>
          <p:cNvSpPr txBox="1"/>
          <p:nvPr/>
        </p:nvSpPr>
        <p:spPr>
          <a:xfrm>
            <a:off x="7442200" y="5029200"/>
            <a:ext cx="3733800" cy="431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0" cap="none">
                <a:solidFill>
                  <a:srgbClr val="BE8B2E"/>
                </a:solidFill>
                <a:latin typeface="Georgia"/>
              </a:rPr>
              <a:t>Марцан и Нойкёльн — рабочие районы, где партия растёт.</a:t>
            </a:r>
          </a:p>
        </p:txBody>
      </p:sp>
      <p:sp>
        <p:nvSpPr>
          <p:cNvPr id="583" name="TextBox 30"/>
          <p:cNvSpPr txBox="1"/>
          <p:nvPr/>
        </p:nvSpPr>
        <p:spPr>
          <a:xfrm>
            <a:off x="812800" y="56134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Die Linke не моложе КПРФ по истории — она моложе по избирателю.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584" name="TextBox 31"/>
          <p:cNvSpPr txBox="1"/>
          <p:nvPr/>
        </p:nvSpPr>
        <p:spPr>
          <a:xfrm>
            <a:off x="812800" y="59690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Источники: Bundeswahlleiterin; FES, Analysis of the Bundestag Elections 2025.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10 / КОНТРАСТ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8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8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у КПРФ не так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8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11 / 18</a:t>
            </a:r>
          </a:p>
        </p:txBody>
      </p:sp>
      <p:sp>
        <p:nvSpPr>
          <p:cNvPr id="593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МЕХАНИЗМ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94" name="TextBox 10"/>
          <p:cNvSpPr txBox="1"/>
          <p:nvPr/>
        </p:nvSpPr>
        <p:spPr>
          <a:xfrm>
            <a:off x="3810000" y="1854200"/>
            <a:ext cx="3429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DIE LINKE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5" name="TextBox 11"/>
          <p:cNvSpPr txBox="1"/>
          <p:nvPr/>
        </p:nvSpPr>
        <p:spPr>
          <a:xfrm>
            <a:off x="7620000" y="1854200"/>
            <a:ext cx="368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КПРФ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6" name="Rectangle 12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3"/>
          <p:cNvSpPr txBox="1"/>
          <p:nvPr/>
        </p:nvSpPr>
        <p:spPr>
          <a:xfrm>
            <a:off x="812800" y="23368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Районная работа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98" name="TextBox 14"/>
          <p:cNvSpPr txBox="1"/>
          <p:nvPr/>
        </p:nvSpPr>
        <p:spPr>
          <a:xfrm>
            <a:off x="3810000" y="23368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отделения в спальных районах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99" name="TextBox 15"/>
          <p:cNvSpPr txBox="1"/>
          <p:nvPr/>
        </p:nvSpPr>
        <p:spPr>
          <a:xfrm>
            <a:off x="7620000" y="23368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Приёмная и депутатский запрос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0" name="TextBox 16"/>
          <p:cNvSpPr txBox="1"/>
          <p:nvPr/>
        </p:nvSpPr>
        <p:spPr>
          <a:xfrm>
            <a:off x="812800" y="30734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1" name="TextBox 17"/>
          <p:cNvSpPr txBox="1"/>
          <p:nvPr/>
        </p:nvSpPr>
        <p:spPr>
          <a:xfrm>
            <a:off x="3810000" y="30734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жильё, выселения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2" name="TextBox 18"/>
          <p:cNvSpPr txBox="1"/>
          <p:nvPr/>
        </p:nvSpPr>
        <p:spPr>
          <a:xfrm>
            <a:off x="7620000" y="30734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Пенсии, тарифы, льготы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3" name="TextBox 19"/>
          <p:cNvSpPr txBox="1"/>
          <p:nvPr/>
        </p:nvSpPr>
        <p:spPr>
          <a:xfrm>
            <a:off x="812800" y="38100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Лица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4" name="TextBox 20"/>
          <p:cNvSpPr txBox="1"/>
          <p:nvPr/>
        </p:nvSpPr>
        <p:spPr>
          <a:xfrm>
            <a:off x="3810000" y="38100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5" name="TextBox 21"/>
          <p:cNvSpPr txBox="1"/>
          <p:nvPr/>
        </p:nvSpPr>
        <p:spPr>
          <a:xfrm>
            <a:off x="7620000" y="38100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Узнаваемые старшие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6" name="TextBox 22"/>
          <p:cNvSpPr txBox="1"/>
          <p:nvPr/>
        </p:nvSpPr>
        <p:spPr>
          <a:xfrm>
            <a:off x="812800" y="45466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Медиа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7" name="TextBox 23"/>
          <p:cNvSpPr txBox="1"/>
          <p:nvPr/>
        </p:nvSpPr>
        <p:spPr>
          <a:xfrm>
            <a:off x="3810000" y="45466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TikTok, районные чаты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8" name="TextBox 24"/>
          <p:cNvSpPr txBox="1"/>
          <p:nvPr/>
        </p:nvSpPr>
        <p:spPr>
          <a:xfrm>
            <a:off x="7620000" y="45466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Газета и Telegram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9" name="Rectangle 25"/>
          <p:cNvSpPr/>
          <p:nvPr/>
        </p:nvSpPr>
        <p:spPr>
          <a:xfrm>
            <a:off x="812800" y="5435600"/>
            <a:ext cx="10972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0" name="TextBox 26"/>
          <p:cNvSpPr txBox="1"/>
          <p:nvPr/>
        </p:nvSpPr>
        <p:spPr>
          <a:xfrm>
            <a:off x="812800" y="5562600"/>
            <a:ext cx="10972800" cy="317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1" cap="none">
                <a:solidFill>
                  <a:srgbClr val="1B1A18"/>
                </a:solidFill>
                <a:latin typeface="Georgia"/>
              </a:rPr>
              <a:t>Муниципальные выборы-2024: КПРФ — 10 мандатов, ЛДПР — 68, «Новые люди» — 36. Именно на этом уровне видно, есть ли у партии район.</a:t>
            </a:r>
            <a:endParaRPr sz="110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11 / ДЕМОГРАФИЯ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1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1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База тает быстрее, чем растёт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1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12 / 18</a:t>
            </a:r>
          </a:p>
        </p:txBody>
      </p:sp>
      <p:sp>
        <p:nvSpPr>
          <p:cNvPr id="619" name="TextBox 9"/>
          <p:cNvSpPr txBox="1"/>
          <p:nvPr/>
        </p:nvSpPr>
        <p:spPr>
          <a:xfrm>
            <a:off x="812800" y="1854200"/>
            <a:ext cx="635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50">
                <a:solidFill>
                  <a:srgbClr val="A82C1E"/>
                </a:solidFill>
                <a:latin typeface="Consolas"/>
              </a:rPr>
              <a:t>РОЖДЕНИЯ В РОССИИ, МЛН ЧЕЛОВЕК</a:t>
            </a:r>
            <a:endParaRPr sz="860" b="0" i="0" cap="none" spc="15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20" name="Rectangle 10"/>
          <p:cNvSpPr/>
          <p:nvPr/>
        </p:nvSpPr>
        <p:spPr>
          <a:xfrm>
            <a:off x="812800" y="2489200"/>
            <a:ext cx="9525" cy="259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1" name="Rectangle 11"/>
          <p:cNvSpPr/>
          <p:nvPr/>
        </p:nvSpPr>
        <p:spPr>
          <a:xfrm>
            <a:off x="812800" y="5080000"/>
            <a:ext cx="6350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Rectangle 12"/>
          <p:cNvSpPr/>
          <p:nvPr/>
        </p:nvSpPr>
        <p:spPr>
          <a:xfrm>
            <a:off x="812800" y="44132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3" name="TextBox 13"/>
          <p:cNvSpPr txBox="1"/>
          <p:nvPr/>
        </p:nvSpPr>
        <p:spPr>
          <a:xfrm>
            <a:off x="279400" y="43243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0,5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4" name="Rectangle 14"/>
          <p:cNvSpPr/>
          <p:nvPr/>
        </p:nvSpPr>
        <p:spPr>
          <a:xfrm>
            <a:off x="812800" y="37465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TextBox 15"/>
          <p:cNvSpPr txBox="1"/>
          <p:nvPr/>
        </p:nvSpPr>
        <p:spPr>
          <a:xfrm>
            <a:off x="279400" y="36576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6" name="Rectangle 16"/>
          <p:cNvSpPr/>
          <p:nvPr/>
        </p:nvSpPr>
        <p:spPr>
          <a:xfrm>
            <a:off x="812800" y="30797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7" name="TextBox 17"/>
          <p:cNvSpPr txBox="1"/>
          <p:nvPr/>
        </p:nvSpPr>
        <p:spPr>
          <a:xfrm>
            <a:off x="279400" y="29908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8" name="Rectangle 18"/>
          <p:cNvSpPr/>
          <p:nvPr/>
        </p:nvSpPr>
        <p:spPr>
          <a:xfrm>
            <a:off x="812800" y="24130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TextBox 19"/>
          <p:cNvSpPr txBox="1"/>
          <p:nvPr/>
        </p:nvSpPr>
        <p:spPr>
          <a:xfrm>
            <a:off x="279400" y="23241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2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0" name="Rectangle 20"/>
          <p:cNvSpPr/>
          <p:nvPr/>
        </p:nvSpPr>
        <p:spPr>
          <a:xfrm>
            <a:off x="1524000" y="2493010"/>
            <a:ext cx="1016000" cy="258699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1" name="TextBox 21"/>
          <p:cNvSpPr txBox="1"/>
          <p:nvPr/>
        </p:nvSpPr>
        <p:spPr>
          <a:xfrm>
            <a:off x="1397000" y="227711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1,94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2" name="TextBox 22"/>
          <p:cNvSpPr txBox="1"/>
          <p:nvPr/>
        </p:nvSpPr>
        <p:spPr>
          <a:xfrm>
            <a:off x="1397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3" name="Rectangle 23"/>
          <p:cNvSpPr/>
          <p:nvPr/>
        </p:nvSpPr>
        <p:spPr>
          <a:xfrm>
            <a:off x="3302000" y="3106420"/>
            <a:ext cx="1016000" cy="19735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24"/>
          <p:cNvSpPr txBox="1"/>
          <p:nvPr/>
        </p:nvSpPr>
        <p:spPr>
          <a:xfrm>
            <a:off x="3175000" y="289052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1,48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5" name="TextBox 25"/>
          <p:cNvSpPr txBox="1"/>
          <p:nvPr/>
        </p:nvSpPr>
        <p:spPr>
          <a:xfrm>
            <a:off x="3175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2019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6" name="Rectangle 26"/>
          <p:cNvSpPr/>
          <p:nvPr/>
        </p:nvSpPr>
        <p:spPr>
          <a:xfrm>
            <a:off x="5080000" y="3453130"/>
            <a:ext cx="1016000" cy="162687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TextBox 27"/>
          <p:cNvSpPr txBox="1"/>
          <p:nvPr/>
        </p:nvSpPr>
        <p:spPr>
          <a:xfrm>
            <a:off x="4953000" y="323723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1,22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8" name="TextBox 28"/>
          <p:cNvSpPr txBox="1"/>
          <p:nvPr/>
        </p:nvSpPr>
        <p:spPr>
          <a:xfrm>
            <a:off x="4953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2024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9" name="Rectangle 29"/>
          <p:cNvSpPr/>
          <p:nvPr/>
        </p:nvSpPr>
        <p:spPr>
          <a:xfrm>
            <a:off x="7874000" y="1854200"/>
            <a:ext cx="9525" cy="3810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0" name="TextBox 30"/>
          <p:cNvSpPr txBox="1"/>
          <p:nvPr/>
        </p:nvSpPr>
        <p:spPr>
          <a:xfrm>
            <a:off x="8077200" y="1854200"/>
            <a:ext cx="3302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180">
                <a:solidFill>
                  <a:srgbClr val="A82C1E"/>
                </a:solidFill>
                <a:latin typeface="Consolas"/>
              </a:rPr>
              <a:t>ТРИ ЦИФРЫ</a:t>
            </a:r>
            <a:endParaRPr sz="900" b="0" i="0" cap="none" spc="18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41" name="TextBox 31"/>
          <p:cNvSpPr txBox="1"/>
          <p:nvPr/>
        </p:nvSpPr>
        <p:spPr>
          <a:xfrm>
            <a:off x="8077200" y="2159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1,4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2" name="TextBox 32"/>
          <p:cNvSpPr txBox="1"/>
          <p:nvPr/>
        </p:nvSpPr>
        <p:spPr>
          <a:xfrm>
            <a:off x="8077200" y="2514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суммарный коэффициент рождаемости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3" name="TextBox 33"/>
          <p:cNvSpPr txBox="1"/>
          <p:nvPr/>
        </p:nvSpPr>
        <p:spPr>
          <a:xfrm>
            <a:off x="8077200" y="3048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600 тыс.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4" name="TextBox 34"/>
          <p:cNvSpPr txBox="1"/>
          <p:nvPr/>
        </p:nvSpPr>
        <p:spPr>
          <a:xfrm>
            <a:off x="8077200" y="3403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естественная убыль в год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5" name="TextBox 35"/>
          <p:cNvSpPr txBox="1"/>
          <p:nvPr/>
        </p:nvSpPr>
        <p:spPr>
          <a:xfrm>
            <a:off x="8077200" y="3937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&lt; 8%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6" name="TextBox 36"/>
          <p:cNvSpPr txBox="1"/>
          <p:nvPr/>
        </p:nvSpPr>
        <p:spPr>
          <a:xfrm>
            <a:off x="8077200" y="4292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избирателей — 18–24 года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7" name="TextBox 37"/>
          <p:cNvSpPr txBox="1"/>
          <p:nvPr/>
        </p:nvSpPr>
        <p:spPr>
          <a:xfrm>
            <a:off x="8077200" y="4826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сотни тысяч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8" name="TextBox 38"/>
          <p:cNvSpPr txBox="1"/>
          <p:nvPr/>
        </p:nvSpPr>
        <p:spPr>
          <a:xfrm>
            <a:off x="8077200" y="5181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уехали в 2022–2023, в основном молодые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9" name="TextBox 39"/>
          <p:cNvSpPr txBox="1"/>
          <p:nvPr/>
        </p:nvSpPr>
        <p:spPr>
          <a:xfrm>
            <a:off x="812800" y="5715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Партия, чей электорат старше страны, стареет быстрее страны.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50" name="TextBox 40"/>
          <p:cNvSpPr txBox="1"/>
          <p:nvPr/>
        </p:nvSpPr>
        <p:spPr>
          <a:xfrm>
            <a:off x="812800" y="60198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Источник: Росстат; оценки — демографический прогноз, а не точный счёт.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12 / МЕХАНИЗМ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Три потери и один замкнутый круг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13 / 18</a:t>
            </a:r>
          </a:p>
        </p:txBody>
      </p:sp>
      <p:sp>
        <p:nvSpPr>
          <p:cNvPr id="659" name="Rectangle 9"/>
          <p:cNvSpPr/>
          <p:nvPr/>
        </p:nvSpPr>
        <p:spPr>
          <a:xfrm>
            <a:off x="81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0" name="Rectangle 10"/>
          <p:cNvSpPr/>
          <p:nvPr/>
        </p:nvSpPr>
        <p:spPr>
          <a:xfrm>
            <a:off x="81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1" name="TextBox 11"/>
          <p:cNvSpPr txBox="1"/>
          <p:nvPr/>
        </p:nvSpPr>
        <p:spPr>
          <a:xfrm>
            <a:off x="101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2" name="TextBox 12"/>
          <p:cNvSpPr txBox="1"/>
          <p:nvPr/>
        </p:nvSpPr>
        <p:spPr>
          <a:xfrm>
            <a:off x="101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Смертность ядра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3" name="TextBox 13"/>
          <p:cNvSpPr txBox="1"/>
          <p:nvPr/>
        </p:nvSpPr>
        <p:spPr>
          <a:xfrm>
            <a:off x="101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Каждые пять лет из электората выбывает поколение 1940–50-х. Это не протест и не разочарование — это биология.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64" name="Arrow 14"/>
          <p:cNvSpPr/>
          <p:nvPr/>
        </p:nvSpPr>
        <p:spPr>
          <a:xfrm>
            <a:off x="430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5" name="Rectangle 15"/>
          <p:cNvSpPr/>
          <p:nvPr/>
        </p:nvSpPr>
        <p:spPr>
          <a:xfrm>
            <a:off x="462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6" name="Rectangle 16"/>
          <p:cNvSpPr/>
          <p:nvPr/>
        </p:nvSpPr>
        <p:spPr>
          <a:xfrm>
            <a:off x="462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7" name="TextBox 17"/>
          <p:cNvSpPr txBox="1"/>
          <p:nvPr/>
        </p:nvSpPr>
        <p:spPr>
          <a:xfrm>
            <a:off x="482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8" name="TextBox 18"/>
          <p:cNvSpPr txBox="1"/>
          <p:nvPr/>
        </p:nvSpPr>
        <p:spPr>
          <a:xfrm>
            <a:off x="482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Нет замены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9" name="TextBox 19"/>
          <p:cNvSpPr txBox="1"/>
          <p:nvPr/>
        </p:nvSpPr>
        <p:spPr>
          <a:xfrm>
            <a:off x="4826000" y="3048000"/>
            <a:ext cx="3048000" cy="495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Молодёжь не приходит: мешают бренд, повестка и отсутствие районной работы.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0" name="Arrow 20"/>
          <p:cNvSpPr/>
          <p:nvPr/>
        </p:nvSpPr>
        <p:spPr>
          <a:xfrm>
            <a:off x="811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1" name="Rectangle 21"/>
          <p:cNvSpPr/>
          <p:nvPr/>
        </p:nvSpPr>
        <p:spPr>
          <a:xfrm>
            <a:off x="843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2" name="Rectangle 22"/>
          <p:cNvSpPr/>
          <p:nvPr/>
        </p:nvSpPr>
        <p:spPr>
          <a:xfrm>
            <a:off x="843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3" name="TextBox 23"/>
          <p:cNvSpPr txBox="1"/>
          <p:nvPr/>
        </p:nvSpPr>
        <p:spPr>
          <a:xfrm>
            <a:off x="863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74" name="TextBox 24"/>
          <p:cNvSpPr txBox="1"/>
          <p:nvPr/>
        </p:nvSpPr>
        <p:spPr>
          <a:xfrm>
            <a:off x="863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Рост явки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75" name="TextBox 25"/>
          <p:cNvSpPr txBox="1"/>
          <p:nvPr/>
        </p:nvSpPr>
        <p:spPr>
          <a:xfrm>
            <a:off x="863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Власть мобилизует новых избирателей — и доля КПРФ падает даже при стабильном числе голосов.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6" name="Rectangle 26"/>
          <p:cNvSpPr/>
          <p:nvPr/>
        </p:nvSpPr>
        <p:spPr>
          <a:xfrm>
            <a:off x="812800" y="45720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7" name="TextBox 27"/>
          <p:cNvSpPr txBox="1"/>
          <p:nvPr/>
        </p:nvSpPr>
        <p:spPr>
          <a:xfrm>
            <a:off x="1016000" y="47244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BE8B2E"/>
                </a:solidFill>
                <a:latin typeface="Consolas"/>
              </a:rPr>
              <a:t>Замкнутый круг</a:t>
            </a:r>
            <a:endParaRPr sz="900" b="0" i="0" cap="none" spc="20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678" name="TextBox 28"/>
          <p:cNvSpPr txBox="1"/>
          <p:nvPr/>
        </p:nvSpPr>
        <p:spPr>
          <a:xfrm>
            <a:off x="1016000" y="5003800"/>
            <a:ext cx="10541000" cy="34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 cap="none">
                <a:solidFill>
                  <a:srgbClr val="F0E8D6"/>
                </a:solidFill>
                <a:latin typeface="Georgia"/>
              </a:rPr>
              <a:t>Чем старше электорат, тем меньше стимулов говорить с молодыми — и тем старше электорат.</a:t>
            </a:r>
            <a:endParaRPr sz="125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679" name="TextBox 29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Разорвать круг можно только извне: новая повестка, новые лица и работа в городских сообществах.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3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13 / ГИПОТЕЗА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64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65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Рабочая гипотеза: два потока, одна воронка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66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7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9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14 / 18</a:t>
            </a:r>
          </a:p>
        </p:txBody>
      </p:sp>
      <p:sp>
        <p:nvSpPr>
          <p:cNvPr id="770" name="Rectangle 9"/>
          <p:cNvSpPr/>
          <p:nvPr/>
        </p:nvSpPr>
        <p:spPr>
          <a:xfrm>
            <a:off x="812800" y="1854200"/>
            <a:ext cx="10972800" cy="132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1" name="TextBox 10"/>
          <p:cNvSpPr txBox="1"/>
          <p:nvPr/>
        </p:nvSpPr>
        <p:spPr>
          <a:xfrm>
            <a:off x="1016000" y="2057400"/>
            <a:ext cx="10566400" cy="790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Georgia"/>
              </a:rPr>
              <a:t>Электорат КПРФ сокращается потому, что старшее ядро выбывает естественным путём, а рабочая молодёжь не приходит на его место.</a:t>
            </a:r>
            <a:endParaRPr sz="170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772" name="Rectangle 11"/>
          <p:cNvSpPr/>
          <p:nvPr/>
        </p:nvSpPr>
        <p:spPr>
          <a:xfrm>
            <a:off x="812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3" name="Rectangle 12"/>
          <p:cNvSpPr/>
          <p:nvPr/>
        </p:nvSpPr>
        <p:spPr>
          <a:xfrm>
            <a:off x="812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4" name="TextBox 13"/>
          <p:cNvSpPr txBox="1"/>
          <p:nvPr/>
        </p:nvSpPr>
        <p:spPr>
          <a:xfrm>
            <a:off x="1016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H1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75" name="TextBox 14"/>
          <p:cNvSpPr txBox="1"/>
          <p:nvPr/>
        </p:nvSpPr>
        <p:spPr>
          <a:xfrm>
            <a:off x="1016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Выбытие ядра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76" name="TextBox 15"/>
          <p:cNvSpPr txBox="1"/>
          <p:nvPr/>
        </p:nvSpPr>
        <p:spPr>
          <a:xfrm>
            <a:off x="1016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Поколение 1940–50-х уходит. Доля 55+ остаётся 70%, но сама численность ядра падает.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77" name="Rectangle 16"/>
          <p:cNvSpPr/>
          <p:nvPr/>
        </p:nvSpPr>
        <p:spPr>
          <a:xfrm>
            <a:off x="4495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8" name="Rectangle 17"/>
          <p:cNvSpPr/>
          <p:nvPr/>
        </p:nvSpPr>
        <p:spPr>
          <a:xfrm>
            <a:off x="4495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9" name="TextBox 18"/>
          <p:cNvSpPr txBox="1"/>
          <p:nvPr/>
        </p:nvSpPr>
        <p:spPr>
          <a:xfrm>
            <a:off x="4699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H2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0" name="TextBox 19"/>
          <p:cNvSpPr txBox="1"/>
          <p:nvPr/>
        </p:nvSpPr>
        <p:spPr>
          <a:xfrm>
            <a:off x="4699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Нет притока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1" name="TextBox 20"/>
          <p:cNvSpPr txBox="1"/>
          <p:nvPr/>
        </p:nvSpPr>
        <p:spPr>
          <a:xfrm>
            <a:off x="4699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Рабочая молодёжь 18–34 не видит в партии канал защиты: аренда, зарплата, условия труда.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2" name="Rectangle 21"/>
          <p:cNvSpPr/>
          <p:nvPr/>
        </p:nvSpPr>
        <p:spPr>
          <a:xfrm>
            <a:off x="8178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3" name="Rectangle 22"/>
          <p:cNvSpPr/>
          <p:nvPr/>
        </p:nvSpPr>
        <p:spPr>
          <a:xfrm>
            <a:off x="8178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4" name="TextBox 23"/>
          <p:cNvSpPr txBox="1"/>
          <p:nvPr/>
        </p:nvSpPr>
        <p:spPr>
          <a:xfrm>
            <a:off x="8382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H3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5" name="TextBox 24"/>
          <p:cNvSpPr txBox="1"/>
          <p:nvPr/>
        </p:nvSpPr>
        <p:spPr>
          <a:xfrm>
            <a:off x="8382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Эффект явки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6" name="TextBox 25"/>
          <p:cNvSpPr txBox="1"/>
          <p:nvPr/>
        </p:nvSpPr>
        <p:spPr>
          <a:xfrm>
            <a:off x="8382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При росте явки доля падает даже при стабильных голосах: новые избиратели уходят другим.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7" name="TextBox 26"/>
          <p:cNvSpPr txBox="1"/>
          <p:nvPr/>
        </p:nvSpPr>
        <p:spPr>
          <a:xfrm>
            <a:off x="812800" y="56388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Следствие: партия сохраняет второе место и теряет представительство — как в Петербурге в 2026-м.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14 / ГИПОТЕЗА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5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852" name="TextBox 4"/>
          <p:cNvSpPr txBox="1"/>
          <p:nvPr/>
        </p:nvSpPr>
        <p:spPr>
          <a:xfrm>
            <a:off x="812800" y="635000"/>
            <a:ext cx="10541000" cy="53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0" i="0" cap="none">
                <a:solidFill>
                  <a:srgbClr val="1B1A18"/>
                </a:solidFill>
                <a:latin typeface="Bahnschrift SemiBold"/>
              </a:rPr>
              <a:t>Исследовательская гипотеза: когортное замещение</a:t>
            </a:r>
            <a:endParaRPr sz="29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5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5" name="TextBox 7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15 / 18</a:t>
            </a:r>
            <a:endParaRPr sz="90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856" name="TextBox 8"/>
          <p:cNvSpPr txBox="1"/>
          <p:nvPr/>
        </p:nvSpPr>
        <p:spPr>
          <a:xfrm>
            <a:off x="812800" y="1778000"/>
            <a:ext cx="63500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 spc="200">
                <a:solidFill>
                  <a:srgbClr val="A82C1E"/>
                </a:solidFill>
                <a:latin typeface="Consolas"/>
              </a:rPr>
              <a:t>ИССЛЕДОВАТЕЛЬСКИЙ ВОПРОС</a:t>
            </a:r>
            <a:endParaRPr sz="88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57" name="TextBox 9"/>
          <p:cNvSpPr txBox="1"/>
          <p:nvPr/>
        </p:nvSpPr>
        <p:spPr>
          <a:xfrm>
            <a:off x="812800" y="2006600"/>
            <a:ext cx="10972800" cy="3368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1" cap="none">
                <a:solidFill>
                  <a:srgbClr val="1B1A18"/>
                </a:solidFill>
                <a:latin typeface="Georgia"/>
              </a:rPr>
              <a:t>Сокращается ли поддержка КПРФ потому, что меняются взгляды, — или потому, что меняются поколения?</a:t>
            </a:r>
            <a:endParaRPr sz="140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58" name="Rectangle 10"/>
          <p:cNvSpPr/>
          <p:nvPr/>
        </p:nvSpPr>
        <p:spPr>
          <a:xfrm>
            <a:off x="812800" y="2489200"/>
            <a:ext cx="10972800" cy="1219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9" name="TextBox 11"/>
          <p:cNvSpPr txBox="1"/>
          <p:nvPr/>
        </p:nvSpPr>
        <p:spPr>
          <a:xfrm>
            <a:off x="1016000" y="2667000"/>
            <a:ext cx="10541000" cy="601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i="0" cap="none">
                <a:solidFill>
                  <a:srgbClr val="F0E8D6"/>
                </a:solidFill>
                <a:latin typeface="Georgia"/>
              </a:rPr>
              <a:t>Поддержка КПРФ сокращается главным образом из-за когортного замещения: уходят поколения, социализированные в СССР, а новые поколения не формируют партийной идентификации с партией. Организационная слабость усиливает эффект, но не создаёт его.</a:t>
            </a:r>
            <a:endParaRPr sz="124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860" name="Rectangle 12"/>
          <p:cNvSpPr/>
          <p:nvPr/>
        </p:nvSpPr>
        <p:spPr>
          <a:xfrm>
            <a:off x="812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1" name="Rectangle 13"/>
          <p:cNvSpPr/>
          <p:nvPr/>
        </p:nvSpPr>
        <p:spPr>
          <a:xfrm>
            <a:off x="812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2" name="TextBox 14"/>
          <p:cNvSpPr txBox="1"/>
          <p:nvPr/>
        </p:nvSpPr>
        <p:spPr>
          <a:xfrm>
            <a:off x="1016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H1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63" name="TextBox 15"/>
          <p:cNvSpPr txBox="1"/>
          <p:nvPr/>
        </p:nvSpPr>
        <p:spPr>
          <a:xfrm>
            <a:off x="1016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Композиция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64" name="TextBox 16"/>
          <p:cNvSpPr txBox="1"/>
          <p:nvPr/>
        </p:nvSpPr>
        <p:spPr>
          <a:xfrm>
            <a:off x="1016000" y="4648200"/>
            <a:ext cx="3048000" cy="6620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Доля 55+ растёт не потому, что пожилые «переходят» к КПРФ, а потому, что молодые не приходят.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65" name="Rectangle 17"/>
          <p:cNvSpPr/>
          <p:nvPr/>
        </p:nvSpPr>
        <p:spPr>
          <a:xfrm>
            <a:off x="4495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6" name="Rectangle 18"/>
          <p:cNvSpPr/>
          <p:nvPr/>
        </p:nvSpPr>
        <p:spPr>
          <a:xfrm>
            <a:off x="4495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7" name="TextBox 19"/>
          <p:cNvSpPr txBox="1"/>
          <p:nvPr/>
        </p:nvSpPr>
        <p:spPr>
          <a:xfrm>
            <a:off x="4699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H2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68" name="TextBox 20"/>
          <p:cNvSpPr txBox="1"/>
          <p:nvPr/>
        </p:nvSpPr>
        <p:spPr>
          <a:xfrm>
            <a:off x="4699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Социализация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69" name="TextBox 21"/>
          <p:cNvSpPr txBox="1"/>
          <p:nvPr/>
        </p:nvSpPr>
        <p:spPr>
          <a:xfrm>
            <a:off x="4699000" y="4648200"/>
            <a:ext cx="3048000" cy="6620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У когорт, социализированных после 1991 года, вероятность голосовать за КПРФ ниже при контроле на доход и образование.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70" name="Rectangle 22"/>
          <p:cNvSpPr/>
          <p:nvPr/>
        </p:nvSpPr>
        <p:spPr>
          <a:xfrm>
            <a:off x="8178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1" name="Rectangle 23"/>
          <p:cNvSpPr/>
          <p:nvPr/>
        </p:nvSpPr>
        <p:spPr>
          <a:xfrm>
            <a:off x="8178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2" name="TextBox 24"/>
          <p:cNvSpPr txBox="1"/>
          <p:nvPr/>
        </p:nvSpPr>
        <p:spPr>
          <a:xfrm>
            <a:off x="8382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H3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73" name="TextBox 25"/>
          <p:cNvSpPr txBox="1"/>
          <p:nvPr/>
        </p:nvSpPr>
        <p:spPr>
          <a:xfrm>
            <a:off x="8382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Модерация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74" name="TextBox 26"/>
          <p:cNvSpPr txBox="1"/>
          <p:nvPr/>
        </p:nvSpPr>
        <p:spPr>
          <a:xfrm>
            <a:off x="8382000" y="4648200"/>
            <a:ext cx="3048000" cy="471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Там, где есть районная организация, межпоколенческий разрыв меньше.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75" name="TextBox 27"/>
          <p:cNvSpPr txBox="1"/>
          <p:nvPr/>
        </p:nvSpPr>
        <p:spPr>
          <a:xfrm>
            <a:off x="812800" y="5664200"/>
            <a:ext cx="10972800" cy="2776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1" cap="none">
                <a:solidFill>
                  <a:srgbClr val="55503F"/>
                </a:solidFill>
                <a:latin typeface="Georgia"/>
              </a:rPr>
              <a:t>Теоретическая рамка: теория поколений (Маннгейм), когортное замещение (Инглхарт), кливаджи (Липсет–Роккан), делегитимация партий.</a:t>
            </a:r>
            <a:endParaRPr sz="94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15 / ПРОВЕРКА</a:t>
            </a:r>
          </a:p>
        </p:txBody>
      </p:sp>
      <p:sp>
        <p:nvSpPr>
          <p:cNvPr id="7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Как проверить гипотезу и что её опровергнет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16 / 18</a:t>
            </a:r>
          </a:p>
        </p:txBody>
      </p:sp>
      <p:sp>
        <p:nvSpPr>
          <p:cNvPr id="796" name="TextBox 9"/>
          <p:cNvSpPr txBox="1"/>
          <p:nvPr/>
        </p:nvSpPr>
        <p:spPr>
          <a:xfrm>
            <a:off x="812800" y="18542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ЕСЛИ ГИПОТЕЗА ВЕРНА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7" name="TextBox 10"/>
          <p:cNvSpPr txBox="1"/>
          <p:nvPr/>
        </p:nvSpPr>
        <p:spPr>
          <a:xfrm>
            <a:off x="812800" y="22606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8" name="TextBox 11"/>
          <p:cNvSpPr txBox="1"/>
          <p:nvPr/>
        </p:nvSpPr>
        <p:spPr>
          <a:xfrm>
            <a:off x="1270000" y="22352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Медианный возраст сторонников растёт от кампании к кампании.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799" name="TextBox 12"/>
          <p:cNvSpPr txBox="1"/>
          <p:nvPr/>
        </p:nvSpPr>
        <p:spPr>
          <a:xfrm>
            <a:off x="812800" y="29718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0" name="TextBox 13"/>
          <p:cNvSpPr txBox="1"/>
          <p:nvPr/>
        </p:nvSpPr>
        <p:spPr>
          <a:xfrm>
            <a:off x="1270000" y="29464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Абсолютные голоса стагнируют, а доля падает при росте явки.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1" name="TextBox 14"/>
          <p:cNvSpPr txBox="1"/>
          <p:nvPr/>
        </p:nvSpPr>
        <p:spPr>
          <a:xfrm>
            <a:off x="812800" y="36830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2" name="TextBox 15"/>
          <p:cNvSpPr txBox="1"/>
          <p:nvPr/>
        </p:nvSpPr>
        <p:spPr>
          <a:xfrm>
            <a:off x="1270000" y="36576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Поддержка 18–34 ниже средней по партии в разы.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3" name="TextBox 16"/>
          <p:cNvSpPr txBox="1"/>
          <p:nvPr/>
        </p:nvSpPr>
        <p:spPr>
          <a:xfrm>
            <a:off x="812800" y="43942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4" name="TextBox 17"/>
          <p:cNvSpPr txBox="1"/>
          <p:nvPr/>
        </p:nvSpPr>
        <p:spPr>
          <a:xfrm>
            <a:off x="1270000" y="4368800"/>
            <a:ext cx="4572000" cy="5114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В новых районах с молодой структурой результат ниже, чем в старых спальных.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5" name="TextBox 18"/>
          <p:cNvSpPr txBox="1"/>
          <p:nvPr/>
        </p:nvSpPr>
        <p:spPr>
          <a:xfrm>
            <a:off x="812800" y="51054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6" name="TextBox 19"/>
          <p:cNvSpPr txBox="1"/>
          <p:nvPr/>
        </p:nvSpPr>
        <p:spPr>
          <a:xfrm>
            <a:off x="1270000" y="50800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Приток в партию и ЛКСМ не компенсирует выбытие.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7" name="Rectangle 20"/>
          <p:cNvSpPr/>
          <p:nvPr/>
        </p:nvSpPr>
        <p:spPr>
          <a:xfrm>
            <a:off x="6350000" y="1854200"/>
            <a:ext cx="12700" cy="4064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8" name="TextBox 21"/>
          <p:cNvSpPr txBox="1"/>
          <p:nvPr/>
        </p:nvSpPr>
        <p:spPr>
          <a:xfrm>
            <a:off x="6654800" y="18542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ОПРОВЕРГНЕТ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9" name="TextBox 22"/>
          <p:cNvSpPr txBox="1"/>
          <p:nvPr/>
        </p:nvSpPr>
        <p:spPr>
          <a:xfrm>
            <a:off x="6654800" y="22352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0" name="TextBox 23"/>
          <p:cNvSpPr txBox="1"/>
          <p:nvPr/>
        </p:nvSpPr>
        <p:spPr>
          <a:xfrm>
            <a:off x="6959600" y="22352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абсолютных голосов при росте явки.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1" name="TextBox 24"/>
          <p:cNvSpPr txBox="1"/>
          <p:nvPr/>
        </p:nvSpPr>
        <p:spPr>
          <a:xfrm>
            <a:off x="6654800" y="27940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2" name="TextBox 25"/>
          <p:cNvSpPr txBox="1"/>
          <p:nvPr/>
        </p:nvSpPr>
        <p:spPr>
          <a:xfrm>
            <a:off x="6959600" y="27940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поддержки именно среди рабочей молодёжи.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3" name="TextBox 26"/>
          <p:cNvSpPr txBox="1"/>
          <p:nvPr/>
        </p:nvSpPr>
        <p:spPr>
          <a:xfrm>
            <a:off x="6654800" y="33528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4" name="TextBox 27"/>
          <p:cNvSpPr txBox="1"/>
          <p:nvPr/>
        </p:nvSpPr>
        <p:spPr>
          <a:xfrm>
            <a:off x="6959600" y="33528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Омоложение членства и списков кандидатов.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5" name="TextBox 28"/>
          <p:cNvSpPr txBox="1"/>
          <p:nvPr/>
        </p:nvSpPr>
        <p:spPr>
          <a:xfrm>
            <a:off x="6654800" y="40640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ЧЕМ ПРОВЕРЯТЬ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16" name="TextBox 29"/>
          <p:cNvSpPr txBox="1"/>
          <p:nvPr/>
        </p:nvSpPr>
        <p:spPr>
          <a:xfrm>
            <a:off x="6654800" y="4368800"/>
            <a:ext cx="4318000" cy="11070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Протоколы УИК и явка по участкам;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exit poll и Левада по возрастам;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Росстат — возрастная структура районов;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APC-декомпозиция: возраст — период — когорта;</a:t>
            </a:r>
          </a:p>
          <a:p>
            <a:r>
              <a:rPr sz="980" b="0" i="0" cap="none">
                <a:solidFill>
                  <a:srgbClr val="55503F"/>
                </a:solidFill>
                <a:latin typeface="Georgia"/>
              </a:rPr>
              <a:t>членство КПРФ и ЛКСМ, состав кандидатов.</a:t>
            </a:r>
          </a:p>
        </p:txBody>
      </p:sp>
      <p:sp>
        <p:nvSpPr>
          <p:cNvPr id="817" name="TextBox 30"/>
          <p:cNvSpPr txBox="1"/>
          <p:nvPr/>
        </p:nvSpPr>
        <p:spPr>
          <a:xfrm>
            <a:off x="812800" y="6070600"/>
            <a:ext cx="109728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Ограничение: «рабочая молодёжь» — не одна группа. Данных по профессиям в открытом доступе мало, поэтому гипотеза проверяется косвенно — через возраст и район.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1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16 / ИТОГИ</a:t>
            </a:r>
          </a:p>
        </p:txBody>
      </p:sp>
      <p:sp>
        <p:nvSpPr>
          <p:cNvPr id="682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83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видно из комиссии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84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5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7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17 / 18</a:t>
            </a:r>
          </a:p>
        </p:txBody>
      </p:sp>
      <p:sp>
        <p:nvSpPr>
          <p:cNvPr id="688" name="Rectangle 9"/>
          <p:cNvSpPr/>
          <p:nvPr/>
        </p:nvSpPr>
        <p:spPr>
          <a:xfrm>
            <a:off x="812800" y="18796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9" name="TextBox 10"/>
          <p:cNvSpPr txBox="1"/>
          <p:nvPr/>
        </p:nvSpPr>
        <p:spPr>
          <a:xfrm>
            <a:off x="812800" y="20320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0" name="TextBox 11"/>
          <p:cNvSpPr txBox="1"/>
          <p:nvPr/>
        </p:nvSpPr>
        <p:spPr>
          <a:xfrm>
            <a:off x="1422400" y="19812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Ядро приходит стабильно — и стареет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1" name="TextBox 12"/>
          <p:cNvSpPr txBox="1"/>
          <p:nvPr/>
        </p:nvSpPr>
        <p:spPr>
          <a:xfrm>
            <a:off x="6096000" y="19812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Одни и те же лица каждые выборы: 70% сторонников КПРФ — старше 55 лет.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2" name="Rectangle 13"/>
          <p:cNvSpPr/>
          <p:nvPr/>
        </p:nvSpPr>
        <p:spPr>
          <a:xfrm>
            <a:off x="812800" y="26670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3" name="TextBox 14"/>
          <p:cNvSpPr txBox="1"/>
          <p:nvPr/>
        </p:nvSpPr>
        <p:spPr>
          <a:xfrm>
            <a:off x="812800" y="28194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4" name="TextBox 15"/>
          <p:cNvSpPr txBox="1"/>
          <p:nvPr/>
        </p:nvSpPr>
        <p:spPr>
          <a:xfrm>
            <a:off x="1422400" y="27686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Молодёжь приходит, но не к 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5" name="TextBox 16"/>
          <p:cNvSpPr txBox="1"/>
          <p:nvPr/>
        </p:nvSpPr>
        <p:spPr>
          <a:xfrm>
            <a:off x="6096000" y="27686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В 2026-м молодых на участке было больше. Их голоса ушли к другим.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6" name="Rectangle 17"/>
          <p:cNvSpPr/>
          <p:nvPr/>
        </p:nvSpPr>
        <p:spPr>
          <a:xfrm>
            <a:off x="812800" y="34544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7" name="TextBox 18"/>
          <p:cNvSpPr txBox="1"/>
          <p:nvPr/>
        </p:nvSpPr>
        <p:spPr>
          <a:xfrm>
            <a:off x="812800" y="36068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8" name="TextBox 19"/>
          <p:cNvSpPr txBox="1"/>
          <p:nvPr/>
        </p:nvSpPr>
        <p:spPr>
          <a:xfrm>
            <a:off x="1422400" y="35560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Рост явки размывает долю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9" name="TextBox 20"/>
          <p:cNvSpPr txBox="1"/>
          <p:nvPr/>
        </p:nvSpPr>
        <p:spPr>
          <a:xfrm>
            <a:off x="6096000" y="35560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Голосов столько же, доля — вдвое меньше: новых избирателей мобилизовали не коммунисты.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0" name="Rectangle 21"/>
          <p:cNvSpPr/>
          <p:nvPr/>
        </p:nvSpPr>
        <p:spPr>
          <a:xfrm>
            <a:off x="812800" y="42418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1" name="TextBox 22"/>
          <p:cNvSpPr txBox="1"/>
          <p:nvPr/>
        </p:nvSpPr>
        <p:spPr>
          <a:xfrm>
            <a:off x="812800" y="4394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2" name="TextBox 23"/>
          <p:cNvSpPr txBox="1"/>
          <p:nvPr/>
        </p:nvSpPr>
        <p:spPr>
          <a:xfrm>
            <a:off x="1422400" y="43434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Личный депутат сильнее бренда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3" name="TextBox 24"/>
          <p:cNvSpPr txBox="1"/>
          <p:nvPr/>
        </p:nvSpPr>
        <p:spPr>
          <a:xfrm>
            <a:off x="6096000" y="43434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Там, где есть узнаваемый человек, результат выше партийного среднего.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4" name="Rectangle 25"/>
          <p:cNvSpPr/>
          <p:nvPr/>
        </p:nvSpPr>
        <p:spPr>
          <a:xfrm>
            <a:off x="812800" y="50292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5" name="TextBox 26"/>
          <p:cNvSpPr txBox="1"/>
          <p:nvPr/>
        </p:nvSpPr>
        <p:spPr>
          <a:xfrm>
            <a:off x="812800" y="51816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6" name="TextBox 27"/>
          <p:cNvSpPr txBox="1"/>
          <p:nvPr/>
        </p:nvSpPr>
        <p:spPr>
          <a:xfrm>
            <a:off x="1422400" y="51308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Агитация не доходит до окраинной молодёжи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7" name="TextBox 28"/>
          <p:cNvSpPr txBox="1"/>
          <p:nvPr/>
        </p:nvSpPr>
        <p:spPr>
          <a:xfrm>
            <a:off x="6096000" y="51308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Газета и приёмная работают на ядро; районных ячеек и цифры почти нет.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17 / СЦЕНАРИИ</a:t>
            </a:r>
          </a:p>
        </p:txBody>
      </p:sp>
      <p:sp>
        <p:nvSpPr>
          <p:cNvPr id="71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1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будет дальше: три траектории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18 / 18</a:t>
            </a:r>
          </a:p>
        </p:txBody>
      </p:sp>
      <p:sp>
        <p:nvSpPr>
          <p:cNvPr id="716" name="Rectangle 9"/>
          <p:cNvSpPr/>
          <p:nvPr/>
        </p:nvSpPr>
        <p:spPr>
          <a:xfrm>
            <a:off x="812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7" name="TextBox 10"/>
          <p:cNvSpPr txBox="1"/>
          <p:nvPr/>
        </p:nvSpPr>
        <p:spPr>
          <a:xfrm>
            <a:off x="812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ИНЕРЦИЯ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8" name="TextBox 11"/>
          <p:cNvSpPr txBox="1"/>
          <p:nvPr/>
        </p:nvSpPr>
        <p:spPr>
          <a:xfrm>
            <a:off x="812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наиболее вероятно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19" name="TextBox 12"/>
          <p:cNvSpPr txBox="1"/>
          <p:nvPr/>
        </p:nvSpPr>
        <p:spPr>
          <a:xfrm>
            <a:off x="812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8–12% на федеральных выборах, 1–2 мандата в Петербурге. Ядро стареет, явка растёт, доля снижается.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0" name="Rectangle 13"/>
          <p:cNvSpPr/>
          <p:nvPr/>
        </p:nvSpPr>
        <p:spPr>
          <a:xfrm>
            <a:off x="4495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1" name="TextBox 14"/>
          <p:cNvSpPr txBox="1"/>
          <p:nvPr/>
        </p:nvSpPr>
        <p:spPr>
          <a:xfrm>
            <a:off x="4495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ОБНОВЛЕНИЕ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2" name="TextBox 15"/>
          <p:cNvSpPr txBox="1"/>
          <p:nvPr/>
        </p:nvSpPr>
        <p:spPr>
          <a:xfrm>
            <a:off x="4495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возможно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3" name="TextBox 16"/>
          <p:cNvSpPr txBox="1"/>
          <p:nvPr/>
        </p:nvSpPr>
        <p:spPr>
          <a:xfrm>
            <a:off x="4495800" y="2794000"/>
            <a:ext cx="3454400" cy="543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Новые лица и городская повестка: аренда, тарифы, экология. Районные кампании и возврат к 15–18%.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4" name="Rectangle 17"/>
          <p:cNvSpPr/>
          <p:nvPr/>
        </p:nvSpPr>
        <p:spPr>
          <a:xfrm>
            <a:off x="8178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5" name="TextBox 18"/>
          <p:cNvSpPr txBox="1"/>
          <p:nvPr/>
        </p:nvSpPr>
        <p:spPr>
          <a:xfrm>
            <a:off x="8178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ФРАГМЕНТАЦИЯ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6" name="TextBox 19"/>
          <p:cNvSpPr txBox="1"/>
          <p:nvPr/>
        </p:nvSpPr>
        <p:spPr>
          <a:xfrm>
            <a:off x="8178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риск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7" name="TextBox 20"/>
          <p:cNvSpPr txBox="1"/>
          <p:nvPr/>
        </p:nvSpPr>
        <p:spPr>
          <a:xfrm>
            <a:off x="8178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Уход в нишу «партии памяти»: конкуренция с «Новыми людьми» и «Зелёными», потеря статуса главной оппозиции.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8" name="Rectangle 21"/>
          <p:cNvSpPr/>
          <p:nvPr/>
        </p:nvSpPr>
        <p:spPr>
          <a:xfrm>
            <a:off x="812800" y="4292600"/>
            <a:ext cx="10972800" cy="1016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9" name="TextBox 22"/>
          <p:cNvSpPr txBox="1"/>
          <p:nvPr/>
        </p:nvSpPr>
        <p:spPr>
          <a:xfrm>
            <a:off x="1016000" y="4597400"/>
            <a:ext cx="10541000" cy="389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Bahnschrift SemiBold"/>
              </a:rPr>
              <a:t>Вопрос не в возрасте партии. Вопрос в том, есть ли у неё поколение.</a:t>
            </a:r>
            <a:endParaRPr sz="17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730" name="TextBox 23"/>
          <p:cNvSpPr txBox="1"/>
          <p:nvPr/>
        </p:nvSpPr>
        <p:spPr>
          <a:xfrm>
            <a:off x="812800" y="5537200"/>
            <a:ext cx="10972800" cy="2618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60" b="0" i="1" cap="none">
                <a:solidFill>
                  <a:srgbClr val="55503F"/>
                </a:solidFill>
                <a:latin typeface="Georgia"/>
              </a:rPr>
              <a:t>Источники: СПбИК; ЦИК РФ; Левада-Центр (август 2026); ВЦИОМ и ФОМ (сентябрь–октябрь 2026); Bundeswahlleiterin; FES; Росстат.</a:t>
            </a:r>
            <a:endParaRPr sz="860" b="0" i="1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31" name="TextBox 24"/>
          <p:cNvSpPr txBox="1"/>
          <p:nvPr/>
        </p:nvSpPr>
        <p:spPr>
          <a:xfrm>
            <a:off x="812800" y="6096000"/>
            <a:ext cx="109728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>
                <a:solidFill>
                  <a:srgbClr val="55503F"/>
                </a:solidFill>
                <a:latin typeface="Georgia"/>
              </a:rPr>
              <a:t>Оценки сценариев — авторская интерпретация данных, а не прогноз результатов выборов.</a:t>
            </a:r>
            <a:endParaRPr sz="86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18</Slides>
  <Notes>18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Участок 765: КПРФ и её избиратель, 2024–2026</dc:title>
  <dc:subject>Взгляд члена избирательной комиссии: выборы 2024 и 2026, УИК №765, Кировский район Санкт-Петербурга</dc:subject>
  <dc:creator>Член УИК №765</dc:creator>
  <cp:keywords>КПРФ, УИК 765, Ульянка, выборы 2024, выборы 2026, ЗакС, агитация, демография</cp:keywords>
  <dc:description>Учебная аналитическая презентация. Данные: СПбИК, ЦИК, Левада-Центр, ВЦИОМ, ФОМ, Bundeswahlleiterin, FES, Росстат.</dc:description>
  <cp:category>Лекция</cp:category>
</cp:coreProperties>
</file>